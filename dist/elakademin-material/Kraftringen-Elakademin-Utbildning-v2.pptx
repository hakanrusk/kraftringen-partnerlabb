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9.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5.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6.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7.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0.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6.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2.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3.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4.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8.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9.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0.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3.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5.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6.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7.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8.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9.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2.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3.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4.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5.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6.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7.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8.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0.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1.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2.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3.xml"/></Relationships>
</file>

<file path=ppt/notesSlides/_rels/notesSlide4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4.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5.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6.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7.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8.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9.xml"/></Relationships>
</file>

<file path=ppt/notesSlides/_rels/notesSlide4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0.xml"/></Relationships>
</file>

<file path=ppt/notesSlides/_rels/notesSlide4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1.xml"/></Relationships>
</file>

<file path=ppt/notesSlides/_rels/notesSlide4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2.xml"/></Relationships>
</file>

<file path=ppt/notesSlides/_rels/notesSlide4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Fullständiga förklaringar finns i bildanteckningarna och självstudiematerialet. Pris- och kundexempel är syntetiska.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Självtest är träning, inte personverifierad certifiering. Kursspår skapar inga generella produktgränser eller säljmandat.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Alla elavtal handlar till sist om en mängd el, ett pris och villkoren som kopplar ihop dem. Här lär du dig läsa siffrorna innan du väljer produkt. Du behöver ingen teknisk bakgrund. Ta fram en miniräknare och skriv alltid enheten bredvid talet: en korrekt metod blir mycket lättare att kontrollera när varje steg visar vad siffran betyder.</a:t>
            </a:r>
          </a:p>
          <a:p/>
          <a:p>
            <a:r>
              <a:t>LÄRANDEMÅL</a:t>
            </a:r>
          </a:p>
          <a:p>
            <a:r>
              <a:t>Skilja effekt i kW från energi i kWh och förklara skillnaden med egna ord.</a:t>
            </a:r>
          </a:p>
          <a:p>
            <a:r>
              <a:t>Räkna energi från konstant effekt och tid, även under en kvart.</a:t>
            </a:r>
          </a:p>
          <a:p>
            <a:r>
              <a:t>Omvandla MWh till kWh och öre/kWh till kronor utan faktorhundra- eller faktortusenfel.</a:t>
            </a:r>
          </a:p>
          <a:p>
            <a:r>
              <a:t>Ange vilka kostnadsdelar ett beräknat belopp omfattar.</a:t>
            </a:r>
          </a:p>
          <a:p/>
          <a:p>
            <a:r>
              <a:t>KANONISKT BERÄTTARMANUS</a:t>
            </a:r>
          </a:p>
          <a:p>
            <a:r>
              <a:t>energi-effekt-01 · Takten och mängden</a:t>
            </a:r>
          </a:p>
          <a:p>
            <a:r>
              <a:t>Vi börjar med två ord som lätt blandas ihop: effekt och energi. Effekt beskriver takten just nu. Energi beskriver den samlade mängden under en period. En ugn som använder tio kilowatt i två timmar har använt tjugo kilowattimmar. Tänk på en bil: hastigheten berättar hur fort du kör, medan körsträckan berättar hur långt du har kommit. För att förstå kundens kostnad behöver vi mängden el som faktiskt har använts. En märkplåt berättar inte ensam hur mycket maskinen använder under ett år, eftersom driftstid, termostater och belastning kan ändras. Vi behöver därför mätdata eller en genomtänkt prognos.</a:t>
            </a:r>
          </a:p>
          <a:p>
            <a:r>
              <a:t>På skärmen: kW = effekt | kWh = energi | Energi = effekt × tid</a:t>
            </a:r>
          </a:p>
          <a:p>
            <a:r>
              <a:t>Bildidé: Avataren visar en ugn, en effektmätare och en energimätare som ökar medan tiden går.</a:t>
            </a:r>
          </a:p>
          <a:p/>
          <a:p>
            <a:r>
              <a:t>energi-effekt-02 · En kvart är redan medräknad ibland</a:t>
            </a:r>
          </a:p>
          <a:p>
            <a:r>
              <a:t>En kvart är en fjärdedels timme. Om effekten är tolv kilowatt under en kvart använder utrustningen tre kilowattimmar. Men här gäller det att läsa mätfilens enhet. Visar filen tre kilowattimmar är energin redan beräknad. Då ska du inte multiplicera med en fjärdedel igen. Du multiplicerar direkt med priset per kilowattimme. Visar filen i stället tolv kilowatt i medeleffekt behöver du först omvandla till energi genom att använda tiden. Samma anläggning kan beskrivas på båda sätten. Det viktiga är att din beräkning använder rätt mängd, rätt tidsperiod och rätt enhet innan pengar kommer in i bilden.</a:t>
            </a:r>
          </a:p>
          <a:p>
            <a:r>
              <a:t>På skärmen: 12 kW × 0,25 h = 3 kWh | 3 kWh är redan energi</a:t>
            </a:r>
          </a:p>
          <a:p>
            <a:r>
              <a:t>Bildidé: Två parallella mätfiler, en i kW och en i kWh, landar på samma energimängd.</a:t>
            </a:r>
          </a:p>
          <a:p/>
          <a:p>
            <a:r>
              <a:t>energi-effekt-03 · Från MWh till kronor</a:t>
            </a:r>
          </a:p>
          <a:p>
            <a:r>
              <a:t>Företag anger ofta sin årsförbrukning i megawattimmar. En megawattimme är tusen kilowattimmar. Hundratjugo megawattimmar blir alltså hundratjugotusen kilowattimmar. Priset anges ofta i öre per kilowattimme. Åttio öre är noll komma åttio kronor. När vi multiplicerar hundratjugotusen med noll komma åttio får vi nittiosextusen kronor. Det är kostnaden för den prisdel som uppgiften anger. Vi har ännu inte visat hela elräkningen. Alternativt kan samma pris skrivas som åttahundra kronor per megawattimme. Då blir hundratjugo gånger åttahundra samma belopp. Båda metoderna fungerar om mängd och pris använder enheter som passar ihop.</a:t>
            </a:r>
          </a:p>
          <a:p>
            <a:r>
              <a:t>På skärmen: 120 MWh = 120 000 kWh | 80 öre/kWh = 0,80 kr/kWh | 96 000 kr för prisdelen</a:t>
            </a:r>
          </a:p>
          <a:p>
            <a:r>
              <a:t>Bildidé: En omräkningskedja byggs steg för steg, med enheterna kvar på varje rad.</a:t>
            </a:r>
          </a:p>
          <a:p/>
          <a:p>
            <a:r>
              <a:t>energi-effekt-04 · Pris är inte fakturabelopp</a:t>
            </a:r>
          </a:p>
          <a:p>
            <a:r>
              <a:t>Nu kan vi skilja pris från kostnad. Åttio öre per kilowattimme är ett pris. Nittiosextusen kronor är en kostnad vid en bestämd mängd. Använder kunden mer el kan beloppet stiga även om priset är oförändrat. Därför frågar vi alltid vad kunden menar med dyrare el. Är priset per kilowattimme högre, har förbrukningen ökat eller gäller jämförelsen hela fakturan? Vid hundratjugo megawattimmar betyder två öres skillnad tvåtusenfyrahundra kronor på ett år för samma prisdel. Skillnaden går bara att tolka om båda priserna avser samma omfattning. Avgifter, nät och skatter måste också hanteras när hela kostnaden ska jämföras.</a:t>
            </a:r>
          </a:p>
          <a:p>
            <a:r>
              <a:t>På skärmen: Pris × mängd = kostnad | 2 öre vid 120 MWh = 2 400 kr</a:t>
            </a:r>
          </a:p>
          <a:p>
            <a:r>
              <a:t>Bildidé: Två lika enhetspriser kopplas till olika mängder och olika belopp; därefter visas tvåöresberäkningen.</a:t>
            </a:r>
          </a:p>
          <a:p/>
          <a:p>
            <a:r>
              <a:t>energi-effekt-05 · Din kontroll före kundsamtalet</a:t>
            </a:r>
          </a:p>
          <a:p>
            <a:r>
              <a:t>Använd tre kontroller varje gång du räknar. Först läser du enheterna och perioden. Därefter skriver du vilka kostnadsdelar som faktiskt ingår. Till sist bedömer du om svaret har rimlig storlek. Hundratusen kilowattimmar gånger ungefär en krona borde ge ungefär hundratusen kronor. Om svaret blir hundra kronor behöver du leta efter ett enhetsfel. Öva nu på bageriets uppgift och säg svaret högt. Förklara både vad du har räknat fram och vad som återstår. En kund ska kunna följa din metod utan att redan kunna elhandel. Den tydligheten blir grunden när vi senare jämför kvartspris, fastpris och prissäkring.</a:t>
            </a:r>
          </a:p>
          <a:p>
            <a:r>
              <a:t>På skärmen: Enhet och period | Prisets omfattning | Rimlig storlek</a:t>
            </a:r>
          </a:p>
          <a:p>
            <a:r>
              <a:t>Bildidé: Tre kontrollrutor fylls i bredvid bageriets kalkyl, följt av en paus för övningen.</a:t>
            </a:r>
          </a:p>
          <a:p/>
          <a:p>
            <a:r>
              <a:t>KÄLLOR</a:t>
            </a:r>
          </a:p>
          <a:p>
            <a:r>
              <a:t>Elhandel från grunden · B2B-presentation v1 (91 bilder) · s. 9, 10, 11, 15, 16, 83 · Effekt, energi, omräkningar och mätvärden. Nya tal är syntetiska övningar.</a:t>
            </a:r>
          </a:p>
          <a:p>
            <a:r>
              <a:t>Elhandel från grunden · B2B-självstudier v1 (91 sidor) · s. 9, 10, 11, 25, 83 · Fördjupning om konstant effekt och att inte multiplicera uppmätta kWh med kvartens tid igen.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Effekt är hur snabbt utrustningen använder energi just nu. En ugn som tar ut 10 kW i två timmar använder 20 kWh om effekten är konstant. Tänk hastighet och körsträcka: hög takt under kort tid kan ge samma mängd som låg takt under lång tid.</a:t>
            </a:r>
          </a:p>
          <a:p/>
          <a:p>
            <a:r>
              <a:t>Formeln är energi i kWh = effekt i kW × tid i timmar. En kvart är 0,25 timmar och en halvtimme 0,5 timmar. Skriv inte kW när du menar årsförbrukning och skriv inte kW per timme när du menar kWh. En märkplåt anger inte automatiskt det verkliga uttaget hela dagen; termostater, start och stopp kan ändra effekten.</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En mätserie kan visa energi i kWh under varje kvart eller medeleffekt i kW under kvarten. Det är två olika saker. Visar serien 2,5 kWh är energin redan beräknad. Multiplicera då direkt med priset per kWh. Visar den 10 kW i medeleffekt under en kvart behöver du först räkna 10 × 0,25 = 2,5 kWh. Att multiplicera uppmätta kWh med 0,25 en gång till ger en felaktigt låg kostnad.</a:t>
            </a:r>
          </a:p>
          <a:p/>
          <a:p>
            <a:r>
              <a:t>Kontrollera tidsperioden: en månads mängd kan inte jämföras direkt med ett helt år. Vid egen produktion behöver köpt nätel skiljas från total användning och export. Använd mängden för rätt mätpunkt och period.</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En MWh är 1 000 kWh. En GWh är 1 000 MWh, alltså 1 000 000 kWh. MW är däremot effekt: 1 MW är 1 000 kW. B2B-volymer anges ofta i MWh medan priset anges i öre/kWh. Därför måste mängden först omvandlas till kWh. 120 MWh blir 120 000 kWh, inte 120 kWh och inte 120 000 MWh.</a:t>
            </a:r>
          </a:p>
          <a:p/>
          <a:p>
            <a:r>
              <a:t>Hundra öre är en krona: 80 öre/kWh = 0,80 kr/kWh = 800 kr/MWh. Kostnad i kronor = kWh × öre/kWh ÷ 100. Använder du MWh måste priset vara kr/MWh. Behåll ett konsekvent arbetssätt.</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80 öre/kWh är ett pris; 96 000 kr är en kostnad vid 120 000 kWh. Ett oförändrat pris kan ge högre kostnad när mängden ökar. Fråga därför om kundens jämförelse gäller enhetspris, köpt mängd eller hela fakturan.</a:t>
            </a:r>
          </a:p>
          <a:p/>
          <a:p>
            <a:r>
              <a:t>Gör en snabb kontroll: vid 100 000 kWh och ungefär en krona per kWh bör kostnaden ligga nära 100 000 kr. Ett svar på 100 kr eller tio miljoner tyder på ett enhetsfel. Kontrollera sedan vad priset omfattar. En uträkning av energidelen blir inte total elkostnad bara för att den är matematiskt korrekt.</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undervisningsexempel. Endast energi och en given energipriskomponent; alla andra elhandelskostnader, elnät, energiskatt och moms är utanför.</a:t>
            </a:r>
          </a:p>
          <a:p/>
          <a:p>
            <a:r>
              <a:t>DATA</a:t>
            </a:r>
          </a:p>
          <a:p>
            <a:r>
              <a:t>Konstant effekt: 12 kW.</a:t>
            </a:r>
          </a:p>
          <a:p>
            <a:r>
              <a:t>Första perioden: 30 minuter. Andra perioden: 2 timmar.</a:t>
            </a:r>
          </a:p>
          <a:p>
            <a:r>
              <a:t>Exempelpris för energidelen: 80 öre/kWh.</a:t>
            </a:r>
          </a:p>
          <a:p/>
          <a:p>
            <a:r>
              <a:t>MELLANLED</a:t>
            </a:r>
          </a:p>
          <a:p>
            <a:r>
              <a:t>30 minuter ÷ 60 = 0,5 timmar.</a:t>
            </a:r>
          </a:p>
          <a:p>
            <a:r>
              <a:t>Första energimängden: 12 kW × 0,5 h = 6 kWh.</a:t>
            </a:r>
          </a:p>
          <a:p>
            <a:r>
              <a:t>Andra energimängden: 12 × 2 = 24 kWh. Totalt 30 kWh.</a:t>
            </a:r>
          </a:p>
          <a:p>
            <a:r>
              <a:t>Omvandla priset: 80 ÷ 100 = 0,80 kr/kWh.</a:t>
            </a:r>
          </a:p>
          <a:p>
            <a:r>
              <a:t>Kostnad: 30 × 0,80 = 24 kr.</a:t>
            </a:r>
          </a:p>
          <a:p/>
          <a:p>
            <a:r>
              <a:t>RESULTAT</a:t>
            </a:r>
          </a:p>
          <a:p>
            <a:r>
              <a:t>30 kWh och 24 kr för den angivna energipriskomponenten.</a:t>
            </a:r>
          </a:p>
          <a:p/>
          <a:p>
            <a:r>
              <a:t>TOLKNING</a:t>
            </a:r>
          </a:p>
          <a:p>
            <a:r>
              <a:t>Att summera 12 + 12 kW skulle inte ge energin. Tiden måste ingå. Resultatet förutsätter verkligt konstant effekt under båda perioderna och är inte en maskins garanterade driftkostnad.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undervisningsexempel. Endast energi och en given energipriskomponent; alla andra elhandelskostnader, elnät, energiskatt och moms är utanför.</a:t>
            </a:r>
          </a:p>
          <a:p/>
          <a:p>
            <a:r>
              <a:t>DATA</a:t>
            </a:r>
          </a:p>
          <a:p>
            <a:r>
              <a:t>Konstant effekt: 12 kW.</a:t>
            </a:r>
          </a:p>
          <a:p>
            <a:r>
              <a:t>Första perioden: 30 minuter. Andra perioden: 2 timmar.</a:t>
            </a:r>
          </a:p>
          <a:p>
            <a:r>
              <a:t>Exempelpris för energidelen: 80 öre/kWh.</a:t>
            </a:r>
          </a:p>
          <a:p/>
          <a:p>
            <a:r>
              <a:t>MELLANLED</a:t>
            </a:r>
          </a:p>
          <a:p>
            <a:r>
              <a:t>30 minuter ÷ 60 = 0,5 timmar.</a:t>
            </a:r>
          </a:p>
          <a:p>
            <a:r>
              <a:t>Första energimängden: 12 kW × 0,5 h = 6 kWh.</a:t>
            </a:r>
          </a:p>
          <a:p>
            <a:r>
              <a:t>Andra energimängden: 12 × 2 = 24 kWh. Totalt 30 kWh.</a:t>
            </a:r>
          </a:p>
          <a:p>
            <a:r>
              <a:t>Omvandla priset: 80 ÷ 100 = 0,80 kr/kWh.</a:t>
            </a:r>
          </a:p>
          <a:p>
            <a:r>
              <a:t>Kostnad: 30 × 0,80 = 24 kr.</a:t>
            </a:r>
          </a:p>
          <a:p/>
          <a:p>
            <a:r>
              <a:t>RESULTAT</a:t>
            </a:r>
          </a:p>
          <a:p>
            <a:r>
              <a:t>30 kWh och 24 kr för den angivna energipriskomponenten.</a:t>
            </a:r>
          </a:p>
          <a:p/>
          <a:p>
            <a:r>
              <a:t>TOLKNING</a:t>
            </a:r>
          </a:p>
          <a:p>
            <a:r>
              <a:t>Att summera 12 + 12 kW skulle inte ge energin. Tiden måste ingå. Resultatet förutsätter verkligt konstant effekt under båda perioderna och är inte en maskins garanterade driftkostnad.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årsfall. Två jämförbara energipriser på samma volym och period; övrig elhandel, nät, skatt och moms ingår inte.</a:t>
            </a:r>
          </a:p>
          <a:p/>
          <a:p>
            <a:r>
              <a:t>DATA</a:t>
            </a:r>
          </a:p>
          <a:p>
            <a:r>
              <a:t>Årsvolym: 120 MWh.</a:t>
            </a:r>
          </a:p>
          <a:p>
            <a:r>
              <a:t>Pris A: 80 öre/kWh. Pris B: 82 öre/kWh.</a:t>
            </a:r>
          </a:p>
          <a:p/>
          <a:p>
            <a:r>
              <a:t>MELLANLED</a:t>
            </a:r>
          </a:p>
          <a:p>
            <a:r>
              <a:t>120 MWh × 1 000 = 120 000 kWh.</a:t>
            </a:r>
          </a:p>
          <a:p>
            <a:r>
              <a:t>A: 120 000 × 80 ÷ 100 = 96 000 kr.</a:t>
            </a:r>
          </a:p>
          <a:p>
            <a:r>
              <a:t>B: 120 000 × 82 ÷ 100 = 98 400 kr.</a:t>
            </a:r>
          </a:p>
          <a:p>
            <a:r>
              <a:t>Skillnad: 98 400 − 96 000 = 2 400 kr. Kontroll: 120 000 × 2 ÷ 100 = 2 400 kr.</a:t>
            </a:r>
          </a:p>
          <a:p/>
          <a:p>
            <a:r>
              <a:t>RESULTAT</a:t>
            </a:r>
          </a:p>
          <a:p>
            <a:r>
              <a:t>Två öre/kWh motsvarar 2 400 kr per år vid 120 MWh.</a:t>
            </a:r>
          </a:p>
          <a:p/>
          <a:p>
            <a:r>
              <a:t>TOLKNING</a:t>
            </a:r>
          </a:p>
          <a:p>
            <a:r>
              <a:t>Detta visar skalan, inte en offert eller besparingsgaranti. Om priserna avser olika kostnadsdelar är skillnaden inte en rättvis avtalsjämförelse.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årsfall. Två jämförbara energipriser på samma volym och period; övrig elhandel, nät, skatt och moms ingår inte.</a:t>
            </a:r>
          </a:p>
          <a:p/>
          <a:p>
            <a:r>
              <a:t>DATA</a:t>
            </a:r>
          </a:p>
          <a:p>
            <a:r>
              <a:t>Årsvolym: 120 MWh.</a:t>
            </a:r>
          </a:p>
          <a:p>
            <a:r>
              <a:t>Pris A: 80 öre/kWh. Pris B: 82 öre/kWh.</a:t>
            </a:r>
          </a:p>
          <a:p/>
          <a:p>
            <a:r>
              <a:t>MELLANLED</a:t>
            </a:r>
          </a:p>
          <a:p>
            <a:r>
              <a:t>120 MWh × 1 000 = 120 000 kWh.</a:t>
            </a:r>
          </a:p>
          <a:p>
            <a:r>
              <a:t>A: 120 000 × 80 ÷ 100 = 96 000 kr.</a:t>
            </a:r>
          </a:p>
          <a:p>
            <a:r>
              <a:t>B: 120 000 × 82 ÷ 100 = 98 400 kr.</a:t>
            </a:r>
          </a:p>
          <a:p>
            <a:r>
              <a:t>Skillnad: 98 400 − 96 000 = 2 400 kr. Kontroll: 120 000 × 2 ÷ 100 = 2 400 kr.</a:t>
            </a:r>
          </a:p>
          <a:p/>
          <a:p>
            <a:r>
              <a:t>RESULTAT</a:t>
            </a:r>
          </a:p>
          <a:p>
            <a:r>
              <a:t>Två öre/kWh motsvarar 2 400 kr per år vid 120 MWh.</a:t>
            </a:r>
          </a:p>
          <a:p/>
          <a:p>
            <a:r>
              <a:t>TOLKNING</a:t>
            </a:r>
          </a:p>
          <a:p>
            <a:r>
              <a:t>Detta visar skalan, inte en offert eller besparingsgaranti. Om priserna avser olika kostnadsdelar är skillnaden inte en rättvis avtalsjämförelse.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Maskinen är på 10 kW, alltså använder den 10 kWh per dag.</a:t>
            </a:r>
          </a:p>
          <a:p/>
          <a:p>
            <a:r>
              <a:t>kW är effekt. Energin beror på hur länge maskinen faktiskt arbetar och hur effekten varierar.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Kvartspriset ska alltid multipliceras med 0,25.</a:t>
            </a:r>
          </a:p>
          <a:p/>
          <a:p>
            <a:r>
              <a:t>Tidsfaktorn behövs när kW omvandlas till kWh. Ett mätvärde som redan är kWh multipliceras direkt med kr/kWh.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Ett lägre kWh-pris betyder alltid en lägre faktura.</a:t>
            </a:r>
          </a:p>
          <a:p/>
          <a:p>
            <a:r>
              <a:t>Fakturan beror också på volym, avgifter och andra kostnadsdelar. Mer användning kan ge högre kostnad trots lägre enhetspris.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kW visar hur snabbt ni använder el, medan kWh visar mängden ni har använt. Vi multiplicerar den köpta mängden med priset per kWh. Sedan måste vi se vilka avgifter och andra kostnader som ingår innan vi kan tala om hela fakturan.</a:t>
            </a:r>
          </a:p>
          <a:p/>
          <a:p>
            <a:r>
              <a:t>UTVECKLAD FÖRKLARING</a:t>
            </a:r>
          </a:p>
          <a:p>
            <a:r>
              <a:t>En ugn som använder 10 kW i två timmar förbrukar 20 kWh. För er årskostnad behöver vi den uppmätta eller förväntade energimängden, inte bara maskinernas märkplåtar. Om den mängden är 120 MWh räknar vi med 120 000 kWh. Ett pris på 80 öre ger då 96 000 kronor för just den prisdelen. Jag visar elhandel, nät och skatter var för sig så att beräkningen går att följa.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Det fiktiva Bageriet Eken anger 120 MWh köpt el per år. Ägaren har sett en ugn märkt 20 kW och säger: 'Då är vår årsförbrukning väl 20 kW, och två öre billigare kan inte spela någon roll.' I en mätfil finns dessutom 5 kWh för en kvart. Ett jämförbart exempelpris för energidelen är 90 öre/kWh.</a:t>
            </a:r>
          </a:p>
          <a:p/>
          <a:p>
            <a:r>
              <a:t>UPPGIFTER</a:t>
            </a:r>
          </a:p>
          <a:p>
            <a:r>
              <a:t>Förklara varför märkplåten och årsförbrukningen beskriver olika saker.</a:t>
            </a:r>
          </a:p>
          <a:p>
            <a:r>
              <a:t>Beräkna årets kostnad för den givna energidelen samt värdet av två öres skillnad.</a:t>
            </a:r>
          </a:p>
          <a:p>
            <a:r>
              <a:t>Beräkna kostnaden för kvartens 5 kWh utan att räkna tidsfaktorn dubbelt.</a:t>
            </a:r>
          </a:p>
          <a:p>
            <a:r>
              <a:t>Skriv vad som fortfarande behövs för att bedöma hela elkostnaden.</a:t>
            </a:r>
          </a:p>
          <a:p/>
          <a:p>
            <a:r>
              <a:t>MODELLSVAR</a:t>
            </a:r>
          </a:p>
          <a:p>
            <a:r>
              <a:t>20 kW beskriver ugnens effekt, inte bageriets samlade årsanvändning. 120 MWh är 120 000 kWh. Den angivna energidelen kostar 120 000 × 0,90 = 108 000 kr. Två öre per kWh motsvarar 120 000 × 0,02 = 2 400 kr för ett år med samma mängd. Kvartens 5 kWh kostar 5 × 0,90 = 4,50 kr för den prisdelen; energin ska inte multipliceras med 0,25 igen. För hela kalkylen behövs samtliga elhandelsavgifter, nätkostnader och tillämpliga skatter samt korrekt momshantering. Ändrad drift kan dessutom ändra framtidens köpta mängd.</a:t>
            </a:r>
          </a:p>
          <a:p/>
          <a:p>
            <a:r>
              <a:t>BEDÖMNINGSSTÖD</a:t>
            </a:r>
          </a:p>
          <a:p>
            <a:r>
              <a:t>Effekt och energi skiljs tydligt och förklaras utan fackord som ersätter innebörden.</a:t>
            </a:r>
          </a:p>
          <a:p>
            <a:r>
              <a:t>Omräkningen ger 120 000 kWh, 108 000 kr och 2 400 kr.</a:t>
            </a:r>
          </a:p>
          <a:p>
            <a:r>
              <a:t>Kvartskostnaden är 4,50 kr och tidsfaktorn används inte igen.</a:t>
            </a:r>
          </a:p>
          <a:p>
            <a:r>
              <a:t>Svaret säger uttryckligen att beloppen inte är hela elkostnaden.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Det fiktiva Bageriet Eken anger 120 MWh köpt el per år. Ägaren har sett en ugn märkt 20 kW och säger: 'Då är vår årsförbrukning väl 20 kW, och två öre billigare kan inte spela någon roll.' I en mätfil finns dessutom 5 kWh för en kvart. Ett jämförbart exempelpris för energidelen är 90 öre/kWh.</a:t>
            </a:r>
          </a:p>
          <a:p/>
          <a:p>
            <a:r>
              <a:t>UPPGIFTER</a:t>
            </a:r>
          </a:p>
          <a:p>
            <a:r>
              <a:t>Förklara varför märkplåten och årsförbrukningen beskriver olika saker.</a:t>
            </a:r>
          </a:p>
          <a:p>
            <a:r>
              <a:t>Beräkna årets kostnad för den givna energidelen samt värdet av två öres skillnad.</a:t>
            </a:r>
          </a:p>
          <a:p>
            <a:r>
              <a:t>Beräkna kostnaden för kvartens 5 kWh utan att räkna tidsfaktorn dubbelt.</a:t>
            </a:r>
          </a:p>
          <a:p>
            <a:r>
              <a:t>Skriv vad som fortfarande behövs för att bedöma hela elkostnaden.</a:t>
            </a:r>
          </a:p>
          <a:p/>
          <a:p>
            <a:r>
              <a:t>MODELLSVAR</a:t>
            </a:r>
          </a:p>
          <a:p>
            <a:r>
              <a:t>20 kW beskriver ugnens effekt, inte bageriets samlade årsanvändning. 120 MWh är 120 000 kWh. Den angivna energidelen kostar 120 000 × 0,90 = 108 000 kr. Två öre per kWh motsvarar 120 000 × 0,02 = 2 400 kr för ett år med samma mängd. Kvartens 5 kWh kostar 5 × 0,90 = 4,50 kr för den prisdelen; energin ska inte multipliceras med 0,25 igen. För hela kalkylen behövs samtliga elhandelsavgifter, nätkostnader och tillämpliga skatter samt korrekt momshantering. Ändrad drift kan dessutom ändra framtidens köpta mängd.</a:t>
            </a:r>
          </a:p>
          <a:p/>
          <a:p>
            <a:r>
              <a:t>BEDÖMNINGSSTÖD</a:t>
            </a:r>
          </a:p>
          <a:p>
            <a:r>
              <a:t>Effekt och energi skiljs tydligt och förklaras utan fackord som ersätter innebörden.</a:t>
            </a:r>
          </a:p>
          <a:p>
            <a:r>
              <a:t>Omräkningen ger 120 000 kWh, 108 000 kr och 2 400 kr.</a:t>
            </a:r>
          </a:p>
          <a:p>
            <a:r>
              <a:t>Kvartskostnaden är 4,50 kr och tidsfaktorn används inte igen.</a:t>
            </a:r>
          </a:p>
          <a:p>
            <a:r>
              <a:t>Svaret säger uttryckligen att beloppen inte är hela elkostnaden.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Mätfilen visar 3 kWh för en kvart. Hur räknar du kostnaden vid 100 öre/kWh?</a:t>
            </a:r>
          </a:p>
          <a:p/>
          <a:p>
            <a:r>
              <a:t>FACIT</a:t>
            </a:r>
          </a:p>
          <a:p>
            <a:r>
              <a:t>Rätt alternativ: A. 3 × 1,00 = 3 kr, eftersom mängden redan är energi. Förklaring: kWh är den färdiga energimängden. Omvandla öre till kronor, men lägg inte till en tidsfaktor igen.</a:t>
            </a:r>
          </a:p>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utrustning använder konstant 20 kW under en halvtimme. Hur mycket energi används?</a:t>
            </a:r>
          </a:p>
          <a:p/>
          <a:p>
            <a:r>
              <a:t>FACIT</a:t>
            </a:r>
          </a:p>
          <a:p>
            <a:r>
              <a:t>Svar: 10 kWh. 20 kW × 0,5 timmar = 10 kWh. Effekt är takt; energin beräknas över tiden.</a:t>
            </a:r>
          </a:p>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Vad kostar 150 MWh vid 90 öre/kWh för en given energipriskomponent?</a:t>
            </a:r>
          </a:p>
          <a:p/>
          <a:p>
            <a:r>
              <a:t>FACIT</a:t>
            </a:r>
          </a:p>
          <a:p>
            <a:r>
              <a:t>Svar: 135000 kr. 150 MWh = 150 000 kWh. 90 öre = 0,90 kr. 150 000 × 0,90 = 135 000 kr; övriga delar omfattas inte.</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kund säger att oförändrat elpris borde ge oförändrad faktura. Förklara minst två saker som behöver kontrolleras.</a:t>
            </a:r>
          </a:p>
          <a:p/>
          <a:p>
            <a:r>
              <a:t>FACIT</a:t>
            </a:r>
          </a:p>
          <a:p>
            <a:r>
              <a:t>Kontrollera köpt mängd och vilka prisdelar eller avgifter kunden jämför. Samma enhetspris gånger fler kWh ger ett högre energibelopp; nät och skatt kan dessutom påverka fakturan.</a:t>
            </a:r>
          </a:p>
          <a:p/>
          <a:p>
            <a:r>
              <a:t>Skiljer pris per kWh från kostnad i kronor.</a:t>
            </a:r>
          </a:p>
          <a:p>
            <a:r>
              <a:t>Tar upp faktisk mängd.</a:t>
            </a:r>
          </a:p>
          <a:p>
            <a:r>
              <a:t>Tar upp avgifter eller andra kostnadsdelar och avgränsar jämförelsen.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Läs enhet och period innan du räknar.</a:t>
            </a:r>
          </a:p>
          <a:p>
            <a:r>
              <a:t>Omvandla kW till kWh med tiden endast när mätvärdet är effekt.</a:t>
            </a:r>
          </a:p>
          <a:p>
            <a:r>
              <a:t>1 MWh = 1 000 kWh och 100 öre = 1 kr.</a:t>
            </a:r>
          </a:p>
          <a:p>
            <a:r>
              <a:t>Skriv vilka kostnadsdelar beloppet avser.</a:t>
            </a:r>
          </a:p>
          <a:p>
            <a:r>
              <a:t>Kontrollera storleksordningen och förklara skillnaden mellan pris och kostnad.</a:t>
            </a:r>
          </a:p>
          <a:p/>
          <a:p>
            <a:r>
              <a:t>KÄLLOR</a:t>
            </a:r>
          </a:p>
          <a:p>
            <a:r>
              <a:t>Elhandel från grunden · B2B-presentation v1 (91 bilder) · s. 9, 10, 11, 15, 16, 83 · Effekt, energi, omräkningar och mätvärden. Nya tal är syntetiska övningar.</a:t>
            </a:r>
          </a:p>
          <a:p>
            <a:r>
              <a:t>Elhandel från grunden · B2B-självstudier v1 (91 sidor) · s. 9, 10, 11, 25, 83 · Fördjupning om konstant effekt och att inte multiplicera uppmätta kWh med kvartens tid igen.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'Elbolaget' och 'elräkningen' kan omfatta flera roller och kostnadsdelar. Här gör du sambanden begripliga: vem ansvarar för vad, vad kunden kan välja och vilka belopp ett elhandelsavtal påverkar. Målet är en läsbar faktura utan att kunden behöver kunna hela branschen.</a:t>
            </a:r>
          </a:p>
          <a:p/>
          <a:p>
            <a:r>
              <a:t>LÄRANDEMÅL</a:t>
            </a:r>
          </a:p>
          <a:p>
            <a:r>
              <a:t>Beskriva producentens, elnätsföretagets och elhandlarens olika uppgifter.</a:t>
            </a:r>
          </a:p>
          <a:p>
            <a:r>
              <a:t>Dela upp elkostnaden i elhandel, elnät, energiskatt och moms.</a:t>
            </a:r>
          </a:p>
          <a:p>
            <a:r>
              <a:t>Räkna ett effektivt elhandelspris när både kWh-pris och fast avgift finns.</a:t>
            </a:r>
          </a:p>
          <a:p>
            <a:r>
              <a:t>Förklara varför byte av elhandlare inte ändrar nätföretag eller låser hela elräkningen.</a:t>
            </a:r>
          </a:p>
          <a:p/>
          <a:p>
            <a:r>
              <a:t>KANONISKT BERÄTTARMANUS</a:t>
            </a:r>
          </a:p>
          <a:p>
            <a:r>
              <a:t>elhandel-elnat-01 · Vem gör vad?</a:t>
            </a:r>
          </a:p>
          <a:p>
            <a:r>
              <a:t>När kunden säger elbolaget kan flera olika roller ligga bakom ordet. Producenten producerar el. Nätföretaget driver nätet som ansluter anläggningen och överför elen. Elhandlaren säljer elen enligt ett kommersiellt avtal. Kunden kan välja elhandlare, medan det lokala nätföretaget följer anläggningens läge. Ett nytt elhandelsavtal betyder därför normalt inte en ny kabel till huset. Svenska kraftnät ansvarar för systemets balans i sin roll, och elbörsen är en handelsplats. Kraftringen kan möta kunden genom olika bolag. Fråga därför vilket avtal och vilken anläggning samtalet gäller. Då kan du förklara rätt sak och undvika att blanda ihop nätfrågor med prisfrågor.</a:t>
            </a:r>
          </a:p>
          <a:p>
            <a:r>
              <a:t>På skärmen: Producent | Elnätsföretag | Elhandelsföretag</a:t>
            </a:r>
          </a:p>
          <a:p>
            <a:r>
              <a:t>Bildidé: Tre enkla rollkort kopplas till kraftverk, nätledning och avtal vid samma anläggning.</a:t>
            </a:r>
          </a:p>
          <a:p/>
          <a:p>
            <a:r>
              <a:t>elhandel-elnat-02 · Två vägar till samma kund</a:t>
            </a:r>
          </a:p>
          <a:p>
            <a:r>
              <a:t>Elens fysiska väg och pengarnas väg är olika beskrivningar av samma affär. Elen kommer genom det gemensamma nätet. Avtalet bestämmer hur elhandelspriset beräknas och vilka villkor kunden har. Två grannar kan därför betala olika elhandelspris trots att de använder samma lokala nät. Ett prisavtal reserverar inte särskilda elektroner. Ursprungsgarantier dokumenterar egenskaper hos en motsvarande producerad mängd el, men följer inte enskilda elektroner till uttaget. Var också noggrann med orden fossilfri och förnybar: de betyder olika saker. Använd den ursprungsbeskrivning som faktiskt gäller i erbjudandet och kontrollera om kostnaden redan ingår innan du lägger till den i en kalkyl.</a:t>
            </a:r>
          </a:p>
          <a:p>
            <a:r>
              <a:t>På skärmen: Fysisk el: gemensamt nät | Avtal: pris och villkor | Ursprung enligt erbjudandet</a:t>
            </a:r>
          </a:p>
          <a:p>
            <a:r>
              <a:t>Bildidé: En fysisk linje till uttaget och en separat avtalslinje visas, följt av ett ursprungskort.</a:t>
            </a:r>
          </a:p>
          <a:p/>
          <a:p>
            <a:r>
              <a:t>elhandel-elnat-03 · Fyra delar av kostnaden</a:t>
            </a:r>
          </a:p>
          <a:p>
            <a:r>
              <a:t>Hela elkostnaden behöver delas upp för att bli begriplig. Elhandeln kan innehålla energi, inköpskostnader, påslag och fasta avgifter. Elnätet har sina egna priser för anslutning och överföring och kan i vissa tariffer ha effektkostnader. Energiskatt är en separat skattedel. Moms behandlas enligt de regler som gäller för kunden och fakturan. Delarna kan stå på en eller flera fakturor, men de finns där oavsett layout. Ett fast elhandelspris låser inte automatiskt nätkostnad eller skatter. I våra övningar använder vi inga påstådda aktuella skattesatser. För en riktig kund använder vi aktuella underlag och anger tydligt vad som är inklusive eller exklusive moms.</a:t>
            </a:r>
          </a:p>
          <a:p>
            <a:r>
              <a:t>På skärmen: Elhandel | Elnät | Energiskatt | Moms</a:t>
            </a:r>
          </a:p>
          <a:p>
            <a:r>
              <a:t>Bildidé: En exempelräkning byggs av fyra tydligt namngivna delar utan livepriser eller skattesatser.</a:t>
            </a:r>
          </a:p>
          <a:p/>
          <a:p>
            <a:r>
              <a:t>elhandel-elnat-04 · Den fasta avgiften räknas också</a:t>
            </a:r>
          </a:p>
          <a:p>
            <a:r>
              <a:t>Ett pris per kilowattimme är inte alltid hela elhandelskostnaden. Tänk dig ett månadspris på nittiotre öre och en fast avgift på hundra kronor. Vid femtusen kilowattimmar blir elhandeln fyratusensjuhundrafemtio kronor. Delat med mängden blir det nittiofem öre per kilowattimme. Vid bara tusen kilowattimmar blir kostnaden tusentrettio kronor, eller hundratre öre per kilowattimme. Samma fasta avgift väger alltså tyngre när mängden är mindre. Därför behöver vi både kWh-priset och fasta avgifter i jämförelsen. Vi behöver dessutom veta vilka delar som redan ingår i priset. Annars kan vi både missa en kostnad och råka räkna samma kostnad två gånger.</a:t>
            </a:r>
          </a:p>
          <a:p>
            <a:r>
              <a:t>På skärmen: 5 000 kWh: 95 öre/kWh | 1 000 kWh: 103 öre/kWh | Samma avgift, olika vikt</a:t>
            </a:r>
          </a:p>
          <a:p>
            <a:r>
              <a:t>Bildidé: Två volymstaplar visar samma hundrakronorsavgift och olika effektivt pris; scope står kvar.</a:t>
            </a:r>
          </a:p>
          <a:p/>
          <a:p>
            <a:r>
              <a:t>elhandel-elnat-05 · Visa vad förändringen faktiskt påverkar</a:t>
            </a:r>
          </a:p>
          <a:p>
            <a:r>
              <a:t>När du beskriver en förbättring ska du koppla den till rätt del av kostnaden. Om elhandeln går från sextusen till femtusenfyrahundra kronor är skillnaden sexhundra kronor, eller tio procent av elhandeln. Om nät och skatt tillsammans är fyratusen kronor och förblir oförändrade minskar summan före moms från tiotusen till niotusenfyrahundra. Det är sex procent av den jämförda helheten. Exemplet är påhittat och innehåller ingen aktuell skattesats. Metoden är det viktiga: ange period, mängd och omfattning. Be kunden återberätta vilka delar ert erbjudande påverkar. När kunden förstår skillnaden mellan avtalets pris och hela räkningen blir produktvalet lättare att fatta på rätt grund.</a:t>
            </a:r>
          </a:p>
          <a:p>
            <a:r>
              <a:t>På skärmen: Elhandel: −10 % | Jämförd summa före moms: −6 % | Påhittat räkneexempel</a:t>
            </a:r>
          </a:p>
          <a:p>
            <a:r>
              <a:t>Bildidé: Elhandelsdelen minskar medan nät och skattebelopp är oförändrade; procenternas nämnare framhävs.</a:t>
            </a:r>
          </a:p>
          <a:p/>
          <a:p>
            <a:r>
              <a:t>KÄLLOR</a:t>
            </a:r>
          </a:p>
          <a:p>
            <a:r>
              <a:t>Elhandel från grunden · B2B-presentation v1 (91 bilder) · s. 7, 8, 12, 13, 14, 23, 83 · Aktörsroller, fakturadelar, ursprung och prisuppdelning.</a:t>
            </a:r>
          </a:p>
          <a:p>
            <a:r>
              <a:t>Elhandel från grunden · B2B-självstudier v1 (91 sidor) · s. 7, 8, 12, 13, 14, 23 · Fördjupning: nätet ändras inte vid leverantörsbyte; skattesatser och moms ska inte generaliseras.</a:t>
            </a:r>
          </a:p>
          <a:p>
            <a:r>
              <a:t>Produktspecifikationer för säljare · 10 oktober 2026 (31 sidor) · s. 6, 7, 8, 9, 10 · Aktuella produktprinciper för avgifter, månadspris och fastprisets avgränsning.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Producenten producerar el. Elnätsföretaget driver nätet som ansluter anläggningen, överför el och ansvarar för mätningen i sin roll. Elhandelsföretaget säljer el och avtalar om hur kundens elhandelspris beräknas. Kunden kan välja elhandlare, medan nätföretaget följer anläggningens läge. Ett byte av elhandelsavtal innebär därför normalt inte en ny kabel eller ett annat lokalt nätföretag.</a:t>
            </a:r>
          </a:p>
          <a:p/>
          <a:p>
            <a:r>
              <a:t>Svenska kraftnät har systemansvar och ansvar för transmissionsnätet; Energimarknadsinspektionen är tillsynsmyndighet. Elbörsen är en handelsplats. Kraftringen kan finnas i flera roller genom olika bolag. Kontrollera bolag, anläggning och avtal; kundnummer och anläggningens mätpunkt är olika saker.</a:t>
            </a:r>
          </a:p>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Elen når uttaget genom det gemensamma elsystemet. Avtalet bestämmer prisberäkning, avgifter, villkor och hur viss ekonomisk risk fördelas. Två grannar i samma nät kan ha olika elhandlare och olika avtalsformer. De kan också använda el vid olika tider. Samma ledning i området innebär därför inte samma kundpris.</a:t>
            </a:r>
          </a:p>
          <a:p/>
          <a:p>
            <a:r>
              <a:t>Prissäkring reserverar inte särskilda elektroner. En ursprungsgaranti redovisar egenskaper hos en motsvarande producerad mängd, inte en spårbar hög elektroner i uttaget. Fossilfri och förnybar är olika begrepp. Använd offertens ursprungsbeskrivning och räkna inte samma kostnad dubbelt.</a:t>
            </a:r>
          </a:p>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Elhandel kan omfatta energi, avtalade inköpskostnader, påslag och fasta avgifter. Elnät kan omfatta abonnemang, överföring och i vissa tariffer effekt. Energiskatt är en separat skattedel och tas normalt ut via nätföretaget. Moms följer tillämpliga regler. Delarna kan stå på en eller flera fakturor, men antalet fakturor avgör inte vad kostnaden består av.</a:t>
            </a:r>
          </a:p>
          <a:p/>
          <a:p>
            <a:r>
              <a:t>Fast elhandel låser inte automatiskt nät, skatt eller moms. Använd aktuella skatteunderlag: verksamhet och undantag kan påverka. Ange jämförelsens momsgrund och anta inte samma avdragsrätt för alla företag eller föreningar. Konsumentens presenterade prisomfattning måste också vara tydlig och jämförbar.</a:t>
            </a:r>
          </a:p>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En faktura kan ha separata rader för energi, inköpskostnader och påslag, men samma delar kan också vara samlade i ett kWh-pris. Fråga vad raden innehåller. Om avtalets månadspris redan omfattar viss profil- eller ursprungskostnad ska den inte räknas en gång till. Den pedagogiska uppdelningen är ett hjälpmedel, inte en universell fakturamall.</a:t>
            </a:r>
          </a:p>
          <a:p/>
          <a:p>
            <a:r>
              <a:t>Fast avgift påverkar det effektiva priset per kWh. Beräkna först hela jämförbara elhandelsbeloppet och dela sedan med samma periods kWh. En avgift på 100 kr blir 2 öre/kWh vid 5 000 kWh, men 10 öre/kWh vid 1 000 kWh. Att bara jämföra påslag kan därför ge en missvisande bild, särskilt för en kund med låg eller tydligt varierande användning.</a:t>
            </a:r>
          </a:p>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10 procent lägre elhandel är inte automatiskt 10 procent lägre total elkostnad. Nät och skatt kan vara oförändrade och användningen ändras. Ange påverkad del, period och antaganden. Räkna sedan vad skillnaden betyder i kronor och som andel av den jämförda helheten.</a:t>
            </a:r>
          </a:p>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månadsberäkning exklusive elnät, energiskatt och moms. Tal är undervisningsdata, inte Kraftringens prislista.</a:t>
            </a:r>
          </a:p>
          <a:p/>
          <a:p>
            <a:r>
              <a:t>DATA</a:t>
            </a:r>
          </a:p>
          <a:p>
            <a:r>
              <a:t>Volym 10 000 kWh; energi 70 öre/kWh.</a:t>
            </a:r>
          </a:p>
          <a:p>
            <a:r>
              <a:t>Övrig inköpsdel 4 öre/kWh; påslag 3 öre/kWh.</a:t>
            </a:r>
          </a:p>
          <a:p>
            <a:r>
              <a:t>Fast månadsavgift 50 kr.</a:t>
            </a:r>
          </a:p>
          <a:p/>
          <a:p>
            <a:r>
              <a:t>MELLANLED</a:t>
            </a:r>
          </a:p>
          <a:p>
            <a:r>
              <a:t>Energi: 10 000 × 0,70 = 7 000 kr.</a:t>
            </a:r>
          </a:p>
          <a:p>
            <a:r>
              <a:t>Inköpsdel: 10 000 × 0,04 = 400 kr. Påslag: 10 000 × 0,03 = 300 kr.</a:t>
            </a:r>
          </a:p>
          <a:p>
            <a:r>
              <a:t>Summa: 7 000 + 400 + 300 + 50 = 7 750 kr.</a:t>
            </a:r>
          </a:p>
          <a:p>
            <a:r>
              <a:t>Effektivt pris: 7 750 ÷ 10 000 = 0,775 kr/kWh = 77,5 öre/kWh.</a:t>
            </a:r>
          </a:p>
          <a:p/>
          <a:p>
            <a:r>
              <a:t>RESULTAT</a:t>
            </a:r>
          </a:p>
          <a:p>
            <a:r>
              <a:t>Elhandel 7 750 kr; effektivt elhandelspris 77,5 öre/kWh.</a:t>
            </a:r>
          </a:p>
          <a:p/>
          <a:p>
            <a:r>
              <a:t>TOLKNING</a:t>
            </a:r>
          </a:p>
          <a:p>
            <a:r>
              <a:t>Den fasta avgiften motsvarar 0,5 öre/kWh här. Uppdelningen får bara användas om kostnaderna inte redan ingår i andra prisrader.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månadsberäkning exklusive elnät, energiskatt och moms. Tal är undervisningsdata, inte Kraftringens prislista.</a:t>
            </a:r>
          </a:p>
          <a:p/>
          <a:p>
            <a:r>
              <a:t>DATA</a:t>
            </a:r>
          </a:p>
          <a:p>
            <a:r>
              <a:t>Volym 10 000 kWh; energi 70 öre/kWh.</a:t>
            </a:r>
          </a:p>
          <a:p>
            <a:r>
              <a:t>Övrig inköpsdel 4 öre/kWh; påslag 3 öre/kWh.</a:t>
            </a:r>
          </a:p>
          <a:p>
            <a:r>
              <a:t>Fast månadsavgift 50 kr.</a:t>
            </a:r>
          </a:p>
          <a:p/>
          <a:p>
            <a:r>
              <a:t>MELLANLED</a:t>
            </a:r>
          </a:p>
          <a:p>
            <a:r>
              <a:t>Energi: 10 000 × 0,70 = 7 000 kr.</a:t>
            </a:r>
          </a:p>
          <a:p>
            <a:r>
              <a:t>Inköpsdel: 10 000 × 0,04 = 400 kr. Påslag: 10 000 × 0,03 = 300 kr.</a:t>
            </a:r>
          </a:p>
          <a:p>
            <a:r>
              <a:t>Summa: 7 000 + 400 + 300 + 50 = 7 750 kr.</a:t>
            </a:r>
          </a:p>
          <a:p>
            <a:r>
              <a:t>Effektivt pris: 7 750 ÷ 10 000 = 0,775 kr/kWh = 77,5 öre/kWh.</a:t>
            </a:r>
          </a:p>
          <a:p/>
          <a:p>
            <a:r>
              <a:t>RESULTAT</a:t>
            </a:r>
          </a:p>
          <a:p>
            <a:r>
              <a:t>Elhandel 7 750 kr; effektivt elhandelspris 77,5 öre/kWh.</a:t>
            </a:r>
          </a:p>
          <a:p/>
          <a:p>
            <a:r>
              <a:t>TOLKNING</a:t>
            </a:r>
          </a:p>
          <a:p>
            <a:r>
              <a:t>Den fasta avgiften motsvarar 0,5 öre/kWh här. Uppdelningen får bara användas om kostnaderna inte redan ingår i andra prisrader.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jämförelse före moms. Nät- och skattebeloppen är givna, påhittade belopp utan antagen aktuell tariff eller skattesats. Oförändrad volym och period.</a:t>
            </a:r>
          </a:p>
          <a:p/>
          <a:p>
            <a:r>
              <a:t>DATA</a:t>
            </a:r>
          </a:p>
          <a:p>
            <a:r>
              <a:t>Elhandel 6 000 kr, nät 3 000 kr och energiskatt 1 000 kr.</a:t>
            </a:r>
          </a:p>
          <a:p>
            <a:r>
              <a:t>Ny jämförbar elhandel 5 400 kr. Övriga två delar är oförändrade.</a:t>
            </a:r>
          </a:p>
          <a:p/>
          <a:p>
            <a:r>
              <a:t>MELLANLED</a:t>
            </a:r>
          </a:p>
          <a:p>
            <a:r>
              <a:t>Tidigare jämförd summa: 6 000 + 3 000 + 1 000 = 10 000 kr.</a:t>
            </a:r>
          </a:p>
          <a:p>
            <a:r>
              <a:t>Ny summa: 5 400 + 3 000 + 1 000 = 9 400 kr.</a:t>
            </a:r>
          </a:p>
          <a:p>
            <a:r>
              <a:t>Skillnad: 600 kr. Elhandelsdelen minskar 600 ÷ 6 000 = 10 procent.</a:t>
            </a:r>
          </a:p>
          <a:p>
            <a:r>
              <a:t>Hela den jämförda summan minskar 600 ÷ 10 000 = 6 procent.</a:t>
            </a:r>
          </a:p>
          <a:p/>
          <a:p>
            <a:r>
              <a:t>RESULTAT</a:t>
            </a:r>
          </a:p>
          <a:p>
            <a:r>
              <a:t>600 kr lägre jämförd kostnad: 10 procent av elhandeln men 6 procent av summan före moms.</a:t>
            </a:r>
          </a:p>
          <a:p/>
          <a:p>
            <a:r>
              <a:t>TOLKNING</a:t>
            </a:r>
          </a:p>
          <a:p>
            <a:r>
              <a:t>Moms är inte beräknad. Utfallet säger inget om framtida priser eller vad ett verkligt nät- eller skattebelopp blir.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jämförelse före moms. Nät- och skattebeloppen är givna, påhittade belopp utan antagen aktuell tariff eller skattesats. Oförändrad volym och period.</a:t>
            </a:r>
          </a:p>
          <a:p/>
          <a:p>
            <a:r>
              <a:t>DATA</a:t>
            </a:r>
          </a:p>
          <a:p>
            <a:r>
              <a:t>Elhandel 6 000 kr, nät 3 000 kr och energiskatt 1 000 kr.</a:t>
            </a:r>
          </a:p>
          <a:p>
            <a:r>
              <a:t>Ny jämförbar elhandel 5 400 kr. Övriga två delar är oförändrade.</a:t>
            </a:r>
          </a:p>
          <a:p/>
          <a:p>
            <a:r>
              <a:t>MELLANLED</a:t>
            </a:r>
          </a:p>
          <a:p>
            <a:r>
              <a:t>Tidigare jämförd summa: 6 000 + 3 000 + 1 000 = 10 000 kr.</a:t>
            </a:r>
          </a:p>
          <a:p>
            <a:r>
              <a:t>Ny summa: 5 400 + 3 000 + 1 000 = 9 400 kr.</a:t>
            </a:r>
          </a:p>
          <a:p>
            <a:r>
              <a:t>Skillnad: 600 kr. Elhandelsdelen minskar 600 ÷ 6 000 = 10 procent.</a:t>
            </a:r>
          </a:p>
          <a:p>
            <a:r>
              <a:t>Hela den jämförda summan minskar 600 ÷ 10 000 = 6 procent.</a:t>
            </a:r>
          </a:p>
          <a:p/>
          <a:p>
            <a:r>
              <a:t>RESULTAT</a:t>
            </a:r>
          </a:p>
          <a:p>
            <a:r>
              <a:t>600 kr lägre jämförd kostnad: 10 procent av elhandeln men 6 procent av summan före moms.</a:t>
            </a:r>
          </a:p>
          <a:p/>
          <a:p>
            <a:r>
              <a:t>TOLKNING</a:t>
            </a:r>
          </a:p>
          <a:p>
            <a:r>
              <a:t>Moms är inte beräknad. Utfallet säger inget om framtida priser eller vad ett verkligt nät- eller skattebelopp blir.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När vi byter elavtal byter vi elnät.</a:t>
            </a:r>
          </a:p>
          <a:p/>
          <a:p>
            <a:r>
              <a:t>Elhandlare och nätföretag har olika roller. Nätföretaget följer anläggningens plats.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Allt på elräkningen blir fast med fastpris.</a:t>
            </a:r>
          </a:p>
          <a:p/>
          <a:p>
            <a:r>
              <a:t>Det fasta elhandelsprisets uttryckliga omfattning ska läsas. Elnät, skatt och moms säkras inte av elhandelsavtalet.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Lägst påslag ger alltid lägst kundkostnad.</a:t>
            </a:r>
          </a:p>
          <a:p/>
          <a:p>
            <a:r>
              <a:t>Jämför samma prisdelar, period och volym inklusive fasta avgifter. Ett lågt påslag kan kombineras med andra kostnader.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 betalar dels för elen enligt ert elhandelsavtal, dels för nätet som transporterar den. Skatt och moms är ytterligare delar. Vi kan jämföra och förändra elhandelsavtalet, men ska visa nät och skatter separat så att ni förstår hela kostnaden.</a:t>
            </a:r>
          </a:p>
          <a:p/>
          <a:p>
            <a:r>
              <a:t>UTVECKLAD FÖRKLARING</a:t>
            </a:r>
          </a:p>
          <a:p>
            <a:r>
              <a:t>Byte av elhandlare ändrar hur elen prissätts i ert avtal, medan den anslutna anläggningen ligger kvar i samma lokala nät. På elhandeln räknar vi både kWh-priset och fasta avgifter. Om vi sänker den delen med 600 kronor är det 600 kronor som påverkas i vår jämförelse, inte automatiskt samma procent på hela fakturan. Vi använder era faktiska underlag för nät och skatt och anger tydligt hur moms behandlas.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Den fiktiva kunden Trädgården har 1 000 kWh en månad. En jämförbar elhandelsmodell anger 93 öre/kWh och 100 kr fast avgift före moms. Kunden visar samtidigt separata givna belopp: nät 500 kr och energiskatt 400 kr. Kunden säger: '93 öre är ju totalpriset, och om jag byter till er slipper jag väl nätavgiften?'</a:t>
            </a:r>
          </a:p>
          <a:p/>
          <a:p>
            <a:r>
              <a:t>UPPGIFTER</a:t>
            </a:r>
          </a:p>
          <a:p>
            <a:r>
              <a:t>Räkna elhandelsbelopp och effektivt elhandelspris.</a:t>
            </a:r>
          </a:p>
          <a:p>
            <a:r>
              <a:t>Räkna summan av de tre givna kostnadsdelarna före moms.</a:t>
            </a:r>
          </a:p>
          <a:p>
            <a:r>
              <a:t>Korrigera båda missförstånden på kundens språk.</a:t>
            </a:r>
          </a:p>
          <a:p>
            <a:r>
              <a:t>Ange vilka underlag som behövs innan beloppet kan beskrivas som slutligt att betala.</a:t>
            </a:r>
          </a:p>
          <a:p/>
          <a:p>
            <a:r>
              <a:t>MODELLSVAR</a:t>
            </a:r>
          </a:p>
          <a:p>
            <a:r>
              <a:t>Elhandeln blir 1 000 × 0,93 + 100 = 1 030 kr, alltså 103 öre/kWh inklusive den fasta avgiften i den jämförda omfattningen. Tillsammans med de givna nät- och skattebeloppen är summan 1 930 kr före moms. 93 öre omfattar alltså inte ens den fasta elhandelsavgiften i detta exempel, och inte nät eller skatt. Kunden behåller sin nätanslutning och dess kostnader när elhandlaren byts. För slutligt belopp behövs rätt period, samtliga faktiska avgifter, tillämplig moms och kontroll av att inga kostnader räknats dubbelt. Nät och skatt här är övningsbelopp, inte verkliga taxor.</a:t>
            </a:r>
          </a:p>
          <a:p/>
          <a:p>
            <a:r>
              <a:t>BEDÖMNINGSSTÖD</a:t>
            </a:r>
          </a:p>
          <a:p>
            <a:r>
              <a:t>1 030 kr och 103 öre/kWh beräknas korrekt.</a:t>
            </a:r>
          </a:p>
          <a:p>
            <a:r>
              <a:t>1 930 kr beskrivs som summa före moms, inte slutlig faktura.</a:t>
            </a:r>
          </a:p>
          <a:p>
            <a:r>
              <a:t>Rollerna för elhandel och nät skiljs utan att lova bort nätkostnaden.</a:t>
            </a:r>
          </a:p>
          <a:p>
            <a:r>
              <a:t>Svaret ber om faktiska prisrader och momshantering och undviker dubbelräkning.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Den fiktiva kunden Trädgården har 1 000 kWh en månad. En jämförbar elhandelsmodell anger 93 öre/kWh och 100 kr fast avgift före moms. Kunden visar samtidigt separata givna belopp: nät 500 kr och energiskatt 400 kr. Kunden säger: '93 öre är ju totalpriset, och om jag byter till er slipper jag väl nätavgiften?'</a:t>
            </a:r>
          </a:p>
          <a:p/>
          <a:p>
            <a:r>
              <a:t>UPPGIFTER</a:t>
            </a:r>
          </a:p>
          <a:p>
            <a:r>
              <a:t>Räkna elhandelsbelopp och effektivt elhandelspris.</a:t>
            </a:r>
          </a:p>
          <a:p>
            <a:r>
              <a:t>Räkna summan av de tre givna kostnadsdelarna före moms.</a:t>
            </a:r>
          </a:p>
          <a:p>
            <a:r>
              <a:t>Korrigera båda missförstånden på kundens språk.</a:t>
            </a:r>
          </a:p>
          <a:p>
            <a:r>
              <a:t>Ange vilka underlag som behövs innan beloppet kan beskrivas som slutligt att betala.</a:t>
            </a:r>
          </a:p>
          <a:p/>
          <a:p>
            <a:r>
              <a:t>MODELLSVAR</a:t>
            </a:r>
          </a:p>
          <a:p>
            <a:r>
              <a:t>Elhandeln blir 1 000 × 0,93 + 100 = 1 030 kr, alltså 103 öre/kWh inklusive den fasta avgiften i den jämförda omfattningen. Tillsammans med de givna nät- och skattebeloppen är summan 1 930 kr före moms. 93 öre omfattar alltså inte ens den fasta elhandelsavgiften i detta exempel, och inte nät eller skatt. Kunden behåller sin nätanslutning och dess kostnader när elhandlaren byts. För slutligt belopp behövs rätt period, samtliga faktiska avgifter, tillämplig moms och kontroll av att inga kostnader räknats dubbelt. Nät och skatt här är övningsbelopp, inte verkliga taxor.</a:t>
            </a:r>
          </a:p>
          <a:p/>
          <a:p>
            <a:r>
              <a:t>BEDÖMNINGSSTÖD</a:t>
            </a:r>
          </a:p>
          <a:p>
            <a:r>
              <a:t>1 030 kr och 103 öre/kWh beräknas korrekt.</a:t>
            </a:r>
          </a:p>
          <a:p>
            <a:r>
              <a:t>1 930 kr beskrivs som summa före moms, inte slutlig faktura.</a:t>
            </a:r>
          </a:p>
          <a:p>
            <a:r>
              <a:t>Rollerna för elhandel och nät skiljs utan att lova bort nätkostnaden.</a:t>
            </a:r>
          </a:p>
          <a:p>
            <a:r>
              <a:t>Svaret ber om faktiska prisrader och momshantering och undviker dubbelräkning.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Vilket påstående är korrekt när kunden byter elhandlare?</a:t>
            </a:r>
          </a:p>
          <a:p/>
          <a:p>
            <a:r>
              <a:t>FACIT</a:t>
            </a:r>
          </a:p>
          <a:p>
            <a:r>
              <a:t>Rätt alternativ: A. Elhandelsavtalet ändras, medan det lokala nätföretaget följer anläggningens läge. Förklaring: Elhandeln bestämmer kommersiella prisvillkor. Nätets roll och kostnader upphör inte genom bytet.</a:t>
            </a:r>
          </a:p>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5 000 kWh kostar 93 öre/kWh plus 100 kr fast avgift. Hur många kronor blir elhandeln före övriga delar?</a:t>
            </a:r>
          </a:p>
          <a:p/>
          <a:p>
            <a:r>
              <a:t>FACIT</a:t>
            </a:r>
          </a:p>
          <a:p>
            <a:r>
              <a:t>Svar: 4750 kr. 5 000 × 0,93 + 100 = 4 750 kr. Elnät, skatt och moms är utanför uppgiften.</a:t>
            </a:r>
          </a:p>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Vilket effektivt elhandelspris i öre/kWh ger 4 750 kr på 5 000 kWh?</a:t>
            </a:r>
          </a:p>
          <a:p/>
          <a:p>
            <a:r>
              <a:t>FACIT</a:t>
            </a:r>
          </a:p>
          <a:p>
            <a:r>
              <a:t>Svar: 95 öre/kWh. 4 750 ÷ 5 000 = 0,95 kr/kWh = 95 öre/kWh. Den fasta avgiften motsvarar två öre på den mängden.</a:t>
            </a:r>
          </a:p>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frågar om 10 procent lägre elhandelspris ger 10 procent lägre total elkostnad. Hur svarar du?</a:t>
            </a:r>
          </a:p>
          <a:p/>
          <a:p>
            <a:r>
              <a:t>FACIT</a:t>
            </a:r>
          </a:p>
          <a:p>
            <a:r>
              <a:t>Det behöver räknas på samma volym och period. Bara den jämförda elhandelsdelen påverkas; nät, skatt, moms och avgifter behöver hanteras separat. Totalens procent beror på hur stor del elhandeln utgör.</a:t>
            </a:r>
          </a:p>
          <a:p/>
          <a:p>
            <a:r>
              <a:t>Skiljer den påverkade delen från helheten.</a:t>
            </a:r>
          </a:p>
          <a:p>
            <a:r>
              <a:t>Kräver samma period och mängd.</a:t>
            </a:r>
          </a:p>
          <a:p>
            <a:r>
              <a:t>Använder faktiska kostnadsunderlag i stället för en generell procentgaranti.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Elhandlare, nätföretag och producent har olika uppgifter.</a:t>
            </a:r>
          </a:p>
          <a:p>
            <a:r>
              <a:t>Ett leverantörsbyte ändrar normalt inte nätanslutningen.</a:t>
            </a:r>
          </a:p>
          <a:p>
            <a:r>
              <a:t>Visa elhandel, nät, energiskatt och moms var för sig.</a:t>
            </a:r>
          </a:p>
          <a:p>
            <a:r>
              <a:t>Räkna fasta avgifter i det effektiva priset per kWh.</a:t>
            </a:r>
          </a:p>
          <a:p>
            <a:r>
              <a:t>Använd rätt prisomfattning och räkna ingen komponent två gånger.</a:t>
            </a:r>
          </a:p>
          <a:p/>
          <a:p>
            <a:r>
              <a:t>KÄLLOR</a:t>
            </a:r>
          </a:p>
          <a:p>
            <a:r>
              <a:t>Elhandel från grunden · B2B-presentation v1 (91 bilder) · s. 7, 8, 12, 13, 14, 23, 83 · Aktörsroller, fakturadelar, ursprung och prisuppdelning.</a:t>
            </a:r>
          </a:p>
          <a:p>
            <a:r>
              <a:t>Elhandel från grunden · B2B-självstudier v1 (91 sidor) · s. 7, 8, 12, 13, 14, 23 · Fördjupning: nätet ändras inte vid leverantörsbyte; skattesatser och moms ska inte generaliseras.</a:t>
            </a:r>
          </a:p>
          <a:p>
            <a:r>
              <a:t>Produktspecifikationer för säljare · 10 oktober 2026 (31 sidor) · s. 6, 7, 8, 9, 10 · Aktuella produktprinciper för avgifter, månadspris och fastprisets avgränsning.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Elpriset är ett resultat av en marknad som måste hantera både plats och tid. Det gör att en enda siffra i en nyhetsrubrik sällan räcker för att beskriva kundens pris. Här bygger vi en enkel modell för varför priset rör sig och vilka frågor som gör ett prisbesked användbart. Målet är förståelse, inte att kunna förutsäga morgondagens marknad.</a:t>
            </a:r>
          </a:p>
          <a:p/>
          <a:p>
            <a:r>
              <a:t>LÄRANDEMÅL</a:t>
            </a:r>
          </a:p>
          <a:p>
            <a:r>
              <a:t>Förklara varför utbud, efterfrågan och överföringskapacitet påverkar priset.</a:t>
            </a:r>
          </a:p>
          <a:p>
            <a:r>
              <a:t>Identifiera ett spotpris med rätt elområde, leveransintervall och omfattning.</a:t>
            </a:r>
          </a:p>
          <a:p>
            <a:r>
              <a:t>Skilja spotpris från terminspris och färdigt kundpris.</a:t>
            </a:r>
          </a:p>
          <a:p>
            <a:r>
              <a:t>Beskriva negativa priser utan att lova negativ total elkostnad.</a:t>
            </a:r>
          </a:p>
          <a:p/>
          <a:p>
            <a:r>
              <a:t>KANONISKT BERÄTTARMANUS</a:t>
            </a:r>
          </a:p>
          <a:p>
            <a:r>
              <a:t>elmarknad-01 · Balans varje ögonblick</a:t>
            </a:r>
          </a:p>
          <a:p>
            <a:r>
              <a:t>Elsystemet måste vara i balans när elen används. Produktion, import och lager som laddas ur bidrar på tillförselsidan. Hushåll, företag, nätförluster och laddning av lager finns på användningssidan. El kan lagras, men nätet är inget stort lager som gör tidpunkten oviktig. Därför spelar prognoser och justeringar en viktig roll. Kyla kan öka behovet, vind och driftstopp kan ändra utbudet, och överföring mellan områden kan vara begränsad. Flera faktorer samverkar. När du förklarar priset ska du därför undvika att peka ut en enda faktor som ett säkert svar på vad priset kommer att bli. Vi lär oss sambanden, inte att lova en prognos.</a:t>
            </a:r>
          </a:p>
          <a:p>
            <a:r>
              <a:t>På skärmen: Tillförsel | Användning | Balans i varje ögonblick</a:t>
            </a:r>
          </a:p>
          <a:p>
            <a:r>
              <a:t>Bildidé: Tillförsel och uttag visas på en balansillustration som påverkas av kyla, vind och ett driftstopp.</a:t>
            </a:r>
          </a:p>
          <a:p/>
          <a:p>
            <a:r>
              <a:t>elmarknad-02 · Priset har plats och tid</a:t>
            </a:r>
          </a:p>
          <a:p>
            <a:r>
              <a:t>Spotpriset vi talar om här är dagen före-marknadens pris för ett visst leveransintervall i ett visst elområde. Svenska dagen före-priser är kvartspriser. Ett vanligt dygn har nittiosex kvartar, medan dygn med klockomställning avviker. Priset anges fortfarande i öre per kilowattimme. Kvarten berättar när priset gäller. När någon säger att spotpriset är femtio öre behöver du alltså fråga efter område, tid och definition. För kundens kostnad behövs sedan också använd mängd och avtalets andra delar. En ensam siffra är sällan en färdig kundkalkyl. Det gäller både nyhetsrubriker, diagram och prisnoteringar som skickas mellan kollegor eller visas i ett säljsamtal.</a:t>
            </a:r>
          </a:p>
          <a:p>
            <a:r>
              <a:t>På skärmen: Vilket elområde? | Vilken kvart? | Vilka prisdelar?</a:t>
            </a:r>
          </a:p>
          <a:p>
            <a:r>
              <a:t>Bildidé: En prisnotering får tre etiketter: SE4, leveranskvart och endast spotdel.</a:t>
            </a:r>
          </a:p>
          <a:p/>
          <a:p>
            <a:r>
              <a:t>elmarknad-03 · Fyra elområden</a:t>
            </a:r>
          </a:p>
          <a:p>
            <a:r>
              <a:t>Sverige har fyra elområden: SE1, SE2, SE3 och SE4. De vanliga stadsnamnen är benämningar på områden, inte hela deras geografiska omfattning. När överföringen är begränsad kan utbud och efterfrågan ge olika pris i områdena samma kvart. Priserna kan också sammanfalla när marknad och överföring tillåter det. För en företagskund behöver du fastställa området för varje anläggning. Huvudkontorets adress är inte alltid rätt adress för elpriset. Ett företag kan ha flera mätpunkter i olika områden. Och om du redan räknar med ett områdespris ska du inte lägga områdesskillnaden ovanpå en gång till. Den skillnaden finns redan i det priset.</a:t>
            </a:r>
          </a:p>
          <a:p>
            <a:r>
              <a:t>På skärmen: SE1 · SE2 · SE3 · SE4 | Område per anläggning | Ingen dubbel områdesskillnad</a:t>
            </a:r>
          </a:p>
          <a:p>
            <a:r>
              <a:t>Bildidé: Sverigekarta med fyra områden och två anläggningar under samma företags huvudkontor.</a:t>
            </a:r>
          </a:p>
          <a:p/>
          <a:p>
            <a:r>
              <a:t>elmarknad-04 · Hur ett bud kan sätta priset</a:t>
            </a:r>
          </a:p>
          <a:p>
            <a:r>
              <a:t>Tänk dig en förenklad auktion med åttio megawattimmar som erbjuds till tjugo öre och ytterligare tjugo som erbjuds till sjuttio öre. Om efterfrågan är hundra megawattimmar behövs också det dyrare budet. I vår förenklade modell blir marginalpriset sjuttio öre för accepterad volym. Om efterfrågan bara är sjuttio behövs inte det dyrare budet och priset blir tjugo öre. Marknadspriset är alltså inte bara genomsnittet av budpriserna. Verkliga auktioner har fler villkor och överföringsbegränsningar. Bud kan också ge negativa priser, men en negativ spotdel betyder inte automatiskt negativ kundkostnad. Andra elhandelsdelar, nät och skatter kan fortfarande göra summan positiv för den köpta mängden.</a:t>
            </a:r>
          </a:p>
          <a:p>
            <a:r>
              <a:t>På skärmen: Efterfrågan 100 MWh: 70 öre | Efterfrågan 70 MWh: 20 öre | Förenklad auktion</a:t>
            </a:r>
          </a:p>
          <a:p>
            <a:r>
              <a:t>Bildidé: Två budsteg och efterfrågelinjer visar varför marginalpriset flyttar sig utan att vara ett medelvärde.</a:t>
            </a:r>
          </a:p>
          <a:p/>
          <a:p>
            <a:r>
              <a:t>elmarknad-05 · Spot och framtida skydd</a:t>
            </a:r>
          </a:p>
          <a:p>
            <a:r>
              <a:t>Dagens spotpris och ett pris för nästa års säkring handlar om olika leveranser. Terminsmarknaden används för framtida prisreferenser. En terminsnotering är ett pris som kan avtalas om, inte ett facit för vad spotmarknaden senare gör. Närmare leverans används dagen före och intradag för planering och justeringar, medan realtidens obalanser behöver hanteras i systemet. Kunden köper normalt inte själv varje kvart på börsen. I säljsamtalet är din uppgift att visa vad som är observerat, vad som är antaget och vad kunden faktiskt kan välja. Använd nu kundfallet med två anläggningar. Kontrollera plats, tid och prisdelar innan du säger något om deras kostnad.</a:t>
            </a:r>
          </a:p>
          <a:p>
            <a:r>
              <a:t>På skärmen: Spot: nära leverans | Termin: framtida referens | Notering ≠ kundens färdiga pris</a:t>
            </a:r>
          </a:p>
          <a:p>
            <a:r>
              <a:t>Bildidé: En tidslinje från framtida termin till dagen före, intradag och realtid, följd av kundfallet.</a:t>
            </a:r>
          </a:p>
          <a:p/>
          <a:p>
            <a:r>
              <a:t>KÄLLOR</a:t>
            </a:r>
          </a:p>
          <a:p>
            <a:r>
              <a:t>Elhandel från grunden · B2B-presentation v1 (91 bilder) · s. 6, 18, 19, 20, 21, 22, 29, 33 · Balans, dagen före-marknad, marginalprissättning, elområden, marknadsfaktorer och terminspris.</a:t>
            </a:r>
          </a:p>
          <a:p>
            <a:r>
              <a:t>Elhandel från grunden · B2B-självstudier v1 (91 sidor) · s. 18, 19, 20, 21, 22, 29, 33 · Fördjupning om kvartstid, förenklad auktion, klockomställning och negativa priser.</a:t>
            </a:r>
          </a:p>
          <a:p>
            <a:r>
              <a:t>Produktspecifikationer för säljare · 10 oktober 2026 (31 sidor) · s. 3, 4, 5 · Kvartsprisets faktiska avräkning och begränsningar.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Tillförd och uttagen effekt måste balansera i varje ögonblick. Produktion, import och urladdning av lager kan bidra till tillförseln. Hushåll, verksamheter, nätförluster och laddning av lager står på användningssidan. El kan lagras, exempelvis i batterier, men själva nätet är inget fritt lager som gör tidpunkten oviktig. Prognoser och justeringar är därför en del av elhandeln.</a:t>
            </a:r>
          </a:p>
          <a:p/>
          <a:p>
            <a:r>
              <a:t>Kyla kan öka efterfrågan. Vind, sol, vattenläge och driftstopp påverkar tillgängligt utbud. Överföring mellan områden och förbindelser till andra marknader spelar också roll. Stark vind kan pressa priser, men är ingen garanti för billigt i varje kvart och område. En väderprognos är en pusselbit, inte en säker prisprognos.</a:t>
            </a:r>
          </a:p>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Med spotpris avses här dagen före-marknadens pris i ett elområde för ett leveransintervall. Köp- och säljbud möts för nästa dygn genom marknadskopplingen. Svenska dagen före-priser är kvartspriser. Ett vanligt dygn har 24 × 4 = 96 kvartar; klockomställningsdygn avviker. Kvartspriset är fortfarande ett pris per kWh. Kvarten beskriver när priset gäller, inte en ny energienhet.</a:t>
            </a:r>
          </a:p>
          <a:p/>
          <a:p>
            <a:r>
              <a:t>Fråga: vilket elområde, vilken leveranstid och vilken prisdefinition? Ett områdespris på 50 öre är inte automatiskt kundens färdiga pris. Förbrukningsvägning, påslag och andra avtalade delar kan behöva räknas in. Ett historiskt områdesmedel kan varken användas som offert för framtiden eller som kundens eget snitt utan relevanta mängder och villkor.</a:t>
            </a:r>
          </a:p>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Sverige är indelat i fyra elområden: SE1, SE2, SE3 och SE4. Vanliga benämningar är Luleå, Sundsvall, Stockholm och Malmö, men områdena omfattar mycket mer än städerna. Begränsad överföringskapacitet kan göra att billigare utbud inte fullt ut når efterfrågan i ett annat område. Därför kan priserna skilja samma kvart. De kan också vara lika när marknad och överföring tillåter det.</a:t>
            </a:r>
          </a:p>
          <a:p/>
          <a:p>
            <a:r>
              <a:t>Fastställ området för varje anläggning. Ett företag med huvudkontor i en stad kan ha uttagspunkter i flera områden. Säljaren ska inte välja prisserie efter fakturaadressen. Om du redan använder områdets spotpris ska du inte lägga områdesskillnaden ovanpå en gång till.</a:t>
            </a:r>
          </a:p>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En förenklad auktion kan ha billigare och dyrare säljbud. När efterfrågan kräver att dyrare bud accepteras kan marginalen mellan accepterat utbud och efterfrågan sätta priset för hela den accepterade volymen. Priset är alltså inte bara genomsnittet av alla producenters kostnader. Verklig handel innehåller överföringsbegränsningar och fler budvillkor än vårt övningsexempel.</a:t>
            </a:r>
          </a:p>
          <a:p/>
          <a:p>
            <a:r>
              <a:t>Bud och marknadsvillkor kan ibland ge ett negativt spotpris. Det innebär att den aktuella marknadskomponenten ligger under noll. Andra elhandelskostnader, nät och skatter kan ändå ge positiv total kostnad. Kunden ska inte uppmanas att öka elanvändningen utan att teknik, affärsnytta och andra kostnader har kontrollerats.</a:t>
            </a:r>
          </a:p>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Terminsmarknaden prissäkrar framtida referenser månader eller år före leverans. Terminspris är ett handelspris, inte ett facit för framtida spot. Dagen före planeras nära leverans och intradag justerar prognoser. I realtid hanteras kvarvarande obalanser. Elhandlare och balansansvarig sköter normalt handeln åt kunden.</a:t>
            </a:r>
          </a:p>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auktion för ett leveransintervall, utan nätbegränsningar eller komplicerade budvillkor. Endast marknadspris; inga kundavgifter, nät, skatt eller moms.</a:t>
            </a:r>
          </a:p>
          <a:p/>
          <a:p>
            <a:r>
              <a:t>DATA</a:t>
            </a:r>
          </a:p>
          <a:p>
            <a:r>
              <a:t>Utbud: 80 MWh erbjuds till 20 öre/kWh och ytterligare 20 MWh till 70 öre/kWh.</a:t>
            </a:r>
          </a:p>
          <a:p>
            <a:r>
              <a:t>Situation A: efterfrågan 100 MWh. Situation B: 70 MWh.</a:t>
            </a:r>
          </a:p>
          <a:p/>
          <a:p>
            <a:r>
              <a:t>MELLANLED</a:t>
            </a:r>
          </a:p>
          <a:p>
            <a:r>
              <a:t>A behöver 80 + 20 = 100 MWh, alltså också det dyrare budet.</a:t>
            </a:r>
          </a:p>
          <a:p>
            <a:r>
              <a:t>I den förenklade auktionen blir priset 70 öre/kWh för accepterad volym.</a:t>
            </a:r>
          </a:p>
          <a:p>
            <a:r>
              <a:t>B behöver bara 70 av de 80 billigare MWh. Det dyrare budet behövs inte.</a:t>
            </a:r>
          </a:p>
          <a:p>
            <a:r>
              <a:t>Priset blir då 20 öre/kWh i den förenklade modellen.</a:t>
            </a:r>
          </a:p>
          <a:p/>
          <a:p>
            <a:r>
              <a:t>RESULTAT</a:t>
            </a:r>
          </a:p>
          <a:p>
            <a:r>
              <a:t>70 respektive 20 öre/kWh i två skilda efterfrågesituationer.</a:t>
            </a:r>
          </a:p>
          <a:p/>
          <a:p>
            <a:r>
              <a:t>TOLKNING</a:t>
            </a:r>
          </a:p>
          <a:p>
            <a:r>
              <a:t>För A är det volymvägda genomsnittet av budpriserna 30 öre, men det är inte auktionens marginalpris på 70 öre. Exemplet beskriver mekanik, inte nästa dygns marknad.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auktion för ett leveransintervall, utan nätbegränsningar eller komplicerade budvillkor. Endast marknadspris; inga kundavgifter, nät, skatt eller moms.</a:t>
            </a:r>
          </a:p>
          <a:p/>
          <a:p>
            <a:r>
              <a:t>DATA</a:t>
            </a:r>
          </a:p>
          <a:p>
            <a:r>
              <a:t>Utbud: 80 MWh erbjuds till 20 öre/kWh och ytterligare 20 MWh till 70 öre/kWh.</a:t>
            </a:r>
          </a:p>
          <a:p>
            <a:r>
              <a:t>Situation A: efterfrågan 100 MWh. Situation B: 70 MWh.</a:t>
            </a:r>
          </a:p>
          <a:p/>
          <a:p>
            <a:r>
              <a:t>MELLANLED</a:t>
            </a:r>
          </a:p>
          <a:p>
            <a:r>
              <a:t>A behöver 80 + 20 = 100 MWh, alltså också det dyrare budet.</a:t>
            </a:r>
          </a:p>
          <a:p>
            <a:r>
              <a:t>I den förenklade auktionen blir priset 70 öre/kWh för accepterad volym.</a:t>
            </a:r>
          </a:p>
          <a:p>
            <a:r>
              <a:t>B behöver bara 70 av de 80 billigare MWh. Det dyrare budet behövs inte.</a:t>
            </a:r>
          </a:p>
          <a:p>
            <a:r>
              <a:t>Priset blir då 20 öre/kWh i den förenklade modellen.</a:t>
            </a:r>
          </a:p>
          <a:p/>
          <a:p>
            <a:r>
              <a:t>RESULTAT</a:t>
            </a:r>
          </a:p>
          <a:p>
            <a:r>
              <a:t>70 respektive 20 öre/kWh i två skilda efterfrågesituationer.</a:t>
            </a:r>
          </a:p>
          <a:p/>
          <a:p>
            <a:r>
              <a:t>TOLKNING</a:t>
            </a:r>
          </a:p>
          <a:p>
            <a:r>
              <a:t>För A är det volymvägda genomsnittet av budpriserna 30 öre, men det är inte auktionens marginalpris på 70 öre. Exemplet beskriver mekanik, inte nästa dygns marknad.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kvartsexempel. Angiven spotdel plus en antagen samlad annan elhandelsdel. Elnät, skatt och moms är utanför; ingen verklig tariff.</a:t>
            </a:r>
          </a:p>
          <a:p/>
          <a:p>
            <a:r>
              <a:t>DATA</a:t>
            </a:r>
          </a:p>
          <a:p>
            <a:r>
              <a:t>Uppmätt energi 10 kWh. Spotpris −10 öre/kWh.</a:t>
            </a:r>
          </a:p>
          <a:p>
            <a:r>
              <a:t>Antagen annan elhandelsdel +25 öre/kWh för samma energi.</a:t>
            </a:r>
          </a:p>
          <a:p/>
          <a:p>
            <a:r>
              <a:t>MELLANLED</a:t>
            </a:r>
          </a:p>
          <a:p>
            <a:r>
              <a:t>Spotdel: 10 × (−0,10) = −1 kr.</a:t>
            </a:r>
          </a:p>
          <a:p>
            <a:r>
              <a:t>Annan elhandelsdel: 10 × 0,25 = 2,50 kr.</a:t>
            </a:r>
          </a:p>
          <a:p>
            <a:r>
              <a:t>Summa av dessa två delar: −1 + 2,50 = 1,50 kr.</a:t>
            </a:r>
          </a:p>
          <a:p>
            <a:r>
              <a:t>Effektivt pris för jämförelsen: 1,50 ÷ 10 = 0,15 kr/kWh = 15 öre/kWh.</a:t>
            </a:r>
          </a:p>
          <a:p/>
          <a:p>
            <a:r>
              <a:t>RESULTAT</a:t>
            </a:r>
          </a:p>
          <a:p>
            <a:r>
              <a:t>Spotdelen är −1 kr, men de två jämförda elhandelsdelarna kostar +1,50 kr tillsammans.</a:t>
            </a:r>
          </a:p>
          <a:p/>
          <a:p>
            <a:r>
              <a:t>TOLKNING</a:t>
            </a:r>
          </a:p>
          <a:p>
            <a:r>
              <a:t>Den totala elkostnaden kan inte avgöras utan övriga faktiska delar. Negativ spot är inte ett löfte om pengar tillbaka på hela fakturan.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kvartsexempel. Angiven spotdel plus en antagen samlad annan elhandelsdel. Elnät, skatt och moms är utanför; ingen verklig tariff.</a:t>
            </a:r>
          </a:p>
          <a:p/>
          <a:p>
            <a:r>
              <a:t>DATA</a:t>
            </a:r>
          </a:p>
          <a:p>
            <a:r>
              <a:t>Uppmätt energi 10 kWh. Spotpris −10 öre/kWh.</a:t>
            </a:r>
          </a:p>
          <a:p>
            <a:r>
              <a:t>Antagen annan elhandelsdel +25 öre/kWh för samma energi.</a:t>
            </a:r>
          </a:p>
          <a:p/>
          <a:p>
            <a:r>
              <a:t>MELLANLED</a:t>
            </a:r>
          </a:p>
          <a:p>
            <a:r>
              <a:t>Spotdel: 10 × (−0,10) = −1 kr.</a:t>
            </a:r>
          </a:p>
          <a:p>
            <a:r>
              <a:t>Annan elhandelsdel: 10 × 0,25 = 2,50 kr.</a:t>
            </a:r>
          </a:p>
          <a:p>
            <a:r>
              <a:t>Summa av dessa två delar: −1 + 2,50 = 1,50 kr.</a:t>
            </a:r>
          </a:p>
          <a:p>
            <a:r>
              <a:t>Effektivt pris för jämförelsen: 1,50 ÷ 10 = 0,15 kr/kWh = 15 öre/kWh.</a:t>
            </a:r>
          </a:p>
          <a:p/>
          <a:p>
            <a:r>
              <a:t>RESULTAT</a:t>
            </a:r>
          </a:p>
          <a:p>
            <a:r>
              <a:t>Spotdelen är −1 kr, men de två jämförda elhandelsdelarna kostar +1,50 kr tillsammans.</a:t>
            </a:r>
          </a:p>
          <a:p/>
          <a:p>
            <a:r>
              <a:t>TOLKNING</a:t>
            </a:r>
          </a:p>
          <a:p>
            <a:r>
              <a:t>Den totala elkostnaden kan inte avgöras utan övriga faktiska delar. Negativ spot är inte ett löfte om pengar tillbaka på hela fakturan.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Spotpriset är samma överallt i Sverige.</a:t>
            </a:r>
          </a:p>
          <a:p/>
          <a:p>
            <a:r>
              <a:t>Elområden kan ha olika priser samma kvart på grund av marknad och överföringsbegränsningar.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Dagens höga spotpris visar vad nästa års fasta avtal kommer att kosta.</a:t>
            </a:r>
          </a:p>
          <a:p/>
          <a:p>
            <a:r>
              <a:t>Spot och termin avser olika leveransperioder och risker. En notering är inte ett färdigt kundpris.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Negativt spotpris gör all användning lönsam.</a:t>
            </a:r>
          </a:p>
          <a:p/>
          <a:p>
            <a:r>
              <a:t>Andra prisdelar och tekniska konsekvenser finns kvar. Räkna nyttan och hela relevanta kostnaden.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Elpriset bestäms av hur mycket el marknaden behöver, vilket utbud som finns och vad som kan överföras mellan områden. Priset gäller en viss kvart i ert elområde. Er egen kostnad beror dessutom på när och hur mycket ni använder samt vad som ingår i ert avtal.</a:t>
            </a:r>
          </a:p>
          <a:p/>
          <a:p>
            <a:r>
              <a:t>UTVECKLAD FÖRKLARING</a:t>
            </a:r>
          </a:p>
          <a:p>
            <a:r>
              <a:t>En prisrubrik beskriver ofta en begränsad del av marknaden. För er anläggning behöver vi rätt område och tid, därefter er förbrukning och avtalets kostnadsdelar. Prissäkring av framtiden använder andra prisreferenser än dagens spotnotering. Jag visar därför både vad priset avser och vilka delar som fortfarande kan förändras, utan att behandla en prognos som ett löfte.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Det fiktiva bolaget Nord och Syd har ett huvudkontor i SE3 och två anläggningar i SE2 respektive SE4. Ekonomiansvarig visar en rubrik om negativa elpriser och vill få bekräftat att morgondagens totala elkostnad blir negativ. Ingen har ännu hämtat anläggningarnas mätdata, exakta prisserie eller avtalsrader.</a:t>
            </a:r>
          </a:p>
          <a:p/>
          <a:p>
            <a:r>
              <a:t>UPPGIFTER</a:t>
            </a:r>
          </a:p>
          <a:p>
            <a:r>
              <a:t>Beskriv vilka uppgifter som saknas för en användbar beräkning.</a:t>
            </a:r>
          </a:p>
          <a:p>
            <a:r>
              <a:t>Förklara varför huvudkontorets adress inte väljer rätt prisserie.</a:t>
            </a:r>
          </a:p>
          <a:p>
            <a:r>
              <a:t>Visa med lektionens negativa prisexempel hur marknadsdel och kundkostnad kan skilja.</a:t>
            </a:r>
          </a:p>
          <a:p>
            <a:r>
              <a:t>Formulera ett tydligt svar utan prisprognos eller besparingslöfte.</a:t>
            </a:r>
          </a:p>
          <a:p/>
          <a:p>
            <a:r>
              <a:t>MODELLSVAR</a:t>
            </a:r>
          </a:p>
          <a:p>
            <a:r>
              <a:t>Vi behöver varje uttagspunkts elområde, leveransintervall, faktisk eller rimligt prognostiserad energi och avtalets prisdefinition. Kontorets SE3-adress avgör inte priserna för anläggningarna i SE2 och SE4. En negativ marknadskomponent kan ge positiv jämförd elhandel: 10 kWh vid −10 öre och en annan del på +25 öre ger 1,50 kr. Nät och skatter är ännu utanför. Jag kan bekräfta vad en publicerad prisserie visar, men inte att hela framtida elkostnaden blir negativ. Vi räknar för rätt anläggningar och delar och skiljer observerade noteringar från antaganden om framtida användning.</a:t>
            </a:r>
          </a:p>
          <a:p/>
          <a:p>
            <a:r>
              <a:t>BEDÖMNINGSSTÖD</a:t>
            </a:r>
          </a:p>
          <a:p>
            <a:r>
              <a:t>Begär rätt område per uttagspunkt, inte bara kundens adress.</a:t>
            </a:r>
          </a:p>
          <a:p>
            <a:r>
              <a:t>Anger intervall, energimängd och avtalets omfattning.</a:t>
            </a:r>
          </a:p>
          <a:p>
            <a:r>
              <a:t>Visar att negativ spotdel inte bestämmer totalen.</a:t>
            </a:r>
          </a:p>
          <a:p>
            <a:r>
              <a:t>Skiljer publicerat pris, antagen mängd och osäkert framtidsutfall.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Det fiktiva bolaget Nord och Syd har ett huvudkontor i SE3 och två anläggningar i SE2 respektive SE4. Ekonomiansvarig visar en rubrik om negativa elpriser och vill få bekräftat att morgondagens totala elkostnad blir negativ. Ingen har ännu hämtat anläggningarnas mätdata, exakta prisserie eller avtalsrader.</a:t>
            </a:r>
          </a:p>
          <a:p/>
          <a:p>
            <a:r>
              <a:t>UPPGIFTER</a:t>
            </a:r>
          </a:p>
          <a:p>
            <a:r>
              <a:t>Beskriv vilka uppgifter som saknas för en användbar beräkning.</a:t>
            </a:r>
          </a:p>
          <a:p>
            <a:r>
              <a:t>Förklara varför huvudkontorets adress inte väljer rätt prisserie.</a:t>
            </a:r>
          </a:p>
          <a:p>
            <a:r>
              <a:t>Visa med lektionens negativa prisexempel hur marknadsdel och kundkostnad kan skilja.</a:t>
            </a:r>
          </a:p>
          <a:p>
            <a:r>
              <a:t>Formulera ett tydligt svar utan prisprognos eller besparingslöfte.</a:t>
            </a:r>
          </a:p>
          <a:p/>
          <a:p>
            <a:r>
              <a:t>MODELLSVAR</a:t>
            </a:r>
          </a:p>
          <a:p>
            <a:r>
              <a:t>Vi behöver varje uttagspunkts elområde, leveransintervall, faktisk eller rimligt prognostiserad energi och avtalets prisdefinition. Kontorets SE3-adress avgör inte priserna för anläggningarna i SE2 och SE4. En negativ marknadskomponent kan ge positiv jämförd elhandel: 10 kWh vid −10 öre och en annan del på +25 öre ger 1,50 kr. Nät och skatter är ännu utanför. Jag kan bekräfta vad en publicerad prisserie visar, men inte att hela framtida elkostnaden blir negativ. Vi räknar för rätt anläggningar och delar och skiljer observerade noteringar från antaganden om framtida användning.</a:t>
            </a:r>
          </a:p>
          <a:p/>
          <a:p>
            <a:r>
              <a:t>BEDÖMNINGSSTÖD</a:t>
            </a:r>
          </a:p>
          <a:p>
            <a:r>
              <a:t>Begär rätt område per uttagspunkt, inte bara kundens adress.</a:t>
            </a:r>
          </a:p>
          <a:p>
            <a:r>
              <a:t>Anger intervall, energimängd och avtalets omfattning.</a:t>
            </a:r>
          </a:p>
          <a:p>
            <a:r>
              <a:t>Visar att negativ spotdel inte bestämmer totalen.</a:t>
            </a:r>
          </a:p>
          <a:p>
            <a:r>
              <a:t>Skiljer publicerat pris, antagen mängd och osäkert framtidsutfall.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Vilket prisbesked är mest användbart som underlag?</a:t>
            </a:r>
          </a:p>
          <a:p/>
          <a:p>
            <a:r>
              <a:t>FACIT</a:t>
            </a:r>
          </a:p>
          <a:p>
            <a:r>
              <a:t>Rätt alternativ: B. En daterad spotnotering för angiven kvart och anläggningens elområde, med klargjord omfattning. Förklaring: Område, leveranstid och prisdefinition behövs. Därefter behövs kundens energi och villkor för kundkostnaden.</a:t>
            </a:r>
          </a:p>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Hur många kvartar innehåller ett vanligt dygn med 24 timmar?</a:t>
            </a:r>
          </a:p>
          <a:p/>
          <a:p>
            <a:r>
              <a:t>FACIT</a:t>
            </a:r>
          </a:p>
          <a:p>
            <a:r>
              <a:t>Svar: 96 kvartar. 24 × 4 = 96. Klockomställningsdygn har ett annat antal; kvartspriset anges fortfarande per kWh.</a:t>
            </a:r>
          </a:p>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10 kWh köps med spotdel −10 öre/kWh och annan angiven del +25 öre/kWh. Vad kostar just dessa två delar tillsammans?</a:t>
            </a:r>
          </a:p>
          <a:p/>
          <a:p>
            <a:r>
              <a:t>FACIT</a:t>
            </a:r>
          </a:p>
          <a:p>
            <a:r>
              <a:t>Svar: 1,5 kr. 10 × (−0,10 + 0,25) = 1,50 kr. Nät, skatt och moms ingår inte.</a:t>
            </a:r>
          </a:p>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kund vill låsa nästa års pris enbart eftersom dagens spotpris är högt. Vilka skillnader behöver du förklara?</a:t>
            </a:r>
          </a:p>
          <a:p/>
          <a:p>
            <a:r>
              <a:t>FACIT</a:t>
            </a:r>
          </a:p>
          <a:p>
            <a:r>
              <a:t>Dagens spot och nästa års prissäkring gäller olika leveransperioder. Framtida terminsnotering, prisomfattning, volym, profil och kundens risktålighet behöver bedömas. Ingen av noteringarna garanterar framtidens billigaste utfall.</a:t>
            </a:r>
          </a:p>
          <a:p/>
          <a:p>
            <a:r>
              <a:t>Skiljer spot från framtida leveransreferens.</a:t>
            </a:r>
          </a:p>
          <a:p>
            <a:r>
              <a:t>Tar upp rätt period och omfattning.</a:t>
            </a:r>
          </a:p>
          <a:p>
            <a:r>
              <a:t>Kopplar beslutet till kundens behov och undviker att göra prognos till garanti.</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Spotpris kräver elområde, leveransintervall och prisdefinition.</a:t>
            </a:r>
          </a:p>
          <a:p>
            <a:r>
              <a:t>Ett vanligt dygn har 96 kvartar; energienheten är fortfarande kWh.</a:t>
            </a:r>
          </a:p>
          <a:p>
            <a:r>
              <a:t>Utbud, efterfrågan och överföring samverkar.</a:t>
            </a:r>
          </a:p>
          <a:p>
            <a:r>
              <a:t>Terminspris är ett handelspris för framtiden, inte en säker prognos.</a:t>
            </a:r>
          </a:p>
          <a:p>
            <a:r>
              <a:t>Negativ marknadsdel betyder inte automatiskt negativ total elkostnad.</a:t>
            </a:r>
          </a:p>
          <a:p/>
          <a:p>
            <a:r>
              <a:t>KÄLLOR</a:t>
            </a:r>
          </a:p>
          <a:p>
            <a:r>
              <a:t>Elhandel från grunden · B2B-presentation v1 (91 bilder) · s. 6, 18, 19, 20, 21, 22, 29, 33 · Balans, dagen före-marknad, marginalprissättning, elområden, marknadsfaktorer och terminspris.</a:t>
            </a:r>
          </a:p>
          <a:p>
            <a:r>
              <a:t>Elhandel från grunden · B2B-självstudier v1 (91 sidor) · s. 18, 19, 20, 21, 22, 29, 33 · Fördjupning om kvartstid, förenklad auktion, klockomställning och negativa priser.</a:t>
            </a:r>
          </a:p>
          <a:p>
            <a:r>
              <a:t>Produktspecifikationer för säljare · 10 oktober 2026 (31 sidor) · s. 3, 4, 5 · Kvartsprisets faktiska avräkning och begränsningar.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Årsförbrukningen berättar hur mycket el kunden använder. Profilen berättar när. Två kunder kan använda lika många kWh men få olika energikostnad, därför att deras mängder hamnar i olika prisintervall. Här räknar du fram kundens eget snitt, skiljer säsong från dygn och övar på att bedöma om en verklig lastflytt kan vara meningsfull.</a:t>
            </a:r>
          </a:p>
          <a:p/>
          <a:p>
            <a:r>
              <a:t>LÄRANDEMÅL</a:t>
            </a:r>
          </a:p>
          <a:p>
            <a:r>
              <a:t>Beräkna ett förbrukningsvägt pris från energi och pris för samma intervall.</a:t>
            </a:r>
          </a:p>
          <a:p>
            <a:r>
              <a:t>Skilja månadsprofil från dygnsprofil och förklara varför båda kan påverka kostnaden.</a:t>
            </a:r>
          </a:p>
          <a:p>
            <a:r>
              <a:t>Beskriva skillnaden mellan lägre användning och flyttad användning.</a:t>
            </a:r>
          </a:p>
          <a:p>
            <a:r>
              <a:t>Kontrollera vad ett avtals profil- eller volymkostnad faktiskt betyder.</a:t>
            </a:r>
          </a:p>
          <a:p/>
          <a:p>
            <a:r>
              <a:t>KANONISKT BERÄTTARMANUS</a:t>
            </a:r>
          </a:p>
          <a:p>
            <a:r>
              <a:t>forbrukningsprofil-01 · Mängden har en tid</a:t>
            </a:r>
          </a:p>
          <a:p>
            <a:r>
              <a:t>Årsförbrukningen berättar hur mycket kunden använder. Profilen berättar när. Två kunder kan använda samma mängd el och ändå få olika energikostnad. En använder mest under dyra intervall, den andra mest under billiga. Därför behöver vi både priser och mängder. Varje kilowattimme fungerar som en vikt i snittet. Vi multiplicerar priset med energin i samma intervall, summerar kostnaden och delar med den sammanlagda mängden. Ett vanligt medelvärde av priserna räcker bara i särskilda situationer, exempelvis när mängden är lika i alla jämförda intervall. För verklig kundkostnad ska metoden följa kundens mängder och den prisdefinition som gäller i avtalet.</a:t>
            </a:r>
          </a:p>
          <a:p>
            <a:r>
              <a:t>På skärmen: Hur mycket? | När? | Kostnad ÷ kWh = vägt pris</a:t>
            </a:r>
          </a:p>
          <a:p>
            <a:r>
              <a:t>Bildidé: Två identiska årsvolymer delas upp i olika tidsstaplar och ger olika kostnader.</a:t>
            </a:r>
          </a:p>
          <a:p/>
          <a:p>
            <a:r>
              <a:t>forbrukningsprofil-02 · Fyra kvartar steg för steg</a:t>
            </a:r>
          </a:p>
          <a:p>
            <a:r>
              <a:t>Bageriet använder två, två, fyra och två kilowattimmar under fyra kvartar. Priserna är femtio öre, en krona, två kronor och femtio öre. När vi multiplicerar varje pris med dess mängd blir kvartskostnaderna en, två, åtta och en krona. Summan är tolv kronor för tio kilowattimmar. Bageriets förbrukningsvägda pris är alltså en krona och tjugo öre per kilowattimme. Det vanliga medelvärdet av priserna är bara en krona. Skillnaden uppstår för att den dyra kvarten väger tyngre. Mätvärdena är redan energi, så vi multiplicerar inte med kvartens längd igen. Exemplet omfattar enbart spotenergidelen, före andra elhandelsdelar och övriga kostnader.</a:t>
            </a:r>
          </a:p>
          <a:p>
            <a:r>
              <a:t>På skärmen: 2 · 2 · 4 · 2 kWh | 1 + 2 + 8 + 1 = 12 kr | 12 kr ÷ 10 kWh = 120 öre/kWh</a:t>
            </a:r>
          </a:p>
          <a:p>
            <a:r>
              <a:t>Bildidé: Varje kvartskostnad byggs från par av pris och mängd; det oviktade snittet jämförs efteråt.</a:t>
            </a:r>
          </a:p>
          <a:p/>
          <a:p>
            <a:r>
              <a:t>forbrukningsprofil-03 · Två olika profiler</a:t>
            </a:r>
          </a:p>
          <a:p>
            <a:r>
              <a:t>Dygnsprofilen handlar om fördelningen inom dygnets timmar och kvartar. Månadsprofilen handlar om hur användningen fördelas mellan årets månader. De är olika saker. En vintertung fastighet och en sommarstark verksamhet kan ha samma årsvolym men olika säsongskostnad. Kraftringen Stabil använder kundens månadsprofil för att beräkna det gemensamma priset för den säkrade delen. Det betyder inte att hela dygnsprofilen eller slutpriset är fast. Den avtalade säkrade komponentens pris ändras inte bara för att utfallet mellan månader senare avviker. Andra avvikelsekostnader följer avtalet. När du förklarar Stabil ska du därför både visa vad månadsutjämningen gör och vilka delar som hanteras separat.</a:t>
            </a:r>
          </a:p>
          <a:p>
            <a:r>
              <a:t>På skärmen: Månadsprofil: mellan månader | Dygnsprofil: inom dygnet | Stabil: gemensamt pris för säkrad del</a:t>
            </a:r>
          </a:p>
          <a:p>
            <a:r>
              <a:t>Bildidé: En årskurva och en dygnskurva visas separat; endast den säkrade delen markeras i Stabil.</a:t>
            </a:r>
          </a:p>
          <a:p/>
          <a:p>
            <a:r>
              <a:t>forbrukningsprofil-04 · Tre begrepp att skilja</a:t>
            </a:r>
          </a:p>
          <a:p>
            <a:r>
              <a:t>Profilkostnad, volymrisk och balanskostnad är inte samma ord för samma sak. Profilen handlar om tidpunkterna jämfört med en prisreferens. Volymrisk handlar om att kunden använder en annan mängd än underlaget. Balanskostnader hör till avvikelser som hanteras i balansavräkningen. Vissa avtal kallar också kollektivets förbrukningsvägning för volymkostnad. Be därför om definitionen innan du förklarar en prisrad. Med individuell kvartsviktning finns kundens tidsprofil redan med i spotutfallet. Du ska inte lägga till samma profil igen. Med vanligt månadspris kan kollektivets profil ingå på annat sätt. Det är prisformeln i det aktuella avtalet som bestämmer hur kundens mönster påverkar beloppet.</a:t>
            </a:r>
          </a:p>
          <a:p>
            <a:r>
              <a:t>På skärmen: Profil: när | Volymrisk: annan mängd | Balans: avvikelser i avräkningen</a:t>
            </a:r>
          </a:p>
          <a:p>
            <a:r>
              <a:t>Bildidé: Tre kort hålls isär; en prisrad zoomas in för att visa behovet av avtalets definition.</a:t>
            </a:r>
          </a:p>
          <a:p/>
          <a:p>
            <a:r>
              <a:t>forbrukningsprofil-05 · Flytta med en verklig plan</a:t>
            </a:r>
          </a:p>
          <a:p>
            <a:r>
              <a:t>Att flytta användning är en annan åtgärd än att använda mindre. Om trettio kilowattimmar flyttas från en given prisnivå på en krona och tjugo öre till fyrtio öre minskar energikostnaden med tjugofyra kronor. Mängden är densamma. Men planen måste fungera i verkligheten. Vilken utrustning styr, hur mycket kan flyttas och vem ansvarar? Kontrollera också nätets effektvillkor och eventuella styrkostnader. Vid vanligt gemensamt månadspris finns inte samma direkta individuella spotvinst som med kvartspris. Räkneexemplet är ingen garanti för framtida besparing. Öva nu på verkstaden och motivera både energiberäkningen och de kontroller som återstår innan ett råd kan ges.</a:t>
            </a:r>
          </a:p>
          <a:p>
            <a:r>
              <a:t>På skärmen: Flyttad mängd ≠ minskad mängd | Energinytta före andra kostnader | Teknik · drift · nät · avtal</a:t>
            </a:r>
          </a:p>
          <a:p>
            <a:r>
              <a:t>Bildidé: Laddning flyttas mellan tidsstaplar; en separat effektkurva och kontrollruta visar begränsningarna.</a:t>
            </a:r>
          </a:p>
          <a:p/>
          <a:p>
            <a:r>
              <a:t>KÄLLOR</a:t>
            </a:r>
          </a:p>
          <a:p>
            <a:r>
              <a:t>Elhandel från grunden · B2B-presentation v1 (91 bilder) · s. 24, 25, 26, 27, 28, 29, 31, 73 · Förbrukningsvägning, profiler, balansbegrepp och lastflytt.</a:t>
            </a:r>
          </a:p>
          <a:p>
            <a:r>
              <a:t>Elhandel från grunden · B2B-självstudier v1 (91 sidor) · s. 24, 25, 26, 27, 28, 29, 73 · Fördjupning om viktning, kvartens energimängd och kontroll av nätkostnad.</a:t>
            </a:r>
          </a:p>
          <a:p>
            <a:r>
              <a:t>Produktspecifikationer för säljare · 10 oktober 2026 (31 sidor) · s. 3, 4, 5, 6, 7, 8, 11, 12, 13, 26, 27, 28 · Aktuella definitioner för kvartspris, månadspris, Opti och Stabil.</a:t>
            </a:r>
          </a:p>
          <a:p>
            <a:r>
              <a:t>Ludwigs uttryckliga produktprecisering i samtalet · Ludwigs uttryckliga svar: Stabils gemensamma pris gäller endast den säkrade, månadsutjämnade delen.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Ett vanligt medelvärde av lika långa intervalls priser ger varje intervall samma vikt. Kundens kostnad kräver i stället att varje pris multipliceras med kundens energi i samma intervall. Summan av dessa kostnader divideras sedan med hela mängden. En kvart med mycket användning får större betydelse än en kvart när anläggningen står nästan stilla.</a:t>
            </a:r>
          </a:p>
          <a:p/>
          <a:p>
            <a:r>
              <a:t>Formeln är förbrukningsvägt pris = sammanlagd jämförbar kostnad ÷ motsvarande kWh. Börja med att göra alla priser till kr/kWh och använd uppmätta kWh. Multiplicera inte energin med kvartens längd igen. Vid noll kWh finns ingen mängd att dividera med; ett snitt ska då inte presenteras som ett verkligt kundpris.</a:t>
            </a:r>
          </a:p>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Dygnsprofilen beskriver fördelningen inom dygnets timmar och kvartar. Ugnar som startar tidigt, processer mitt på dagen och nattladdning kan skapa olika kurvor. Månadsprofilen beskriver fördelningen mellan årets månader. En vintertung fastighet och en sommarstark verksamhet kan ha samma årsvolym men olika säsongsvikter. Månadsprofilen kan också förändras även om dygnsmönstret är likartat.</a:t>
            </a:r>
          </a:p>
          <a:p/>
          <a:p>
            <a:r>
              <a:t>Ett avtal som använder kundens månadsprofil omfattar inte automatiskt dygnsprofilen. Kraftringen Stabil räknar in månadsprofilen när det gemensamma priset för den säkrade delen tas fram. Det betyder inte helt fast slutpris: dygnsprofil och osäkrad volym är separata. Det avtalade priset för varje överenskommen säkrad kWh ändras inte bara för att verklig månadsprofil senare avviker; andra avvikelsekostnader följer avtalet.</a:t>
            </a:r>
          </a:p>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Profil handlar om när elen används jämfört med en prisreferens. Volymrisk handlar om att mängden avviker från underlaget. Balanskostnad handlar om avvikelser som hanteras i balansavräkningen. De kan ha samband men är olika begrepp. Profilskillnaden kan vara positiv eller negativ beroende på mönster och referens.</a:t>
            </a:r>
          </a:p>
          <a:p/>
          <a:p>
            <a:r>
              <a:t>Vissa avtalsmodeller använder ordet volymkostnad för kollektivets förbrukningsvägning. Ordet betyder därför inte alltid en avgift för felprognostiserad mängd. Be om avtalets definition. En individuell kvartsviktning innehåller redan kundens tidsprofil i spotutfallet; lägg inte till samma profil igen. Ett gemensamt månadspris kan i stället innehålla kollektivets profil.</a:t>
            </a:r>
          </a:p>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Att minska användningen med 10 kWh är en annan åtgärd än att flytta 10 kWh till en annan tid. Vid kvartspris kan flytt till billigare kvartar påverka kundens energikostnad direkt. Vid vanligt gemensamt månadspris finns inte samma direkta individuella spotvinst. Kontrollera även vad Optis avtalade månadssammanställning innebär; det är inte ett nytt minimipris i varje kvart.</a:t>
            </a:r>
          </a:p>
          <a:p/>
          <a:p>
            <a:r>
              <a:t>En flytt måste fungera i verkligheten. Fråga vilka laster som kan flyttas, hur mycket, vem som styr och vilka driftkrav som gäller. Samtidig laddning kan exempelvis höja en effekttopp i nätet. Jämför därför genomförbar energinytta med nätets villkor och eventuella styrkostnader. Ett historiskt fint utfall är ingen garanti för samma framtida prisrelation.</a:t>
            </a:r>
          </a:p>
          <a:p/>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med enbart spotenergidelen före övrig elhandel, nät, skatt och moms. Mätvärden är redan kWh.</a:t>
            </a:r>
          </a:p>
          <a:p/>
          <a:p>
            <a:r>
              <a:t>DATA</a:t>
            </a:r>
          </a:p>
          <a:p>
            <a:r>
              <a:t>Priser: 0,50; 1,00; 2,00; 0,50 kr/kWh.</a:t>
            </a:r>
          </a:p>
          <a:p>
            <a:r>
              <a:t>Energi i samma ordning: 2; 2; 4; 2 kWh.</a:t>
            </a:r>
          </a:p>
          <a:p/>
          <a:p>
            <a:r>
              <a:t>MELLANLED</a:t>
            </a:r>
          </a:p>
          <a:p>
            <a:r>
              <a:t>Kvartskostnader: 2 × 0,50 = 1 kr; 2 × 1 = 2 kr; 4 × 2 = 8 kr; 2 × 0,50 = 1 kr.</a:t>
            </a:r>
          </a:p>
          <a:p>
            <a:r>
              <a:t>Total kostnad: 1 + 2 + 8 + 1 = 12 kr. Total energi: 10 kWh.</a:t>
            </a:r>
          </a:p>
          <a:p>
            <a:r>
              <a:t>Förbrukningsvägt pris: 12 ÷ 10 = 1,20 kr/kWh = 120 öre/kWh.</a:t>
            </a:r>
          </a:p>
          <a:p>
            <a:r>
              <a:t>Vanligt medelpris: (0,50 + 1 + 2 + 0,50) ÷ 4 = 1,00 kr/kWh.</a:t>
            </a:r>
          </a:p>
          <a:p/>
          <a:p>
            <a:r>
              <a:t>RESULTAT</a:t>
            </a:r>
          </a:p>
          <a:p>
            <a:r>
              <a:t>Kundens snitt är 120 öre/kWh, trots ett oviktat prissnitt på 100 öre.</a:t>
            </a:r>
          </a:p>
          <a:p/>
          <a:p>
            <a:r>
              <a:t>TOLKNING</a:t>
            </a:r>
          </a:p>
          <a:p>
            <a:r>
              <a:t>Den dyra kvarten väger tyngre eftersom kunden använder fyra kWh där. Vi har inte antagit någon separat profilavgift ovanpå detta spotutfall.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med enbart spotenergidelen före övrig elhandel, nät, skatt och moms. Mätvärden är redan kWh.</a:t>
            </a:r>
          </a:p>
          <a:p/>
          <a:p>
            <a:r>
              <a:t>DATA</a:t>
            </a:r>
          </a:p>
          <a:p>
            <a:r>
              <a:t>Priser: 0,50; 1,00; 2,00; 0,50 kr/kWh.</a:t>
            </a:r>
          </a:p>
          <a:p>
            <a:r>
              <a:t>Energi i samma ordning: 2; 2; 4; 2 kWh.</a:t>
            </a:r>
          </a:p>
          <a:p/>
          <a:p>
            <a:r>
              <a:t>MELLANLED</a:t>
            </a:r>
          </a:p>
          <a:p>
            <a:r>
              <a:t>Kvartskostnader: 2 × 0,50 = 1 kr; 2 × 1 = 2 kr; 4 × 2 = 8 kr; 2 × 0,50 = 1 kr.</a:t>
            </a:r>
          </a:p>
          <a:p>
            <a:r>
              <a:t>Total kostnad: 1 + 2 + 8 + 1 = 12 kr. Total energi: 10 kWh.</a:t>
            </a:r>
          </a:p>
          <a:p>
            <a:r>
              <a:t>Förbrukningsvägt pris: 12 ÷ 10 = 1,20 kr/kWh = 120 öre/kWh.</a:t>
            </a:r>
          </a:p>
          <a:p>
            <a:r>
              <a:t>Vanligt medelpris: (0,50 + 1 + 2 + 0,50) ÷ 4 = 1,00 kr/kWh.</a:t>
            </a:r>
          </a:p>
          <a:p/>
          <a:p>
            <a:r>
              <a:t>RESULTAT</a:t>
            </a:r>
          </a:p>
          <a:p>
            <a:r>
              <a:t>Kundens snitt är 120 öre/kWh, trots ett oviktat prissnitt på 100 öre.</a:t>
            </a:r>
          </a:p>
          <a:p/>
          <a:p>
            <a:r>
              <a:t>TOLKNING</a:t>
            </a:r>
          </a:p>
          <a:p>
            <a:r>
              <a:t>Den dyra kvarten väger tyngre eftersom kunden använder fyra kWh där. Vi har inte antagit någon separat profilavgift ovanpå detta spotutfall.</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energiprisjämförelse för två månader; inte en hel årsberäkning eller offert. Övriga delar är utanför.</a:t>
            </a:r>
          </a:p>
          <a:p/>
          <a:p>
            <a:r>
              <a:t>DATA</a:t>
            </a:r>
          </a:p>
          <a:p>
            <a:r>
              <a:t>Januari: 20 000 kWh vid 1,00 kr/kWh.</a:t>
            </a:r>
          </a:p>
          <a:p>
            <a:r>
              <a:t>Juli: 5 000 kWh vid 0,40 kr/kWh.</a:t>
            </a:r>
          </a:p>
          <a:p/>
          <a:p>
            <a:r>
              <a:t>MELLANLED</a:t>
            </a:r>
          </a:p>
          <a:p>
            <a:r>
              <a:t>Januari kostar 20 000 kr och juli 2 000 kr.</a:t>
            </a:r>
          </a:p>
          <a:p>
            <a:r>
              <a:t>Sammanlagd kostnad är 22 000 kr för 25 000 kWh.</a:t>
            </a:r>
          </a:p>
          <a:p>
            <a:r>
              <a:t>Kundens snitt: 22 000 ÷ 25 000 = 0,88 kr/kWh = 88 öre/kWh.</a:t>
            </a:r>
          </a:p>
          <a:p>
            <a:r>
              <a:t>Det oviktade snittet (1,00 + 0,40) ÷ 2 = 0,70 kr/kWh underskattar kundens kostnad.</a:t>
            </a:r>
          </a:p>
          <a:p/>
          <a:p>
            <a:r>
              <a:t>RESULTAT</a:t>
            </a:r>
          </a:p>
          <a:p>
            <a:r>
              <a:t>88 öre/kWh för de två månadernas jämförda energidel.</a:t>
            </a:r>
          </a:p>
          <a:p/>
          <a:p>
            <a:r>
              <a:t>TOLKNING</a:t>
            </a:r>
          </a:p>
          <a:p>
            <a:r>
              <a:t>Samma viktning gäller över året med alla relevanta månader. Ett jämnt pris uttrycker kostnaden annorlunda men gör inte i sig köpet billigare.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energiprisjämförelse för två månader; inte en hel årsberäkning eller offert. Övriga delar är utanför.</a:t>
            </a:r>
          </a:p>
          <a:p/>
          <a:p>
            <a:r>
              <a:t>DATA</a:t>
            </a:r>
          </a:p>
          <a:p>
            <a:r>
              <a:t>Januari: 20 000 kWh vid 1,00 kr/kWh.</a:t>
            </a:r>
          </a:p>
          <a:p>
            <a:r>
              <a:t>Juli: 5 000 kWh vid 0,40 kr/kWh.</a:t>
            </a:r>
          </a:p>
          <a:p/>
          <a:p>
            <a:r>
              <a:t>MELLANLED</a:t>
            </a:r>
          </a:p>
          <a:p>
            <a:r>
              <a:t>Januari kostar 20 000 kr och juli 2 000 kr.</a:t>
            </a:r>
          </a:p>
          <a:p>
            <a:r>
              <a:t>Sammanlagd kostnad är 22 000 kr för 25 000 kWh.</a:t>
            </a:r>
          </a:p>
          <a:p>
            <a:r>
              <a:t>Kundens snitt: 22 000 ÷ 25 000 = 0,88 kr/kWh = 88 öre/kWh.</a:t>
            </a:r>
          </a:p>
          <a:p>
            <a:r>
              <a:t>Det oviktade snittet (1,00 + 0,40) ÷ 2 = 0,70 kr/kWh underskattar kundens kostnad.</a:t>
            </a:r>
          </a:p>
          <a:p/>
          <a:p>
            <a:r>
              <a:t>RESULTAT</a:t>
            </a:r>
          </a:p>
          <a:p>
            <a:r>
              <a:t>88 öre/kWh för de två månadernas jämförda energidel.</a:t>
            </a:r>
          </a:p>
          <a:p/>
          <a:p>
            <a:r>
              <a:t>TOLKNING</a:t>
            </a:r>
          </a:p>
          <a:p>
            <a:r>
              <a:t>Samma viktning gäller över året med alla relevanta månader. Ett jämnt pris uttrycker kostnaden annorlunda men gör inte i sig köpet billigare.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Alla kunder i samma elområde får samma snittpris.</a:t>
            </a:r>
          </a:p>
          <a:p/>
          <a:p>
            <a:r>
              <a:t>Med individuell kvartsviktning kan tidsprofilen ge olika snitt. Avtalsmodell och avgifter kan också skilja.</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Månadsprofil och dygnsprofil är samma sak.</a:t>
            </a:r>
          </a:p>
          <a:p/>
          <a:p>
            <a:r>
              <a:t>Månadsprofil är säsongsfördelningen; dygnsprofil är fördelningen inom dygnets intervall.</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lastflytt är alltid en besparing.</a:t>
            </a:r>
          </a:p>
          <a:p/>
          <a:p>
            <a:r>
              <a:t>Avtal, faktiska prisrelationer, drift, nätkostnader och styrkostnad behöver prövas.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 räcker inte att veta hur mycket el ni använder på ett år. Vi behöver också veta när. Mycket användning under dyra intervall höjer ert snitt, och mycket under billiga sänker det. Vi räknar därför pris gånger mängd för varje relevant period.</a:t>
            </a:r>
          </a:p>
          <a:p/>
          <a:p>
            <a:r>
              <a:t>UTVECKLAD FÖRKLARING</a:t>
            </a:r>
          </a:p>
          <a:p>
            <a:r>
              <a:t>Vi tittar på två nivåer: hur inköpt el fördelas mellan månaderna och när den används inom dygnet. Er avtalsmodell avgör hur dessa mönster påverkar priset. Om ni kan flytta användning prövar vi en realistisk plan och tar med nätets villkor. En månadsutjämning av en säkrad del hanterar inte automatiskt hela dygnsprofilen eller andra fakturadelar.</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Den fiktiva Verkstaden överväger kvartspris. Under två prisnivåer använder den 20 kWh vid 40 öre och 80 kWh vid 120 öre. Driftchefen tror att 30 kWh kan flyttas till den billigare nivån, men ingen har kontrollerat laddarnas kapacitet, nästa dags behov eller nätets effektvillkor.</a:t>
            </a:r>
          </a:p>
          <a:p/>
          <a:p>
            <a:r>
              <a:t>UPPGIFTER</a:t>
            </a:r>
          </a:p>
          <a:p>
            <a:r>
              <a:t>Räkna nuvarande energikostnad och förbrukningsvägt snitt.</a:t>
            </a:r>
          </a:p>
          <a:p>
            <a:r>
              <a:t>Räkna energikostnaden efter en genomförbar flytt av 30 kWh.</a:t>
            </a:r>
          </a:p>
          <a:p>
            <a:r>
              <a:t>Beskriv varför den räknade energinyttan inte ännu är total besparing.</a:t>
            </a:r>
          </a:p>
          <a:p>
            <a:r>
              <a:t>Ange vad som behöver kontrolleras innan en rekommendation.</a:t>
            </a:r>
          </a:p>
          <a:p/>
          <a:p>
            <a:r>
              <a:t>MODELLSVAR</a:t>
            </a:r>
          </a:p>
          <a:p>
            <a:r>
              <a:t>Nuläget ger 20 × 0,40 + 80 × 1,20 = 104 kr på 100 kWh, alltså 104 öre/kWh för energidelen. Efter flytt används 50 kWh på varje nivå: 50 × 0,40 + 50 × 1,20 = 80 kr. Den syntetiska energinyttan är 24 kr, även beräknad som 30 × (1,20 − 0,40). Total mängd är oförändrad. Vi behöver verifiera möjlig mängd, drifttider, ansvarig styrning, kapacitet och nätvillkor. En ny effekttopp eller styrkostnad kan minska nyttan. Vid gemensamt månadspris gäller inte samma individuella direkta spotberäkning. Framtida prisrelationer är osäkra.</a:t>
            </a:r>
          </a:p>
          <a:p/>
          <a:p>
            <a:r>
              <a:t>BEDÖMNINGSSTÖD</a:t>
            </a:r>
          </a:p>
          <a:p>
            <a:r>
              <a:t>104 kr, 104 öre/kWh, 80 kr och 24 kr räknas korrekt.</a:t>
            </a:r>
          </a:p>
          <a:p>
            <a:r>
              <a:t>Flytten beskrivs som samma energimängd vid annan tid.</a:t>
            </a:r>
          </a:p>
          <a:p>
            <a:r>
              <a:t>Energinytta avgränsas från total framtida besparing.</a:t>
            </a:r>
          </a:p>
          <a:p>
            <a:r>
              <a:t>Drift, teknik, nät och avtalsmodell kontrolleras.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Den fiktiva Verkstaden överväger kvartspris. Under två prisnivåer använder den 20 kWh vid 40 öre och 80 kWh vid 120 öre. Driftchefen tror att 30 kWh kan flyttas till den billigare nivån, men ingen har kontrollerat laddarnas kapacitet, nästa dags behov eller nätets effektvillkor.</a:t>
            </a:r>
          </a:p>
          <a:p/>
          <a:p>
            <a:r>
              <a:t>UPPGIFTER</a:t>
            </a:r>
          </a:p>
          <a:p>
            <a:r>
              <a:t>Räkna nuvarande energikostnad och förbrukningsvägt snitt.</a:t>
            </a:r>
          </a:p>
          <a:p>
            <a:r>
              <a:t>Räkna energikostnaden efter en genomförbar flytt av 30 kWh.</a:t>
            </a:r>
          </a:p>
          <a:p>
            <a:r>
              <a:t>Beskriv varför den räknade energinyttan inte ännu är total besparing.</a:t>
            </a:r>
          </a:p>
          <a:p>
            <a:r>
              <a:t>Ange vad som behöver kontrolleras innan en rekommendation.</a:t>
            </a:r>
          </a:p>
          <a:p/>
          <a:p>
            <a:r>
              <a:t>MODELLSVAR</a:t>
            </a:r>
          </a:p>
          <a:p>
            <a:r>
              <a:t>Nuläget ger 20 × 0,40 + 80 × 1,20 = 104 kr på 100 kWh, alltså 104 öre/kWh för energidelen. Efter flytt används 50 kWh på varje nivå: 50 × 0,40 + 50 × 1,20 = 80 kr. Den syntetiska energinyttan är 24 kr, även beräknad som 30 × (1,20 − 0,40). Total mängd är oförändrad. Vi behöver verifiera möjlig mängd, drifttider, ansvarig styrning, kapacitet och nätvillkor. En ny effekttopp eller styrkostnad kan minska nyttan. Vid gemensamt månadspris gäller inte samma individuella direkta spotberäkning. Framtida prisrelationer är osäkra.</a:t>
            </a:r>
          </a:p>
          <a:p/>
          <a:p>
            <a:r>
              <a:t>BEDÖMNINGSSTÖD</a:t>
            </a:r>
          </a:p>
          <a:p>
            <a:r>
              <a:t>104 kr, 104 öre/kWh, 80 kr och 24 kr räknas korrekt.</a:t>
            </a:r>
          </a:p>
          <a:p>
            <a:r>
              <a:t>Flytten beskrivs som samma energimängd vid annan tid.</a:t>
            </a:r>
          </a:p>
          <a:p>
            <a:r>
              <a:t>Energinytta avgränsas från total framtida besparing.</a:t>
            </a:r>
          </a:p>
          <a:p>
            <a:r>
              <a:t>Drift, teknik, nät och avtalsmodell kontrolleras.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Varför kan inte medelvärdet av kvartpriserna ensamt ge kundens energikostnad?</a:t>
            </a:r>
          </a:p>
          <a:p/>
          <a:p>
            <a:r>
              <a:t>FACIT</a:t>
            </a:r>
          </a:p>
          <a:p>
            <a:r>
              <a:t>Rätt alternativ: A. Kundens kWh är olika stora vikter i de olika kvartarna. Förklaring: Varje pris måste kopplas till kundens mängd under samma intervall. Faktureringens tidpunkt ändrar inte modellen.</a:t>
            </a:r>
          </a:p>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8 kWh används vid 1 kr/kWh och 2 kWh vid 3 kr/kWh. Vad blir förbrukningsvägt pris i öre/kWh?</a:t>
            </a:r>
          </a:p>
          <a:p/>
          <a:p>
            <a:r>
              <a:t>FACIT</a:t>
            </a:r>
          </a:p>
          <a:p>
            <a:r>
              <a:t>Svar: 140 öre/kWh. Kostnaden är 8 × 1 + 2 × 3 = 14 kr. 14 ÷ 10 = 1,40 kr/kWh = 140 öre/kWh.</a:t>
            </a:r>
          </a:p>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30 kWh flyttas från 120 till 40 öre/kWh. Hur mycket minskar just energikostnaden vid dessa givna priser?</a:t>
            </a:r>
          </a:p>
          <a:p/>
          <a:p>
            <a:r>
              <a:t>FACIT</a:t>
            </a:r>
          </a:p>
          <a:p>
            <a:r>
              <a:t>Svar: 24 kr. 30 × (1,20 − 0,40) = 24 kr. Övriga kostnader och framtida prisvariationer är utanför.</a:t>
            </a:r>
          </a:p>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säljare säger att ett månadsutjämnat pris också säkrar kundens dygnsprofil. Hur korrigerar du det?</a:t>
            </a:r>
          </a:p>
          <a:p/>
          <a:p>
            <a:r>
              <a:t>FACIT</a:t>
            </a:r>
          </a:p>
          <a:p>
            <a:r>
              <a:t>Månadsutjämning och dygnsprofil är olika saker. För Stabil är det den säkrade, månadsutjämnade delen som har gemensamt pris. Dygnsprofil och osäkrad volym hanteras separat; avtalet anger andra kostnadsregler.</a:t>
            </a:r>
          </a:p>
          <a:p/>
          <a:p>
            <a:r>
              <a:t>Skiljer fördelning mellan månader från fördelning inom dygn.</a:t>
            </a:r>
          </a:p>
          <a:p>
            <a:r>
              <a:t>Avgränsar Stabils gemensamma pris till den säkrade delen.</a:t>
            </a:r>
          </a:p>
          <a:p>
            <a:r>
              <a:t>Undviker att lova fast totalpris eller ändra det avtalade komponentpriset vid profilavvikelse.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Matcha energi och pris för samma intervall.</a:t>
            </a:r>
          </a:p>
          <a:p>
            <a:r>
              <a:t>Summera kostnader och dela med samma mängd för kundens snitt.</a:t>
            </a:r>
          </a:p>
          <a:p>
            <a:r>
              <a:t>Månadsprofil och dygnsprofil behöver analyseras var för sig.</a:t>
            </a:r>
          </a:p>
          <a:p>
            <a:r>
              <a:t>Kontrollera avtalets betydelse av profil- och volymkostnad.</a:t>
            </a:r>
          </a:p>
          <a:p>
            <a:r>
              <a:t>Pröva lastflytt mot verklig drift och hela berörda kostnaden.</a:t>
            </a:r>
          </a:p>
          <a:p/>
          <a:p>
            <a:r>
              <a:t>KÄLLOR</a:t>
            </a:r>
          </a:p>
          <a:p>
            <a:r>
              <a:t>Elhandel från grunden · B2B-presentation v1 (91 bilder) · s. 24, 25, 26, 27, 28, 29, 31, 73 · Förbrukningsvägning, profiler, balansbegrepp och lastflytt.</a:t>
            </a:r>
          </a:p>
          <a:p>
            <a:r>
              <a:t>Elhandel från grunden · B2B-självstudier v1 (91 sidor) · s. 24, 25, 26, 27, 28, 29, 73 · Fördjupning om viktning, kvartens energimängd och kontroll av nätkostnad.</a:t>
            </a:r>
          </a:p>
          <a:p>
            <a:r>
              <a:t>Produktspecifikationer för säljare · 10 oktober 2026 (31 sidor) · s. 3, 4, 5, 6, 7, 8, 11, 12, 13, 26, 27, 28 · Aktuella definitioner för kvartspris, månadspris, Opti och Stabil.</a:t>
            </a:r>
          </a:p>
          <a:p>
            <a:r>
              <a:t>Ludwigs uttryckliga produktprecisering i samtalet · Ludwigs uttryckliga svar: Stabils gemensamma pris gäller endast den säkrade, månadsutjämnade delen.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Ett prisupplägg hjälper kunden hantera marknadsrisk men tar inte bort alla osäkerheter. Här förklarar du vad som är känt, vilka mängder det gäller och vad som påverkar kostnaden. Det behövs för både trygghet och marknadsexponering.</a:t>
            </a:r>
          </a:p>
          <a:p/>
          <a:p>
            <a:r>
              <a:t>LÄRANDEMÅL</a:t>
            </a:r>
          </a:p>
          <a:p>
            <a:r>
              <a:t>Förklara skillnaden mellan fast kundpris och säkring av vissa prisreferenser.</a:t>
            </a:r>
          </a:p>
          <a:p>
            <a:r>
              <a:t>Beskriva SYS och EPAD utan att dubbelräkna områdesskillnaden.</a:t>
            </a:r>
          </a:p>
          <a:p>
            <a:r>
              <a:t>Räkna både prisuppgång och prisfall i en tydligt förenklad säkringsmodell.</a:t>
            </a:r>
          </a:p>
          <a:p>
            <a:r>
              <a:t>Skilja prognostiserad säkringsandel från faktisk täckning och fakturabelopp.</a:t>
            </a:r>
          </a:p>
          <a:p/>
          <a:p>
            <a:r>
              <a:t>KANONISKT BERÄTTARMANUS</a:t>
            </a:r>
          </a:p>
          <a:p>
            <a:r>
              <a:t>pris-och-risk-01 · Vad vill kunden göra känt?</a:t>
            </a:r>
          </a:p>
          <a:p>
            <a:r>
              <a:t>Ett prisupplägg hjälper kunden att välja hur marknadsrisk ska hanteras. Det betyder inte att alla osäkerheter försvinner. Ett fast elhandelspris gäller de definierade delarna under en bestämd period och enligt villkoren. Mängden kunden faktiskt använder kan ändå ändra kostnaden. Tiotusen kilowattimmar ger ett större belopp än femtusen vid samma enhetspris. Nät och skatter blir inte heller säkrade av elhandelsavtalet. Rörligt pris ger möjlighet att följa lägre marknad, men också exponering när marknaden stiger. Börja därför med frågan vad kunden vill göra mer förutsägbart. Är det enhetspriset, en viss prisdel eller hela budgeten? Svaret avgör vilka avvägningar som behöver förklaras.</a:t>
            </a:r>
          </a:p>
          <a:p>
            <a:r>
              <a:t>På skärmen: Känd prisdel | Känd period | Mängden kan variera</a:t>
            </a:r>
          </a:p>
          <a:p>
            <a:r>
              <a:t>Bildidé: Ett fast pris kopplas till två olika volymer och belopp; budgetens separata delar syns bredvid.</a:t>
            </a:r>
          </a:p>
          <a:p/>
          <a:p>
            <a:r>
              <a:t>pris-och-risk-02 · SYS och EPAD</a:t>
            </a:r>
          </a:p>
          <a:p>
            <a:r>
              <a:t>SYS är ett nordiskt systempris som används som referens för finansiell prissäkring. Det är inte samma sak som kundens lokala elpris. EPAD används för att säkra skillnaden mellan systemreferensen och elområdets prisreferens för motsvarande period. I ett påhittat exempel är SYS femtio öre och områdesskillnaden tjugo. Då är områdesreferensen sjuttio öre. Det är en uppdelning av samma prisnivå, så du ska inte lägga tjugo öre ovanpå ett områdespris som redan är sjuttio. Rätt volym och period måste matcha. Säkringen av dessa referenser omfattar inte automatiskt kundens dygnsprofil, öppen mängd, avgifter eller hela faktura. Produktens faktiska omfattning måste beskrivas separat.</a:t>
            </a:r>
          </a:p>
          <a:p>
            <a:r>
              <a:t>På skärmen: SYS + områdesskillnad = områdesreferens | 50 + 20 = 70 öre | Rätt volym och period</a:t>
            </a:r>
          </a:p>
          <a:p>
            <a:r>
              <a:t>Bildidé: Referensen byggs av två delar; ett redan angivet områdespris får en markering mot dubbel EPAD.</a:t>
            </a:r>
          </a:p>
          <a:p/>
          <a:p>
            <a:r>
              <a:t>pris-och-risk-03 · Skyddet har två riktningar</a:t>
            </a:r>
          </a:p>
          <a:p>
            <a:r>
              <a:t>Vi använder en förenklad modell med hundra megawattimmar och åttio megawattimmar säkrade på sjuttio öre. Om marknaden blir hundra öre kostar den fysiska energin hundratusen kronor. Säkringsresultatet på tjugofyratusen minskar nettot till sjuttiosextusen. Om marknaden i stället blir fyrtio öre kostar fysisk energi fyrtiotusen, men säkringsresultatet är negativt tjugofyratusen. Nettot blir sextiofyratusen. Kunden har alltså minskat uppgångsexponeringen men behåller inte all nedgångspotential. Modellen antar perfekt matchning mellan referens, volym och profil och saknar alla tillägg. Den lär ut mekaniken. För en riktig produktfaktura använder vi avtalets prisformel och samtliga kostnadsdelar, inte bara den här viktningen.</a:t>
            </a:r>
          </a:p>
          <a:p>
            <a:r>
              <a:t>På skärmen: Marknad 100: netto 76 öre | Marknad 40: netto 64 öre | Förenklad, perfekt matchad modell</a:t>
            </a:r>
          </a:p>
          <a:p>
            <a:r>
              <a:t>Bildidé: Två scenarier visar fysisk kostnad minus säkringsresultat med tydliga plus- och minustecken.</a:t>
            </a:r>
          </a:p>
          <a:p/>
          <a:p>
            <a:r>
              <a:t>pris-och-risk-04 · Andelen behöver en nämnare</a:t>
            </a:r>
          </a:p>
          <a:p>
            <a:r>
              <a:t>När du säger åttio procent säkrat behöver kunden veta åttio procent av vad. Med ett underlag på hundra megawattimmar betyder åttio säkrade megawattimmar åttio procent av prognosen. Om kunden senare använder hundratjugofem megawattimmar är samma säkring sextiofyra procent av faktisk mängd. Om kunden bara använder sextio är säkringen större än uttaget i vår förenklade period. Avtalet bestämmer hur avvikelser hanteras. Procenten är inte andelen fast faktura. Och åttio procent är inte en generell standard för alla produkter: individuell indexportfölj får överenskommen individuell säkringsgrad, medan poolens strategi behöver skiljas från genomförda positioner. Kontrollera mängder och perioder innan du gör ett täckningspåstående.</a:t>
            </a:r>
          </a:p>
          <a:p>
            <a:r>
              <a:t>På skärmen: 80/100 = 80 % | 80/125 = 64 % | Volymandel ≠ fakturaandel</a:t>
            </a:r>
          </a:p>
          <a:p>
            <a:r>
              <a:t>Bildidé: Samma säkrade stapel placeras bredvid olika faktisk volym; nämnaren framhävs i procentberäkningen.</a:t>
            </a:r>
          </a:p>
          <a:p/>
          <a:p>
            <a:r>
              <a:t>pris-och-risk-05 · Säg vad som finns kvar</a:t>
            </a:r>
          </a:p>
          <a:p>
            <a:r>
              <a:t>Ett tydligt kundsvar visar både nyttan och det som kan ändras. Gå igenom osäkrad mängd, dygnsprofil, ändrad förbrukning och andra kostnader enligt avtalet. Skilj också signerad offert från bekräftat genomförd handel. För Kraftringen Stabil gäller det gemensamma priset endast den säkrade, månadsutjämnade delen. Det avtalade komponentpriset ändras inte bara för att den verkliga månadsprofilen senare avviker. Andra avvikelsekostnader följer villkoren. Säg därför inte att SYS och EPAD ensamma ger helt fast slutpris. Öva nu på ekonomichefens budgetfråga. Förklara med egna ord vad säkringen gör, varför mängden spelar roll och vilka uppgifter som krävs för ett användbart budgetunderlag.</a:t>
            </a:r>
          </a:p>
          <a:p>
            <a:r>
              <a:t>På skärmen: Osäkrat · profil · volym · övriga delar | Signerad offert ≠ bekräftad handel | Beskriv nyttan och gränsen</a:t>
            </a:r>
          </a:p>
          <a:p>
            <a:r>
              <a:t>Bildidé: En checklista följer varje kostnadsdel och avslutas med en paus för ekonomichefens kundfall.</a:t>
            </a:r>
          </a:p>
          <a:p/>
          <a:p>
            <a:r>
              <a:t>KÄLLOR</a:t>
            </a:r>
          </a:p>
          <a:p>
            <a:r>
              <a:t>Elhandel från grunden · B2B-presentation v1 (91 bilder) · s. 33, 34, 35, 36, 37, 38, 39, 40, 41, 42, 44, 46 · Grundmekanik för referenser, finansiellt resultat och volymtäckning. Äldre produktjuridik överförs inte.</a:t>
            </a:r>
          </a:p>
          <a:p>
            <a:r>
              <a:t>Elhandel från grunden · B2B-självstudier v1 (91 sidor) · s. 35, 36, 37, 38, 40, 41, 42, 44, 46 · Fördjupning om matchning, kvarvarande profilrisk och symmetriska scenarier.</a:t>
            </a:r>
          </a:p>
          <a:p>
            <a:r>
              <a:t>Produktspecifikationer för säljare · 10 oktober 2026 (31 sidor) · s. 9, 10, 17, 18, 19, 20, 21, 22, 23, 24, 25, 26, 27, 28, 29, 30, 31 · Aktuella produktdefinitioner ersätter äldre Rakt Av-villkorsutkast och generella säkringsantaganden.</a:t>
            </a:r>
          </a:p>
          <a:p>
            <a:r>
              <a:t>Ludwigs uttryckliga produktprecisering i samtalet · Ludwig har bekräftat att Stabils gemensamma pris endast gäller den säkrade, månadsutjämnade delen.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Ett avtalat fast elhandelspris gäller de uttryckligt definierade delarna och perioden inom kundens villkor. Ett känt pris per kWh betyder ändå inte samma fakturabelopp: 10 000 kWh kostar mer än 5 000 kWh vid samma enhetspris. Elnät, energiskatt och moms blir inte säkrade av elhandelsavtalet. Även avgifter och villkor måste läsas.</a:t>
            </a:r>
          </a:p>
          <a:p/>
          <a:p>
            <a:r>
              <a:t>Rörligt pris följer i stället avtalets marknadsberoende modell. Kunden får möjlighet att följa ett lägre marknadsutfall, men påverkas också av högre. Fastpris behöver bedömas mot behovet av förutsägbarhet och accepterad nedgångspotential, inte mot ett löfte om att alltid vinna över framtida rörligt pris.</a:t>
            </a:r>
          </a:p>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SYS är ett nordiskt systempris som används som referens för finansiell prissäkring. Det beräknas utan de interna överföringsbegränsningarna i den referensberäkningen och är inte kundens lokala elpris. EPAD används för prissäkring av skillnaden mellan systemreferensen och ett elområdes prisreferens för motsvarande period. Båda delarna behöver matcha rätt volym och leveransperiod.</a:t>
            </a:r>
          </a:p>
          <a:p/>
          <a:p>
            <a:r>
              <a:t>Om SYS är 50 öre och områdesskillnaden 20 öre blir den motsvarande områdesreferensen 70 öre. Det är en uppdelning av samma områdesnivå. Lägg inte 20 öre ovanpå ett områdespris som redan är 70. Säkring av SYS och EPAD är inte automatiskt säkring av kundens tidsprofil, osäkrade mängd, andra kostnader eller hela fakturan.</a:t>
            </a:r>
          </a:p>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En förenklad finansiell modell visar faktisk kostnad mot spot tillsammans med ekonomiskt säkringsresultat. En högre referens kan ge positivt resultat som minskar kostnaden. En lägre referens ger negativt resultat; den säkrade delen följer inte marknaden ned. Kunden väljer viss förutsägbarhet i utbyte mot att inte behålla all nedgångspotential.</a:t>
            </a:r>
          </a:p>
          <a:p/>
          <a:p>
            <a:r>
              <a:t>Övningsmodellen nedan antar perfekt matchning mellan profil, marknadsreferens och säkring. Den är inte Direkt eller Stabils fullständiga fakturaformel. I verkligheten behöver offertens komponenter och avräkning användas. Ett inköpssnitt eller en terminsnotering är inte ensam ett slutligt kundpris.</a:t>
            </a:r>
          </a:p>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En säkringsgrad utgår från ett definierat volymunderlag. Om underlaget är 100 MWh och 80 MWh säkras är prognosandelen 80 procent. Använder kunden 125 MWh är samma säkrade mängd bara 64 procent av faktiskt uttag. Vid 60 MWh blir den ungefär 133 procent. Då är säkringen större än den faktiska mängden i den förenklade perioden; avtalet avgör ekonomisk hantering.</a:t>
            </a:r>
          </a:p>
          <a:p/>
          <a:p>
            <a:r>
              <a:t>Direkt och Stabil har det beskrivna standardupplägget på 80 procent av underlaget. Det är ingen allmän standard för alla produkter. Individuell indexportfölj får individuellt överenskommen säkringsgrad, och en pools strategifördelning är inte automatiskt ett besked om redan genomförda positioner. Kontrollera även relevanta månader och anläggningar: en årsandel kan dölja olika täckning under året.</a:t>
            </a:r>
          </a:p>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Kontrollera osäkrad del, tidsprofil, ändrad mängd och övriga avtalskostnader. Signerat avtal och genomförd handel är olika händelser. Stabils gemensamma pris gäller bara den säkrade, månadsutjämnade delen. Det avtalade priset för överenskomna säkrade kWh ändras inte av verklig månadsprofil; andra avvikelser följer villkoren. SYS/EPAD-säkring ensam ger inte helt fast slutpris.</a:t>
            </a:r>
          </a:p>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Syntetisk volymkontroll för samma period och prisdel. 80 MWh är samma säkrade mängd i båda raderna. Ingen faktura- eller avvikelsekostnadsmodell.</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säkringsmekanik med perfekt matchad volym, profil och referens. En prisreferens, inga andra elhandelsdelar, nät, skatt eller moms. Ingen faktisk produktfaktura.</a:t>
            </a:r>
          </a:p>
          <a:p/>
          <a:p>
            <a:r>
              <a:t>DATA</a:t>
            </a:r>
          </a:p>
          <a:p>
            <a:r>
              <a:t>100 MWh faktisk energi, varav 80 MWh säkrade på 70 öre/kWh.</a:t>
            </a:r>
          </a:p>
          <a:p>
            <a:r>
              <a:t>Scenario A: marknadsreferens 100 öre. B: 40 öre.</a:t>
            </a:r>
          </a:p>
          <a:p/>
          <a:p>
            <a:r>
              <a:t>MELLANLED</a:t>
            </a:r>
          </a:p>
          <a:p>
            <a:r>
              <a:t>Omvandla: faktisk mängd 100 000 kWh; säkrad mängd 80 000 kWh.</a:t>
            </a:r>
          </a:p>
          <a:p>
            <a:r>
              <a:t>A: fysisk kostnad 100 000 kr. Säkringsresultat 80 000 × (1,00 − 0,70) = +24 000 kr. Nettokostnad 76 000 kr.</a:t>
            </a:r>
          </a:p>
          <a:p>
            <a:r>
              <a:t>B: fysisk kostnad 40 000 kr. Säkringsresultat 80 000 × (0,40 − 0,70) = −24 000 kr. Nettokostnad 40 000 − (−24 000) = 64 000 kr.</a:t>
            </a:r>
          </a:p>
          <a:p>
            <a:r>
              <a:t>Nettopris: 76 000 ÷ 100 000 = 0,76 kr/kWh = 76 öre/kWh; i B blir 64 000 ÷ 100 000 = 0,64 kr/kWh = 64 öre/kWh.</a:t>
            </a:r>
          </a:p>
          <a:p/>
          <a:p>
            <a:r>
              <a:t>RESULTAT</a:t>
            </a:r>
          </a:p>
          <a:p>
            <a:r>
              <a:t>76 öre vid uppscenario och 64 öre vid nedscenario i den förenklade prisreferensen.</a:t>
            </a:r>
          </a:p>
          <a:p/>
          <a:p>
            <a:r>
              <a:t>TOLKNING</a:t>
            </a:r>
          </a:p>
          <a:p>
            <a:r>
              <a:t>Skyddet minskar uppgångsexponeringen men gör nedsidan dyrare än helt osäkrat i B. Profil och avgifter kan ändra verklig kostnad.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säkringsmekanik med perfekt matchad volym, profil och referens. En prisreferens, inga andra elhandelsdelar, nät, skatt eller moms. Ingen faktisk produktfaktura.</a:t>
            </a:r>
          </a:p>
          <a:p/>
          <a:p>
            <a:r>
              <a:t>DATA</a:t>
            </a:r>
          </a:p>
          <a:p>
            <a:r>
              <a:t>100 MWh faktisk energi, varav 80 MWh säkrade på 70 öre/kWh.</a:t>
            </a:r>
          </a:p>
          <a:p>
            <a:r>
              <a:t>Scenario A: marknadsreferens 100 öre. B: 40 öre.</a:t>
            </a:r>
          </a:p>
          <a:p/>
          <a:p>
            <a:r>
              <a:t>MELLANLED</a:t>
            </a:r>
          </a:p>
          <a:p>
            <a:r>
              <a:t>Omvandla: faktisk mängd 100 000 kWh; säkrad mängd 80 000 kWh.</a:t>
            </a:r>
          </a:p>
          <a:p>
            <a:r>
              <a:t>A: fysisk kostnad 100 000 kr. Säkringsresultat 80 000 × (1,00 − 0,70) = +24 000 kr. Nettokostnad 76 000 kr.</a:t>
            </a:r>
          </a:p>
          <a:p>
            <a:r>
              <a:t>B: fysisk kostnad 40 000 kr. Säkringsresultat 80 000 × (0,40 − 0,70) = −24 000 kr. Nettokostnad 40 000 − (−24 000) = 64 000 kr.</a:t>
            </a:r>
          </a:p>
          <a:p>
            <a:r>
              <a:t>Nettopris: 76 000 ÷ 100 000 = 0,76 kr/kWh = 76 öre/kWh; i B blir 64 000 ÷ 100 000 = 0,64 kr/kWh = 64 öre/kWh.</a:t>
            </a:r>
          </a:p>
          <a:p/>
          <a:p>
            <a:r>
              <a:t>RESULTAT</a:t>
            </a:r>
          </a:p>
          <a:p>
            <a:r>
              <a:t>76 öre vid uppscenario och 64 öre vid nedscenario i den förenklade prisreferensen.</a:t>
            </a:r>
          </a:p>
          <a:p/>
          <a:p>
            <a:r>
              <a:t>TOLKNING</a:t>
            </a:r>
          </a:p>
          <a:p>
            <a:r>
              <a:t>Skyddet minskar uppgångsexponeringen men gör nedsidan dyrare än helt osäkrat i B. Profil och avgifter kan ändra verklig kostnad.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volymkontroll, ingen faktura- eller avvikelsekostnadsmodell. Samma definierade period och prisdel antas.</a:t>
            </a:r>
          </a:p>
          <a:p/>
          <a:p>
            <a:r>
              <a:t>DATA</a:t>
            </a:r>
          </a:p>
          <a:p>
            <a:r>
              <a:t>Underlag 100 MWh; säkrat 80 MWh.</a:t>
            </a:r>
          </a:p>
          <a:p>
            <a:r>
              <a:t>Faktiskt uttag i två olika scenarier: 125 respektive 60 MWh.</a:t>
            </a:r>
          </a:p>
          <a:p/>
          <a:p>
            <a:r>
              <a:t>MELLANLED</a:t>
            </a:r>
          </a:p>
          <a:p>
            <a:r>
              <a:t>Prognosandel: 80 ÷ 100 × 100 = 80 procent.</a:t>
            </a:r>
          </a:p>
          <a:p>
            <a:r>
              <a:t>Vid 125 MWh: 80 ÷ 125 × 100 = 64 procent.</a:t>
            </a:r>
          </a:p>
          <a:p>
            <a:r>
              <a:t>Vid 60 MWh: 80 ÷ 60 × 100 ≈ 133,33 procent.</a:t>
            </a:r>
          </a:p>
          <a:p>
            <a:r>
              <a:t>Andelen över 100 visar översäkring i denna förenklade period, inte en extra energileverans.</a:t>
            </a:r>
          </a:p>
          <a:p/>
          <a:p>
            <a:r>
              <a:t>RESULTAT</a:t>
            </a:r>
          </a:p>
          <a:p>
            <a:r>
              <a:t>Faktisk täckning är 64 procent respektive cirka 133 procent.</a:t>
            </a:r>
          </a:p>
          <a:p/>
          <a:p>
            <a:r>
              <a:t>TOLKNING</a:t>
            </a:r>
          </a:p>
          <a:p>
            <a:r>
              <a:t>Använd inte andelen för att lova en viss fast andel av fakturan. Kontrollera faktisk avvikelsehantering och periodstruktur i avtalet.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volymkontroll, ingen faktura- eller avvikelsekostnadsmodell. Samma definierade period och prisdel antas.</a:t>
            </a:r>
          </a:p>
          <a:p/>
          <a:p>
            <a:r>
              <a:t>DATA</a:t>
            </a:r>
          </a:p>
          <a:p>
            <a:r>
              <a:t>Underlag 100 MWh; säkrat 80 MWh.</a:t>
            </a:r>
          </a:p>
          <a:p>
            <a:r>
              <a:t>Faktiskt uttag i två olika scenarier: 125 respektive 60 MWh.</a:t>
            </a:r>
          </a:p>
          <a:p/>
          <a:p>
            <a:r>
              <a:t>MELLANLED</a:t>
            </a:r>
          </a:p>
          <a:p>
            <a:r>
              <a:t>Prognosandel: 80 ÷ 100 × 100 = 80 procent.</a:t>
            </a:r>
          </a:p>
          <a:p>
            <a:r>
              <a:t>Vid 125 MWh: 80 ÷ 125 × 100 = 64 procent.</a:t>
            </a:r>
          </a:p>
          <a:p>
            <a:r>
              <a:t>Vid 60 MWh: 80 ÷ 60 × 100 ≈ 133,33 procent.</a:t>
            </a:r>
          </a:p>
          <a:p>
            <a:r>
              <a:t>Andelen över 100 visar översäkring i denna förenklade period, inte en extra energileverans.</a:t>
            </a:r>
          </a:p>
          <a:p/>
          <a:p>
            <a:r>
              <a:t>RESULTAT</a:t>
            </a:r>
          </a:p>
          <a:p>
            <a:r>
              <a:t>Faktisk täckning är 64 procent respektive cirka 133 procent.</a:t>
            </a:r>
          </a:p>
          <a:p/>
          <a:p>
            <a:r>
              <a:t>TOLKNING</a:t>
            </a:r>
          </a:p>
          <a:p>
            <a:r>
              <a:t>Använd inte andelen för att lova en viss fast andel av fakturan. Kontrollera faktisk avvikelsehantering och periodstruktur i avtalet.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procent säkrat betyder 80 procent fast faktura.</a:t>
            </a:r>
          </a:p>
          <a:p/>
          <a:p>
            <a:r>
              <a:t>Andelen gäller definierad volym och prisdel, inte elnät, skatt eller alla kostnader.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Prissäkring kan bara ge kunden en fördel.</a:t>
            </a:r>
          </a:p>
          <a:p/>
          <a:p>
            <a:r>
              <a:t>Marknadsfall kan göra säkrad del dyrare än marknaden. Det är en avvägning, inte en lägstaprisgaranti.</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 och EPAD gör alla produkter till fastpris.</a:t>
            </a:r>
          </a:p>
          <a:p/>
          <a:p>
            <a:r>
              <a:t>Dessa referenser täcker inte automatiskt profil, öppen volym eller andra avtalsdelar.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Prissäkring bestämmer vissa prisdelar för en avtalad mängd och period. Det minskar exponeringen mot högre marknad i de delarna, men de följer inte med ned vid prisfall. Andra delar och mängden ni faktiskt använder kan fortfarande ändra slutkostnaden.</a:t>
            </a:r>
          </a:p>
          <a:p/>
          <a:p>
            <a:r>
              <a:t>UTVECKLAD FÖRKLARING</a:t>
            </a:r>
          </a:p>
          <a:p>
            <a:r>
              <a:t>Vi ska vara tydliga med vad procenten avser. Om vi säkrar 80 MWh utifrån 100 MWh underlag är det inte ett löfte om att 80 procent av hela räkningen är fast. Använder ni mer ändras den faktiska täckningen. Vi går igenom säkrade referenser, osäkrad volym, profil och avgifter och visar både högre och lägre marknad, så att valet passar ert behov av förutsägbarhet.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Fastigheten har ett underlag på 100 MWh och genomförd säkring på 80 MWh för definierade SYS/EPAD-komponenter. Med nya laddare blir det faktiska uttaget för perioden 125 MWh. Ekonomichefen säger: 'Vi är fortfarande 80 procent fasta, så styrelsen kan räkna med samma faktura.' Kunden vill minska uppgångsrisken men följa hela marknaden ned.</a:t>
            </a:r>
          </a:p>
          <a:p/>
          <a:p>
            <a:r>
              <a:t>UPPGIFTER</a:t>
            </a:r>
          </a:p>
          <a:p>
            <a:r>
              <a:t>Räkna den nya faktiska täckningen.</a:t>
            </a:r>
          </a:p>
          <a:p>
            <a:r>
              <a:t>Korrigera påståendena om andel och faktura.</a:t>
            </a:r>
          </a:p>
          <a:p>
            <a:r>
              <a:t>Förklara avvägningen vid marknadsfall.</a:t>
            </a:r>
          </a:p>
          <a:p>
            <a:r>
              <a:t>Beskriv vilka uppgifter som måste granskas innan budgetunderlag lämnas.</a:t>
            </a:r>
          </a:p>
          <a:p/>
          <a:p>
            <a:r>
              <a:t>MODELLSVAR</a:t>
            </a:r>
          </a:p>
          <a:p>
            <a:r>
              <a:t>80 ÷ 125 = 64 procent av den nya mängden i den förenklade perioden. Den ursprungliga 80-procentsandelen avsåg underlaget och vissa komponenter, inte hela fakturan. Mer energi kan öka kostnaden även vid känt pris på en del. Vid prisfall ligger genomförda säkringar kvar på sin avtalade nivå; kunden kan inte samtidigt få samma skydd och full nedgångspotential i samma säkrade del. Budgeten behöver därför inkludera uppdaterade månadsvolymer, dygnsprofil, osäkrad del, avgifter, nät och skatter. Vi verifierar genomförda positioner och avtalsregler för avvikelse i stället för att anta en ny automatisk 80-procentstäckning.</a:t>
            </a:r>
          </a:p>
          <a:p/>
          <a:p>
            <a:r>
              <a:t>BEDÖMNINGSSTÖD</a:t>
            </a:r>
          </a:p>
          <a:p>
            <a:r>
              <a:t>Ny faktisk täckning anges som 64 procent i korrekt scope.</a:t>
            </a:r>
          </a:p>
          <a:p>
            <a:r>
              <a:t>Prisdel, mängd och fakturabelopp hålls isär.</a:t>
            </a:r>
          </a:p>
          <a:p>
            <a:r>
              <a:t>Prisfall och uppgång förklaras symmetriskt utan garanti.</a:t>
            </a:r>
          </a:p>
          <a:p>
            <a:r>
              <a:t>Uppdaterade data, genomförd handel och avtalsvillkor efterfrågas.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Fastigheten har ett underlag på 100 MWh och genomförd säkring på 80 MWh för definierade SYS/EPAD-komponenter. Med nya laddare blir det faktiska uttaget för perioden 125 MWh. Ekonomichefen säger: 'Vi är fortfarande 80 procent fasta, så styrelsen kan räkna med samma faktura.' Kunden vill minska uppgångsrisken men följa hela marknaden ned.</a:t>
            </a:r>
          </a:p>
          <a:p/>
          <a:p>
            <a:r>
              <a:t>UPPGIFTER</a:t>
            </a:r>
          </a:p>
          <a:p>
            <a:r>
              <a:t>Räkna den nya faktiska täckningen.</a:t>
            </a:r>
          </a:p>
          <a:p>
            <a:r>
              <a:t>Korrigera påståendena om andel och faktura.</a:t>
            </a:r>
          </a:p>
          <a:p>
            <a:r>
              <a:t>Förklara avvägningen vid marknadsfall.</a:t>
            </a:r>
          </a:p>
          <a:p>
            <a:r>
              <a:t>Beskriv vilka uppgifter som måste granskas innan budgetunderlag lämnas.</a:t>
            </a:r>
          </a:p>
          <a:p/>
          <a:p>
            <a:r>
              <a:t>MODELLSVAR</a:t>
            </a:r>
          </a:p>
          <a:p>
            <a:r>
              <a:t>80 ÷ 125 = 64 procent av den nya mängden i den förenklade perioden. Den ursprungliga 80-procentsandelen avsåg underlaget och vissa komponenter, inte hela fakturan. Mer energi kan öka kostnaden även vid känt pris på en del. Vid prisfall ligger genomförda säkringar kvar på sin avtalade nivå; kunden kan inte samtidigt få samma skydd och full nedgångspotential i samma säkrade del. Budgeten behöver därför inkludera uppdaterade månadsvolymer, dygnsprofil, osäkrad del, avgifter, nät och skatter. Vi verifierar genomförda positioner och avtalsregler för avvikelse i stället för att anta en ny automatisk 80-procentstäckning.</a:t>
            </a:r>
          </a:p>
          <a:p/>
          <a:p>
            <a:r>
              <a:t>BEDÖMNINGSSTÖD</a:t>
            </a:r>
          </a:p>
          <a:p>
            <a:r>
              <a:t>Ny faktisk täckning anges som 64 procent i korrekt scope.</a:t>
            </a:r>
          </a:p>
          <a:p>
            <a:r>
              <a:t>Prisdel, mängd och fakturabelopp hålls isär.</a:t>
            </a:r>
          </a:p>
          <a:p>
            <a:r>
              <a:t>Prisfall och uppgång förklaras symmetriskt utan garanti.</a:t>
            </a:r>
          </a:p>
          <a:p>
            <a:r>
              <a:t>Uppdaterade data, genomförd handel och avtalsvillkor efterfrågas.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Vad behöver du veta när en kund hör '80 procent säkrat'?</a:t>
            </a:r>
          </a:p>
          <a:p/>
          <a:p>
            <a:r>
              <a:t>FACIT</a:t>
            </a:r>
          </a:p>
          <a:p>
            <a:r>
              <a:t>Rätt alternativ: A. Volymunderlag, period och prisdelar samt hur faktisk mängd kan avvika. Förklaring: Säkringen gäller en definierad exponering. Varken fakturaandel eller generell produktstandard följer automatiskt.</a:t>
            </a:r>
          </a:p>
          <a:p/>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80 MWh är säkrade och kunden använder 125 MWh i samma förenklade period. Hur stor är faktisk täckning?</a:t>
            </a:r>
          </a:p>
          <a:p/>
          <a:p>
            <a:r>
              <a:t>FACIT</a:t>
            </a:r>
          </a:p>
          <a:p>
            <a:r>
              <a:t>Svar: 64 %. 80 ÷ 125 × 100 = 64 procent. Den säkrade mängden har inte ökat när förbrukningen ökade.</a:t>
            </a:r>
          </a:p>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I perfekt matchad modell är 80 procent säkrat på 70 öre och 20 procent osäkrat på 40 öre. Vad blir nettopriset för referensen?</a:t>
            </a:r>
          </a:p>
          <a:p/>
          <a:p>
            <a:r>
              <a:t>FACIT</a:t>
            </a:r>
          </a:p>
          <a:p>
            <a:r>
              <a:t>Svar: 64 öre/kWh. 0,80 × 70 + 0,20 × 40 = 64 öre/kWh. Profil och alla tillägg är utanför denna modell.</a:t>
            </a:r>
          </a:p>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säger att SYS och EPAD ger helt fast slutpris. Vad behöver ditt svar förklara?</a:t>
            </a:r>
          </a:p>
          <a:p/>
          <a:p>
            <a:r>
              <a:t>FACIT</a:t>
            </a:r>
          </a:p>
          <a:p>
            <a:r>
              <a:t>SYS är systemreferensen och EPAD säkrar områdesskillnaden för matchad volym och period. Profil, osäkrad volym och andra kostnader omfattas inte automatiskt. Även ett fast enhetspris ger varierande belopp när mängden ändras.</a:t>
            </a:r>
          </a:p>
          <a:p/>
          <a:p>
            <a:r>
              <a:t>Förklarar referensernas begränsade omfattning.</a:t>
            </a:r>
          </a:p>
          <a:p>
            <a:r>
              <a:t>Tar upp minst två kvarvarande kostnadsrisker.</a:t>
            </a:r>
          </a:p>
          <a:p>
            <a:r>
              <a:t>Skiljer fast pris per kWh från fast faktura.</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Säg vilken prisdel, volym och period som säkras.</a:t>
            </a:r>
          </a:p>
          <a:p>
            <a:r>
              <a:t>SYS är inte kundens lokala spotpris; dubbelräkna inte EPAD.</a:t>
            </a:r>
          </a:p>
          <a:p>
            <a:r>
              <a:t>Visa både upp- och nedscenario.</a:t>
            </a:r>
          </a:p>
          <a:p>
            <a:r>
              <a:t>Skilj prognosandel från faktisk täckning och genomförda positioner.</a:t>
            </a:r>
          </a:p>
          <a:p>
            <a:r>
              <a:t>Fast enhetspris är inte fast fakturabelopp.</a:t>
            </a:r>
          </a:p>
          <a:p/>
          <a:p>
            <a:r>
              <a:t>KÄLLOR</a:t>
            </a:r>
          </a:p>
          <a:p>
            <a:r>
              <a:t>Elhandel från grunden · B2B-presentation v1 (91 bilder) · s. 33, 34, 35, 36, 37, 38, 39, 40, 41, 42, 44, 46 · Grundmekanik för referenser, finansiellt resultat och volymtäckning. Äldre produktjuridik överförs inte.</a:t>
            </a:r>
          </a:p>
          <a:p>
            <a:r>
              <a:t>Elhandel från grunden · B2B-självstudier v1 (91 sidor) · s. 35, 36, 37, 38, 40, 41, 42, 44, 46 · Fördjupning om matchning, kvarvarande profilrisk och symmetriska scenarier.</a:t>
            </a:r>
          </a:p>
          <a:p>
            <a:r>
              <a:t>Produktspecifikationer för säljare · 10 oktober 2026 (31 sidor) · s. 9, 10, 17, 18, 19, 20, 21, 22, 23, 24, 25, 26, 27, 28, 29, 30, 31 · Aktuella produktdefinitioner ersätter äldre Rakt Av-villkorsutkast och generella säkringsantaganden.</a:t>
            </a:r>
          </a:p>
          <a:p>
            <a:r>
              <a:t>Ludwigs uttryckliga produktprecisering i samtalet · Ludwig har bekräftat att Stabils gemensamma pris endast gäller den säkrade, månadsutjämnade delen.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bra rekommendation börjar med kundens mål, accepterad variation och faktiska elanvändning. Här använder du grunderna i kundsamtalet: ställer konkreta frågor, gör jämförbara beräkningar och hjälper kunden förstå konsekvenserna innan ett produktval föreslås.</a:t>
            </a:r>
          </a:p>
          <a:p/>
          <a:p>
            <a:r>
              <a:t>LÄRANDEMÅL</a:t>
            </a:r>
          </a:p>
          <a:p>
            <a:r>
              <a:t>Ställa frågor om budget, drift, förändringar och beslut före produktförslag.</a:t>
            </a:r>
          </a:p>
          <a:p>
            <a:r>
              <a:t>Skapa en jämförelse med samma anläggningar, volym, period och prisomfattning.</a:t>
            </a:r>
          </a:p>
          <a:p>
            <a:r>
              <a:t>Skilja historiskt utfall från framtidsscenario och löfte.</a:t>
            </a:r>
          </a:p>
          <a:p>
            <a:r>
              <a:t>Motivera en rekommendation och ange när den behöver ändras.</a:t>
            </a:r>
          </a:p>
          <a:p/>
          <a:p>
            <a:r>
              <a:t>KANONISKT BERÄTTARMANUS</a:t>
            </a:r>
          </a:p>
          <a:p>
            <a:r>
              <a:t>kundens-behov-01 · Börja i målet</a:t>
            </a:r>
          </a:p>
          <a:p>
            <a:r>
              <a:t>Nu använder vi grunderna i kundsamtalet. Börja med vad kunden vill uppnå, inte med ett produktnamn. När kunden säger billigast kan det betyda lägst förväntad kostnad, lägst påslag eller att slippa överraskningar. Fråga vad som är viktigast och vilka prisvariationer budgeten klarar. Gör risken konkret. Vid hundratjugo megawattimmar betyder ett antaget tjugo öre högre snitt tjugofyratusen kronor mer för samma prisdel. Detta är ett scenario. Fråga vad en sådan förändring skulle innebära och hur viktig möjligheten att följa marknaden ned är. Då blir behovet tydligare än en allmän önskan om att elen ska vara både billig och trygg.</a:t>
            </a:r>
          </a:p>
          <a:p>
            <a:r>
              <a:t>På skärmen: Vad vill kunden uppnå? | Vilken variation klarar budgeten? | Scenario: +20 öre = +24 000 kr</a:t>
            </a:r>
          </a:p>
          <a:p>
            <a:r>
              <a:t>Bildidé: Kundens ord billigast och tryggt översätts till konkreta frågor och ett scoped budgetexempel.</a:t>
            </a:r>
          </a:p>
          <a:p/>
          <a:p>
            <a:r>
              <a:t>kundens-behov-02 · Förstå driften och förändringarna</a:t>
            </a:r>
          </a:p>
          <a:p>
            <a:r>
              <a:t>Fråga när elen används och vad som går att flytta i verkligheten. En kund med laddning är inte automatiskt flexibel i hela sin användning. Maskiner kanske måste gå på dagtid och fordon vara klara tidigt. Fråga också om nya lokaler, utrustning, öppettider och solceller. Historiken visar vad som hänt, men framtidens nätinköp kan bli annorlunda. Vid egen produktion håller vi isär total användning, egenanvänd el, köpt nätel och export. Årsproduktionen kan inte bara dras bort från årsvolymen utan hänsyn till tidpunkterna. Till sist behöver du veta vem som fattar beslut och vilka kriterier som gäller. Underlaget ska passa verkliga behov, inte en schablonkund.</a:t>
            </a:r>
          </a:p>
          <a:p>
            <a:r>
              <a:t>På skärmen: Drift och styrbar mängd | Planerade förändringar | Beslut och kriterier</a:t>
            </a:r>
          </a:p>
          <a:p>
            <a:r>
              <a:t>Bildidé: En årskurva ändras med laddning och solel; import, egenanvändning och export visas i separata flöden.</a:t>
            </a:r>
          </a:p>
          <a:p/>
          <a:p>
            <a:r>
              <a:t>kundens-behov-03 · Jämför lika underlag</a:t>
            </a:r>
          </a:p>
          <a:p>
            <a:r>
              <a:t>En jämförelse ska använda samma anläggningar, elområden, perioder och mängder. Prisdelar, fasta avgifter och momsgrund behöver också vara lika tydliga på båda sidor. Ett framtida terminspris utan tillägg är inte direkt jämförbart med förra årets färdiga kundpris. Vikta med kundens faktiska eller uttryckligt antagna mängder. I vårt tvåmånadersexempel kostar nuläget tjugotvåtusen kronor och alternativet tjugoentusenfemhundra. Januari är billigare i alternativet, juli dyrare, men totalen blir femhundra kronor lägre. Det säger bara något om de två månaderna och de jämförda delarna. För en helårsbedömning behöver vi alla relevanta månader och konsekvent avgiftsomfattning. Visa metoden så att kunden kan följa den.</a:t>
            </a:r>
          </a:p>
          <a:p>
            <a:r>
              <a:t>På skärmen: Samma period, volym och scope | Januari +2 000 kr | Juli −1 500 kr | Summa +500 kr</a:t>
            </a:r>
          </a:p>
          <a:p>
            <a:r>
              <a:t>Bildidé: Två månader summeras med respektive volym; rätt plus- och minusdefinition står kvar på skärmen.</a:t>
            </a:r>
          </a:p>
          <a:p/>
          <a:p>
            <a:r>
              <a:t>kundens-behov-04 · Historik och scenario är olika</a:t>
            </a:r>
          </a:p>
          <a:p>
            <a:r>
              <a:t>Var tydlig med vilken sorts svar du visar. Historik beskriver ett utfall som har inträffat under en viss periods förutsättningar. Ett scenario beskriver vad som händer om dina antaganden blir verklighet. Ingen av dem blir automatiskt ett löfte om framtiden. En referenskunds besparing säger inte vad en annan kund kommer få. Motivera i stället ditt förslag med kundens mål, data och accepterade risk. Visa också vad som skulle ändra rekommendationen. Om lastflytten inte fungerar eller budgeten kräver ett verkligt känt enhetspris behöver ett annat upplägg prövas. Ett bra råd ska kunna förklaras både när marknaden stiger och när den faller.</a:t>
            </a:r>
          </a:p>
          <a:p>
            <a:r>
              <a:t>På skärmen: Historik: inträffat utfall | Scenario: antaget utfall | När ändrar vi förslaget?</a:t>
            </a:r>
          </a:p>
          <a:p>
            <a:r>
              <a:t>Bildidé: Två tydligt märkta kalkyler ställs bredvid en behovslista och ett villkor för omprövning.</a:t>
            </a:r>
          </a:p>
          <a:p/>
          <a:p>
            <a:r>
              <a:t>kundens-behov-05 · Kunden ska kunna återberätta</a:t>
            </a:r>
          </a:p>
          <a:p>
            <a:r>
              <a:t>Avsluta förklaringen med att be kunden säga vad som är bestämt och vad som kan ändras. Om kunden återberättar att hela fakturan är fast när bara en prisdel är säkrad behöver du korrigera det före beslut. Använd enkla ord, offertvillkor och en tydlig giltighetstid. Följ också överlämningen så att avtal och eventuell genomförd prissäkring blir rätt hanterade. De är olika händelser. Du behöver inte kunna spå framtiden för att hjälpa kunden. Du behöver göra valet begripligt och hålla löftet inom produktens faktiska omfattning. Lös föreningens kundfall: ställ behovsfrågor, pröva principer och motivera vad som skulle få dig att välja annorlunda.</a:t>
            </a:r>
          </a:p>
          <a:p>
            <a:r>
              <a:t>På skärmen: Be kunden återberätta | Rätt offert och villkor | Tydlig överlämning</a:t>
            </a:r>
          </a:p>
          <a:p>
            <a:r>
              <a:t>Bildidé: Ett samtal avslutas med kundens återberättande och en checklistpunkt om bekräftad överlämning.</a:t>
            </a:r>
          </a:p>
          <a:p/>
          <a:p>
            <a:r>
              <a:t>KÄLLOR</a:t>
            </a:r>
          </a:p>
          <a:p>
            <a:r>
              <a:t>Elhandel från grunden · B2B-presentation v1 (91 bilder) · s. 66, 67, 68, 69, 70, 71, 72, 73, 76, 77, 78, 79 · Behovsanalys, jämförbar offert, kundfall, tydliga formuleringar och överlämning.</a:t>
            </a:r>
          </a:p>
          <a:p>
            <a:r>
              <a:t>Elhandel från grunden · B2B-självstudier v1 (91 sidor) · s. 66, 67, 68, 69, 70, 71, 72, 73, 76, 77, 78, 79 · Fördjupning om prognoser, fullmakt, historisk jämförelse, återberättande och handledarbedömning.</a:t>
            </a:r>
          </a:p>
          <a:p>
            <a:r>
              <a:t>Produktspecifikationer för säljare · 10 oktober 2026 (31 sidor) · s. 2, 3, 5, 8, 10, 13, 16, 19, 22, 25, 28, 31 · Aktuella produktprinciper och vad som behöver hämtas från godkänd kundoffert. Inga äldre volymgränser överförs.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'Billigast' kan betyda lägst förväntad kostnad, lägst påslag eller att slippa obehagliga överraskningar. 'Tryggt' kan betyda känt enhetspris eller mindre variation i en viss del. Fråga vad kunden vill skydda och vilka ökningar budgeten klarar. Gör variationen konkret i kronor, inte bara med ordet risk. Fråga även hur viktigt det är att följa ett marknadsfall.</a:t>
            </a:r>
          </a:p>
          <a:p/>
          <a:p>
            <a:r>
              <a:t>Undersök driften: när används elen och vilka delar kan faktiskt flyttas? Fråga om nya maskiner, laddning, solceller, lokaler och ändrade öppettider. Ett gammalt årstal kan vara relevant historik men en dålig framtidsprognos. Fråga vem som beslutar, när beslutet behövs och vilka kriterier som ska vara uppfyllda.</a:t>
            </a:r>
          </a:p>
          <a:p/>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Du behöver rätt anläggningar och elområden, relevanta månadsvolymer och intervallmätdata när tidsprofil ska bedömas. Nuvarande avtal och fakturor visar omfattning, avgifter och villkor. Dokumentera period, datakälla och om mängder är uppmätta eller uppskattade. När kunden har egen produktion ska bruttoanvändning, egenanvänd produktion, köpt nätel och export hållas isär.</a:t>
            </a:r>
          </a:p>
          <a:p/>
          <a:p>
            <a:r>
              <a:t>Årsproduktion från solceller ska inte dras av slentrianmässigt från årsanvändning: samtidig egenanvändning och export gör att faktiskt nätinköp behöver följas över tid. En fullmakt ger bara de befogenheter som framgår av den. Behörighet, datainsamling och arbetsflöde följer aktuella rutiner; kursen hittar inte på mandat eller kundvillkor.</a:t>
            </a:r>
          </a:p>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Använd samma mätpunkter, elområden, period och energimängder för alternativen. Definiera vilka elhandelsdelar och fasta avgifter som ingår och hur moms hanteras. Beräkna kostnaden med kundens månads- eller kvartsvikter beroende på prismodell. Ett kWh-pris med avgifter kan inte rättvist jämföras med en ensam terminsreferens eller ett pris som saknar dessa delar.</a:t>
            </a:r>
          </a:p>
          <a:p/>
          <a:p>
            <a:r>
              <a:t>En jämförelse av historik säger vad som hände under den periodens förutsättningar. Ett framtidsscenario säger vad som händer om antagandena blir verklighet. Märk dem tydligt. En referenskunds resultat är inte en garanti för en annan kund. Visa både ett högre och ett lägre marknadsutfall när valet påverkas av framtida priser.</a:t>
            </a:r>
          </a:p>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Koppla rekommendationen till behovet: ett känt enhetspris, direkt koppling till användningstid eller planerade inköp över tid. Årsvolym och bransch räcker inte som enda skäl. Ange också vad som talar emot och när förslaget skulle ändras. Om laststyrningen inte är genomförbar, budgeten inte tål variation eller kommande nätinköp är osäkert kan ett annat upplägg behöva prövas.</a:t>
            </a:r>
          </a:p>
          <a:p/>
          <a:p>
            <a:r>
              <a:t>Låt kunden återberätta vad som är bestämt och vad som kan ändras. Om svaret blir 'hela fakturan är fast' när endast en prisdel är säkrad behöver förklaringen korrigeras före beslut. Bekräfta vad som gäller enligt aktuell offert, giltighetstid och villkor. Ett avtal och genomförd prissäkring är olika händelser; följ upp så att överlämningen blir korrekt.</a:t>
            </a:r>
          </a:p>
          <a:p/>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Börja med kundens mål, visa relevant exempel och säg begränsningen direkt. Använd kundens ord. Saknade uppgifter ska verifieras. Kunden behöver förstå varför förslaget finns och vad beslutet innebär, inte få ett prisförutsägelselöfte.</a:t>
            </a:r>
          </a:p>
          <a:p/>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framtidsscenario med oförändrad årsvolym och en jämförbar energipriskomponent. Övrig elhandel, nät, skatt och moms är utanför.</a:t>
            </a:r>
          </a:p>
          <a:p/>
          <a:p>
            <a:r>
              <a:t>DATA</a:t>
            </a:r>
          </a:p>
          <a:p>
            <a:r>
              <a:t>Förväntad köpt mängd 120 MWh per år.</a:t>
            </a:r>
          </a:p>
          <a:p>
            <a:r>
              <a:t>Ett antaget högre snitt: +20 öre/kWh.</a:t>
            </a:r>
          </a:p>
          <a:p/>
          <a:p>
            <a:r>
              <a:t>MELLANLED</a:t>
            </a:r>
          </a:p>
          <a:p>
            <a:r>
              <a:t>120 MWh = 120 000 kWh.</a:t>
            </a:r>
          </a:p>
          <a:p>
            <a:r>
              <a:t>20 öre = 0,20 kr/kWh.</a:t>
            </a:r>
          </a:p>
          <a:p>
            <a:r>
              <a:t>Ökad kostnad: 120 000 × 0,20 = 24 000 kr.</a:t>
            </a:r>
          </a:p>
          <a:p>
            <a:r>
              <a:t>Använd 24 000 kr som en konkret budgetfråga, inte som prognos.</a:t>
            </a:r>
          </a:p>
          <a:p/>
          <a:p>
            <a:r>
              <a:t>RESULTAT</a:t>
            </a:r>
          </a:p>
          <a:p>
            <a:r>
              <a:t>24 000 kr högre årsbelopp för den angivna prisdelen om antagandet inträffar.</a:t>
            </a:r>
          </a:p>
          <a:p/>
          <a:p>
            <a:r>
              <a:t>TOLKNING</a:t>
            </a:r>
          </a:p>
          <a:p>
            <a:r>
              <a:t>Fråga vad en sådan variation skulle betyda för kunden och om kunden vill minska exponeringen. Exemplet säger inte att priset faktiskt kommer stiga.</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framtidsscenario med oförändrad årsvolym och en jämförbar energipriskomponent. Övrig elhandel, nät, skatt och moms är utanför.</a:t>
            </a:r>
          </a:p>
          <a:p/>
          <a:p>
            <a:r>
              <a:t>DATA</a:t>
            </a:r>
          </a:p>
          <a:p>
            <a:r>
              <a:t>Förväntad köpt mängd 120 MWh per år.</a:t>
            </a:r>
          </a:p>
          <a:p>
            <a:r>
              <a:t>Ett antaget högre snitt: +20 öre/kWh.</a:t>
            </a:r>
          </a:p>
          <a:p/>
          <a:p>
            <a:r>
              <a:t>MELLANLED</a:t>
            </a:r>
          </a:p>
          <a:p>
            <a:r>
              <a:t>120 MWh = 120 000 kWh.</a:t>
            </a:r>
          </a:p>
          <a:p>
            <a:r>
              <a:t>20 öre = 0,20 kr/kWh.</a:t>
            </a:r>
          </a:p>
          <a:p>
            <a:r>
              <a:t>Ökad kostnad: 120 000 × 0,20 = 24 000 kr.</a:t>
            </a:r>
          </a:p>
          <a:p>
            <a:r>
              <a:t>Använd 24 000 kr som en konkret budgetfråga, inte som prognos.</a:t>
            </a:r>
          </a:p>
          <a:p/>
          <a:p>
            <a:r>
              <a:t>RESULTAT</a:t>
            </a:r>
          </a:p>
          <a:p>
            <a:r>
              <a:t>24 000 kr högre årsbelopp för den angivna prisdelen om antagandet inträffar.</a:t>
            </a:r>
          </a:p>
          <a:p/>
          <a:p>
            <a:r>
              <a:t>TOLKNING</a:t>
            </a:r>
          </a:p>
          <a:p>
            <a:r>
              <a:t>Fråga vad en sådan variation skulle betyda för kunden och om kunden vill minska exponeringen. Exemplet säger inte att priset faktiskt kommer stiga.</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jämförelse av samma elhandelsdelar före nät, skatt och moms. Endast januari och juli, inte hela året eller en offert.</a:t>
            </a:r>
          </a:p>
          <a:p/>
          <a:p>
            <a:r>
              <a:t>DATA</a:t>
            </a:r>
          </a:p>
          <a:p>
            <a:r>
              <a:t>Januari 20 000 kWh: nuvarande jämförpris 100 öre, alternativ 90 öre.</a:t>
            </a:r>
          </a:p>
          <a:p>
            <a:r>
              <a:t>Juli 5 000 kWh: nuvarande 40 öre, alternativ 70 öre.</a:t>
            </a:r>
          </a:p>
          <a:p/>
          <a:p>
            <a:r>
              <a:t>MELLANLED</a:t>
            </a:r>
          </a:p>
          <a:p>
            <a:r>
              <a:t>Nuvarande kostnad: 20 000 × 1,00 + 5 000 × 0,40 = 22 000 kr.</a:t>
            </a:r>
          </a:p>
          <a:p>
            <a:r>
              <a:t>Alternativ: 20 000 × 0,90 + 5 000 × 0,70 = 21 500 kr.</a:t>
            </a:r>
          </a:p>
          <a:p>
            <a:r>
              <a:t>Januaris skillnad är +2 000 kr; julis −1 500 kr när nuvarande minus alternativ räknas.</a:t>
            </a:r>
          </a:p>
          <a:p>
            <a:r>
              <a:t>Total skillnad: 500 kr, eller 500 ÷ 22 000 × 100 ≈ 2,27 procent.</a:t>
            </a:r>
          </a:p>
          <a:p/>
          <a:p>
            <a:r>
              <a:t>RESULTAT</a:t>
            </a:r>
          </a:p>
          <a:p>
            <a:r>
              <a:t>Alternativet är 500 kr billigare för just de två månaderna och jämförda delarna.</a:t>
            </a:r>
          </a:p>
          <a:p/>
          <a:p>
            <a:r>
              <a:t>TOLKNING</a:t>
            </a:r>
          </a:p>
          <a:p>
            <a:r>
              <a:t>Ett oviktat medel av prisskillnaderna ger fel bild. En helårsbedömning behöver alla relevanta månader och samma avgiftsdefinition.</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jämförelse av samma elhandelsdelar före nät, skatt och moms. Endast januari och juli, inte hela året eller en offert.</a:t>
            </a:r>
          </a:p>
          <a:p/>
          <a:p>
            <a:r>
              <a:t>DATA</a:t>
            </a:r>
          </a:p>
          <a:p>
            <a:r>
              <a:t>Januari 20 000 kWh: nuvarande jämförpris 100 öre, alternativ 90 öre.</a:t>
            </a:r>
          </a:p>
          <a:p>
            <a:r>
              <a:t>Juli 5 000 kWh: nuvarande 40 öre, alternativ 70 öre.</a:t>
            </a:r>
          </a:p>
          <a:p/>
          <a:p>
            <a:r>
              <a:t>MELLANLED</a:t>
            </a:r>
          </a:p>
          <a:p>
            <a:r>
              <a:t>Nuvarande kostnad: 20 000 × 1,00 + 5 000 × 0,40 = 22 000 kr.</a:t>
            </a:r>
          </a:p>
          <a:p>
            <a:r>
              <a:t>Alternativ: 20 000 × 0,90 + 5 000 × 0,70 = 21 500 kr.</a:t>
            </a:r>
          </a:p>
          <a:p>
            <a:r>
              <a:t>Januaris skillnad är +2 000 kr; julis −1 500 kr när nuvarande minus alternativ räknas.</a:t>
            </a:r>
          </a:p>
          <a:p>
            <a:r>
              <a:t>Total skillnad: 500 kr, eller 500 ÷ 22 000 × 100 ≈ 2,27 procent.</a:t>
            </a:r>
          </a:p>
          <a:p/>
          <a:p>
            <a:r>
              <a:t>RESULTAT</a:t>
            </a:r>
          </a:p>
          <a:p>
            <a:r>
              <a:t>Alternativet är 500 kr billigare för just de två månaderna och jämförda delarna.</a:t>
            </a:r>
          </a:p>
          <a:p/>
          <a:p>
            <a:r>
              <a:t>TOLKNING</a:t>
            </a:r>
          </a:p>
          <a:p>
            <a:r>
              <a:t>Ett oviktat medel av prisskillnaderna ger fel bild. En helårsbedömning behöver alla relevanta månader och samma avgiftsdefinition.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viss årsvolym avgör automatiskt rätt produkt.</a:t>
            </a:r>
          </a:p>
          <a:p/>
          <a:p>
            <a:r>
              <a:t>Volym är ett underlag. Budgetmål, profil, framtida förändringar och aktuella villkor avgör vad som behöver prövas.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annan kund sparade 15 procent, alltså gör alla det.</a:t>
            </a:r>
          </a:p>
          <a:p/>
          <a:p>
            <a:r>
              <a:t>Det resultatet gäller den kundens data, period och modell. Det är inget generellt framtidslöfte.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billig januarimånad visar att avtalet är bäst över året.</a:t>
            </a:r>
          </a:p>
          <a:p/>
          <a:p>
            <a:r>
              <a:t>Beräkna hela relevanta perioden med kundens volymvikter och samma kostnadsdelar.</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 börjar med er budget och hur ni använder el, sedan jämför vi alternativen på samma mängd och kostnadsdelar. Jag visar vad som kan förändras och vad som blir mer förutsägbart. Målet är ett val ni förstår och som passar era förutsättningar.</a:t>
            </a:r>
          </a:p>
          <a:p/>
          <a:p>
            <a:r>
              <a:t>UTVECKLAD FÖRKLARING</a:t>
            </a:r>
          </a:p>
          <a:p>
            <a:r>
              <a:t>Först vill jag förstå hur stora prisvariationer ni accepterar och vilka förändringar som väntar i verksamheten. Därefter använder vi rätt mätpunkter, månads- och kvartdata och ert nuvarande avtal. Om beräkningen är ett scenario märker vi det som scenario. Jag förklarar både skälet till förslaget och vilka ändringar i era behov som skulle göra ett annat alternativ mer lämpligt.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Den fiktiva föreningen Björken använder 100 MWh per år. Styrelsen vill slippa välja inköpsdag men säger också 'vi vill alltid ha billigast och samma faktura'. Nya laddplatser planeras. En ledamot har sett att en annan förening sparat pengar i en pool. Tolv månaders egen historik finns, men laddningen ingår inte i prognosen.</a:t>
            </a:r>
          </a:p>
          <a:p/>
          <a:p>
            <a:r>
              <a:t>UPPGIFTER</a:t>
            </a:r>
          </a:p>
          <a:p>
            <a:r>
              <a:t>Skriv fyra behovsfrågor innan ett produktförslag.</a:t>
            </a:r>
          </a:p>
          <a:p>
            <a:r>
              <a:t>Beskriv relevant underlag och hur laddning påverkar det.</a:t>
            </a:r>
          </a:p>
          <a:p>
            <a:r>
              <a:t>Pröva möjliga produktprinciper och ange vad som inte kan lovas.</a:t>
            </a:r>
          </a:p>
          <a:p>
            <a:r>
              <a:t>Formulera ett rekommendationsresonemang med villkor för omprövning.</a:t>
            </a:r>
          </a:p>
          <a:p/>
          <a:p>
            <a:r>
              <a:t>MODELLSVAR</a:t>
            </a:r>
          </a:p>
          <a:p>
            <a:r>
              <a:t>Fråga hur mycket budgetvariation styrelsen klarar, om känt enhetspris prioriteras framför nedgångspotential, hur mycket köpt el laddningen tillför och vem som fattar beslut. Historiken behöver uppdateras med realistiska månads- och tidsmönster samt nuvarande avtalsvillkor. En planstyrd pool kan undersökas om kunden vill sprida inköpstillfällen och accepterar kvarvarande variation; ett fast enhetspris behöver prövas om det är viktigare. Aktuell tillgänglighet och villkor måste kontrolleras. Ingen modell väljs enbart från 100 MWh och inget annat kundutfall garanterar besparing. Samma faktura kräver mer än ett fast kWh-pris. Rekommendationen ändras om laddprognosen, risktåligheten eller avtalsförutsättningarna inte passar.</a:t>
            </a:r>
          </a:p>
          <a:p/>
          <a:p>
            <a:r>
              <a:t>BEDÖMNINGSSTÖD</a:t>
            </a:r>
          </a:p>
          <a:p>
            <a:r>
              <a:t>Fyra relevanta frågor täcker budget, drift/förändring och beslut.</a:t>
            </a:r>
          </a:p>
          <a:p>
            <a:r>
              <a:t>Egen historik uppdateras i stället för att kopiera en referenskund.</a:t>
            </a:r>
          </a:p>
          <a:p>
            <a:r>
              <a:t>Produktprincip motiveras utan automatiska kundgränser eller lägstaprislöfte.</a:t>
            </a:r>
          </a:p>
          <a:p>
            <a:r>
              <a:t>Kvarvarande variation och villkor för omprövning beskrivs begripligt.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Den fiktiva föreningen Björken använder 100 MWh per år. Styrelsen vill slippa välja inköpsdag men säger också 'vi vill alltid ha billigast och samma faktura'. Nya laddplatser planeras. En ledamot har sett att en annan förening sparat pengar i en pool. Tolv månaders egen historik finns, men laddningen ingår inte i prognosen.</a:t>
            </a:r>
          </a:p>
          <a:p/>
          <a:p>
            <a:r>
              <a:t>UPPGIFTER</a:t>
            </a:r>
          </a:p>
          <a:p>
            <a:r>
              <a:t>Skriv fyra behovsfrågor innan ett produktförslag.</a:t>
            </a:r>
          </a:p>
          <a:p>
            <a:r>
              <a:t>Beskriv relevant underlag och hur laddning påverkar det.</a:t>
            </a:r>
          </a:p>
          <a:p>
            <a:r>
              <a:t>Pröva möjliga produktprinciper och ange vad som inte kan lovas.</a:t>
            </a:r>
          </a:p>
          <a:p>
            <a:r>
              <a:t>Formulera ett rekommendationsresonemang med villkor för omprövning.</a:t>
            </a:r>
          </a:p>
          <a:p/>
          <a:p>
            <a:r>
              <a:t>MODELLSVAR</a:t>
            </a:r>
          </a:p>
          <a:p>
            <a:r>
              <a:t>Fråga hur mycket budgetvariation styrelsen klarar, om känt enhetspris prioriteras framför nedgångspotential, hur mycket köpt el laddningen tillför och vem som fattar beslut. Historiken behöver uppdateras med realistiska månads- och tidsmönster samt nuvarande avtalsvillkor. En planstyrd pool kan undersökas om kunden vill sprida inköpstillfällen och accepterar kvarvarande variation; ett fast enhetspris behöver prövas om det är viktigare. Aktuell tillgänglighet och villkor måste kontrolleras. Ingen modell väljs enbart från 100 MWh och inget annat kundutfall garanterar besparing. Samma faktura kräver mer än ett fast kWh-pris. Rekommendationen ändras om laddprognosen, risktåligheten eller avtalsförutsättningarna inte passar.</a:t>
            </a:r>
          </a:p>
          <a:p/>
          <a:p>
            <a:r>
              <a:t>BEDÖMNINGSSTÖD</a:t>
            </a:r>
          </a:p>
          <a:p>
            <a:r>
              <a:t>Fyra relevanta frågor täcker budget, drift/förändring och beslut.</a:t>
            </a:r>
          </a:p>
          <a:p>
            <a:r>
              <a:t>Egen historik uppdateras i stället för att kopiera en referenskund.</a:t>
            </a:r>
          </a:p>
          <a:p>
            <a:r>
              <a:t>Produktprincip motiveras utan automatiska kundgränser eller lägstaprislöfte.</a:t>
            </a:r>
          </a:p>
          <a:p>
            <a:r>
              <a:t>Kvarvarande variation och villkor för omprövning beskrivs begripligt.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jämförelse är rättvisast?</a:t>
            </a:r>
          </a:p>
          <a:p/>
          <a:p>
            <a:r>
              <a:t>FACIT</a:t>
            </a:r>
          </a:p>
          <a:p>
            <a:r>
              <a:t>Rätt alternativ: A. Samma anläggningar, volym, period, kostnadsdelar och momsgrund, med tydligt märkt historik eller scenario. Förklaring: Jämförelsen måste hålla underlag och scope konsekventa. Historik och framtid har olika innebörd.</a:t>
            </a:r>
          </a:p>
          <a:p/>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120 MWh får ett antaget 20 öre/kWh högre snitt för samma prisdel. Hur många kronor motsvarar ökningen?</a:t>
            </a:r>
          </a:p>
          <a:p/>
          <a:p>
            <a:r>
              <a:t>FACIT</a:t>
            </a:r>
          </a:p>
          <a:p>
            <a:r>
              <a:t>Svar: 24000 kr. 120 000 × 0,20 = 24 000 kr. Det är ett scenario för samma volym, inte en prisprognos.</a:t>
            </a:r>
          </a:p>
          <a:p/>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Nuvarande jämförbara kostnad är 22 000 kr och alternativet 21 500 kr. Vad är nuvarande minus alternativ i kronor?</a:t>
            </a:r>
          </a:p>
          <a:p/>
          <a:p>
            <a:r>
              <a:t>FACIT</a:t>
            </a:r>
          </a:p>
          <a:p>
            <a:r>
              <a:t>Svar: 500 kr. 22 000 − 21 500 = 500 kr för den angivna perioden. Positivt tal betyder lägre alternativ kostnad i just jämförelsen.</a:t>
            </a:r>
          </a:p>
          <a:p/>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Ge ett exempel på ett motiverat produktförslag och en förändring som skulle få dig att ompröva det.</a:t>
            </a:r>
          </a:p>
          <a:p/>
          <a:p>
            <a:r>
              <a:t>FACIT</a:t>
            </a:r>
          </a:p>
          <a:p>
            <a:r>
              <a:t>Ett exempel är att pröva kvartspris när kunden vill ha koppling till egna användningstider och har genomförbar styrning. Om potentialen är liten eller nät- och styrkostnader överväger nyttan behöver andra modeller prövas. Behov, data och kvarvarande risk ska motivera svaret.</a:t>
            </a:r>
          </a:p>
          <a:p/>
          <a:p>
            <a:r>
              <a:t>Kopplar förslaget till ett konkret behov.</a:t>
            </a:r>
          </a:p>
          <a:p>
            <a:r>
              <a:t>Anger relevant data eller kontroll.</a:t>
            </a:r>
          </a:p>
          <a:p>
            <a:r>
              <a:t>Beskriver minst ett tydligt villkor för omprövning och undviker garanti.</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Behov kommer före produktnamn.</a:t>
            </a:r>
          </a:p>
          <a:p>
            <a:r>
              <a:t>Gör budgetrisk konkret i kronor med tydligt märkt scenario.</a:t>
            </a:r>
          </a:p>
          <a:p>
            <a:r>
              <a:t>Använd samma anläggningar, period, mängd och prisomfattning.</a:t>
            </a:r>
          </a:p>
          <a:p>
            <a:r>
              <a:t>Historiskt utfall är inte en garanti för framtiden.</a:t>
            </a:r>
          </a:p>
          <a:p>
            <a:r>
              <a:t>Be kunden återberätta nyttan och begränsningen.</a:t>
            </a:r>
          </a:p>
          <a:p>
            <a:r>
              <a:t>Motivera förslaget och när det skulle ändras.</a:t>
            </a:r>
          </a:p>
          <a:p/>
          <a:p>
            <a:r>
              <a:t>KÄLLOR</a:t>
            </a:r>
          </a:p>
          <a:p>
            <a:r>
              <a:t>Elhandel från grunden · B2B-presentation v1 (91 bilder) · s. 66, 67, 68, 69, 70, 71, 72, 73, 76, 77, 78, 79 · Behovsanalys, jämförbar offert, kundfall, tydliga formuleringar och överlämning.</a:t>
            </a:r>
          </a:p>
          <a:p>
            <a:r>
              <a:t>Elhandel från grunden · B2B-självstudier v1 (91 sidor) · s. 66, 67, 68, 69, 70, 71, 72, 73, 76, 77, 78, 79 · Fördjupning om prognoser, fullmakt, historisk jämförelse, återberättande och handledarbedömning.</a:t>
            </a:r>
          </a:p>
          <a:p>
            <a:r>
              <a:t>Produktspecifikationer för säljare · 10 oktober 2026 (31 sidor) · s. 2, 3, 5, 8, 10, 13, 16, 19, 22, 25, 28, 31 · Aktuella produktprinciper och vad som behöver hämtas från godkänd kundoffert. Inga äldre volymgränser överförs.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Kvartspris kopplar energikostnaden till när kunden faktiskt använder el. Här lär du dig läsa den kopplingen, räkna på den och bedöma om kunden kan påverka den. Modellen passar inte automatiskt en viss bostad eller bransch. Det avgörande är kundens mätdata, användningstider, möjliga förändringar och förmåga att hantera prisvariation.</a:t>
            </a:r>
          </a:p>
          <a:p/>
          <a:p>
            <a:r>
              <a:t>LÄRANDEMÅL</a:t>
            </a:r>
          </a:p>
          <a:p>
            <a:r>
              <a:t>Beräkna ett förbrukningsvägt energipris från volym och pris för varje tidsintervall.</a:t>
            </a:r>
          </a:p>
          <a:p>
            <a:r>
              <a:t>Förklara varför månadsfakturering kan innehålla kvartspris.</a:t>
            </a:r>
          </a:p>
          <a:p>
            <a:r>
              <a:t>Skilja en möjlig energibesparing från effekter på hela elkostnaden.</a:t>
            </a:r>
          </a:p>
          <a:p>
            <a:r>
              <a:t>Bedöma verklig flexibilitet och vilka uppgifter en rättvis jämförelse kräver.</a:t>
            </a:r>
          </a:p>
          <a:p/>
          <a:p>
            <a:r>
              <a:t>KANONISKT BERÄTTARMANUS</a:t>
            </a:r>
          </a:p>
          <a:p>
            <a:r>
              <a:t>kvartspris-01 · Priset möter din användning</a:t>
            </a:r>
          </a:p>
          <a:p>
            <a:r>
              <a:t>Tänk dig att två grannar använder lika mycket el under en månad. Den ena laddar bilen sent på kvällen. Den andra måste använda mycket el när priserna är höga. Med Kvartspris kan deras energikostnad bli olika. Vi kopplar nämligen varje kvarts förbrukning till priset för samma kvart i kundens elområde. Sedan lägger vi ihop kostnaderna. En månadsfaktura ändrar inte den principen. Fakturan berättar när kostnaden redovisas, medan avtalsmodellen berättar hur den räknas fram. För att förstå kunden behöver vi därför både mängden el och tidpunkterna då elen används. Bara månadsvolymen räcker inte.</a:t>
            </a:r>
          </a:p>
          <a:p>
            <a:r>
              <a:t>På skärmen: Varje kvart: kWh × kvartens pris | Månadsfaktura kan innehålla kvartspris</a:t>
            </a:r>
          </a:p>
          <a:p>
            <a:r>
              <a:t>Bildidé: Två lika stora volymstaplar fördelas olika över en dygnskurva. Visa att kostnadsytorna skiljer sig.</a:t>
            </a:r>
          </a:p>
          <a:p/>
          <a:p>
            <a:r>
              <a:t>kvartspris-02 · Räkna rätt snitt</a:t>
            </a:r>
          </a:p>
          <a:p>
            <a:r>
              <a:t>Vi tar ett förenklat exempel med bara energidelen. Tjugo kilowattimmar kostar fyrtio öre styck. Åttio kilowattimmar kostar en krona och tjugo öre styck. Den första delen kostar åtta kronor och den andra nittiosex kronor. Tillsammans blir det hundrafyra kronor för hundra kilowattimmar. Snittet är alltså hundrafyra öre per kilowattimme. Det vanliga medelvärdet av fyrtio och hundratjugo är åttio, men kunden använder mer el vid den dyrare nivån. Därför blir det egna snittet högre. Vi kallar detta ett förbrukningsvägt pris: varje pris får betydelse efter hur mycket energi kunden använde vid just det priset.</a:t>
            </a:r>
          </a:p>
          <a:p>
            <a:r>
              <a:t>På skärmen: 20 × 0,40 + 80 × 1,20 = 104 kr | 104 kr / 100 kWh = 104 öre/kWh</a:t>
            </a:r>
          </a:p>
          <a:p>
            <a:r>
              <a:t>Bildidé: Räkna två färgade volymblock och lägg kostnaderna i en gemensam totalsumma. Märk exemplet som syntetiskt.</a:t>
            </a:r>
          </a:p>
          <a:p/>
          <a:p>
            <a:r>
              <a:t>kvartspris-03 · Vad går att flytta?</a:t>
            </a:r>
          </a:p>
          <a:p>
            <a:r>
              <a:t>Om kunden faktiskt kan flytta trettio kilowattimmar från den dyrare nivån till den billigare, minskar energikostnaden med tjugofyra kronor i vårt exempel. Men verklig styrning kräver fler frågor. Kan bilen laddas senare? Kan varmvatten styras utan att komforten försämras? Måste en maskin gå för att leveransen ska bli klar? Vi får inte utgå från att all användning är flyttbar. Kontrollera också nätets effektvillkor. Om flera laster startar samtidigt kan nätkostnaden påverkas, även när energin är billig. En lägre energidel är därför inte automatiskt en lika stor besparing på hela elräkningen.</a:t>
            </a:r>
          </a:p>
          <a:p>
            <a:r>
              <a:t>På skärmen: Flyttbar energi måste bekräftas | Kontrollera samtidig effekt</a:t>
            </a:r>
          </a:p>
          <a:p>
            <a:r>
              <a:t>Bildidé: Visa laddning som flyttas i tid medan en produktionsmaskin ligger kvar. Separat nätikon markerar effektfrågan.</a:t>
            </a:r>
          </a:p>
          <a:p/>
          <a:p>
            <a:r>
              <a:t>kvartspris-04 · Risk och prisomfattning</a:t>
            </a:r>
          </a:p>
          <a:p>
            <a:r>
              <a:t>Kvartspris säkrar inte framtida marknadspriser. Kundens kostnad påverkas av priserna, mängden el och användningstiden. Historiska värden är användbara för analys, men de garanterar inte nästa års utfall. Kom också ihåg att det individuella spotutfallet redan innehåller kundens tidsviktning. Lägg inte på samma profil en gång till. Övriga avtalade inköpsdelar, påslag och avgifter kontrolleras i offerten. Elnät, energiskatt och moms behöver hållas isär från spotenergin. Det gäller även när spotpriset är negativt. En negativ spotkomponent betyder inte automatiskt en negativ faktura eller gratis el för kunden.</a:t>
            </a:r>
          </a:p>
          <a:p>
            <a:r>
              <a:t>På skärmen: Ingen prissäkring i modellen | Spotenergi ≠ hela elkostnaden</a:t>
            </a:r>
          </a:p>
          <a:p>
            <a:r>
              <a:t>Bildidé: Visa kostnaden som flera separata delar och låt bara spotdelen gå under noll i ett intervall.</a:t>
            </a:r>
          </a:p>
          <a:p/>
          <a:p>
            <a:r>
              <a:t>kvartspris-05 · En bra kundförklaring</a:t>
            </a:r>
          </a:p>
          <a:p>
            <a:r>
              <a:t>En bra jämförelse börjar med rätt anläggning, elområde och kompletta kvartsmätvärden. Vi använder samma period, volym och kostnadsdelar när vi jämför alternativen. Sedan bedömer vi framtida förändringar och vad kunden vill prioritera. Vill kunden påverka användningstiden, eller väger ett mer förutsägbart pris tyngre? När du förklarar Kvartspris kan du säga: din energikostnad följer priset och din användning i varje kvart. Vi undersöker vilka laster du kan flytta och hur det påverkar kostnaden. Marknaden varierar fortfarande. Avsluta genom att be kunden återberätta vad som varierar och vilka andra elkostnader som behöver räknas med. Prova nu räkneövningen och kundfallet. Kontrollera särskilt att du kan förklara varför samma volym kan ge olika snitt och varför en energibesparing behöver bedömas tillsammans med övriga elkostnader.</a:t>
            </a:r>
          </a:p>
          <a:p>
            <a:r>
              <a:t>På skärmen: Rätt data → jämförbar kalkyl → kundens prioritering | Be kunden återberätta</a:t>
            </a:r>
          </a:p>
          <a:p>
            <a:r>
              <a:t>Bildidé: Visa tre steg och avsluta med en pratbubbla som skiljer pris, volym och användningstid.</a:t>
            </a:r>
          </a:p>
          <a:p/>
          <a:p>
            <a:r>
              <a:t>KÄLLOR</a:t>
            </a:r>
          </a:p>
          <a:p>
            <a:r>
              <a:t>Produktspecifikationer för säljare · 10 oktober 2026 (31 sidor) · s. 3, 4, 5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Kvartspris kopplar faktisk förbrukning under varje femtonminutersintervall till priset för samma kvart i kundens elområde. Två kWh till 50 öre/kWh ger en krona i energikostnad. Nästa kvart kan både pris och användning vara annorlunda. Samtliga kvartkostnader läggs ihop för fakturaperioden.</a:t>
            </a:r>
          </a:p>
          <a:p/>
          <a:p>
            <a:r>
              <a:t>Avräkningen anger hur kostnaden beräknas; faktureringen anger när den redovisas. En månadsfaktura kan därför bygga på individuella kvartsvärden. Det gemensamma månadspriset i Rörligt pris beräknas på ett annat sätt, även när fakturorna kommer lika ofta.</a:t>
            </a:r>
          </a:p>
          <a:p/>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Dividera kundens energikostnad med den förbrukning kostnaden gäller. Kvartar med stor användning väger mer än kvartar med liten användning. Ett enkelt medelvärde av prislistans kvartar beskriver därför inte nödvändigtvis kundens kostnad. Två grannar med lika stor månadsvolym kan få olika energisnitt.</a:t>
            </a:r>
          </a:p>
          <a:p/>
          <a:p>
            <a:r>
              <a:t>Den egna tidsprofilen ingår redan när varje kvartpris multipliceras med faktisk kvartförbrukning. Lägg inte på samma profilskillnad igen. Identifiera övriga inköpsdelar, påslag och avgifter enligt offerten. Jämför två rena spotutfall eller två elhandelspriser med samma omfattning.</a:t>
            </a:r>
          </a:p>
          <a:p/>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Lastflytt kan påverka energikostnaden, men komfort, säkerhet och drift begränsar vad som är möjligt. Fråga vilken laddning, uppvärmning eller maskinkörning som faktiskt kan flyttas, hur mycket energi det gäller och vilka tider som fungerar.</a:t>
            </a:r>
          </a:p>
          <a:p/>
          <a:p>
            <a:r>
              <a:t>Kontrollera nätets effektvillkor innan många laster startas samtidigt. Ett lägre energipris kan sammanfalla med en ny effekttopp och förändrad nätkostnad. Energibesparing är därför inte automatiskt lägre total elkostnad. En profil kan även vara gynnsam utan styrning, men det behöver styrkas med mätdata.</a:t>
            </a:r>
          </a:p>
          <a:p/>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Kvartspris innehåller ingen prissäkring genom modellen. Framtida priser, faktisk volym och användningstid avgör utfallet. Nödvändig drift kan sammanfalla med dyra kvartar. Historiska mätvärden visar hur användningen fungerade, men garanterar inte nästa års priser eller förbrukningsmönster.</a:t>
            </a:r>
          </a:p>
          <a:p/>
          <a:p>
            <a:r>
              <a:t>Negativt spotpris kan ge en negativ spotkomponent i en kvart. Andra avtalsdelar, elnät, skatt och moms följer sina egna regler. Det innebär inte automatiskt en negativ faktura. Ett enskilt negativt intervall får inte användas som löfte om månads- eller årsbesparing.</a:t>
            </a:r>
          </a:p>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Be om rätt anläggning, elområde, period och kompletta kvartsmätvärden. Kontrollera dagens prisomfattning och avgifter. Jämför först samma period och volym. Bedöm därefter framtida förändringar, exempelvis värmepump, solceller eller nya maskiner. Håll köpt el, egenanvänd solel och export isär.</a:t>
            </a:r>
          </a:p>
          <a:p/>
          <a:p>
            <a:r>
              <a:t>Väg kundens möjlighet till påverkan mot behovet av förutsägbarhet. Kontrollera aktuell offert, start, mätförutsättningar och kundvillkor. Låt kunden återberätta vad som varierar: marknadspris, mängd och användningstid. Övriga elkostnader behöver bedömas separat.</a:t>
            </a:r>
          </a:p>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för enbart spotenergidelen. Andra elhandelsdelar, avgifter, elnät, skatt och moms ingår inte. Två prisgrupper förenklar många kvartar.</a:t>
            </a:r>
          </a:p>
          <a:p/>
          <a:p>
            <a:r>
              <a:t>DATA</a:t>
            </a:r>
          </a:p>
          <a:p>
            <a:r>
              <a:t>20 kWh används vid 40 öre/kWh.</a:t>
            </a:r>
          </a:p>
          <a:p>
            <a:r>
              <a:t>80 kWh används vid 120 öre/kWh.</a:t>
            </a:r>
          </a:p>
          <a:p>
            <a:r>
              <a:t>Total användning är 100 kWh.</a:t>
            </a:r>
          </a:p>
          <a:p/>
          <a:p>
            <a:r>
              <a:t>MELLANLED</a:t>
            </a:r>
          </a:p>
          <a:p>
            <a:r>
              <a:t>Omvandla priserna till kronor: 40 öre = 0,40 kr; 120 öre = 1,20 kr.</a:t>
            </a:r>
          </a:p>
          <a:p>
            <a:r>
              <a:t>Billigare grupp: 20 × 0,40 = 8 kr. Dyrare grupp: 80 × 1,20 = 96 kr.</a:t>
            </a:r>
          </a:p>
          <a:p>
            <a:r>
              <a:t>Total energikostnad: 8 + 96 = 104 kr.</a:t>
            </a:r>
          </a:p>
          <a:p>
            <a:r>
              <a:t>Förbrukningsvägt snitt: 104 / 100 = 1,04 kr/kWh = 104 öre/kWh.</a:t>
            </a:r>
          </a:p>
          <a:p/>
          <a:p>
            <a:r>
              <a:t>RESULTAT</a:t>
            </a:r>
          </a:p>
          <a:p>
            <a:r>
              <a:t>104 kr i energikostnad och 104 öre/kWh i förbrukningsvägt snitt.</a:t>
            </a:r>
          </a:p>
          <a:p/>
          <a:p>
            <a:r>
              <a:t>TOLKNING</a:t>
            </a:r>
          </a:p>
          <a:p>
            <a:r>
              <a:t>Ett oviktat snitt av 40 och 120 blir 80 öre, men det beskriver inte kunden som använder 80 procent av energin vid den högre nivån. Snittet måste ha samma kostnad och volym i täljare respektive nämnare.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för enbart spotenergidelen. Andra elhandelsdelar, avgifter, elnät, skatt och moms ingår inte. Två prisgrupper förenklar många kvartar.</a:t>
            </a:r>
          </a:p>
          <a:p/>
          <a:p>
            <a:r>
              <a:t>DATA</a:t>
            </a:r>
          </a:p>
          <a:p>
            <a:r>
              <a:t>20 kWh används vid 40 öre/kWh.</a:t>
            </a:r>
          </a:p>
          <a:p>
            <a:r>
              <a:t>80 kWh används vid 120 öre/kWh.</a:t>
            </a:r>
          </a:p>
          <a:p>
            <a:r>
              <a:t>Total användning är 100 kWh.</a:t>
            </a:r>
          </a:p>
          <a:p/>
          <a:p>
            <a:r>
              <a:t>MELLANLED</a:t>
            </a:r>
          </a:p>
          <a:p>
            <a:r>
              <a:t>Omvandla priserna till kronor: 40 öre = 0,40 kr; 120 öre = 1,20 kr.</a:t>
            </a:r>
          </a:p>
          <a:p>
            <a:r>
              <a:t>Billigare grupp: 20 × 0,40 = 8 kr. Dyrare grupp: 80 × 1,20 = 96 kr.</a:t>
            </a:r>
          </a:p>
          <a:p>
            <a:r>
              <a:t>Total energikostnad: 8 + 96 = 104 kr.</a:t>
            </a:r>
          </a:p>
          <a:p>
            <a:r>
              <a:t>Förbrukningsvägt snitt: 104 / 100 = 1,04 kr/kWh = 104 öre/kWh.</a:t>
            </a:r>
          </a:p>
          <a:p/>
          <a:p>
            <a:r>
              <a:t>RESULTAT</a:t>
            </a:r>
          </a:p>
          <a:p>
            <a:r>
              <a:t>104 kr i energikostnad och 104 öre/kWh i förbrukningsvägt snitt.</a:t>
            </a:r>
          </a:p>
          <a:p/>
          <a:p>
            <a:r>
              <a:t>TOLKNING</a:t>
            </a:r>
          </a:p>
          <a:p>
            <a:r>
              <a:t>Ett oviktat snitt av 40 och 120 blir 80 öre, men det beskriver inte kunden som använder 80 procent av energin vid den högre nivån. Snittet måste ha samma kostnad och volym i täljare respektive nämnare.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fortsättning på första exemplet. Priserna antas oförändrade och 30 kWh kan faktiskt flyttas. Beräkningen omfattar endast spotenergi, före styrkostnad och eventuell näteffekt.</a:t>
            </a:r>
          </a:p>
          <a:p/>
          <a:p>
            <a:r>
              <a:t>DATA</a:t>
            </a:r>
          </a:p>
          <a:p>
            <a:r>
              <a:t>Flytta 30 kWh från 120 öre till 40 öre/kWh.</a:t>
            </a:r>
          </a:p>
          <a:p>
            <a:r>
              <a:t>Ny fördelning: 50 kWh billigare och 50 kWh dyrare.</a:t>
            </a:r>
          </a:p>
          <a:p/>
          <a:p>
            <a:r>
              <a:t>MELLANLED</a:t>
            </a:r>
          </a:p>
          <a:p>
            <a:r>
              <a:t>Ny billigare kostnad: 50 × 0,40 = 20 kr.</a:t>
            </a:r>
          </a:p>
          <a:p>
            <a:r>
              <a:t>Ny dyrare kostnad: 50 × 1,20 = 60 kr.</a:t>
            </a:r>
          </a:p>
          <a:p>
            <a:r>
              <a:t>Ny total: 20 + 60 = 80 kr; nytt snitt: 80 / 100 = 0,80 kr/kWh.</a:t>
            </a:r>
          </a:p>
          <a:p>
            <a:r>
              <a:t>Skillnad: 104 − 80 = 24 kr. Kontroll: 30 × (1,20 − 0,40) = 24 kr.</a:t>
            </a:r>
          </a:p>
          <a:p/>
          <a:p>
            <a:r>
              <a:t>RESULTAT</a:t>
            </a:r>
          </a:p>
          <a:p>
            <a:r>
              <a:t>24 kr lägre energikostnad; snittet går från 104 till 80 öre/kWh.</a:t>
            </a:r>
          </a:p>
          <a:p/>
          <a:p>
            <a:r>
              <a:t>TOLKNING</a:t>
            </a:r>
          </a:p>
          <a:p>
            <a:r>
              <a:t>Det är nyttan av den angivna flytten under de antagna priserna. Den säger inget om en verklig kunds möjliga flyttvolym, framtida prisnivå eller fullständiga elkostnad.</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fortsättning på första exemplet. Priserna antas oförändrade och 30 kWh kan faktiskt flyttas. Beräkningen omfattar endast spotenergi, före styrkostnad och eventuell näteffekt.</a:t>
            </a:r>
          </a:p>
          <a:p/>
          <a:p>
            <a:r>
              <a:t>DATA</a:t>
            </a:r>
          </a:p>
          <a:p>
            <a:r>
              <a:t>Flytta 30 kWh från 120 öre till 40 öre/kWh.</a:t>
            </a:r>
          </a:p>
          <a:p>
            <a:r>
              <a:t>Ny fördelning: 50 kWh billigare och 50 kWh dyrare.</a:t>
            </a:r>
          </a:p>
          <a:p/>
          <a:p>
            <a:r>
              <a:t>MELLANLED</a:t>
            </a:r>
          </a:p>
          <a:p>
            <a:r>
              <a:t>Ny billigare kostnad: 50 × 0,40 = 20 kr.</a:t>
            </a:r>
          </a:p>
          <a:p>
            <a:r>
              <a:t>Ny dyrare kostnad: 50 × 1,20 = 60 kr.</a:t>
            </a:r>
          </a:p>
          <a:p>
            <a:r>
              <a:t>Ny total: 20 + 60 = 80 kr; nytt snitt: 80 / 100 = 0,80 kr/kWh.</a:t>
            </a:r>
          </a:p>
          <a:p>
            <a:r>
              <a:t>Skillnad: 104 − 80 = 24 kr. Kontroll: 30 × (1,20 − 0,40) = 24 kr.</a:t>
            </a:r>
          </a:p>
          <a:p/>
          <a:p>
            <a:r>
              <a:t>RESULTAT</a:t>
            </a:r>
          </a:p>
          <a:p>
            <a:r>
              <a:t>24 kr lägre energikostnad; snittet går från 104 till 80 öre/kWh.</a:t>
            </a:r>
          </a:p>
          <a:p/>
          <a:p>
            <a:r>
              <a:t>TOLKNING</a:t>
            </a:r>
          </a:p>
          <a:p>
            <a:r>
              <a:t>Det är nyttan av den angivna flytten under de antagna priserna. Den säger inget om en verklig kunds möjliga flyttvolym, framtida prisnivå eller fullständiga elkostnad.</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Jag får en månadsfaktura, alltså har jag ett gemensamt månadspris.</a:t>
            </a:r>
          </a:p>
          <a:p/>
          <a:p>
            <a:r>
              <a:t>Fakturatiden beskriver redovisningen. Läs avräkningsmodellen för att se om varje kvart vägs med kundens egen användning.</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Billigare kvartar garanterar lägre total elkostnad.</a:t>
            </a:r>
          </a:p>
          <a:p/>
          <a:p>
            <a:r>
              <a:t>Kontrollera möjlig flytt, styrkostnad och nätets effektvillkor. Energiberäkningen ensam täcker inte hela kostnaden.</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Ett negativt spotpris gör hela elen gratis.</a:t>
            </a:r>
          </a:p>
          <a:p/>
          <a:p>
            <a:r>
              <a:t>Spotkomponenten är en del av kostnaden. Övriga avtalsdelar, elnät, skatt och moms måste behandlas separat.</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 Kvartspris följer energikostnaden priset och din användning i varje kvart. Använder du mer när priset är högt blir ditt energisnitt högre. Du kan ibland påverka kostnaden genom att flytta användning, men marknadspriset varierar och andra elkostnader tillkommer enligt dina villkor.</a:t>
            </a:r>
          </a:p>
          <a:p/>
          <a:p>
            <a:r>
              <a:t>UTVECKLAD FÖRKLARING</a:t>
            </a:r>
          </a:p>
          <a:p>
            <a:r>
              <a:t>Vi räknar ihop vad du har använt i varje kvart till priset för samma kvart i ditt elområde. Därför behöver vi förstå när du använder el och vilka laster du kan flytta. Vi jämför samma volym och kostnadsdelar, tittar på budgettålighet och kontrollerar eventuella effekter på nätkostnaden. Modellen ger en direkt tidskoppling, men ingen garanti för ett visst framtida snittpris eller en bestämd besparing.</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kunden Samira laddar sin elbil och driver samtidigt en liten verkstad. Bilens laddning kan senareläggas, men verkstadens ugn måste gå före leverans klockan åtta. Samira har sett en app med nattpriser och vill att du lovar att hela månadskostnaden blir lägre. Mätdata saknas ännu, och flera maskiner kan starta samtidigt med laddningen.</a:t>
            </a:r>
          </a:p>
          <a:p/>
          <a:p>
            <a:r>
              <a:t>UPPGIFTER</a:t>
            </a:r>
          </a:p>
          <a:p>
            <a:r>
              <a:t>Vilka uppgifter behöver du innan du jämför avtal?</a:t>
            </a:r>
          </a:p>
          <a:p>
            <a:r>
              <a:t>Vilken användning kan du undersöka för lastflytt, och vilken bör du inte anta är flyttbar?</a:t>
            </a:r>
          </a:p>
          <a:p>
            <a:r>
              <a:t>Formulera ett tydligt svar på önskemålet om garanterad besparing.</a:t>
            </a:r>
          </a:p>
          <a:p/>
          <a:p>
            <a:r>
              <a:t>MODELLSVAR</a:t>
            </a:r>
          </a:p>
          <a:p>
            <a:r>
              <a:t>Börja med kompletta kvartsvärden, elområde, nuvarande prisomfattning och faktiska driftkrav. Undersök bilens laddbehov, tillgängliga tider och styrmöjligheter. Ugnens förbrukning måste tills vidare behandlas som nödvändig drift. Kontrollera nätets effektvillkor och samtidig start av laster. Förklara att en jämförbar historisk kalkyl kan visa ett utfall och att en möjlig flytt kan analyseras, men att framtida priser och total besparing inte kan garanteras. Rekommendationen behöver väga denna möjlighet mot Samiras budgettålighet.</a:t>
            </a:r>
          </a:p>
          <a:p/>
          <a:p>
            <a:r>
              <a:t>BEDÖMNINGSSTÖD</a:t>
            </a:r>
          </a:p>
          <a:p>
            <a:r>
              <a:t>Efterfrågar rätt kvartsmätdata och jämförbar kostnadsomfattning.</a:t>
            </a:r>
          </a:p>
          <a:p>
            <a:r>
              <a:t>Skiljer flexibel laddning från obligatorisk produktion.</a:t>
            </a:r>
          </a:p>
          <a:p>
            <a:r>
              <a:t>Tar upp möjlig näteffekt och fortsatt prisrisk.</a:t>
            </a:r>
          </a:p>
          <a:p>
            <a:r>
              <a:t>Ger ett precist kundlöfte utan garanterad besparing.</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kunden Samira laddar sin elbil och driver samtidigt en liten verkstad. Bilens laddning kan senareläggas, men verkstadens ugn måste gå före leverans klockan åtta. Samira har sett en app med nattpriser och vill att du lovar att hela månadskostnaden blir lägre. Mätdata saknas ännu, och flera maskiner kan starta samtidigt med laddningen.</a:t>
            </a:r>
          </a:p>
          <a:p/>
          <a:p>
            <a:r>
              <a:t>UPPGIFTER</a:t>
            </a:r>
          </a:p>
          <a:p>
            <a:r>
              <a:t>Vilka uppgifter behöver du innan du jämför avtal?</a:t>
            </a:r>
          </a:p>
          <a:p>
            <a:r>
              <a:t>Vilken användning kan du undersöka för lastflytt, och vilken bör du inte anta är flyttbar?</a:t>
            </a:r>
          </a:p>
          <a:p>
            <a:r>
              <a:t>Formulera ett tydligt svar på önskemålet om garanterad besparing.</a:t>
            </a:r>
          </a:p>
          <a:p/>
          <a:p>
            <a:r>
              <a:t>MODELLSVAR</a:t>
            </a:r>
          </a:p>
          <a:p>
            <a:r>
              <a:t>Börja med kompletta kvartsvärden, elområde, nuvarande prisomfattning och faktiska driftkrav. Undersök bilens laddbehov, tillgängliga tider och styrmöjligheter. Ugnens förbrukning måste tills vidare behandlas som nödvändig drift. Kontrollera nätets effektvillkor och samtidig start av laster. Förklara att en jämförbar historisk kalkyl kan visa ett utfall och att en möjlig flytt kan analyseras, men att framtida priser och total besparing inte kan garanteras. Rekommendationen behöver väga denna möjlighet mot Samiras budgettålighet.</a:t>
            </a:r>
          </a:p>
          <a:p/>
          <a:p>
            <a:r>
              <a:t>BEDÖMNINGSSTÖD</a:t>
            </a:r>
          </a:p>
          <a:p>
            <a:r>
              <a:t>Efterfrågar rätt kvartsmätdata och jämförbar kostnadsomfattning.</a:t>
            </a:r>
          </a:p>
          <a:p>
            <a:r>
              <a:t>Skiljer flexibel laddning från obligatorisk produktion.</a:t>
            </a:r>
          </a:p>
          <a:p>
            <a:r>
              <a:t>Tar upp möjlig näteffekt och fortsatt prisrisk.</a:t>
            </a:r>
          </a:p>
          <a:p>
            <a:r>
              <a:t>Ger ett precist kundlöfte utan garanterad besparing.</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Två kunder använder lika många kWh under månaden. Varför kan deras energisnitt skilja sig?</a:t>
            </a:r>
          </a:p>
          <a:p/>
          <a:p>
            <a:r>
              <a:t>FACIT</a:t>
            </a:r>
          </a:p>
          <a:p>
            <a:r>
              <a:t>Rätt alternativ: B. Deras användning ligger vid olika kvartpriser. Förklaring: Varje kvart vägs med kundens egen förbrukning. Samma totalvolym innebär inte samma tidsprofil.</a:t>
            </a:r>
          </a:p>
          <a:p/>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Enbart spotenergi: 10 kWh vid 30 öre och 30 kWh vid 90 öre. Vad blir det förbrukningsvägda snittet? Övriga kostnader är uteslutna.</a:t>
            </a:r>
          </a:p>
          <a:p/>
          <a:p>
            <a:r>
              <a:t>FACIT</a:t>
            </a:r>
          </a:p>
          <a:p>
            <a:r>
              <a:t>Svar: 75 öre/kWh. 10 × 0,30 + 30 × 0,90 = 30 kr. 30 / 40 = 0,75 kr/kWh, alltså 75 öre/kWh.</a:t>
            </a:r>
          </a:p>
          <a:p/>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kan flytta laddning till billigare kvartar. Vad behöver du kontrollera innan du uttalar dig om hela elkostnaden?</a:t>
            </a:r>
          </a:p>
          <a:p/>
          <a:p>
            <a:r>
              <a:t>FACIT</a:t>
            </a:r>
          </a:p>
          <a:p>
            <a:r>
              <a:t>Bekräfta faktisk flyttbar volym, tider, jämförbara priser och styrkostnad. Kontrollera även nätets effektvillkor och kundens behov av drift och komfort.</a:t>
            </a:r>
          </a:p>
          <a:p/>
          <a:p>
            <a:r>
              <a:t>Nämner faktisk flexibilitet.</a:t>
            </a:r>
          </a:p>
          <a:p>
            <a:r>
              <a:t>Skiljer spotenergi från total elkostnad.</a:t>
            </a:r>
          </a:p>
          <a:p>
            <a:r>
              <a:t>Tar upp näteffekt eller annan relevant kostnad.</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formulering beskriver kundnyttan korrekt?</a:t>
            </a:r>
          </a:p>
          <a:p/>
          <a:p>
            <a:r>
              <a:t>FACIT</a:t>
            </a:r>
          </a:p>
          <a:p>
            <a:r>
              <a:t>Rätt alternativ: C. Kvartspris gör att den egna användningstiden påverkar energikostnaden. Förklaring: Modellen ger direkt tidskoppling utan att prissäkra framtida marknadspriser eller alla kostnadsposter.</a:t>
            </a:r>
          </a:p>
          <a:p/>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Väg varje pris med den energi som faktiskt används vid priset.</a:t>
            </a:r>
          </a:p>
          <a:p>
            <a:r>
              <a:t>Månadsfaktura och månadspris är olika begrepp.</a:t>
            </a:r>
          </a:p>
          <a:p>
            <a:r>
              <a:t>Skilj flyttbar användning från nödvändig drift.</a:t>
            </a:r>
          </a:p>
          <a:p>
            <a:r>
              <a:t>Jämför samma period, volym, elområde och kostnadsdelar.</a:t>
            </a:r>
          </a:p>
          <a:p>
            <a:r>
              <a:t>Bedöm nätets effektvillkor separat.</a:t>
            </a:r>
          </a:p>
          <a:p>
            <a:r>
              <a:t>Lova tidskoppling och en tydlig modell, inte en bestämd framtida besparing.</a:t>
            </a:r>
          </a:p>
          <a:p/>
          <a:p>
            <a:r>
              <a:t>KÄLLOR</a:t>
            </a:r>
          </a:p>
          <a:p>
            <a:r>
              <a:t>Produktspecifikationer för säljare · 10 oktober 2026 (31 sidor) · s. 3, 4, 5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Rörligt pris följer den avtalade gemensamma månadsmodellen. Priset fastställs i efterhand och kan förändras från månad till månad. Lektionen visar hur samma pris per kWh kan ge olika belopp, hur avgifter påverkar jämförelsen och varför egen lastflytt inte ger samma direkta individuella spotvinst som med Kvartspris.</a:t>
            </a:r>
          </a:p>
          <a:p/>
          <a:p>
            <a:r>
              <a:t>LÄRANDEMÅL</a:t>
            </a:r>
          </a:p>
          <a:p>
            <a:r>
              <a:t>Förklara ett gemensamt månadspris och skilja det från individuellt kvartsvägt pris.</a:t>
            </a:r>
          </a:p>
          <a:p>
            <a:r>
              <a:t>Beräkna kostnad och effektivt enhetspris med en uttryckligt antagen fast avgift.</a:t>
            </a:r>
          </a:p>
          <a:p>
            <a:r>
              <a:t>Volymväga månadspriser när en längre period jämförs.</a:t>
            </a:r>
          </a:p>
          <a:p>
            <a:r>
              <a:t>Bedöma budgetvariation och identifiera vad offertens pris faktiskt omfattar.</a:t>
            </a:r>
          </a:p>
          <a:p/>
          <a:p>
            <a:r>
              <a:t>KANONISKT BERÄTTARMANUS</a:t>
            </a:r>
          </a:p>
          <a:p>
            <a:r>
              <a:t>rorligt-pris-01 · En känd regel, en rörlig nivå</a:t>
            </a:r>
          </a:p>
          <a:p>
            <a:r>
              <a:t>Rörligt pris bygger på ett gemensamt månadspris enligt avtalet. Regeln är bestämd, men den slutliga månadsnivån fastställs i efterhand. Kunden kan därför få olika priser olika månader. Det här skiljer sig från att varje egen kvartförbrukning avräknas individuellt mot kvartens pris. Båda modellerna kan ändå faktureras månadsvis. Börja därför inte med frågan när fakturan kommer. Börja med frågan hur priset beräknas. I en aktuell offert behöver vi se månadsreferensen, elområdet, vilka kostnader som ingår och vilka avgifter som tillkommer. Produktnamnet ensamt anger inte hela kundens pris.</a:t>
            </a:r>
          </a:p>
          <a:p>
            <a:r>
              <a:t>På skärmen: Gemensam månadsmodell | Fastställs i efterhand</a:t>
            </a:r>
          </a:p>
          <a:p>
            <a:r>
              <a:t>Bildidé: Visa månadsrutor med olika prisnivåer men samma tydliga beräkningsregel.</a:t>
            </a:r>
          </a:p>
          <a:p/>
          <a:p>
            <a:r>
              <a:t>rorligt-pris-02 · Tidsflytt och minskad användning</a:t>
            </a:r>
          </a:p>
          <a:p>
            <a:r>
              <a:t>Kunden kanske frågar om nattlig tvätt eller senare laddning. Vid Kvartspris får den egna användningstiden en direkt betydelse i spotberäkningen. Vid gemensamt Rörligt pris används den avtalade månadsmodellen, där kollektivets profil kan vara inräknad. Kunden får därför inte samma direkta individuella spotvinst av att flytta en viss maskin till en billig kvart. Minskad elanvändning är en annan sak. Färre köpta kilowattimmar minskar den volymbaserade kostnaden även i en månadsmodell. Förklara skillnaden mellan att köpa mindre energi och att köpa samma energi vid en annan tid. Det hjälper kunden att förstå vilka åtgärder som faktiskt påverkar avtalet.</a:t>
            </a:r>
          </a:p>
          <a:p>
            <a:r>
              <a:t>På skärmen: Mindre kWh påverkar volymkostnaden | Egen tidsflytt avräknas olika i olika modeller</a:t>
            </a:r>
          </a:p>
          <a:p>
            <a:r>
              <a:t>Bildidé: Visa först en minskad volymstapel och därefter en oförändrad stapel som flyttas i tiden.</a:t>
            </a:r>
          </a:p>
          <a:p/>
          <a:p>
            <a:r>
              <a:t>rorligt-pris-03 · Räkna med avgiften</a:t>
            </a:r>
          </a:p>
          <a:p>
            <a:r>
              <a:t>Vi använder ett syntetiskt exempel, alltså inga faktiska erbjudandepriser. Anta nittiotre öre per kilowattimme inklusive påslag och en fast avgift på hundra kronor. Vid femtusen kilowattimmar blir kostnaden fyratusensjuhundrafemtio kronor. Fördelat på volymen motsvarar det nittiofem öre per kilowattimme. Vid tusen kilowattimmar blir kostnaden tusentrettio kronor, vilket motsvarar hundratre öre per kilowattimme. Det avtalade volympriset är nittiotre öre i båda fallen. Skillnaden kommer av att den fasta avgiften fördelas över olika mängd energi. Därför behöver en jämförelse använda kundens faktiska volym och ta med avgifterna på samma sätt.</a:t>
            </a:r>
          </a:p>
          <a:p>
            <a:r>
              <a:t>På skärmen: 5 000 kWh → 95 öre/kWh inklusive avgift | 1 000 kWh → 103 öre/kWh inklusive avgift</a:t>
            </a:r>
          </a:p>
          <a:p>
            <a:r>
              <a:t>Bildidé: En fast avgiftsruta delas över två olika volymstaplar. Märk nät, skatt och moms som uteslutna.</a:t>
            </a:r>
          </a:p>
          <a:p/>
          <a:p>
            <a:r>
              <a:t>rorligt-pris-04 · Snittet över året</a:t>
            </a:r>
          </a:p>
          <a:p>
            <a:r>
              <a:t>Även när du jämför en längre period behöver volymen vara med. Tvåtusen kilowattimmar till hundra öre kostar tvåtusen kronor. Tusen kilowattimmar till sextio öre kostar sexhundra kronor. Tillsammans blir det tvåtusensexhundra kronor för tretusen kilowattimmar. Det vägda snittet är ungefär åttiosex komma sextiosju öre, inte det enkla medelvärdet åttio. Den dyrare månaden väger mer eftersom kunden använder mer då. Samma metod gäller för ett helt år. Använd årets jämförbara kostnad och årets volym. Var tydlig med om fasta avgifter ingår, och skilj ett historiskt utfall från ett framtidsscenario.</a:t>
            </a:r>
          </a:p>
          <a:p>
            <a:r>
              <a:t>På skärmen: Periodens kostnad / periodens kWh | 2 600 / 3 000 ≈ 86,67 öre/kWh</a:t>
            </a:r>
          </a:p>
          <a:p>
            <a:r>
              <a:t>Bildidé: Visa två månadsstaplar med olika bredd och ett gemensamt förbrukningsvägt snitt.</a:t>
            </a:r>
          </a:p>
          <a:p/>
          <a:p>
            <a:r>
              <a:t>rorligt-pris-05 · Kundens prioritering</a:t>
            </a:r>
          </a:p>
          <a:p>
            <a:r>
              <a:t>Rörligt pris kan vara relevant för en kund som vill följa marknaden med gemensam månadsberäkning och accepterar prisvariation. Ta reda på hur en dyr månad skulle påverka hushållets ekonomi eller verksamhetens kassaflöde. Undersök också förändrad förbrukning, exempelvis en ny värmepump eller solceller. Jämför sedan samma volym, period och kostnadsdelar. Kontrollera aktuell offert och kundvillkor innan du lämnar ett erbjudande. Den tydliga kundförklaringen är att priset följer avtalets månadsmodell och kan ändras mellan månader. Både mängden el och avgifterna påverkar beloppet. Modellen garanterar varken lägsta framtida kostnad eller ett fast årspris. Prova därefter beräkningen med en fast avgift och kundfallet med olika månadsvolymer. Kontrollera att du kan förklara varför ett vägt snitt skiljer sig från ett vanligt medelvärde.</a:t>
            </a:r>
          </a:p>
          <a:p>
            <a:r>
              <a:t>På skärmen: Accepterad variation är ett kundbehov | Aktuell offert styr detaljerna</a:t>
            </a:r>
          </a:p>
          <a:p>
            <a:r>
              <a:t>Bildidé: En budgetmätare visar utrymme för olika månadsbelopp. Avsluta med kundens återberättande.</a:t>
            </a:r>
          </a:p>
          <a:p/>
          <a:p>
            <a:r>
              <a:t>KÄLLOR</a:t>
            </a:r>
          </a:p>
          <a:p>
            <a:r>
              <a:t>Produktspecifikationer för säljare · 10 oktober 2026 (31 sidor) · s. 6, 7, 8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Rörligt pris är ett gemensamt månadspris enligt avtalet, fastställt när månadens underlag är känt. Kunden känner modellen i förväg, men inte automatiskt slutnivån. Priset varierar mellan månader; det betyder inte att kundens egen kvartförbrukning avräknas individuellt mot spotpriset.</a:t>
            </a:r>
          </a:p>
          <a:p/>
          <a:p>
            <a:r>
              <a:t>Underlaget beskriver månadsmedel, rörliga kostnader, påslag och månadsavgift, men är ingen generell prislista. Aktuell offert anger omfattning, elområde, kollektiv och kundvillkor. Peka ut delarna utan att lägga till en komponent som redan ingår.</a:t>
            </a:r>
          </a:p>
          <a:p/>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Kvartspris följer direkt den egna kvartförbrukningen. Rörligt pris använder avtalets månadsberäkning, där kollektivets profil kan ingå. Egen lastflytt ger därför inte samma direkta individuella spotvinst. Minskad användning är en annan sak: färre köpta kWh minskar fortfarande den volymbaserade kostnaden.</a:t>
            </a:r>
          </a:p>
          <a:p/>
          <a:p>
            <a:r>
              <a:t>En app kan visa rent områdespris medan offerten omfattar fler elhandelsdelar. Förklara skillnaden genom prisomfattningen, inte som en extra avgift utan kontroll. Ursprung eller profil som redan ingår får inte läggas på en gång till.</a:t>
            </a:r>
          </a:p>
          <a:p/>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Multiplicera kWh med kronor per kWh och lägg eventuella fasta avgifter till kostnaden. Dividerar du total elhandelskostnad med samma volym får du ett effektivt enhetspris. Det kan ligga över det angivna volympriset, särskilt under månader med liten förbrukning.</a:t>
            </a:r>
          </a:p>
          <a:p/>
          <a:p>
            <a:r>
              <a:t>Det effektiva priset är ett jämförelsemått, inte ett nytt avtalat pris. Ange kostnadsomfattning och volym. Samma fasta avgift kan ha olika betydelse för ett hushåll med låg sommarvolym och en verksamhet med jämn hög användning.</a:t>
            </a:r>
          </a:p>
          <a:p/>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Årssnittet är årets jämförbara kostnad dividerad med motsvarande volym. Ett enkelt genomsnitt av månadspriser kan bli missvisande vid säsongsvariation. En elvärmd villa och en säsongsverksamhet kan ha olika mönster. Årsvolym anger hur mycket; månadsprofil anger när under året.</a:t>
            </a:r>
          </a:p>
          <a:p/>
          <a:p>
            <a:r>
              <a:t>Använd samma månader och kostnadsdelar i jämförelsen. Lägg avgifter för rätt period till kostnaden om de ska ingå i snittet. Skilj historiskt utfall från framtidsscenario. Att en modell hade varit billigare förra året bevisar inte nästa års resultat.</a:t>
            </a:r>
          </a:p>
          <a:p/>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Undersök Rörligt pris när kunden vill följa marknaden med gemensam månadsberäkning och accepterar variation. Fråga vad en dyr månad skulle innebära, om ekonomisk buffert finns och hur förbrukningen sammanfaller med budgetens belastning.</a:t>
            </a:r>
          </a:p>
          <a:p/>
          <a:p>
            <a:r>
              <a:t>Produkten garanterar varken lägsta framtida pris eller fast årspris. Nyttan är den avtalade månadsmodellen med tydliga kostnadsposter. Kontrollera referens, kollektiv, område, avgifter, start och kundvillkor. Låt kunden förklara hur både prisvariation och ändrad användning påverkar beloppet.</a:t>
            </a:r>
          </a:p>
          <a:p/>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med antaget jämförbart elhandelspris 93 öre/kWh inklusive påslag och antagen fast månadsavgift 100 kr. Dessa är undervisningstal, inte faktiska avgifter. Elnät, skatt och moms utesluts.</a:t>
            </a:r>
          </a:p>
          <a:p/>
          <a:p>
            <a:r>
              <a:t>DATA</a:t>
            </a:r>
          </a:p>
          <a:p>
            <a:r>
              <a:t>Månad A: 5 000 kWh.</a:t>
            </a:r>
          </a:p>
          <a:p>
            <a:r>
              <a:t>Månad B: 1 000 kWh.</a:t>
            </a:r>
          </a:p>
          <a:p>
            <a:r>
              <a:t>Samma antagna kWh-pris och fasta avgift i båda fallen.</a:t>
            </a:r>
          </a:p>
          <a:p/>
          <a:p>
            <a:r>
              <a:t>MELLANLED</a:t>
            </a:r>
          </a:p>
          <a:p>
            <a:r>
              <a:t>Månad A: 5 000 × 0,93 + 100 = 4 750 kr.</a:t>
            </a:r>
          </a:p>
          <a:p>
            <a:r>
              <a:t>Effektivt pris A: 4 750 / 5 000 = 0,95 kr/kWh = 95 öre/kWh.</a:t>
            </a:r>
          </a:p>
          <a:p>
            <a:r>
              <a:t>Månad B: 1 000 × 0,93 + 100 = 1 030 kr.</a:t>
            </a:r>
          </a:p>
          <a:p>
            <a:r>
              <a:t>Effektivt pris B: 1 030 / 1 000 = 1,03 kr/kWh = 103 öre/kWh.</a:t>
            </a:r>
          </a:p>
          <a:p/>
          <a:p>
            <a:r>
              <a:t>RESULTAT</a:t>
            </a:r>
          </a:p>
          <a:p>
            <a:r>
              <a:t>Det antagna avtalspriset är 93 öre i båda fallen, men kostnad inklusive avgift motsvarar 95 respektive 103 öre/kWh.</a:t>
            </a:r>
          </a:p>
          <a:p/>
          <a:p>
            <a:r>
              <a:t>TOLKNING</a:t>
            </a:r>
          </a:p>
          <a:p>
            <a:r>
              <a:t>Avgiften fördelas över olika antal kWh. Skillnaden betyder inte att ett annat månadspris har avtalats. Den visar varför fasta avgifter och faktisk volym måste tas med i en prisjämförelse.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med antaget jämförbart elhandelspris 93 öre/kWh inklusive påslag och antagen fast månadsavgift 100 kr. Dessa är undervisningstal, inte faktiska avgifter. Elnät, skatt och moms utesluts.</a:t>
            </a:r>
          </a:p>
          <a:p/>
          <a:p>
            <a:r>
              <a:t>DATA</a:t>
            </a:r>
          </a:p>
          <a:p>
            <a:r>
              <a:t>Månad A: 5 000 kWh.</a:t>
            </a:r>
          </a:p>
          <a:p>
            <a:r>
              <a:t>Månad B: 1 000 kWh.</a:t>
            </a:r>
          </a:p>
          <a:p>
            <a:r>
              <a:t>Samma antagna kWh-pris och fasta avgift i båda fallen.</a:t>
            </a:r>
          </a:p>
          <a:p/>
          <a:p>
            <a:r>
              <a:t>MELLANLED</a:t>
            </a:r>
          </a:p>
          <a:p>
            <a:r>
              <a:t>Månad A: 5 000 × 0,93 + 100 = 4 750 kr.</a:t>
            </a:r>
          </a:p>
          <a:p>
            <a:r>
              <a:t>Effektivt pris A: 4 750 / 5 000 = 0,95 kr/kWh = 95 öre/kWh.</a:t>
            </a:r>
          </a:p>
          <a:p>
            <a:r>
              <a:t>Månad B: 1 000 × 0,93 + 100 = 1 030 kr.</a:t>
            </a:r>
          </a:p>
          <a:p>
            <a:r>
              <a:t>Effektivt pris B: 1 030 / 1 000 = 1,03 kr/kWh = 103 öre/kWh.</a:t>
            </a:r>
          </a:p>
          <a:p/>
          <a:p>
            <a:r>
              <a:t>RESULTAT</a:t>
            </a:r>
          </a:p>
          <a:p>
            <a:r>
              <a:t>Det antagna avtalspriset är 93 öre i båda fallen, men kostnad inklusive avgift motsvarar 95 respektive 103 öre/kWh.</a:t>
            </a:r>
          </a:p>
          <a:p/>
          <a:p>
            <a:r>
              <a:t>TOLKNING</a:t>
            </a:r>
          </a:p>
          <a:p>
            <a:r>
              <a:t>Avgiften fördelas över olika antal kWh. Skillnaden betyder inte att ett annat månadspris har avtalats. Den visar varför fasta avgifter och faktisk volym måste tas med i en prisjämförelse.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för jämförbara volymbaserade elhandelsdelar. Fasta avgifter, elnät, skatt och moms ingår inte. Två månader illustrerar metoden, inte ett helt års faktiska utfall.</a:t>
            </a:r>
          </a:p>
          <a:p/>
          <a:p>
            <a:r>
              <a:t>DATA</a:t>
            </a:r>
          </a:p>
          <a:p>
            <a:r>
              <a:t>Månad 1: 2 000 kWh till 100 öre/kWh.</a:t>
            </a:r>
          </a:p>
          <a:p>
            <a:r>
              <a:t>Månad 2: 1 000 kWh till 60 öre/kWh.</a:t>
            </a:r>
          </a:p>
          <a:p/>
          <a:p>
            <a:r>
              <a:t>MELLANLED</a:t>
            </a:r>
          </a:p>
          <a:p>
            <a:r>
              <a:t>Månad 1 kostar 2 000 × 1,00 = 2 000 kr.</a:t>
            </a:r>
          </a:p>
          <a:p>
            <a:r>
              <a:t>Månad 2 kostar 1 000 × 0,60 = 600 kr.</a:t>
            </a:r>
          </a:p>
          <a:p>
            <a:r>
              <a:t>Total kostnad är 2 600 kr och total volym 3 000 kWh.</a:t>
            </a:r>
          </a:p>
          <a:p>
            <a:r>
              <a:t>Vägt snitt: 2 600 / 3 000 × 100 = 86,666… öre/kWh, avrundat 86,67.</a:t>
            </a:r>
          </a:p>
          <a:p/>
          <a:p>
            <a:r>
              <a:t>RESULTAT</a:t>
            </a:r>
          </a:p>
          <a:p>
            <a:r>
              <a:t>2 600 kr för perioden och cirka 86,67 öre/kWh i vägt snitt.</a:t>
            </a:r>
          </a:p>
          <a:p/>
          <a:p>
            <a:r>
              <a:t>TOLKNING</a:t>
            </a:r>
          </a:p>
          <a:p>
            <a:r>
              <a:t>Det oviktade medelvärdet av 100 och 60 är 80 öre. Det underskattar kunden som köper dubbelt så mycket under den dyrare månaden. Räkna kostnaden först och snittet därefter.</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för jämförbara volymbaserade elhandelsdelar. Fasta avgifter, elnät, skatt och moms ingår inte. Två månader illustrerar metoden, inte ett helt års faktiska utfall.</a:t>
            </a:r>
          </a:p>
          <a:p/>
          <a:p>
            <a:r>
              <a:t>DATA</a:t>
            </a:r>
          </a:p>
          <a:p>
            <a:r>
              <a:t>Månad 1: 2 000 kWh till 100 öre/kWh.</a:t>
            </a:r>
          </a:p>
          <a:p>
            <a:r>
              <a:t>Månad 2: 1 000 kWh till 60 öre/kWh.</a:t>
            </a:r>
          </a:p>
          <a:p/>
          <a:p>
            <a:r>
              <a:t>MELLANLED</a:t>
            </a:r>
          </a:p>
          <a:p>
            <a:r>
              <a:t>Månad 1 kostar 2 000 × 1,00 = 2 000 kr.</a:t>
            </a:r>
          </a:p>
          <a:p>
            <a:r>
              <a:t>Månad 2 kostar 1 000 × 0,60 = 600 kr.</a:t>
            </a:r>
          </a:p>
          <a:p>
            <a:r>
              <a:t>Total kostnad är 2 600 kr och total volym 3 000 kWh.</a:t>
            </a:r>
          </a:p>
          <a:p>
            <a:r>
              <a:t>Vägt snitt: 2 600 / 3 000 × 100 = 86,666… öre/kWh, avrundat 86,67.</a:t>
            </a:r>
          </a:p>
          <a:p/>
          <a:p>
            <a:r>
              <a:t>RESULTAT</a:t>
            </a:r>
          </a:p>
          <a:p>
            <a:r>
              <a:t>2 600 kr för perioden och cirka 86,67 öre/kWh i vägt snitt.</a:t>
            </a:r>
          </a:p>
          <a:p/>
          <a:p>
            <a:r>
              <a:t>TOLKNING</a:t>
            </a:r>
          </a:p>
          <a:p>
            <a:r>
              <a:t>Det oviktade medelvärdet av 100 och 60 är 80 öre. Det underskattar kunden som köper dubbelt så mycket under den dyrare månaden. Räkna kostnaden först och snittet därefter.</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Rörligt betyder att min egen kvartförbrukning bestämmer priset.</a:t>
            </a:r>
          </a:p>
          <a:p/>
          <a:p>
            <a:r>
              <a:t>Den gemensamma månadsmodellen skiljer sig från individuellt kvartsvägt pris. Avtalets definition styr.</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Årssnittet är medelvärdet av månadssiffrorna.</a:t>
            </a:r>
          </a:p>
          <a:p/>
          <a:p>
            <a:r>
              <a:t>Väg varje månadspris med motsvarande förbrukning. Lägg relevanta avgifter till kostnaden om de ska ingå i jämförelsen.</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Samma öretal betyder samma faktura.</a:t>
            </a:r>
          </a:p>
          <a:p/>
          <a:p>
            <a:r>
              <a:t>Faktisk volym, fasta avgifter och övriga elkostnader påverkar beloppet. Samma kWh-pris räcker inte för att bestämma totalen.</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 Rörligt pris får du det gemensamma månadspriset enligt avtalet. Det fastställs i efterhand och kan ändras mellan månader. Din mängd el och avtalade avgifter påverkar beloppet. Modellen skiljer sig från ett pris som räknas direkt från din egen användning i varje kvart.</a:t>
            </a:r>
          </a:p>
          <a:p/>
          <a:p>
            <a:r>
              <a:t>UTVECKLAD FÖRKLARING</a:t>
            </a:r>
          </a:p>
          <a:p>
            <a:r>
              <a:t>Vi går igenom vilken månadsreferens och vilka kostnadsdelar ditt erbjudande använder. Sedan räknar vi på din förbrukning över året och tar med avgifter på ett jämförbart sätt. Om du vill påverka kostnaden genom att flytta användning till särskilda kvartar behöver vi även jämföra med en individuell kvartsmodell. Rörligt pris följer marknaden, så du behöver acceptera både lägre och högre månadspriser.</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kunden Erik visar ett snitt av två månadspriser och säger att avtalet borde kosta 80 öre per kWh. Under den första månaden använde villan 2 000 kWh till ett jämförbart volympris på 100 öre. Under den andra användes 1 000 kWh till 60 öre. Han planerar en ny värmepump och tror att nattlig tvätt direkt sänker det egna priset i en gemensam månadsmodell. Avgifter och övriga elkostnader är ännu inte med i hans kalkyl.</a:t>
            </a:r>
          </a:p>
          <a:p/>
          <a:p>
            <a:r>
              <a:t>UPPGIFTER</a:t>
            </a:r>
          </a:p>
          <a:p>
            <a:r>
              <a:t>Korrigera snittberäkningen och förklara varför viktningen behövs.</a:t>
            </a:r>
          </a:p>
          <a:p>
            <a:r>
              <a:t>Förklara skillnaden mellan lägre användning och flytt till en annan kvart.</a:t>
            </a:r>
          </a:p>
          <a:p>
            <a:r>
              <a:t>Ange vad du behöver kontrollera innan du rekommenderar ett nytt avtal.</a:t>
            </a:r>
          </a:p>
          <a:p/>
          <a:p>
            <a:r>
              <a:t>MODELLSVAR</a:t>
            </a:r>
          </a:p>
          <a:p>
            <a:r>
              <a:t>Den jämförbara kostnaden är 2 600 kr för 3 000 kWh, alltså cirka 86,67 öre per kWh. Den dyrare månaden väger dubbelt eftersom volymen är dubbelt så stor. Minskad användning genom värmepumpen kan minska antalet köpta kWh, men nattlig tvätt ger inte samma direkta individuella spotvinst i gemensamt Rörligt pris som i Kvartspris. Kontrollera framtida månadsprofil, aktuella kostnadsposter, avgifter, elområde och budgettålighet. Visa elhandel och övriga elkostnader separat. Det gamla utfallet är analysunderlag, inte ett löfte om framtida pris.</a:t>
            </a:r>
          </a:p>
          <a:p/>
          <a:p>
            <a:r>
              <a:t>BEDÖMNINGSSTÖD</a:t>
            </a:r>
          </a:p>
          <a:p>
            <a:r>
              <a:t>Räknar 2 600 / 3 000 och skiljer från oviktat 80.</a:t>
            </a:r>
          </a:p>
          <a:p>
            <a:r>
              <a:t>Förklarar volymminskning respektive tidsflytt.</a:t>
            </a:r>
          </a:p>
          <a:p>
            <a:r>
              <a:t>Kontrollerar framtida förändring, avgifter och prisomfattning.</a:t>
            </a:r>
          </a:p>
          <a:p>
            <a:r>
              <a:t>Skiljer historiskt utfall från prognos och kundlöfte.</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kunden Erik visar ett snitt av två månadspriser och säger att avtalet borde kosta 80 öre per kWh. Under den första månaden använde villan 2 000 kWh till ett jämförbart volympris på 100 öre. Under den andra användes 1 000 kWh till 60 öre. Han planerar en ny värmepump och tror att nattlig tvätt direkt sänker det egna priset i en gemensam månadsmodell. Avgifter och övriga elkostnader är ännu inte med i hans kalkyl.</a:t>
            </a:r>
          </a:p>
          <a:p/>
          <a:p>
            <a:r>
              <a:t>UPPGIFTER</a:t>
            </a:r>
          </a:p>
          <a:p>
            <a:r>
              <a:t>Korrigera snittberäkningen och förklara varför viktningen behövs.</a:t>
            </a:r>
          </a:p>
          <a:p>
            <a:r>
              <a:t>Förklara skillnaden mellan lägre användning och flytt till en annan kvart.</a:t>
            </a:r>
          </a:p>
          <a:p>
            <a:r>
              <a:t>Ange vad du behöver kontrollera innan du rekommenderar ett nytt avtal.</a:t>
            </a:r>
          </a:p>
          <a:p/>
          <a:p>
            <a:r>
              <a:t>MODELLSVAR</a:t>
            </a:r>
          </a:p>
          <a:p>
            <a:r>
              <a:t>Den jämförbara kostnaden är 2 600 kr för 3 000 kWh, alltså cirka 86,67 öre per kWh. Den dyrare månaden väger dubbelt eftersom volymen är dubbelt så stor. Minskad användning genom värmepumpen kan minska antalet köpta kWh, men nattlig tvätt ger inte samma direkta individuella spotvinst i gemensamt Rörligt pris som i Kvartspris. Kontrollera framtida månadsprofil, aktuella kostnadsposter, avgifter, elområde och budgettålighet. Visa elhandel och övriga elkostnader separat. Det gamla utfallet är analysunderlag, inte ett löfte om framtida pris.</a:t>
            </a:r>
          </a:p>
          <a:p/>
          <a:p>
            <a:r>
              <a:t>BEDÖMNINGSSTÖD</a:t>
            </a:r>
          </a:p>
          <a:p>
            <a:r>
              <a:t>Räknar 2 600 / 3 000 och skiljer från oviktat 80.</a:t>
            </a:r>
          </a:p>
          <a:p>
            <a:r>
              <a:t>Förklarar volymminskning respektive tidsflytt.</a:t>
            </a:r>
          </a:p>
          <a:p>
            <a:r>
              <a:t>Kontrollerar framtida förändring, avgifter och prisomfattning.</a:t>
            </a:r>
          </a:p>
          <a:p>
            <a:r>
              <a:t>Skiljer historiskt utfall från prognos och kundlöfte.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Vad känner kunden normalt i förväg i den beskrivna Rörligt pris-modellen?</a:t>
            </a:r>
          </a:p>
          <a:p/>
          <a:p>
            <a:r>
              <a:t>FACIT</a:t>
            </a:r>
          </a:p>
          <a:p>
            <a:r>
              <a:t>Rätt alternativ: A. Avtalets månadsmodell, men inte automatiskt den slutliga månadsnivån. Förklaring: Beräkningsregeln är avtalad. Månadens pris fastställs i efterhand och kan förändras mellan månader.</a:t>
            </a:r>
          </a:p>
          <a:p/>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Syntetiskt elhandelsexempel före nät, skatt och moms: 2 000 kWh till 80 öre/kWh plus en antagen fast avgift 100 kr. Vad är det effektiva priset inklusive avgiften?</a:t>
            </a:r>
          </a:p>
          <a:p/>
          <a:p>
            <a:r>
              <a:t>FACIT</a:t>
            </a:r>
          </a:p>
          <a:p>
            <a:r>
              <a:t>Svar: 85 öre/kWh. 2 000 × 0,80 + 100 = 1 700 kr. 1 700 / 2 000 = 0,85 kr/kWh, alltså 85 öre/kWh.</a:t>
            </a:r>
          </a:p>
          <a:p/>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säger att två offerter är likvärdiga eftersom de visar samma öretal. Vad undersöker du?</a:t>
            </a:r>
          </a:p>
          <a:p/>
          <a:p>
            <a:r>
              <a:t>FACIT</a:t>
            </a:r>
          </a:p>
          <a:p>
            <a:r>
              <a:t>Kontrollera samma månadsreferens, elområde, period och volym. Identifiera vad kWh-priset omfattar, vilka avgifter som tillkommer och om profil eller ursprung redan ingår.</a:t>
            </a:r>
          </a:p>
          <a:p/>
          <a:p>
            <a:r>
              <a:t>Anger jämförbar kostnadsomfattning.</a:t>
            </a:r>
          </a:p>
          <a:p>
            <a:r>
              <a:t>Tar med fasta avgifter och volym.</a:t>
            </a:r>
          </a:p>
          <a:p>
            <a:r>
              <a:t>Undviker dubbelräkning.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Vilket påstående om nattlig lastflytt är korrekt?</a:t>
            </a:r>
          </a:p>
          <a:p/>
          <a:p>
            <a:r>
              <a:t>FACIT</a:t>
            </a:r>
          </a:p>
          <a:p>
            <a:r>
              <a:t>Rätt alternativ: B. Gemensamt Rörligt pris ger inte samma direkta individuella spotvinst av flytten som Kvartspris. Förklaring: Modellen använder avtalets gemensamma månadsberäkning. Minskad volym påverkar däremot den volymbaserade kostnaden.</a:t>
            </a:r>
          </a:p>
          <a:p/>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Förklara beräkningsmodell före prisnivå.</a:t>
            </a:r>
          </a:p>
          <a:p>
            <a:r>
              <a:t>Skilj gemensamt månadspris från egen kvartsviktning.</a:t>
            </a:r>
          </a:p>
          <a:p>
            <a:r>
              <a:t>Räkna fasta avgifter med rätt period och volym.</a:t>
            </a:r>
          </a:p>
          <a:p>
            <a:r>
              <a:t>Volymväg priser för en längre period.</a:t>
            </a:r>
          </a:p>
          <a:p>
            <a:r>
              <a:t>Kontrollera vad som redan ingår i priset.</a:t>
            </a:r>
          </a:p>
          <a:p>
            <a:r>
              <a:t>Bedöm budgetens tålighet för variation och undvik framtida prisgarantier.</a:t>
            </a:r>
          </a:p>
          <a:p/>
          <a:p>
            <a:r>
              <a:t>KÄLLOR</a:t>
            </a:r>
          </a:p>
          <a:p>
            <a:r>
              <a:t>Produktspecifikationer för säljare · 10 oktober 2026 (31 sidor) · s. 6, 7, 8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Fastpris ger ett avtalat elhandelspris för en uttryckligt definierad omfattning och leveransperiod. Förutsägbarheten gäller priset på de avtalade delarna. Den betyder inte automatiskt samma faktura varje månad eller ett pris som alltid blir lägre än marknaden. Här lär du dig förklara både nyttan och avvägningen utan att förväxla Fastpris med en begränsad komponentprissäkring.</a:t>
            </a:r>
          </a:p>
          <a:p/>
          <a:p>
            <a:r>
              <a:t>LÄRANDEMÅL</a:t>
            </a:r>
          </a:p>
          <a:p>
            <a:r>
              <a:t>Skilja ett fast elhandelspris per kWh från ett fast fakturabelopp.</a:t>
            </a:r>
          </a:p>
          <a:p>
            <a:r>
              <a:t>Förklara avvägningen mellan förutsägbarhet och möjligheten att följa marknaden nedåt.</a:t>
            </a:r>
          </a:p>
          <a:p>
            <a:r>
              <a:t>Jämföra samma volym, period och kostnadsdelar i två prisscenarier.</a:t>
            </a:r>
          </a:p>
          <a:p>
            <a:r>
              <a:t>Identifiera de pris-, profil- och volymvillkor som behöver kontrolleras i offerten.</a:t>
            </a:r>
          </a:p>
          <a:p/>
          <a:p>
            <a:r>
              <a:t>KANONISKT BERÄTTARMANUS</a:t>
            </a:r>
          </a:p>
          <a:p>
            <a:r>
              <a:t>fastpris-01 · Vad är egentligen fast?</a:t>
            </a:r>
          </a:p>
          <a:p>
            <a:r>
              <a:t>Fastpris ger ett känt elhandelspris för en uttryckligt avtalad omfattning och period. Det låter enkelt, men kunden behöver förstå vad som är fast. Vilka prisdelar ingår? Vilken anläggning och vilket elområde gäller? När börjar och slutar leveransen? De svaren finns i det aktuella erbjudandet. Ett fullständigt fastpris omfattar mer än en ensam säkring av systempris och elområdesskillnad. Därför ska vi inte kalla varje prissäkring helt Fastpris. Kontrollera profil, volym och eventuella tillägg. Elnät, energiskatt och moms låses inte automatiskt av elhandelsavtalet och behöver hållas isär från det fasta elhandelspriset.</a:t>
            </a:r>
          </a:p>
          <a:p>
            <a:r>
              <a:t>På skärmen: Känt pris för avtalade delar och period | Kontrollera omfattningen</a:t>
            </a:r>
          </a:p>
          <a:p>
            <a:r>
              <a:t>Bildidé: Visa ett avtalat prisblock inom en tydlig tidsram och separata block för övriga elkostnader.</a:t>
            </a:r>
          </a:p>
          <a:p/>
          <a:p>
            <a:r>
              <a:t>fastpris-02 · Fast nivå, varierande mängd</a:t>
            </a:r>
          </a:p>
          <a:p>
            <a:r>
              <a:t>Anta i ett fiktivt exempel att den fasta elhandelsdelen kostar nittio öre per kilowattimme. Tusen kilowattimmar kostar då niohundra kronor. Tvåtusenfemhundra kilowattimmar kostar tvåtusentvåhundrafemtio kronor. Priset per kilowattimme är samma, men beloppet är olika eftersom kunden använder olika mycket el. Det är en viktig skillnad för en villa med hög vinterförbrukning och för en verksamhet med varierande produktion. Fastpris är inte automatiskt en lösning för jämn månadsbetalning. Fråga därför efter månadsprofil och planerade förändringar. En ny värmepump, mer laddning eller ändrad drift kan påverka mängden el som kunden köper.</a:t>
            </a:r>
          </a:p>
          <a:p>
            <a:r>
              <a:t>På skärmen: 1 000 × 0,90 = 900 kr | 2 500 × 0,90 = 2 250 kr</a:t>
            </a:r>
          </a:p>
          <a:p>
            <a:r>
              <a:t>Bildidé: Visa samma prislapp på två olika stora volymstaplar och olika belopp under dem.</a:t>
            </a:r>
          </a:p>
          <a:p/>
          <a:p>
            <a:r>
              <a:t>fastpris-03 · Visa båda riktningarna</a:t>
            </a:r>
          </a:p>
          <a:p>
            <a:r>
              <a:t>Vi jämför samma period, volym och kostnadsdelar i tre fiktiva nivåer. Hundratusen kilowattimmar till nittio öre ger nittiotusen kronor. Om ett jämförbart rörligt utfall blir hundratjugo öre kostar det hundratjugotusen kronor. Om det i stället blir sextio öre kostar det sextiotusen kronor. Fastpris är billigare i det första scenariot och dyrare i det andra. Poängen är inte att välja en prognos. Poängen är att visa avvägningen. Kunden får den kända prisnivån, men följer inte automatiskt med när marknaden faller. Ingen modell kan beskrivas som billigast i förväg utifrån dessa exempel.</a:t>
            </a:r>
          </a:p>
          <a:p>
            <a:r>
              <a:t>På skärmen: Fast: 90 000 kr | Rörliga scenarier: 120 000 eller 60 000 kr</a:t>
            </a:r>
          </a:p>
          <a:p>
            <a:r>
              <a:t>Bildidé: Tre tydligt scenariomärkta kostnadsstaplar. Samma volym och omfattning skrivs ovanför.</a:t>
            </a:r>
          </a:p>
          <a:p/>
          <a:p>
            <a:r>
              <a:t>fastpris-04 · En rättvis jämförelse</a:t>
            </a:r>
          </a:p>
          <a:p>
            <a:r>
              <a:t>Om kunden jämför Fastpris med en app som visar spotpris behöver vi först kontrollera innehållet. Ett fullständigare elhandelspris och en avgränsad spotkomponent är inte direkt jämförbara. Använd samma period och volym, identifiera vilka komponenter som ingår och hantera avgifter på samma sätt. Visa sedan eventuella separata kostnader. Läs också den aktuella offertens giltighet och villkor för förändringar, volym och avslut. Produktnamnet anger inga generella toleranser eller brytavgifter. Om kunden planerar att förändra verksamheten eller installera solceller behöver den förändringen bedömas mot avtalet, inte mot en regel som vi antar gäller alla.</a:t>
            </a:r>
          </a:p>
          <a:p>
            <a:r>
              <a:t>På skärmen: Samma period, volym och kostnadsdelar | Aktuella kundvillkor styr</a:t>
            </a:r>
          </a:p>
          <a:p>
            <a:r>
              <a:t>Bildidé: Två prisetiketter öppnas till sina komponenter innan de placeras på en gemensam jämförelsevåg.</a:t>
            </a:r>
          </a:p>
          <a:p/>
          <a:p>
            <a:r>
              <a:t>fastpris-05 · Förklara kundens val</a:t>
            </a:r>
          </a:p>
          <a:p>
            <a:r>
              <a:t>Fråga hur viktigt ett känt enhetspris är för kundens budget. Fråga också om kunden accepterar att ett rörligt alternativ senare kan bli billigare. Då blir rekommendationen kopplad till ett faktiskt behov. Du kan förklara: med Fastpris känner du priset på de avtalade elhandelsdelarna under den avtalade perioden. Det gör budgeteringen tydligare. Beloppet beror fortfarande på hur mycket el du använder, och det fasta priset följer inte automatiskt marknaden nedåt. Avsluta genom att be kunden återberätta vilka delar som är fasta och varför fakturan kan ändras ändå. Den förståelsen är viktigare än att bara minnas ett öretal. I övningen får du både räkna ett belopp och bedöma en prisjämförelse. Kontrollera att du kan beskriva vilken förutsägbarhet kunden köper och vilken avvägning kunden accepterar vid prisfall.</a:t>
            </a:r>
          </a:p>
          <a:p>
            <a:r>
              <a:t>På skärmen: Förutsägbarhet med en tydlig avvägning | Kunden återberättar omfattning och volymeffekt</a:t>
            </a:r>
          </a:p>
          <a:p>
            <a:r>
              <a:t>Bildidé: Visa kundens prioritering mellan budgetförutsägbarhet och marknadsexponering utan att markera ett universellt rätt val.</a:t>
            </a:r>
          </a:p>
          <a:p/>
          <a:p>
            <a:r>
              <a:t>KÄLLOR</a:t>
            </a:r>
          </a:p>
          <a:p>
            <a:r>
              <a:t>Produktspecifikationer för säljare · 10 oktober 2026 (31 sidor) · s. 9, 10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Fastpris anger ett elhandelspris per kWh för uttryckligt avtalade delar och leveransperiod. Börja med frågorna vad är fast och när gäller det? Kontrollera komponenter, anläggning, elområde, start, period och eventuella avgifter eller tillägg enligt aktuell offert.</a:t>
            </a:r>
          </a:p>
          <a:p/>
          <a:p>
            <a:r>
              <a:t>Ett fullständigt fastpris omfattar mer prisrisk än en ensam SYS/EPAD-säkring. Kalla därför inte en sådan komponentprissäkring helt Fastpris utan kontroll av profil och volym. Elnät, energiskatt och moms låses inte automatiskt av elhandelsavtalet.</a:t>
            </a:r>
          </a:p>
          <a:p/>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Den fasta volymbaserade kostnaden är köpta kWh multiplicerade med avtalat pris. Dubbelt så mycket el ger dubbelt så stor kostnad för denna del. Kall väderlek, mer produktion eller ny laddning kan öka beloppet trots oförändrat enhetspris.</a:t>
            </a:r>
          </a:p>
          <a:p/>
          <a:p>
            <a:r>
              <a:t>Fast pris och jämn betalning är olika lösningar. Fråga hur användningen fördelas över året och vilka förändringar som planeras. Utgå från köpt nätel om det är avtalets volym. Håll egenanvänd solel och export isär.</a:t>
            </a:r>
          </a:p>
          <a:p/>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Fastpris minskar osäkerheten kring de avtalade prisdelarna under leveransperioden. Priset följer däremot inte automatiskt med ned när marknaden faller. Kunden behöver förstå både ett scenario där rörligt blir dyrare och ett där rörligt blir billigare.</a:t>
            </a:r>
          </a:p>
          <a:p/>
          <a:p>
            <a:r>
              <a:t>Marknaden kan röra sig åt båda håll. Leverantören prissätter den omfattade risken, men utbildningen anger inga generella riskpremier eller aktuella offertnivåer. Beslutet handlar om värdet av ett känt enhetspris för kundens budget, inte om att förutse lägsta framtida pris.</a:t>
            </a:r>
          </a:p>
          <a:p/>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Jämför samma leveransperiod, volym och kostnadsomfattning. Ett fast pris med fler elhandelsdelar är inte direkt jämförbart med rent spotpris. Avgifter behöver behandlas lika. Visa jämförbara komponenter först och separata kostnader därefter.</a:t>
            </a:r>
          </a:p>
          <a:p/>
          <a:p>
            <a:r>
              <a:t>Visa minst två alternativa marknadsutfall. Ligger rörligt högre blir Fastpris billigare i den avgränsade kalkylen; ligger rörligt lägre blir det tvärtom. Märk fiktiva nivåer som scenarier, inte prognoser. Historiska jämförelser behöver kundens verkliga volymprofil.</a:t>
            </a:r>
          </a:p>
          <a:p/>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Fråga hur viktigt känt pris är, hur mycket variation kunden klarar och om ett senare billigare rörligt alternativ accepteras. Fånga upp planerad ändrad drift, solceller, flytt och nya maskiner. Bostadstyp eller bransch ger ingen automatisk rekommendation.</a:t>
            </a:r>
          </a:p>
          <a:p/>
          <a:p>
            <a:r>
              <a:t>Kontrollera offertens giltighet, omfattning och aktuella kundvillkor. Anta inga generella volymtoleranser, brytavgifter eller avslutsregler. Låt kunden återberätta vilka prisdelar som är fasta och varför beloppet ändå kan ändras.</a:t>
            </a:r>
          </a:p>
          <a:p/>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jämförbara elhandelspriser för samma leveransperiod och 100 000 kWh. Samma kostnadsdelar antas ingå i alla priser. Separata avgifter, elnät, skatt och moms utesluts. Detta är scenarier, inte prognoser.</a:t>
            </a:r>
          </a:p>
          <a:p/>
          <a:p>
            <a:r>
              <a:t>DATA</a:t>
            </a:r>
          </a:p>
          <a:p>
            <a:r>
              <a:t>Fastpris: 90 öre/kWh.</a:t>
            </a:r>
          </a:p>
          <a:p>
            <a:r>
              <a:t>Rörligt scenario A: 120 öre/kWh.</a:t>
            </a:r>
          </a:p>
          <a:p>
            <a:r>
              <a:t>Rörligt scenario B: 60 öre/kWh.</a:t>
            </a:r>
          </a:p>
          <a:p/>
          <a:p>
            <a:r>
              <a:t>MELLANLED</a:t>
            </a:r>
          </a:p>
          <a:p>
            <a:r>
              <a:t>Fast alternativ: 100 000 × 0,90 = 90 000 kr.</a:t>
            </a:r>
          </a:p>
          <a:p>
            <a:r>
              <a:t>Scenario A: 100 000 × 1,20 = 120 000 kr, vilket är 30 000 kr mer.</a:t>
            </a:r>
          </a:p>
          <a:p>
            <a:r>
              <a:t>Scenario B: 100 000 × 0,60 = 60 000 kr, vilket är 30 000 kr mindre.</a:t>
            </a:r>
          </a:p>
          <a:p/>
          <a:p>
            <a:r>
              <a:t>RESULTAT</a:t>
            </a:r>
          </a:p>
          <a:p>
            <a:r>
              <a:t>Fastpris kostar 90 000 kr; rörligt kostar 120 000 eller 60 000 kr i de två fiktiva scenarierna.</a:t>
            </a:r>
          </a:p>
          <a:p/>
          <a:p>
            <a:r>
              <a:t>TOLKNING</a:t>
            </a:r>
          </a:p>
          <a:p>
            <a:r>
              <a:t>Fastpris ger samma antagna enhetsnivå i båda utfallen. Det illustrerar skyddet mot den högre nivån och att kunden inte automatiskt följer med till den lägre nivån. Ingen av nivåerna förutspår framtiden.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jämförbara elhandelspriser för samma leveransperiod och 100 000 kWh. Samma kostnadsdelar antas ingå i alla priser. Separata avgifter, elnät, skatt och moms utesluts. Detta är scenarier, inte prognoser.</a:t>
            </a:r>
          </a:p>
          <a:p/>
          <a:p>
            <a:r>
              <a:t>DATA</a:t>
            </a:r>
          </a:p>
          <a:p>
            <a:r>
              <a:t>Fastpris: 90 öre/kWh.</a:t>
            </a:r>
          </a:p>
          <a:p>
            <a:r>
              <a:t>Rörligt scenario A: 120 öre/kWh.</a:t>
            </a:r>
          </a:p>
          <a:p>
            <a:r>
              <a:t>Rörligt scenario B: 60 öre/kWh.</a:t>
            </a:r>
          </a:p>
          <a:p/>
          <a:p>
            <a:r>
              <a:t>MELLANLED</a:t>
            </a:r>
          </a:p>
          <a:p>
            <a:r>
              <a:t>Fast alternativ: 100 000 × 0,90 = 90 000 kr.</a:t>
            </a:r>
          </a:p>
          <a:p>
            <a:r>
              <a:t>Scenario A: 100 000 × 1,20 = 120 000 kr, vilket är 30 000 kr mer.</a:t>
            </a:r>
          </a:p>
          <a:p>
            <a:r>
              <a:t>Scenario B: 100 000 × 0,60 = 60 000 kr, vilket är 30 000 kr mindre.</a:t>
            </a:r>
          </a:p>
          <a:p/>
          <a:p>
            <a:r>
              <a:t>RESULTAT</a:t>
            </a:r>
          </a:p>
          <a:p>
            <a:r>
              <a:t>Fastpris kostar 90 000 kr; rörligt kostar 120 000 eller 60 000 kr i de två fiktiva scenarierna.</a:t>
            </a:r>
          </a:p>
          <a:p/>
          <a:p>
            <a:r>
              <a:t>TOLKNING</a:t>
            </a:r>
          </a:p>
          <a:p>
            <a:r>
              <a:t>Fastpris ger samma antagna enhetsnivå i båda utfallen. Det illustrerar skyddet mot den högre nivån och att kunden inte automatiskt följer med till den lägre nivån. Ingen av nivåerna förutspår framtiden.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för den fasta elhandelsdelen vid 90 öre/kWh. Separata avgifter, elnät, skatt och moms ingår inte. Volymerna antas ligga inom det avtal som exemplet beskriver; inga generella volymvillkor härleds.</a:t>
            </a:r>
          </a:p>
          <a:p/>
          <a:p>
            <a:r>
              <a:t>DATA</a:t>
            </a:r>
          </a:p>
          <a:p>
            <a:r>
              <a:t>Månad 1: 1 000 kWh.</a:t>
            </a:r>
          </a:p>
          <a:p>
            <a:r>
              <a:t>Månad 2: 2 500 kWh.</a:t>
            </a:r>
          </a:p>
          <a:p>
            <a:r>
              <a:t>Samma fasta enhetspris i båda månaderna.</a:t>
            </a:r>
          </a:p>
          <a:p/>
          <a:p>
            <a:r>
              <a:t>MELLANLED</a:t>
            </a:r>
          </a:p>
          <a:p>
            <a:r>
              <a:t>Månad 1: 1 000 × 0,90 = 900 kr.</a:t>
            </a:r>
          </a:p>
          <a:p>
            <a:r>
              <a:t>Månad 2: 2 500 × 0,90 = 2 250 kr.</a:t>
            </a:r>
          </a:p>
          <a:p>
            <a:r>
              <a:t>Skillnad i belopp: 2 250 − 900 = 1 350 kr.</a:t>
            </a:r>
          </a:p>
          <a:p>
            <a:r>
              <a:t>Kontrollera enhetsnivån: 900 / 1 000 = 2 250 / 2 500 = 0,90 kr/kWh.</a:t>
            </a:r>
          </a:p>
          <a:p/>
          <a:p>
            <a:r>
              <a:t>RESULTAT</a:t>
            </a:r>
          </a:p>
          <a:p>
            <a:r>
              <a:t>Beloppen är 900 respektive 2 250 kr trots samma 90 öre/kWh.</a:t>
            </a:r>
          </a:p>
          <a:p/>
          <a:p>
            <a:r>
              <a:t>TOLKNING</a:t>
            </a:r>
          </a:p>
          <a:p>
            <a:r>
              <a:t>Skillnaden beror helt på energimängden i detta exempel. Fast kWh-pris är inte ett löfte om samma månadsbetalning. Hela elkostnaden behöver dessutom de andra kostnadsdelarna.</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för den fasta elhandelsdelen vid 90 öre/kWh. Separata avgifter, elnät, skatt och moms ingår inte. Volymerna antas ligga inom det avtal som exemplet beskriver; inga generella volymvillkor härleds.</a:t>
            </a:r>
          </a:p>
          <a:p/>
          <a:p>
            <a:r>
              <a:t>DATA</a:t>
            </a:r>
          </a:p>
          <a:p>
            <a:r>
              <a:t>Månad 1: 1 000 kWh.</a:t>
            </a:r>
          </a:p>
          <a:p>
            <a:r>
              <a:t>Månad 2: 2 500 kWh.</a:t>
            </a:r>
          </a:p>
          <a:p>
            <a:r>
              <a:t>Samma fasta enhetspris i båda månaderna.</a:t>
            </a:r>
          </a:p>
          <a:p/>
          <a:p>
            <a:r>
              <a:t>MELLANLED</a:t>
            </a:r>
          </a:p>
          <a:p>
            <a:r>
              <a:t>Månad 1: 1 000 × 0,90 = 900 kr.</a:t>
            </a:r>
          </a:p>
          <a:p>
            <a:r>
              <a:t>Månad 2: 2 500 × 0,90 = 2 250 kr.</a:t>
            </a:r>
          </a:p>
          <a:p>
            <a:r>
              <a:t>Skillnad i belopp: 2 250 − 900 = 1 350 kr.</a:t>
            </a:r>
          </a:p>
          <a:p>
            <a:r>
              <a:t>Kontrollera enhetsnivån: 900 / 1 000 = 2 250 / 2 500 = 0,90 kr/kWh.</a:t>
            </a:r>
          </a:p>
          <a:p/>
          <a:p>
            <a:r>
              <a:t>RESULTAT</a:t>
            </a:r>
          </a:p>
          <a:p>
            <a:r>
              <a:t>Beloppen är 900 respektive 2 250 kr trots samma 90 öre/kWh.</a:t>
            </a:r>
          </a:p>
          <a:p/>
          <a:p>
            <a:r>
              <a:t>TOLKNING</a:t>
            </a:r>
          </a:p>
          <a:p>
            <a:r>
              <a:t>Skillnaden beror helt på energimängden i detta exempel. Fast kWh-pris är inte ett löfte om samma månadsbetalning. Hela elkostnaden behöver dessutom de andra kostnadsdelarna.</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Fastpris betyder att fakturan är lika stor varje månad.</a:t>
            </a:r>
          </a:p>
          <a:p/>
          <a:p>
            <a:r>
              <a:t>Den volymbaserade kostnaden ändras när köpta kWh ändras. Samma pris per kWh är inte samma belopp.</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Fastpris följer med ned om spotpriset sjunker.</a:t>
            </a:r>
          </a:p>
          <a:p/>
          <a:p>
            <a:r>
              <a:t>Det avtalade fasta priset ändras inte automatiskt av ett marknadsfall. Kunden väljer förutsägbarhet med denna avvägning.</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 SYS och EPAD är säkrade är hela avtalet Fastpris.</a:t>
            </a:r>
          </a:p>
          <a:p/>
          <a:p>
            <a:r>
              <a:t>En begränsad komponentprissäkring kan lämna exempelvis profil eller annan volym utanför. Läs den faktiska prisomfattningen.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Fastpris gör priset på de avtalade elhandelsdelarna känt för den avtalade perioden. Det gör budgeteringen enklare, men beloppet beror fortfarande på hur mycket el du använder. Om marknaden sjunker följer det fasta priset inte automatiskt med ned. Elnät, skatt och moms hanteras separat.</a:t>
            </a:r>
          </a:p>
          <a:p/>
          <a:p>
            <a:r>
              <a:t>UTVECKLAD FÖRKLARING</a:t>
            </a:r>
          </a:p>
          <a:p>
            <a:r>
              <a:t>Vi går igenom exakt vilka elhandelsdelar ditt erbjudande omfattar och vilken period det gäller. Därefter räknar vi på din förväntade förbrukning och visar både ett högre och ett lägre rörligt marknadsutfall. Fastpris kan vara relevant när ett känt enhetspris väger tungt för budgeten och du accepterar att marknaden senare kan bli billigare. Förändringar i volym och verksamhet behöver bedömas mot dina faktiska avtalsvillkor.</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kunden Lena vill undvika osäkerhet inför vintern och planerar att installera värmepump. Hon säger: om jag väljer Fastpris borde räkningen vara densamma varje månad, och om priserna sjunker kan ni väl sänka mitt pris? Du har ännu inte sett kundens nya förbrukningsprognos eller den aktuella offertens regler för ändringar. Hon ber dig också jämföra ett fast elhandelspris med en app som visar rent spotpris.</a:t>
            </a:r>
          </a:p>
          <a:p/>
          <a:p>
            <a:r>
              <a:t>UPPGIFTER</a:t>
            </a:r>
          </a:p>
          <a:p>
            <a:r>
              <a:t>Korrigera de två missförstånden i ett respektfullt kundsvar.</a:t>
            </a:r>
          </a:p>
          <a:p>
            <a:r>
              <a:t>Förklara varför appens spotpris inte automatiskt är jämförbart.</a:t>
            </a:r>
          </a:p>
          <a:p>
            <a:r>
              <a:t>Ange vilket underlag och vilka villkor du behöver kontrollera före rekommendation.</a:t>
            </a:r>
          </a:p>
          <a:p/>
          <a:p>
            <a:r>
              <a:t>MODELLSVAR</a:t>
            </a:r>
          </a:p>
          <a:p>
            <a:r>
              <a:t>Förklara att den fasta enhetsnivån gäller de avtalade elhandelsdelarna, medan beloppet ändras med köpt volym. Ett marknadsfall ändrar inte automatiskt det avtalade priset. Appens rent avgränsade spotpris behöver få samma kostnadsomfattning, period och volym som Fastpris innan jämförelsen blir rättvis. Be om historik och en bedömd förbrukning efter värmepumpen. Kontrollera offertens prisdelar, giltighet, avgifter och faktiska förändrings- och volymvillkor. Bedöm sedan hur viktigt ett känt enhetspris är för Lena och om hon accepterar avvägningen vid prisfall.</a:t>
            </a:r>
          </a:p>
          <a:p/>
          <a:p>
            <a:r>
              <a:t>BEDÖMNINGSSTÖD</a:t>
            </a:r>
          </a:p>
          <a:p>
            <a:r>
              <a:t>Skiljer enhetspris från månadsbelopp.</a:t>
            </a:r>
          </a:p>
          <a:p>
            <a:r>
              <a:t>Förklarar utebliven automatisk nedgång utan prisprognos.</a:t>
            </a:r>
          </a:p>
          <a:p>
            <a:r>
              <a:t>Kräver jämförbara komponenter för appjämförelsen.</a:t>
            </a:r>
          </a:p>
          <a:p>
            <a:r>
              <a:t>Kontrollerar planerad ändring och aktuella avtalsvillkor utan påhittade toleranser.</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kunden Lena vill undvika osäkerhet inför vintern och planerar att installera värmepump. Hon säger: om jag väljer Fastpris borde räkningen vara densamma varje månad, och om priserna sjunker kan ni väl sänka mitt pris? Du har ännu inte sett kundens nya förbrukningsprognos eller den aktuella offertens regler för ändringar. Hon ber dig också jämföra ett fast elhandelspris med en app som visar rent spotpris.</a:t>
            </a:r>
          </a:p>
          <a:p/>
          <a:p>
            <a:r>
              <a:t>UPPGIFTER</a:t>
            </a:r>
          </a:p>
          <a:p>
            <a:r>
              <a:t>Korrigera de två missförstånden i ett respektfullt kundsvar.</a:t>
            </a:r>
          </a:p>
          <a:p>
            <a:r>
              <a:t>Förklara varför appens spotpris inte automatiskt är jämförbart.</a:t>
            </a:r>
          </a:p>
          <a:p>
            <a:r>
              <a:t>Ange vilket underlag och vilka villkor du behöver kontrollera före rekommendation.</a:t>
            </a:r>
          </a:p>
          <a:p/>
          <a:p>
            <a:r>
              <a:t>MODELLSVAR</a:t>
            </a:r>
          </a:p>
          <a:p>
            <a:r>
              <a:t>Förklara att den fasta enhetsnivån gäller de avtalade elhandelsdelarna, medan beloppet ändras med köpt volym. Ett marknadsfall ändrar inte automatiskt det avtalade priset. Appens rent avgränsade spotpris behöver få samma kostnadsomfattning, period och volym som Fastpris innan jämförelsen blir rättvis. Be om historik och en bedömd förbrukning efter värmepumpen. Kontrollera offertens prisdelar, giltighet, avgifter och faktiska förändrings- och volymvillkor. Bedöm sedan hur viktigt ett känt enhetspris är för Lena och om hon accepterar avvägningen vid prisfall.</a:t>
            </a:r>
          </a:p>
          <a:p/>
          <a:p>
            <a:r>
              <a:t>BEDÖMNINGSSTÖD</a:t>
            </a:r>
          </a:p>
          <a:p>
            <a:r>
              <a:t>Skiljer enhetspris från månadsbelopp.</a:t>
            </a:r>
          </a:p>
          <a:p>
            <a:r>
              <a:t>Förklarar utebliven automatisk nedgång utan prisprognos.</a:t>
            </a:r>
          </a:p>
          <a:p>
            <a:r>
              <a:t>Kräver jämförbara komponenter för appjämförelsen.</a:t>
            </a:r>
          </a:p>
          <a:p>
            <a:r>
              <a:t>Kontrollerar planerad ändring och aktuella avtalsvillkor utan påhittade toleranser.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Vad är den centrala avvägningen i Fastpris?</a:t>
            </a:r>
          </a:p>
          <a:p/>
          <a:p>
            <a:r>
              <a:t>FACIT</a:t>
            </a:r>
          </a:p>
          <a:p>
            <a:r>
              <a:t>Rätt alternativ: A. Kunden får känd prisnivå för avtalade delar men följer inte automatiskt marknaden nedåt. Förklaring: Förutsägbarheten gäller den uttryckligt avtalade prisomfattningen och perioden, med avvägningen att senare prisfall inte automatiskt slår igenom.</a:t>
            </a:r>
          </a:p>
          <a:p/>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Syntetiskt exempel: 1 800 kWh till fast elhandelspris 90 öre/kWh. Inga andra kostnader ingår. Vad kostar denna del?</a:t>
            </a:r>
          </a:p>
          <a:p/>
          <a:p>
            <a:r>
              <a:t>FACIT</a:t>
            </a:r>
          </a:p>
          <a:p>
            <a:r>
              <a:t>Svar: 1620 kr. 1 800 × 0,90 = 1 620 kr. Om volymen ändras ändras beloppet trots fast enhetspris.</a:t>
            </a:r>
          </a:p>
          <a:p/>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kund visar en SYS/EPAD-säkring och kallar den helt Fastpris. Hur kontrollerar och förklarar du omfattningen?</a:t>
            </a:r>
          </a:p>
          <a:p/>
          <a:p>
            <a:r>
              <a:t>FACIT</a:t>
            </a:r>
          </a:p>
          <a:p>
            <a:r>
              <a:t>Läs prisformeln och identifiera säkrad volym, period, profilhantering och andra komponenter. En SYS/EPAD-säkring ensam visar inte att hela kundpriset är fast.</a:t>
            </a:r>
          </a:p>
          <a:p/>
          <a:p>
            <a:r>
              <a:t>Identifierar vad som faktiskt säkras.</a:t>
            </a:r>
          </a:p>
          <a:p>
            <a:r>
              <a:t>Tar upp profil eller övriga komponenter.</a:t>
            </a:r>
          </a:p>
          <a:p>
            <a:r>
              <a:t>Undviker att likställa komponentprissäkring och fullständigt Fastpris.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jämförelse ger ett användbart scenario?</a:t>
            </a:r>
          </a:p>
          <a:p/>
          <a:p>
            <a:r>
              <a:t>FACIT</a:t>
            </a:r>
          </a:p>
          <a:p>
            <a:r>
              <a:t>Rätt alternativ: B. Samma period, volym och kostnadsdelar i fast och rörligt alternativ. Förklaring: Olika perioder eller komponenter kan skapa en skenbar skillnad. Jämförbar omfattning måste etableras först.</a:t>
            </a:r>
          </a:p>
          <a:p/>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Beskriv exakt vilka delar och vilken period som är fasta.</a:t>
            </a:r>
          </a:p>
          <a:p>
            <a:r>
              <a:t>Räkna belopp från volym och enhetspris.</a:t>
            </a:r>
          </a:p>
          <a:p>
            <a:r>
              <a:t>Visa både uppgångs- och nedgångsscenario utan att förutse utfallet.</a:t>
            </a:r>
          </a:p>
          <a:p>
            <a:r>
              <a:t>Likställ inte en SYS/EPAD-säkring med fullständigt Fastpris.</a:t>
            </a:r>
          </a:p>
          <a:p>
            <a:r>
              <a:t>Kontrollera planerade förändringar och aktuella villkor.</a:t>
            </a:r>
          </a:p>
          <a:p>
            <a:r>
              <a:t>Låt kunden återberätta skillnaden mellan känt pris och varierande belopp.</a:t>
            </a:r>
          </a:p>
          <a:p/>
          <a:p>
            <a:r>
              <a:t>KÄLLOR</a:t>
            </a:r>
          </a:p>
          <a:p>
            <a:r>
              <a:t>Produktspecifikationer för säljare · 10 oktober 2026 (31 sidor) · s. 9, 10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 använder Kvartspris som grund och jämför efter månadens slut med avtalets vanliga rörliga månadspris. Det lägre jämförbara alternativet väljs för hela månaden. Lektionen gör jämförelsen synlig från mätvärden till resultat och visar varför det precisa kundlöftet skiljer sig från både kvartvis växling och ett fast pristak.</a:t>
            </a:r>
          </a:p>
          <a:p/>
          <a:p>
            <a:r>
              <a:t>LÄRANDEMÅL</a:t>
            </a:r>
          </a:p>
          <a:p>
            <a:r>
              <a:t>Beräkna kvartsvägt utfall för hela månaden och jämföra med avtalets månadsalternativ.</a:t>
            </a:r>
          </a:p>
          <a:p>
            <a:r>
              <a:t>Förklara varför modellen inte väljer lägsta pris i varje kvart.</a:t>
            </a:r>
          </a:p>
          <a:p>
            <a:r>
              <a:t>Identifiera samma volym, period och kostnadsdelar i jämförelsen.</a:t>
            </a:r>
          </a:p>
          <a:p>
            <a:r>
              <a:t>Beskriva fortsatt marknadsrisk utan att lova ett absolut pristak eller marknadens lägsta pris.</a:t>
            </a:r>
          </a:p>
          <a:p/>
          <a:p>
            <a:r>
              <a:t>KANONISKT BERÄTTARMANUS</a:t>
            </a:r>
          </a:p>
          <a:p>
            <a:r>
              <a:t>opti-01 · Ett val efter hela månaden</a:t>
            </a:r>
          </a:p>
          <a:p>
            <a:r>
              <a:t>Opti jämför två månadsalternativ. Det ena bygger på kundens egen faktiska förbrukning och priserna i varje kvart. Det andra bygger på avtalets vanliga rörliga månadspris för samma månadsvolym. När månaden är avslutad räknar vi båda alternativen med samma definierade kostnadsdelar. Sedan väljs det lägre för hela månaden. Kunden behöver alltså inte själv välja vinnaren i förväg. Men framtidens pris är inte fast. Båda alternativen följer sina marknadsberoende modeller. Den viktiga bilden är två fullständiga månadsutfall och ett val mellan dem, inte en växling mellan priser inne i varje kvart.</a:t>
            </a:r>
          </a:p>
          <a:p>
            <a:r>
              <a:t>På skärmen: Två hela månadsutfall | Ett val efter månaden</a:t>
            </a:r>
          </a:p>
          <a:p>
            <a:r>
              <a:t>Bildidé: Bygg två kompletta månadsrutor från samma volym och för dem till ett gemensamt jämförelsesteg.</a:t>
            </a:r>
          </a:p>
          <a:p/>
          <a:p>
            <a:r>
              <a:t>opti-02 · Samma grund i båda alternativen</a:t>
            </a:r>
          </a:p>
          <a:p>
            <a:r>
              <a:t>Jämförelsen måste göras på samma grund. Om kunden faktiskt använder tusen kilowattimmar under månaden används tusen i båda alternativen. Kvartalternativet tar hänsyn till när energin används. Månadsalternativet använder sin avtalade prisnivå på hela volymen. Kostnadsdelarna behöver också vara samma. Ett rent spotpris och ett månadspris med fler inkluderade delar kan inte ställas bredvid varandra utan kontroll. Läs därför jämförelseomfattningen och avgifterna i den aktuella offerten. Redovisa separat det som ligger utanför jämförelsen. Elnät, energiskatt och moms är andra kostnader och ska inte automatiskt beskrivas som skyddade av Opti.</a:t>
            </a:r>
          </a:p>
          <a:p>
            <a:r>
              <a:t>På skärmen: Samma kWh, månad och komponenter | Separata poster redovisas separat</a:t>
            </a:r>
          </a:p>
          <a:p>
            <a:r>
              <a:t>Bildidé: Tre kontrollrutor bockas av: volym, period och omfattning. Övriga elkostnader ligger utanför jämförelseramen.</a:t>
            </a:r>
          </a:p>
          <a:p/>
          <a:p>
            <a:r>
              <a:t>opti-03 · När kvartalternativet vinner</a:t>
            </a:r>
          </a:p>
          <a:p>
            <a:r>
              <a:t>Vi tar ett fiktivt exempel med jämförbara delar och inga andra kostnader. Sexhundra kilowattimmar används vid fyrtio öre. Fyrahundra används vid hundratio öre. De två delarna kostar tvåhundrafyrtio respektive fyrahundrafyrtio kronor. Hela kvartalternativet blir sexhundraåttio kronor för tusen kilowattimmar, alltså sextioåtta öre i eget snitt. Om månadsalternativet är åttio öre blir dess kostnad åttahundra kronor. Opti väljer då sexhundraåttio kronor för hela månaden. Skillnaden på hundratjugo kronor gäller just det här syntetiska utfallet. Den är ingen prognos eller generell besparing för nästa månad.</a:t>
            </a:r>
          </a:p>
          <a:p>
            <a:r>
              <a:t>På skärmen: Kvartutfall: 680 kr | Månadsalternativ: 800 kr | Valt: 680 kr</a:t>
            </a:r>
          </a:p>
          <a:p>
            <a:r>
              <a:t>Bildidé: Visa multiplikationerna och totalsummorna. Markera tydligt syntetiskt exempel och uteslutna övriga kostnader.</a:t>
            </a:r>
          </a:p>
          <a:p/>
          <a:p>
            <a:r>
              <a:t>opti-04 · Inte minimum i varje kvart</a:t>
            </a:r>
          </a:p>
          <a:p>
            <a:r>
              <a:t>Nu ändrar vi exemplet. Femhundra kilowattimmar används vid fyrtio öre och femhundra vid hundratjugo öre. Hela kvartalternativet kostar åttahundra kronor. Ett jämförbart månadsalternativ på sjuttio öre kostar sjuhundra kronor. Opti väljer sjuhundra. Om vi felaktigt valde fyrtio öre för första gruppen och sjuttio för andra skulle summan bli femhundrafemtio kronor. Men då har vi kombinerat delar från två modeller och skapat ett tredje alternativ. Det är inte produktens regel. Kom ihåg ordningen: räkna hela månaden i varje alternativ, jämför totalerna och välj det lägre månadsutfallet.</a:t>
            </a:r>
          </a:p>
          <a:p>
            <a:r>
              <a:t>På skärmen: Korrekt: min(800; 700) = 700 kr | Kvartvis blandning på 550 kr är en annan modell</a:t>
            </a:r>
          </a:p>
          <a:p>
            <a:r>
              <a:t>Bildidé: Visa hela alternativ som obrutna rutor. En felaktig blandningsruta överkryssas med förklaringen annan beräkningsregel.</a:t>
            </a:r>
          </a:p>
          <a:p/>
          <a:p>
            <a:r>
              <a:t>opti-05 · Ett precist kundlöfte</a:t>
            </a:r>
          </a:p>
          <a:p>
            <a:r>
              <a:t>Opti kan ge nyttan av en gynnsam kvartprofil och använda månadsalternativet när det blir lägre. Men båda alternativen kan stiga. Modellen är därför inget absolut fast pristak och inget löfte om lägst pris bland alla marknadserbjudanden. Fråga efter användningstider, ekonomisk tålighet för variation och planerade förändringar. Kontrollera mätunderlag och aktuell offert. Du kan säga till kunden: efter månaden räknar vi båda avtalade alternativen för samma förbrukning och kostnadsdelar, och du får det lägre för hela månaden. Avsluta genom att låta kunden återberätta när valet görs och varför priset ändå kan förändras. Pröva nu exemplet där kvartarnas priser skiljer sig. Räkna de två hela alternativen innan du väljer. När du förklarar resultatet för kunden ska du kunna visa både varför ett alternativ blev lägre och varför en blandning av billigaste delar skulle vara en annan modell.</a:t>
            </a:r>
          </a:p>
          <a:p>
            <a:r>
              <a:t>På skärmen: Lägre av avtalets två alternativ | Fortsatt marknadsvariation</a:t>
            </a:r>
          </a:p>
          <a:p>
            <a:r>
              <a:t>Bildidé: Visa båda utfallslinjerna stiga samtidigt för att förklara varför ett relativt val inte är ett absolut pristak.</a:t>
            </a:r>
          </a:p>
          <a:p/>
          <a:p>
            <a:r>
              <a:t>KÄLLOR</a:t>
            </a:r>
          </a:p>
          <a:p>
            <a:r>
              <a:t>Produktspecifikationer för säljare · 10 oktober 2026 (31 sidor) · s. 11, 12, 13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Kvartsalternativet räknas från faktisk kvartförbrukning och avtalade priser, summerat för hela månaden. Månadsalternativet använder avtalets vanliga rörliga månadspris på exakt samma faktiska månadsvolym. Efter månaden jämförs hela alternativen med avtalets definierade omfattning och det lägre används.</a:t>
            </a:r>
          </a:p>
          <a:p/>
          <a:p>
            <a:r>
              <a:t>Kunden behöver inte välja vinnaren i förväg, men känner heller ingen fast framtida nivå. Båda alternativen är marknadsberoende. Rita två kompletta månadsrutor med ett enda val mellan dem. Rita inte växelvisa val inne i varje kvart.</a:t>
            </a:r>
          </a:p>
          <a:p/>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Använder kunden 1 000 kWh ska båda alternativen avse dessa 1 000 kWh. Kvartsalternativet vägs med användningstiden; månadsalternativet använder sin nivå på hela volymen. Blanda inte årsprognos med faktisk månadsvolym eller olika månader i jämförelsen.</a:t>
            </a:r>
          </a:p>
          <a:p/>
          <a:p>
            <a:r>
              <a:t>Kostnadsdelarna måste motsvara varandra. Kontrollera inköpsdelar, påslag, avgifter och poster utanför jämförelsen i avtalet. Rent spotutfall är inte direkt jämförbart med ett pris som innehåller fler delar. Utelämna inte komponenter i bara ena alternativet. Håll elnät, skatt och moms separat.</a:t>
            </a:r>
          </a:p>
          <a:p/>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Vissa kvartar kan vara lägre i kvartsalternativet och andra lägre om månadspriset lades på dem. Opti plockar inte ihop de billigaste delarna. Beräkna först varje alternativ för hela månaden. Ett kvartvis minimum skulle skapa en tredje modell.</a:t>
            </a:r>
          </a:p>
          <a:p/>
          <a:p>
            <a:r>
              <a:t>En illustration som alltid väljer den lägsta linjen ger därför fel förväntningar. Visa faktisk kvartvägning till en total, månadspris gånger samma volym till en annan total och därefter månadsvalet. Använd varierande kvartpriser för att synliggöra skillnaden.</a:t>
            </a:r>
          </a:p>
          <a:p/>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En gynnsam egen profil kan göra kvartsalternativet lägre. Om kvartutfallet blir högre används det jämförbara månadsalternativet. Löftet gäller två avtalade alternativ, inte alla konkurrenterbjudanden eller marknadens lägsta pris.</a:t>
            </a:r>
          </a:p>
          <a:p/>
          <a:p>
            <a:r>
              <a:t>Båda alternativen kan stiga. Volym och kostnader utanför jämförelsen påverkar beloppet. Laststyrning behöver analyseras separat: en flytt kan ändra kvartutfallet och vilket alternativ som väljs, men en enskild kvart garanterar inte vinst på hela fakturan. Kundens budgettålighet är fortfarande relevant.</a:t>
            </a:r>
          </a:p>
          <a:p/>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Visa månadsvolymen, kvartalternativets beräkning och avtalets månadsreferens på samma volym. Ange gemensamma kostnadsposter och separata poster tydligt. Då kan kunden se varför utfallet valdes utan en vag formulering om billigast el.</a:t>
            </a:r>
          </a:p>
          <a:p/>
          <a:p>
            <a:r>
              <a:t>Kontrollera kvartsmätvärden, aktuell offert, referens, omfattning, start och kundvillkor. Fråga om användningstider och framtida förändringar. Låt kunden återberätta att valet sker efter hela månaden och att priset kan variera. Förklara skillnaden om kunden väntar sig ett fast pristak.</a:t>
            </a:r>
          </a:p>
          <a:p/>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Syntetiska månadsfall: samma faktiska 10 000 kWh och samma jämförbara kostnadsdelar i båda alternativen. Välj lägre kostnad efter hela månaden. Ingen marknadsövergripande lägstaprisgaranti.</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hel månadsmodell med två aggregerade prisgrupper. Jämförbara kostnadsdelar antas i samtliga priser. Avgifter utanför jämförelsen, elnät, skatt och moms utesluts. Ingen offert eller besparingsprognos.</a:t>
            </a:r>
          </a:p>
          <a:p/>
          <a:p>
            <a:r>
              <a:t>DATA</a:t>
            </a:r>
          </a:p>
          <a:p>
            <a:r>
              <a:t>600 kWh används vid 40 öre/kWh.</a:t>
            </a:r>
          </a:p>
          <a:p>
            <a:r>
              <a:t>400 kWh används vid 110 öre/kWh.</a:t>
            </a:r>
          </a:p>
          <a:p>
            <a:r>
              <a:t>Avtalets antagna jämförbara månadsalternativ är 80 öre/kWh för alla 1 000 kWh.</a:t>
            </a:r>
          </a:p>
          <a:p/>
          <a:p>
            <a:r>
              <a:t>MELLANLED</a:t>
            </a:r>
          </a:p>
          <a:p>
            <a:r>
              <a:t>Kvartsalternativets första del: 600 × 0,40 = 240 kr.</a:t>
            </a:r>
          </a:p>
          <a:p>
            <a:r>
              <a:t>Andra delen: 400 × 1,10 = 440 kr. Total kvartkostnad: 680 kr.</a:t>
            </a:r>
          </a:p>
          <a:p>
            <a:r>
              <a:t>Eget kvartsvägt snitt: 680 / 1 000 = 0,68 kr/kWh = 68 öre/kWh.</a:t>
            </a:r>
          </a:p>
          <a:p>
            <a:r>
              <a:t>Månadsalternativ: 1 000 × 0,80 = 800 kr. Välj min(680; 800) = 680 kr.</a:t>
            </a:r>
          </a:p>
          <a:p/>
          <a:p>
            <a:r>
              <a:t>RESULTAT</a:t>
            </a:r>
          </a:p>
          <a:p>
            <a:r>
              <a:t>Kvartsalternativet väljs för hela månaden: 680 kr inom jämförelsens omfattning.</a:t>
            </a:r>
          </a:p>
          <a:p/>
          <a:p>
            <a:r>
              <a:t>TOLKNING</a:t>
            </a:r>
          </a:p>
          <a:p>
            <a:r>
              <a:t>Skillnaden mot det angivna månadsalternativet är 120 kr i just detta fiktiva utfall. Den säger inget om nästa månad eller andra marknadserbjudanden.</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hel månadsmodell med två aggregerade prisgrupper. Jämförbara kostnadsdelar antas i samtliga priser. Avgifter utanför jämförelsen, elnät, skatt och moms utesluts. Ingen offert eller besparingsprognos.</a:t>
            </a:r>
          </a:p>
          <a:p/>
          <a:p>
            <a:r>
              <a:t>DATA</a:t>
            </a:r>
          </a:p>
          <a:p>
            <a:r>
              <a:t>600 kWh används vid 40 öre/kWh.</a:t>
            </a:r>
          </a:p>
          <a:p>
            <a:r>
              <a:t>400 kWh används vid 110 öre/kWh.</a:t>
            </a:r>
          </a:p>
          <a:p>
            <a:r>
              <a:t>Avtalets antagna jämförbara månadsalternativ är 80 öre/kWh för alla 1 000 kWh.</a:t>
            </a:r>
          </a:p>
          <a:p/>
          <a:p>
            <a:r>
              <a:t>MELLANLED</a:t>
            </a:r>
          </a:p>
          <a:p>
            <a:r>
              <a:t>Kvartsalternativets första del: 600 × 0,40 = 240 kr.</a:t>
            </a:r>
          </a:p>
          <a:p>
            <a:r>
              <a:t>Andra delen: 400 × 1,10 = 440 kr. Total kvartkostnad: 680 kr.</a:t>
            </a:r>
          </a:p>
          <a:p>
            <a:r>
              <a:t>Eget kvartsvägt snitt: 680 / 1 000 = 0,68 kr/kWh = 68 öre/kWh.</a:t>
            </a:r>
          </a:p>
          <a:p>
            <a:r>
              <a:t>Månadsalternativ: 1 000 × 0,80 = 800 kr. Välj min(680; 800) = 680 kr.</a:t>
            </a:r>
          </a:p>
          <a:p/>
          <a:p>
            <a:r>
              <a:t>RESULTAT</a:t>
            </a:r>
          </a:p>
          <a:p>
            <a:r>
              <a:t>Kvartsalternativet väljs för hela månaden: 680 kr inom jämförelsens omfattning.</a:t>
            </a:r>
          </a:p>
          <a:p/>
          <a:p>
            <a:r>
              <a:t>TOLKNING</a:t>
            </a:r>
          </a:p>
          <a:p>
            <a:r>
              <a:t>Skillnaden mot det angivna månadsalternativet är 120 kr i just detta fiktiva utfall. Den säger inget om nästa månad eller andra marknadserbjudanden.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hel månad med samma volym och komponenter i båda alternativen. Två prisgrupper representerar kvartförbrukning. Övriga kostnader och avgifter är uteslutna.</a:t>
            </a:r>
          </a:p>
          <a:p/>
          <a:p>
            <a:r>
              <a:t>DATA</a:t>
            </a:r>
          </a:p>
          <a:p>
            <a:r>
              <a:t>500 kWh används vid 40 öre/kWh och 500 kWh vid 120 öre/kWh.</a:t>
            </a:r>
          </a:p>
          <a:p>
            <a:r>
              <a:t>Antaget månadsalternativ är 70 öre/kWh på alla 1 000 kWh.</a:t>
            </a:r>
          </a:p>
          <a:p/>
          <a:p>
            <a:r>
              <a:t>MELLANLED</a:t>
            </a:r>
          </a:p>
          <a:p>
            <a:r>
              <a:t>Hela kvartsalternativet: 500 × 0,40 + 500 × 1,20 = 200 + 600 = 800 kr.</a:t>
            </a:r>
          </a:p>
          <a:p>
            <a:r>
              <a:t>Hela månadsalternativet: 1 000 × 0,70 = 700 kr.</a:t>
            </a:r>
          </a:p>
          <a:p>
            <a:r>
              <a:t>Opti väljer månadsalternativet: min(800; 700) = 700 kr.</a:t>
            </a:r>
          </a:p>
          <a:p>
            <a:r>
              <a:t>Felaktigt kvartvis val skulle bli 500 × 0,40 + 500 × 0,70 = 550 kr. Det är inte Optis beräkningsregel.</a:t>
            </a:r>
          </a:p>
          <a:p/>
          <a:p>
            <a:r>
              <a:t>RESULTAT</a:t>
            </a:r>
          </a:p>
          <a:p>
            <a:r>
              <a:t>Korrekt jämförelseresultat är 700 kr, inte 550 kr.</a:t>
            </a:r>
          </a:p>
          <a:p/>
          <a:p>
            <a:r>
              <a:t>TOLKNING</a:t>
            </a:r>
          </a:p>
          <a:p>
            <a:r>
              <a:t>Att kombinera de billigaste delarna skapar ett annat alternativ. Först måste hela månaden räknas i respektive modell; sedan görs ett enda val mellan de två totalerna.</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hel månad med samma volym och komponenter i båda alternativen. Två prisgrupper representerar kvartförbrukning. Övriga kostnader och avgifter är uteslutna.</a:t>
            </a:r>
          </a:p>
          <a:p/>
          <a:p>
            <a:r>
              <a:t>DATA</a:t>
            </a:r>
          </a:p>
          <a:p>
            <a:r>
              <a:t>500 kWh används vid 40 öre/kWh och 500 kWh vid 120 öre/kWh.</a:t>
            </a:r>
          </a:p>
          <a:p>
            <a:r>
              <a:t>Antaget månadsalternativ är 70 öre/kWh på alla 1 000 kWh.</a:t>
            </a:r>
          </a:p>
          <a:p/>
          <a:p>
            <a:r>
              <a:t>MELLANLED</a:t>
            </a:r>
          </a:p>
          <a:p>
            <a:r>
              <a:t>Hela kvartsalternativet: 500 × 0,40 + 500 × 1,20 = 200 + 600 = 800 kr.</a:t>
            </a:r>
          </a:p>
          <a:p>
            <a:r>
              <a:t>Hela månadsalternativet: 1 000 × 0,70 = 700 kr.</a:t>
            </a:r>
          </a:p>
          <a:p>
            <a:r>
              <a:t>Opti väljer månadsalternativet: min(800; 700) = 700 kr.</a:t>
            </a:r>
          </a:p>
          <a:p>
            <a:r>
              <a:t>Felaktigt kvartvis val skulle bli 500 × 0,40 + 500 × 0,70 = 550 kr. Det är inte Optis beräkningsregel.</a:t>
            </a:r>
          </a:p>
          <a:p/>
          <a:p>
            <a:r>
              <a:t>RESULTAT</a:t>
            </a:r>
          </a:p>
          <a:p>
            <a:r>
              <a:t>Korrekt jämförelseresultat är 700 kr, inte 550 kr.</a:t>
            </a:r>
          </a:p>
          <a:p/>
          <a:p>
            <a:r>
              <a:t>TOLKNING</a:t>
            </a:r>
          </a:p>
          <a:p>
            <a:r>
              <a:t>Att kombinera de billigaste delarna skapar ett annat alternativ. Först måste hela månaden räknas i respektive modell; sedan görs ett enda val mellan de två totalerna.</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 väljer det billigaste priset i varje kvart.</a:t>
            </a:r>
          </a:p>
          <a:p/>
          <a:p>
            <a:r>
              <a:t>Båda alternativen beräknas för hela månaden. Det lägre månadsutfallet väljs efter månadens slut.</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 ger ett fast pristak i kronor eller öre.</a:t>
            </a:r>
          </a:p>
          <a:p/>
          <a:p>
            <a:r>
              <a:t>Båda jämförda marknadsalternativen kan stiga. Modellen ger ingen absolut fast nivå.</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 är alltid billigast på hela marknaden.</a:t>
            </a:r>
          </a:p>
          <a:p/>
          <a:p>
            <a:r>
              <a:t>Löftet gäller avtalets två jämförbara alternativ. Andra erbjudanden eller komponenter omfattas inte automatiskt.</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 Opti räknar vi efter månaden både ditt eget kvartsvägda utfall och avtalets vanliga rörliga månadsalternativ för samma användning och kostnadsdelar. Du får det lägre av de två för hela månaden. Priset kan fortfarande variera; vi väljer inte minimum i varje kvart och lovar inte ett fast pristak.</a:t>
            </a:r>
          </a:p>
          <a:p/>
          <a:p>
            <a:r>
              <a:t>UTVECKLAD FÖRKLARING</a:t>
            </a:r>
          </a:p>
          <a:p>
            <a:r>
              <a:t>Vi börjar med hur du faktiskt använder el i varje kvart och räknar ihop månaden. Sedan beräknar vi avtalets månadsalternativ för samma faktiska månadsvolym. Jämförelsen görs med samma definierade komponenter. Det ger möjlighet att få nyttan av en gynnsam kvartprofil och använda månadsalternativet om det blir lägre. Båda alternativen följer marknaden, och avgifter eller andra elkostnader utanför jämförelsen behöver redovisas separat.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kunden Noor har 1 000 kWh i månadsvolym: 500 kWh vid 40 öre och 500 vid 120 öre. Det jämförbara månadsalternativet är 70 öre. Alla priser i fallet omfattar samma avgränsade delar och inga andra kostnader ingår. Noor har räknat 550 kr genom att välja kvartpris för första gruppen och månadspris för andra. Hon säger dessutom att Opti därför måste skydda henne mot alla höga elpriser.</a:t>
            </a:r>
          </a:p>
          <a:p/>
          <a:p>
            <a:r>
              <a:t>UPPGIFTER</a:t>
            </a:r>
          </a:p>
          <a:p>
            <a:r>
              <a:t>Beräkna de två korrekta hela månadsalternativen.</a:t>
            </a:r>
          </a:p>
          <a:p>
            <a:r>
              <a:t>Förklara skillnaden mot Noors 550 kr utan att bara säga att hennes svar är fel.</a:t>
            </a:r>
          </a:p>
          <a:p>
            <a:r>
              <a:t>Skriv ett korrekt kundlöfte och ange fortsatt risk.</a:t>
            </a:r>
          </a:p>
          <a:p/>
          <a:p>
            <a:r>
              <a:t>MODELLSVAR</a:t>
            </a:r>
          </a:p>
          <a:p>
            <a:r>
              <a:t>Kvartsalternativet kostar 800 kr och månadsalternativet 700 kr. Opti väljer 700 kr för hela månaden. Noors beräkning kombinerar delar av två modeller och skapar ett tredje alternativ som inte ingår i produktregeln. Förklara detta med två kompletta månadsrutor. Kundlöftet är det lägre av avtalets två alternativ för samma volym, period och komponenter. Båda alternativen kan bli höga, och större användning kan öka beloppet. Elnät, skatt, moms och eventuella poster utanför jämförelsen behöver hanteras separat. Det finns inget absolut fast pristak i denna regel.</a:t>
            </a:r>
          </a:p>
          <a:p/>
          <a:p>
            <a:r>
              <a:t>BEDÖMNINGSSTÖD</a:t>
            </a:r>
          </a:p>
          <a:p>
            <a:r>
              <a:t>Räknar hela alternativen till 800 och 700 kr.</a:t>
            </a:r>
          </a:p>
          <a:p>
            <a:r>
              <a:t>Förklarar varför 550 kr är en annan beräkningsmodell.</a:t>
            </a:r>
          </a:p>
          <a:p>
            <a:r>
              <a:t>Nämner samma volym, månad och komponenter.</a:t>
            </a:r>
          </a:p>
          <a:p>
            <a:r>
              <a:t>Beskriver fortsatt marknadsrisk och avstår från universellt billigast-löfte.</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kunden Noor har 1 000 kWh i månadsvolym: 500 kWh vid 40 öre och 500 vid 120 öre. Det jämförbara månadsalternativet är 70 öre. Alla priser i fallet omfattar samma avgränsade delar och inga andra kostnader ingår. Noor har räknat 550 kr genom att välja kvartpris för första gruppen och månadspris för andra. Hon säger dessutom att Opti därför måste skydda henne mot alla höga elpriser.</a:t>
            </a:r>
          </a:p>
          <a:p/>
          <a:p>
            <a:r>
              <a:t>UPPGIFTER</a:t>
            </a:r>
          </a:p>
          <a:p>
            <a:r>
              <a:t>Beräkna de två korrekta hela månadsalternativen.</a:t>
            </a:r>
          </a:p>
          <a:p>
            <a:r>
              <a:t>Förklara skillnaden mot Noors 550 kr utan att bara säga att hennes svar är fel.</a:t>
            </a:r>
          </a:p>
          <a:p>
            <a:r>
              <a:t>Skriv ett korrekt kundlöfte och ange fortsatt risk.</a:t>
            </a:r>
          </a:p>
          <a:p/>
          <a:p>
            <a:r>
              <a:t>MODELLSVAR</a:t>
            </a:r>
          </a:p>
          <a:p>
            <a:r>
              <a:t>Kvartsalternativet kostar 800 kr och månadsalternativet 700 kr. Opti väljer 700 kr för hela månaden. Noors beräkning kombinerar delar av två modeller och skapar ett tredje alternativ som inte ingår i produktregeln. Förklara detta med två kompletta månadsrutor. Kundlöftet är det lägre av avtalets två alternativ för samma volym, period och komponenter. Båda alternativen kan bli höga, och större användning kan öka beloppet. Elnät, skatt, moms och eventuella poster utanför jämförelsen behöver hanteras separat. Det finns inget absolut fast pristak i denna regel.</a:t>
            </a:r>
          </a:p>
          <a:p/>
          <a:p>
            <a:r>
              <a:t>BEDÖMNINGSSTÖD</a:t>
            </a:r>
          </a:p>
          <a:p>
            <a:r>
              <a:t>Räknar hela alternativen till 800 och 700 kr.</a:t>
            </a:r>
          </a:p>
          <a:p>
            <a:r>
              <a:t>Förklarar varför 550 kr är en annan beräkningsmodell.</a:t>
            </a:r>
          </a:p>
          <a:p>
            <a:r>
              <a:t>Nämner samma volym, månad och komponenter.</a:t>
            </a:r>
          </a:p>
          <a:p>
            <a:r>
              <a:t>Beskriver fortsatt marknadsrisk och avstår från universellt billigast-löfte.</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När gör Opti valet mellan alternativen i den beskrivna modellen?</a:t>
            </a:r>
          </a:p>
          <a:p/>
          <a:p>
            <a:r>
              <a:t>FACIT</a:t>
            </a:r>
          </a:p>
          <a:p>
            <a:r>
              <a:t>Rätt alternativ: C. Efter hela månaden, mellan två jämförbara månadsutfall. Förklaring: Faktisk kvartförbrukning och det avtalade månadsalternativet räknas för samma hela månad innan det lägre väljs.</a:t>
            </a:r>
          </a:p>
          <a:p/>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Syntetiskt exempel med samma komponenter och 2 000 kWh: kvartsvägt utfall 110 öre/kWh och månadsalternativ 90 öre/kWh. Övriga kostnader utesluts. Vad väljs i kronor?</a:t>
            </a:r>
          </a:p>
          <a:p/>
          <a:p>
            <a:r>
              <a:t>FACIT</a:t>
            </a:r>
          </a:p>
          <a:p>
            <a:r>
              <a:t>Svar: 1800 kr. Kvartsalternativet är 2 200 kr, månadsalternativet 1 800 kr. Det lägre hela månadsutfallet är 1 800 kr.</a:t>
            </a:r>
          </a:p>
          <a:p/>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säger att Opti alltid är billigast på marknaden och aldrig kan bli dyrt. Formulera en korrekt förklaring.</a:t>
            </a:r>
          </a:p>
          <a:p/>
          <a:p>
            <a:r>
              <a:t>FACIT</a:t>
            </a:r>
          </a:p>
          <a:p>
            <a:r>
              <a:t>Opti väljer det lägre av avtalets två jämförbara hela månadsalternativ. Båda kan stiga; andra marknadserbjudanden ingår inte automatiskt. Volym och övriga kostnader påverkar beloppet.</a:t>
            </a:r>
          </a:p>
          <a:p/>
          <a:p>
            <a:r>
              <a:t>Avgränsar löftet till två avtalade alternativ.</a:t>
            </a:r>
          </a:p>
          <a:p>
            <a:r>
              <a:t>Anger hela månaden och jämförbar omfattning.</a:t>
            </a:r>
          </a:p>
          <a:p>
            <a:r>
              <a:t>Förklarar fortsatt prisrisk utan fast pristak.</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kontroll är nödvändig innan de två beloppen jämförs?</a:t>
            </a:r>
          </a:p>
          <a:p/>
          <a:p>
            <a:r>
              <a:t>FACIT</a:t>
            </a:r>
          </a:p>
          <a:p>
            <a:r>
              <a:t>Rätt alternativ: A. Samma faktiska volym, hela månad och kostnadsdelar. Förklaring: Olika volym, period eller komponenter gör jämförelsen missvisande och beskriver inte produktregeln.</a:t>
            </a:r>
          </a:p>
          <a:p/>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Räkna två kompletta månadsalternativ innan du väljer.</a:t>
            </a:r>
          </a:p>
          <a:p>
            <a:r>
              <a:t>Använd samma faktiska volym, månad och komponenter.</a:t>
            </a:r>
          </a:p>
          <a:p>
            <a:r>
              <a:t>Visa egen kvartvägning och avtalad månadsreferens öppet.</a:t>
            </a:r>
          </a:p>
          <a:p>
            <a:r>
              <a:t>Välj aldrig en blandning av lägsta pris i varje kvart.</a:t>
            </a:r>
          </a:p>
          <a:p>
            <a:r>
              <a:t>Beskriv fortsatt marknadsvariation och andra kostnader.</a:t>
            </a:r>
          </a:p>
          <a:p>
            <a:r>
              <a:t>Lova det lägre av två definierade alternativ, inte marknadens lägsta pris.</a:t>
            </a:r>
          </a:p>
          <a:p/>
          <a:p>
            <a:r>
              <a:t>KÄLLOR</a:t>
            </a:r>
          </a:p>
          <a:p>
            <a:r>
              <a:t>Produktspecifikationer för säljare · 10 oktober 2026 (31 sidor) · s. 11, 12, 13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Vintersäkrat kombinerar fast elhandelspris oktober–mars med Kvartspris april–september som standard. Andra perioder kräver uttryckligt avtal. Här lär du dig läsa kalendern, förstå hela vinteromfattningen och räkna på året med köpta volymer och fortsatt sommarvariation.</a:t>
            </a:r>
          </a:p>
          <a:p/>
          <a:p>
            <a:r>
              <a:t>LÄRANDEMÅL</a:t>
            </a:r>
          </a:p>
          <a:p>
            <a:r>
              <a:t>Beskriva standardkalendern och skilja leveransperiod från fakturadatum.</a:t>
            </a:r>
          </a:p>
          <a:p>
            <a:r>
              <a:t>Förklara att hela vinterdelens elhandelspris, även dygnsprofilen, är fast enligt produktdefinitionen.</a:t>
            </a:r>
          </a:p>
          <a:p>
            <a:r>
              <a:t>Beräkna en volymvägd årskostnad med två olika sommarutfall.</a:t>
            </a:r>
          </a:p>
          <a:p>
            <a:r>
              <a:t>Bedöma kundens köpta årsprofil och kvarvarande risk utan att lova ett fast årsbelopp.</a:t>
            </a:r>
          </a:p>
          <a:p/>
          <a:p>
            <a:r>
              <a:t>KANONISKT BERÄTTARMANUS</a:t>
            </a:r>
          </a:p>
          <a:p>
            <a:r>
              <a:t>vintersakrat-01 · Två delar av året</a:t>
            </a:r>
          </a:p>
          <a:p>
            <a:r>
              <a:t>Vintersäkrat använder två prismodeller under olika delar av året. Standard är fast elhandelspris oktober till mars och Kvartspris april till september. Perioderna kan ändras genom uttryckligt avtal, så den faktiska kalendern måste vara tydlig i erbjudandet. Det är leveransperioden som styr modellen. En faktura som skickas i april kan avse marsleverans och då höra till den fasta vinterdelen. Rita därför gärna året som tolv månader med två tydliga delar. Produkten är inte ett efterhandsval av billigaste modell, utan en säsongsfördelning som kunden avtalar om i förväg. Kalendern är en del av kundens förståelse.</a:t>
            </a:r>
          </a:p>
          <a:p>
            <a:r>
              <a:t>På skärmen: Standard: oktober–mars fast | April–september kvart | Leveransperioden styr</a:t>
            </a:r>
          </a:p>
          <a:p>
            <a:r>
              <a:t>Bildidé: Tolv månadsrutor färgas efter modell. En aprilfaktura pekar tillbaka på marsleverans.</a:t>
            </a:r>
          </a:p>
          <a:p/>
          <a:p>
            <a:r>
              <a:t>vintersakrat-02 · Vad är fast på vintern?</a:t>
            </a:r>
          </a:p>
          <a:p>
            <a:r>
              <a:t>Under den avtalade vinterperioden är alla elhandelsdelar fasta enligt produktpreciseringen, även dygnsprofilen. Förklara därför inte vinterdelen som enbart systempris och elområdesskillnad med separat rörlig dygnsprofil. Läs den aktuella offertens hela omfattning och avgifter. Elnät, energiskatt och moms säkras inte av denna modell. Dessutom påverkar mängden el fortfarande beloppet. Om kunden använder fler kilowattimmar blir den volymbaserade kostnaden större trots samma fasta enhetspris. Och om marknaden faller under vintern ändras det avtalade vinterpriset inte automatiskt. Kunden får förutsägbarhet på den avtalade delen med denna tydliga avvägning.</a:t>
            </a:r>
          </a:p>
          <a:p>
            <a:r>
              <a:t>På skärmen: Hela vinterdelens elhandelspris är fast | Dygnsprofilen ingår | Volymen påverkar beloppet</a:t>
            </a:r>
          </a:p>
          <a:p>
            <a:r>
              <a:t>Bildidé: Visa vinterdelens komponenter låsta tillsammans. Volymstapeln kan ändå öka och nät/skatt/moms ligger separat.</a:t>
            </a:r>
          </a:p>
          <a:p/>
          <a:p>
            <a:r>
              <a:t>vintersakrat-03 · Sommaren följer kvartutfallet</a:t>
            </a:r>
          </a:p>
          <a:p>
            <a:r>
              <a:t>På sommaren gäller kundens egen kvartvägning. Vi kopplar varje kvarts användning till kvartens pris och räknar ihop kostnaden. Då påverkar både marknaden och när kunden använder el. Möjlig styrning behöver bedömas mot komfort, drift och nätets effektvillkor. Ordet sommar garanterar inte låga priser. Kunden behöver acceptera att höga kvartpriser kan förekomma även under denna del av året. Vinterdelens fasta profil gör inte sommaren profilfri. Den som vill känna hela årets elhandelspris i förväg behöver förstå att Vintersäkrats standardmodell lämnar sommarens marknadsexponering kvar. Det är en central del av beslutet, inte en detalj i slutet.</a:t>
            </a:r>
          </a:p>
          <a:p>
            <a:r>
              <a:t>På skärmen: Sommar: egen kvartprofil och marknadsvariation | Ingen garanti för låga sommarpriser</a:t>
            </a:r>
          </a:p>
          <a:p>
            <a:r>
              <a:t>Bildidé: Visa en sommardygnskurva och kundens last. Båda kan påverka kostnadsytan.</a:t>
            </a:r>
          </a:p>
          <a:p/>
          <a:p>
            <a:r>
              <a:t>vintersakrat-04 · Räkna året i scenarier</a:t>
            </a:r>
          </a:p>
          <a:p>
            <a:r>
              <a:t>Vi använder fiktiva jämförbara elhandelspriser före andra elkostnader. Sextiotusen kilowattimmar vinter till nittio öre kostar femtiofyratusen kronor. Fyrtiotusen kilowattimmar sommar till sextio öre kostar tjugofyratusen. Året blir sjuttioåttatusen kronor, alltså sjuttioåtta öre i vägt snitt. Om sommarens kvartsvägda utfall i stället är hundratjugo öre blir sommardelen fyrtioåttatusen kronor. Året blir då hundratvåtusen, eller hundratvå öre i snitt. Vinterpriset är samma i båda scenarierna. Skillnaden visar att den fasta vinterdelen inte gör årskostnaden fast. Vi behöver volymväga delarna och beskriva scenarierna utan att kalla dem prognoser.</a:t>
            </a:r>
          </a:p>
          <a:p>
            <a:r>
              <a:t>På skärmen: År A: 78 000 kr | År B: 102 000 kr | Samma vinterpris, olika sommarutfall</a:t>
            </a:r>
          </a:p>
          <a:p>
            <a:r>
              <a:t>Bildidé: En oförändrad vinterstapel kombineras med två alternativa sommarstaplar. Alla belopp märks som syntetiska.</a:t>
            </a:r>
          </a:p>
          <a:p/>
          <a:p>
            <a:r>
              <a:t>vintersakrat-05 · Utgå från köpt el och kundens behov</a:t>
            </a:r>
          </a:p>
          <a:p>
            <a:r>
              <a:t>Bedöm hur kundens köpta el fördelas över året. Solceller kan minska sommarinköpen, men bruttoanvändning, egenanvänd produktion och export är olika flöden. Färre billiga sommarkilowattimmar kan till och med höja snittet på den köpta energin samtidigt som totalbeloppet sjunker. Titta därför på både volym och kronor. Fråga vilken period kunden vill göra mer förutsägbar och vilken sommarvariation som accepteras. Kontrollera sedan kalender, full vinteromfattning, sommarmodell, mätkrav, avgifter och aktuella kundvillkor. Be kunden återberätta skillnaden mellan fast vinterpris och ett fast årsbelopp. Då vet du att säsongsmodellens nytta och risk har blivit begripliga. I kundfallet får du undersöka solceller och den köpta årsprofilen. Kontrollera att du kan beskriva både kvarvarande sommarvariation och skillnaden mellan totalbelopp och förbrukningsvägt snitt.</a:t>
            </a:r>
          </a:p>
          <a:p>
            <a:r>
              <a:t>På skärmen: Köpt el per period | Belopp och snitt kan röra sig olika | Kundens prioritering styr</a:t>
            </a:r>
          </a:p>
          <a:p>
            <a:r>
              <a:t>Bildidé: Visa köpt vinter- och sommarvolym separat från solel och export, följt av budgetdialogen.</a:t>
            </a:r>
          </a:p>
          <a:p/>
          <a:p>
            <a:r>
              <a:t>KÄLLOR</a:t>
            </a:r>
          </a:p>
          <a:p>
            <a:r>
              <a:t>Produktspecifikationer för säljare · 10 oktober 2026 (31 sidor) · s. 14, 15, 16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Standard är fast elhandelspris oktober–mars och Kvartspris april–september. Leveransperioden styr, inte fakturans datum. En aprilfaktura kan avse marsleverans med den avtalade fasta vintermodellen. Kontrollera därför vilken förbrukningsperiod prisraden gäller.</a:t>
            </a:r>
          </a:p>
          <a:p/>
          <a:p>
            <a:r>
              <a:t>Andra perioder kräver uttryckligt avtal. Standarden ger inte rätt att ändra månader på eget initiativ. Visa kalendern tydligt för kunden, gärna som tolv månader med två prisdelar. Modellen är en avtalad säsongsfördelning, inte ett löpande val av billigaste pris.</a:t>
            </a:r>
          </a:p>
          <a:p/>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Alla vinterdelens elhandelsdelar är fasta enligt produktpreciseringen, även dygnsprofilen. Förklara därför inte vintern som enbart SYS/EPAD med separat rörlig dygnsprofil. Kontrollera offertens hela omfattning och avgifter.</a:t>
            </a:r>
          </a:p>
          <a:p/>
          <a:p>
            <a:r>
              <a:t>Elnät, energiskatt och moms säkras inte. Mer köpt energi ger större volymbaserad vinterkostnad trots samma enhetspris. En kall period eller ändrad drift kan öka beloppet. Ett marknadsfall ändrar inte automatiskt det avtalade vinterpriset; förutsägbarheten har denna avvägning.</a:t>
            </a:r>
          </a:p>
          <a:p/>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Under sommarperioden kopplas faktisk kvartförbrukning till kvartens pris enligt avtalet. Både marknad och användningstid påverkar utfallet. Bedöm lastflytt mot drift, komfort och nätets effektvillkor. Vinterdelens fasta dygnsprofil gör inte sommardelen profilfri.</a:t>
            </a:r>
          </a:p>
          <a:p/>
          <a:p>
            <a:r>
              <a:t>Sommar garanterar inte låga priser. Kunden behöver acceptera fortsatt kvartsexponering under dessa månader. Ett känt elhandelspris hela året är ett annat behov än standardmodellen. Vintersäkrat skiljer sig också från Optis efterhandsval mellan två hela månadsalternativ.</a:t>
            </a:r>
          </a:p>
          <a:p/>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Utgå från köpt nätel under varje avtalsdel. Årsvolym ensam räcker inte; stor vintervolym och stor sommarvolym ger olika exponering. Beräkna varje dels jämförbara kostnad, summera och dividera med motsvarande totalvolym för årssnittet.</a:t>
            </a:r>
          </a:p>
          <a:p/>
          <a:p>
            <a:r>
              <a:t>Håll bruttoanvändning, egenanvänd solel och export isär. Solceller kan minska köpt sommarvolym och ändra vikterna i snittet. Rekommendationen kräver data om inköpt el, inte ett antagande att solceller eller en viss bransch automatiskt gör produkten rätt.</a:t>
            </a:r>
          </a:p>
          <a:p/>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Fråga vilka månader kunden prioriterar förutsägbarhet och hur stor sommarvariation som accepteras. Granska historik och planerade solceller, laddning, maskiner eller ändrade öppettider. Visa årskalkylen som scenario, inte utlovat årsbelopp.</a:t>
            </a:r>
          </a:p>
          <a:p/>
          <a:p>
            <a:r>
              <a:t>Kontrollera kalender, fast vinteromfattning inklusive dygnsprofil, sommaravräkning, mätkrav, priser, avgifter och start. Läs faktiska volym-, ändrings- och avslutsvillkor utan generella antaganden. Låt kunden förklara modell per period och varför fast vinterpris fortfarande kan ge olika månadsbelopp.</a:t>
            </a:r>
          </a:p>
          <a:p/>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Visad standardkalender: oktober–mars fast elhandel, inklusive dygnsprofil; april–september kvartspris. Kalender kan anpassas uttryckligen i avtal. Elnät, energiskatt och moms säkras inte.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jämförbara elhandelspriser före elnät, skatt och moms. Vinterpriset antas omfatta hela den definierade vinterdelen inklusive dygnsprofil. Sommarpriserna är två fiktiva kvartsvägda periodutfall med motsvarande komponentomfattning. Inga separata avgifter ingår.</a:t>
            </a:r>
          </a:p>
          <a:p/>
          <a:p>
            <a:r>
              <a:t>DATA</a:t>
            </a:r>
          </a:p>
          <a:p>
            <a:r>
              <a:t>Vinterköp: 60 000 kWh till 90 öre/kWh.</a:t>
            </a:r>
          </a:p>
          <a:p>
            <a:r>
              <a:t>Sommarköp: 40 000 kWh.</a:t>
            </a:r>
          </a:p>
          <a:p>
            <a:r>
              <a:t>Sommarutfall A: 60 öre/kWh. Sommarutfall B: 120 öre/kWh.</a:t>
            </a:r>
          </a:p>
          <a:p/>
          <a:p>
            <a:r>
              <a:t>MELLANLED</a:t>
            </a:r>
          </a:p>
          <a:p>
            <a:r>
              <a:t>Vinterkostnad: 60 000 × 0,90 = 54 000 kr i båda scenarierna.</a:t>
            </a:r>
          </a:p>
          <a:p>
            <a:r>
              <a:t>Sommar A: 40 000 × 0,60 = 24 000 kr. År A: 54 000 + 24 000 = 78 000 kr.</a:t>
            </a:r>
          </a:p>
          <a:p>
            <a:r>
              <a:t>Årssnitt A: 78 000 / 100 000 = 0,78 kr/kWh = 78 öre/kWh.</a:t>
            </a:r>
          </a:p>
          <a:p>
            <a:r>
              <a:t>Sommar B: 40 000 × 1,20 = 48 000 kr. År B: 54 000 + 48 000 = 102 000 kr.</a:t>
            </a:r>
          </a:p>
          <a:p>
            <a:r>
              <a:t>Årssnitt B: 102 000 / 100 000 = 1,02 kr/kWh = 102 öre/kWh.</a:t>
            </a:r>
          </a:p>
          <a:p/>
          <a:p>
            <a:r>
              <a:t>RESULTAT</a:t>
            </a:r>
          </a:p>
          <a:p>
            <a:r>
              <a:t>Årskostnaden blir 78 000 eller 102 000 kr trots samma fasta vinterpris.</a:t>
            </a:r>
          </a:p>
          <a:p/>
          <a:p>
            <a:r>
              <a:t>TOLKNING</a:t>
            </a:r>
          </a:p>
          <a:p>
            <a:r>
              <a:t>Sommarens marknadsutfall förändrar året. Skillnaden är 24 000 kr i denna avgränsade kalkyl. Den fasta vinterdelen gör inte hela året eller hela elräkningen fast.</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jämförbara elhandelspriser före elnät, skatt och moms. Vinterpriset antas omfatta hela den definierade vinterdelen inklusive dygnsprofil. Sommarpriserna är två fiktiva kvartsvägda periodutfall med motsvarande komponentomfattning. Inga separata avgifter ingår.</a:t>
            </a:r>
          </a:p>
          <a:p/>
          <a:p>
            <a:r>
              <a:t>DATA</a:t>
            </a:r>
          </a:p>
          <a:p>
            <a:r>
              <a:t>Vinterköp: 60 000 kWh till 90 öre/kWh.</a:t>
            </a:r>
          </a:p>
          <a:p>
            <a:r>
              <a:t>Sommarköp: 40 000 kWh.</a:t>
            </a:r>
          </a:p>
          <a:p>
            <a:r>
              <a:t>Sommarutfall A: 60 öre/kWh. Sommarutfall B: 120 öre/kWh.</a:t>
            </a:r>
          </a:p>
          <a:p/>
          <a:p>
            <a:r>
              <a:t>MELLANLED</a:t>
            </a:r>
          </a:p>
          <a:p>
            <a:r>
              <a:t>Vinterkostnad: 60 000 × 0,90 = 54 000 kr i båda scenarierna.</a:t>
            </a:r>
          </a:p>
          <a:p>
            <a:r>
              <a:t>Sommar A: 40 000 × 0,60 = 24 000 kr. År A: 54 000 + 24 000 = 78 000 kr.</a:t>
            </a:r>
          </a:p>
          <a:p>
            <a:r>
              <a:t>Årssnitt A: 78 000 / 100 000 = 0,78 kr/kWh = 78 öre/kWh.</a:t>
            </a:r>
          </a:p>
          <a:p>
            <a:r>
              <a:t>Sommar B: 40 000 × 1,20 = 48 000 kr. År B: 54 000 + 48 000 = 102 000 kr.</a:t>
            </a:r>
          </a:p>
          <a:p>
            <a:r>
              <a:t>Årssnitt B: 102 000 / 100 000 = 1,02 kr/kWh = 102 öre/kWh.</a:t>
            </a:r>
          </a:p>
          <a:p/>
          <a:p>
            <a:r>
              <a:t>RESULTAT</a:t>
            </a:r>
          </a:p>
          <a:p>
            <a:r>
              <a:t>Årskostnaden blir 78 000 eller 102 000 kr trots samma fasta vinterpris.</a:t>
            </a:r>
          </a:p>
          <a:p/>
          <a:p>
            <a:r>
              <a:t>TOLKNING</a:t>
            </a:r>
          </a:p>
          <a:p>
            <a:r>
              <a:t>Sommarens marknadsutfall förändrar året. Skillnaden är 24 000 kr i denna avgränsade kalkyl. Den fasta vinterdelen gör inte hela året eller hela elräkningen fast.</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med jämförbart vinterpris 90 öre och sommarutfall 60 öre/kWh. Elnät, skatt, moms och separata avgifter utesluts. Det alternativa inköpsmönstret är ett pedagogiskt scenario, inte en generell solcellsbesparing.</a:t>
            </a:r>
          </a:p>
          <a:p/>
          <a:p>
            <a:r>
              <a:t>DATA</a:t>
            </a:r>
          </a:p>
          <a:p>
            <a:r>
              <a:t>Utgångsläge: 12 000 kWh vinter och 8 000 kWh sommar.</a:t>
            </a:r>
          </a:p>
          <a:p>
            <a:r>
              <a:t>Alternativt köpt mönster: 12 000 kWh vinter och 2 000 kWh sommar.</a:t>
            </a:r>
          </a:p>
          <a:p/>
          <a:p>
            <a:r>
              <a:t>MELLANLED</a:t>
            </a:r>
          </a:p>
          <a:p>
            <a:r>
              <a:t>Utgångsläge: 12 000 × 0,90 + 8 000 × 0,60 = 10 800 + 4 800 = 15 600 kr.</a:t>
            </a:r>
          </a:p>
          <a:p>
            <a:r>
              <a:t>Utgångssnitt: 15 600 / 20 000 × 100 = 78 öre/kWh.</a:t>
            </a:r>
          </a:p>
          <a:p>
            <a:r>
              <a:t>Alternativ: 12 000 × 0,90 + 2 000 × 0,60 = 10 800 + 1 200 = 12 000 kr.</a:t>
            </a:r>
          </a:p>
          <a:p>
            <a:r>
              <a:t>Alternativt snitt: 12 000 / 14 000 × 100 ≈ 85,71 öre/kWh.</a:t>
            </a:r>
          </a:p>
          <a:p/>
          <a:p>
            <a:r>
              <a:t>RESULTAT</a:t>
            </a:r>
          </a:p>
          <a:p>
            <a:r>
              <a:t>Kostnaden minskar från 15 600 till 12 000 kr, medan snittet på den köpta energin ökar från 78 till cirka 85,71 öre/kWh.</a:t>
            </a:r>
          </a:p>
          <a:p/>
          <a:p>
            <a:r>
              <a:t>TOLKNING</a:t>
            </a:r>
          </a:p>
          <a:p>
            <a:r>
              <a:t>Färre billiga sommarkWh gör vintern tyngre i snittet. Ett högre vägt snitt kan alltså sammanfalla med ett lägre totalbelopp. Jämför både volym, kostnad och komponentomfattning innan du drar slutsatser.</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med jämförbart vinterpris 90 öre och sommarutfall 60 öre/kWh. Elnät, skatt, moms och separata avgifter utesluts. Det alternativa inköpsmönstret är ett pedagogiskt scenario, inte en generell solcellsbesparing.</a:t>
            </a:r>
          </a:p>
          <a:p/>
          <a:p>
            <a:r>
              <a:t>DATA</a:t>
            </a:r>
          </a:p>
          <a:p>
            <a:r>
              <a:t>Utgångsläge: 12 000 kWh vinter och 8 000 kWh sommar.</a:t>
            </a:r>
          </a:p>
          <a:p>
            <a:r>
              <a:t>Alternativt köpt mönster: 12 000 kWh vinter och 2 000 kWh sommar.</a:t>
            </a:r>
          </a:p>
          <a:p/>
          <a:p>
            <a:r>
              <a:t>MELLANLED</a:t>
            </a:r>
          </a:p>
          <a:p>
            <a:r>
              <a:t>Utgångsläge: 12 000 × 0,90 + 8 000 × 0,60 = 10 800 + 4 800 = 15 600 kr.</a:t>
            </a:r>
          </a:p>
          <a:p>
            <a:r>
              <a:t>Utgångssnitt: 15 600 / 20 000 × 100 = 78 öre/kWh.</a:t>
            </a:r>
          </a:p>
          <a:p>
            <a:r>
              <a:t>Alternativ: 12 000 × 0,90 + 2 000 × 0,60 = 10 800 + 1 200 = 12 000 kr.</a:t>
            </a:r>
          </a:p>
          <a:p>
            <a:r>
              <a:t>Alternativt snitt: 12 000 / 14 000 × 100 ≈ 85,71 öre/kWh.</a:t>
            </a:r>
          </a:p>
          <a:p/>
          <a:p>
            <a:r>
              <a:t>RESULTAT</a:t>
            </a:r>
          </a:p>
          <a:p>
            <a:r>
              <a:t>Kostnaden minskar från 15 600 till 12 000 kr, medan snittet på den köpta energin ökar från 78 till cirka 85,71 öre/kWh.</a:t>
            </a:r>
          </a:p>
          <a:p/>
          <a:p>
            <a:r>
              <a:t>TOLKNING</a:t>
            </a:r>
          </a:p>
          <a:p>
            <a:r>
              <a:t>Färre billiga sommarkWh gör vintern tyngre i snittet. Ett högre vägt snitt kan alltså sammanfalla med ett lägre totalbelopp. Jämför både volym, kostnad och komponentomfattning innan du drar slutsatser.</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Vintersäkrat innebär samma elpris eller belopp hela året.</a:t>
            </a:r>
          </a:p>
          <a:p/>
          <a:p>
            <a:r>
              <a:t>Standardmodellen har fast vinterdel och kvartsvägd sommardel. Volymen påverkar beloppet i båda delarna.</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Dygnsprofilen ligger alltid utanför även på vintern.</a:t>
            </a:r>
          </a:p>
          <a:p/>
          <a:p>
            <a:r>
              <a:t>Produktpreciseringen anger att hela vinterdelens elhandelspris, inklusive dygnsprofilen, är fast. Skilj denna modell från enbart SYS/EPAD-säkring.</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faktura i april måste använda sommarens pris.</a:t>
            </a:r>
          </a:p>
          <a:p/>
          <a:p>
            <a:r>
              <a:t>Det är avtalad leveransperiod för förbrukningen som styr modellen. Kontrollera datumen på fakturan.</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Vintersäkrat väljer det billigaste efter varje månad.</a:t>
            </a:r>
          </a:p>
          <a:p/>
          <a:p>
            <a:r>
              <a:t>Det är en avtalad säsongsmodell. Optis efterhandsjämförelse mellan två månadsalternativ är en annan produktprincip.</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Vintersäkrat har normalt fast elhandelspris oktober–mars, inklusive dygnsprofilen, och Kvartspris april–september. Andra månader behöver vara uttryckligen avtalade. Du får en mer förutsägbar vinterdel, men sommarpriset och mängden el påverkar årskostnaden. Elnät, skatt och moms omfattas inte av säkringen.</a:t>
            </a:r>
          </a:p>
          <a:p/>
          <a:p>
            <a:r>
              <a:t>UTVECKLAD FÖRKLARING</a:t>
            </a:r>
          </a:p>
          <a:p>
            <a:r>
              <a:t>Vi analyserar din köpta årsprofil och önskad förutsägbarhet. Vinterdelen är fast enligt avtalet; sommaren följer egen användning och kvartpriser. Flera sommarutfall visar risken. Kalender, avgifter och förändringsvillkor kontrolleras i erbjudandet. Det är inte ett fast årsbelopp eller löpande val av billigaste pris.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Maja köper mest el på vintern och planerar solceller. Hon vill ha förutsägbar vinterdel men accepterar sommarvariation. Hon tror att mindre sommarinköp alltid sänker årssnittet och att en aprilfaktura måste använda Kvartspris. Du saknar framtida månadsfördelning.</a:t>
            </a:r>
          </a:p>
          <a:p/>
          <a:p>
            <a:r>
              <a:t>UPPGIFTER</a:t>
            </a:r>
          </a:p>
          <a:p>
            <a:r>
              <a:t>Ange vilket förbrukningsunderlag du behöver.</a:t>
            </a:r>
          </a:p>
          <a:p>
            <a:r>
              <a:t>Förklara hur lägre sommarvolym kan påverka både belopp och vägt snitt.</a:t>
            </a:r>
          </a:p>
          <a:p>
            <a:r>
              <a:t>Beskriv kalenderregeln och vinterdelens omfattning.</a:t>
            </a:r>
          </a:p>
          <a:p>
            <a:r>
              <a:t>Skriv vad du kontrollerar innan rekommendation.</a:t>
            </a:r>
          </a:p>
          <a:p/>
          <a:p>
            <a:r>
              <a:t>MODELLSVAR</a:t>
            </a:r>
          </a:p>
          <a:p>
            <a:r>
              <a:t>Be om köpt månadsvolym från nätet och en bedömning av framtida egenanvänd produktion, export och inköp. Dessa flöden hålls isär. Om färre relativt billiga sommarkWh köps kan totalbeloppet minska samtidigt som den dyrare vinterdelen får större vikt i det köpta årssnittet. Kontrollera därför både kWh, kronor och snitt. Standard är oktober–mars fast elhandelspris inklusive dygnsprofil och april–september Kvartspris, om inget annat uttryckligen avtalats. Fakturadatum ensamt avgör inte modellen; läs leveransperioden. Granska full prisomfattning, avgifter, mätkrav och förändringsvillkor samt Majas tålighet för sommarens kvartsrisk.</a:t>
            </a:r>
          </a:p>
          <a:p/>
          <a:p>
            <a:r>
              <a:t>BEDÖMNINGSSTÖD</a:t>
            </a:r>
          </a:p>
          <a:p>
            <a:r>
              <a:t>Skiljer köpt el, egenanvänd produktion och export.</a:t>
            </a:r>
          </a:p>
          <a:p>
            <a:r>
              <a:t>Förklarar att lägre belopp kan sammanfalla med högre vägt snitt.</a:t>
            </a:r>
          </a:p>
          <a:p>
            <a:r>
              <a:t>Anger standardkalender och leveransperiodens betydelse.</a:t>
            </a:r>
          </a:p>
          <a:p>
            <a:r>
              <a:t>Anger fast vinterprofil och fortsatt sommarvariation.</a:t>
            </a:r>
          </a:p>
          <a:p>
            <a:r>
              <a:t>Kräver aktuella offertvillkor utan automatisk solcellsrekommendation.</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Maja köper mest el på vintern och planerar solceller. Hon vill ha förutsägbar vinterdel men accepterar sommarvariation. Hon tror att mindre sommarinköp alltid sänker årssnittet och att en aprilfaktura måste använda Kvartspris. Du saknar framtida månadsfördelning.</a:t>
            </a:r>
          </a:p>
          <a:p/>
          <a:p>
            <a:r>
              <a:t>UPPGIFTER</a:t>
            </a:r>
          </a:p>
          <a:p>
            <a:r>
              <a:t>Ange vilket förbrukningsunderlag du behöver.</a:t>
            </a:r>
          </a:p>
          <a:p>
            <a:r>
              <a:t>Förklara hur lägre sommarvolym kan påverka både belopp och vägt snitt.</a:t>
            </a:r>
          </a:p>
          <a:p>
            <a:r>
              <a:t>Beskriv kalenderregeln och vinterdelens omfattning.</a:t>
            </a:r>
          </a:p>
          <a:p>
            <a:r>
              <a:t>Skriv vad du kontrollerar innan rekommendation.</a:t>
            </a:r>
          </a:p>
          <a:p/>
          <a:p>
            <a:r>
              <a:t>MODELLSVAR</a:t>
            </a:r>
          </a:p>
          <a:p>
            <a:r>
              <a:t>Be om köpt månadsvolym från nätet och en bedömning av framtida egenanvänd produktion, export och inköp. Dessa flöden hålls isär. Om färre relativt billiga sommarkWh köps kan totalbeloppet minska samtidigt som den dyrare vinterdelen får större vikt i det köpta årssnittet. Kontrollera därför både kWh, kronor och snitt. Standard är oktober–mars fast elhandelspris inklusive dygnsprofil och april–september Kvartspris, om inget annat uttryckligen avtalats. Fakturadatum ensamt avgör inte modellen; läs leveransperioden. Granska full prisomfattning, avgifter, mätkrav och förändringsvillkor samt Majas tålighet för sommarens kvartsrisk.</a:t>
            </a:r>
          </a:p>
          <a:p/>
          <a:p>
            <a:r>
              <a:t>BEDÖMNINGSSTÖD</a:t>
            </a:r>
          </a:p>
          <a:p>
            <a:r>
              <a:t>Skiljer köpt el, egenanvänd produktion och export.</a:t>
            </a:r>
          </a:p>
          <a:p>
            <a:r>
              <a:t>Förklarar att lägre belopp kan sammanfalla med högre vägt snitt.</a:t>
            </a:r>
          </a:p>
          <a:p>
            <a:r>
              <a:t>Anger standardkalender och leveransperiodens betydelse.</a:t>
            </a:r>
          </a:p>
          <a:p>
            <a:r>
              <a:t>Anger fast vinterprofil och fortsatt sommarvariation.</a:t>
            </a:r>
          </a:p>
          <a:p>
            <a:r>
              <a:t>Kräver aktuella offertvillkor utan automatisk solcellsrekommendation.</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beskrivning följer standardmodellen?</a:t>
            </a:r>
          </a:p>
          <a:p/>
          <a:p>
            <a:r>
              <a:t>FACIT</a:t>
            </a:r>
          </a:p>
          <a:p>
            <a:r>
              <a:t>Rätt alternativ: B. Oktober–mars fast elhandelspris inklusive dygnsprofil; april–september Kvartspris. Förklaring: Det är en säsongsmodell. Andra perioder kräver uttryckligt avtal och hela årets belopp är inte fast.</a:t>
            </a:r>
          </a:p>
          <a:p/>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Syntetiskt jämförbart elhandelsexempel: 6 000 kWh vinter till 90 öre och 4 000 kWh sommar med kvartsvägt utfall 60 öre. Inga övriga kostnader ingår. Vad är periodens vägda snitt?</a:t>
            </a:r>
          </a:p>
          <a:p/>
          <a:p>
            <a:r>
              <a:t>FACIT</a:t>
            </a:r>
          </a:p>
          <a:p>
            <a:r>
              <a:t>Svar: 78 öre/kWh. 6 000 × 0,90 + 4 000 × 0,60 = 7 800 kr. 7 800 / 10 000 × 100 = 78 öre/kWh.</a:t>
            </a:r>
          </a:p>
          <a:p/>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kund vill beskriva Vintersäkrat som ett fast årsbelopp. Hur förklarar du vad som är fast och vad som varierar?</a:t>
            </a:r>
          </a:p>
          <a:p/>
          <a:p>
            <a:r>
              <a:t>FACIT</a:t>
            </a:r>
          </a:p>
          <a:p>
            <a:r>
              <a:t>Den avtalade vinterdelens elhandelspris är fast inklusive dygnsprofil. Sommarens Kvartspris varierar med marknad och egen profil. Köpt volym påverkar båda delarna och övriga elkostnader hanteras separat.</a:t>
            </a:r>
          </a:p>
          <a:p/>
          <a:p>
            <a:r>
              <a:t>Anger fast vinteromfattning inklusive dygnsprofil.</a:t>
            </a:r>
          </a:p>
          <a:p>
            <a:r>
              <a:t>Anger fortsatt sommarkvartsexponering.</a:t>
            </a:r>
          </a:p>
          <a:p>
            <a:r>
              <a:t>Skiljer enhetspris från årsbelopp och övriga kostnader.</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faktura skickas i april men avser bara leverans i mars i standardupplägget. Vad styr prisdelen?</a:t>
            </a:r>
          </a:p>
          <a:p/>
          <a:p>
            <a:r>
              <a:t>FACIT</a:t>
            </a:r>
          </a:p>
          <a:p>
            <a:r>
              <a:t>Rätt alternativ: A. Leveransen i mars, som hör till den avtalade vinterperioden. Förklaring: Leveransperioden och den uttryckligt avtalade kalendern styr; fakturadatum ensamt identifierar inte modellen.</a:t>
            </a:r>
          </a:p>
          <a:p/>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Visa avtalad kalender och kontrollera leveransdatum.</a:t>
            </a:r>
          </a:p>
          <a:p>
            <a:r>
              <a:t>Standard är oktober–mars fast och april–september kvart.</a:t>
            </a:r>
          </a:p>
          <a:p>
            <a:r>
              <a:t>Vinterdelens fasta elhandelspris inkluderar dygnsprofilen.</a:t>
            </a:r>
          </a:p>
          <a:p>
            <a:r>
              <a:t>Analysera köpt volym per period och planerade förändringar.</a:t>
            </a:r>
          </a:p>
          <a:p>
            <a:r>
              <a:t>Räkna både total kostnad och volymvägt snitt.</a:t>
            </a:r>
          </a:p>
          <a:p>
            <a:r>
              <a:t>Förklara kvarvarande sommarvariation och separata elkostnader.</a:t>
            </a:r>
          </a:p>
          <a:p/>
          <a:p>
            <a:r>
              <a:t>KÄLLOR</a:t>
            </a:r>
          </a:p>
          <a:p>
            <a:r>
              <a:t>Produktspecifikationer för säljare · 10 oktober 2026 (31 sidor) · s. 14, 15, 16 · Säljarens produktspecifikation 2026-10-10: grundmodell, prisomfattning, behov, risk och offertkontroll. Lektionens räknefall är syntetiska undervisningsexempel.</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Individuell indexportfölj passar som samtalsalternativ när ett företag vill ha en egen, strukturerad inköpsplan. Här lär du dig vad som planeras, hur volymunderlaget påverkar planen och varför ett inköpssnitt behöver skiljas från fakturapriset. Målet är att kunna förklara nyttan och riskerna så att kunden förstår vad den väljer.</a:t>
            </a:r>
          </a:p>
          <a:p/>
          <a:p>
            <a:r>
              <a:t>LÄRANDEMÅL</a:t>
            </a:r>
          </a:p>
          <a:p>
            <a:r>
              <a:t>Förklara hur dagliga, regelstyrda köp skiljer sig från ett inköpstillfälle.</a:t>
            </a:r>
          </a:p>
          <a:p>
            <a:r>
              <a:t>Skilja säkringshorisont från avtalslängd och planerad andel från faktisk täckning.</a:t>
            </a:r>
          </a:p>
          <a:p>
            <a:r>
              <a:t>Beräkna nätinköp, säkringsvolym och ett volymvägt inköpssnitt.</a:t>
            </a:r>
          </a:p>
          <a:p>
            <a:r>
              <a:t>Beskriva finansiellt säkringsresultat och kvarvarande risk utan att lova ett fast slutpris.</a:t>
            </a:r>
          </a:p>
          <a:p/>
          <a:p>
            <a:r>
              <a:t>KANONISKT BERÄTTARMANUS</a:t>
            </a:r>
          </a:p>
          <a:p>
            <a:r>
              <a:t>individuell-indexportfolj-01 · En plan som byggs över tid</a:t>
            </a:r>
          </a:p>
          <a:p>
            <a:r>
              <a:t>Individuell indexportfölj börjar med en plan för just kundens elinköp. I stället för att välja ett enda inköpstillfälle byggs prissäkringen med dagliga, regelstyrda köp. Varje köp avser framtida leverans enligt den överenskomna planen. På så sätt sprids tidpunkterna då prisnivåer låses. Men spridningen garanterar inte att kunden får marknadens lägsta pris. En strategi, genomförda köp och slutligt utfall är tre olika saker. Strategin berättar vad som ska göras. Handelsbekräftelsen berättar vad som har gjorts. Utfallet visar hur det blev vid leverans. Ett undertecknat avtal är därför inte ensamt bevis för att alla planerade köp redan är genomförda.</a:t>
            </a:r>
          </a:p>
          <a:p>
            <a:r>
              <a:t>På skärmen: Egen plan | Dagliga, regelstyrda köp | Plan ≠ genomförd handel</a:t>
            </a:r>
          </a:p>
          <a:p>
            <a:r>
              <a:t>Bildidé: Visa en tidslinje där köp successivt läggs till; markera planerade respektive bekräftade köp olika.</a:t>
            </a:r>
          </a:p>
          <a:p/>
          <a:p>
            <a:r>
              <a:t>individuell-indexportfolj-02 · Tid och procent måste definieras</a:t>
            </a:r>
          </a:p>
          <a:p>
            <a:r>
              <a:t>Standardhorisonten är tjugofyra månader. Tolv och trettiosex månader finns som alternativ. Horisonten beskriver hur långt fram inköpsplanen arbetar med framtida leverans. Den är inte automatiskt samma sak som kundavtalets längd eller uppsägningstid. Kontrollera alltså tiderna var för sig. Säkringsgraden bestäms individuellt och kan vara olika under olika delar av året. Här finns ingen generell standard på åttio procent. När du använder en procentsats ska du alltid kunna säga procent av vilken volym och för vilken period. Annars kan kunden höra en garanti om hela fakturan när du egentligen beskriver en andel av en förväntad inköpsvolym.</a:t>
            </a:r>
          </a:p>
          <a:p>
            <a:r>
              <a:t>På skärmen: 24 månaders standardhorisont | 12 eller 36 som alternativ | Säkringsgrad bestäms individuellt</a:t>
            </a:r>
          </a:p>
          <a:p>
            <a:r>
              <a:t>Bildidé: Separera tre rutor för horisont, avtalslängd och grad; undvik gemensam bindningstidslinje.</a:t>
            </a:r>
          </a:p>
          <a:p/>
          <a:p>
            <a:r>
              <a:t>individuell-indexportfolj-03 · Rätt volym före rätt plan</a:t>
            </a:r>
          </a:p>
          <a:p>
            <a:r>
              <a:t>Anta att verksamheten använder sexhundra megawattimmar under året. Solcellerna producerar hundra, men bara sjuttio används i verksamheten. Trettio exporteras. Det väntade nätinköpet blir då sexhundra minus sjuttio, alltså femhundratrettio megawattimmar. Exporten dras inte bort igen. Om kunden i detta påhittade exempel väljer att säkra sextio procent blir volymen trehundraarton megawattimmar. Blir det faktiska nätinköpet femhundra motsvarar säkringen sextiotre komma sex procent. Där ser du skillnaden mellan en andel av prognosen och faktisk volymtäckning. Månadsunderlaget behövs också. Nya laddpunkter, driftstopp eller solceller kan flytta elbehovet mellan perioder även när årsvolymen ser rimlig ut.</a:t>
            </a:r>
          </a:p>
          <a:p>
            <a:r>
              <a:t>På skärmen: 600 − 70 = 530 MWh nätinköp | 530 × 60 % = 318 MWh | 318 ÷ 500 = 63,6 %</a:t>
            </a:r>
          </a:p>
          <a:p>
            <a:r>
              <a:t>Bildidé: Visa separata flöden för bruttoförbrukning, egenanvänd solel och export samt nämnaren i täckningsberäkningen.</a:t>
            </a:r>
          </a:p>
          <a:p/>
          <a:p>
            <a:r>
              <a:t>individuell-indexportfolj-04 · Snittpriset behöver rätt vikter</a:t>
            </a:r>
          </a:p>
          <a:p>
            <a:r>
              <a:t>Titta på tre illustrerade köp av samma priskomponent: hundra megawattimmar till sextio öre, tvåhundra till sjuttiofem och femtio till femtio öre per kilowattimme. Omvandlat till kronor och kilowattimmar blir kostnadssumman tvåhundratrettiofemtusen kronor. Dividera med trehundrafemtiotusen kilowattimmar och du får cirka sextiosju komma fjorton öre. Det stora köpet ska alltså väga mer än det lilla. Detta är ett inköpssnitt för komponenten, inte hela fakturan. Den fysiska elkostnaden och det finansiella säkringsresultatet är olika flöden. I vår förenklade modell minskar ett positivt resultat kostnaden och ett negativt resultat ökar den. Profil, övriga kostnader och avtalets fullständiga prisformel behöver hanteras separat.</a:t>
            </a:r>
          </a:p>
          <a:p>
            <a:r>
              <a:t>På skärmen: Volymväg jämförbara köp | 67,14 öre/kWh i exemplet | Inköpssnitt ≠ fullständigt fakturapris</a:t>
            </a:r>
          </a:p>
          <a:p>
            <a:r>
              <a:t>Bildidé: Bygg viktningsberäkningen med tydliga kWh och kronor; visa fysisk kostnad och finansiellt resultat i två kolumner.</a:t>
            </a:r>
          </a:p>
          <a:p/>
          <a:p>
            <a:r>
              <a:t>individuell-indexportfolj-05 · Ett tydligt kundsamtal</a:t>
            </a:r>
          </a:p>
          <a:p>
            <a:r>
              <a:t>Förklara båda riktningarna. En tidigare säkring kan vara fördelaktig när samma marknadsreferens stiger. Faller den kan kunden betala mer än i en osäkrad jämförelse. Fråga därför vilka prisrörelser budgeten tål, vilka förändringar verksamheten planerar och hur säker prognosen är. Samla nätinköp per månad och anläggning. Skilj egenanvänd produktion från export. Kontrollera sedan grad, horisont, prisreferenser, profilhantering, tillägg och avvikelsevillkor i den godkända offerten. Bekräfta genomförda köp enligt aktuell rutin. Avsluta med att be kunden återberätta hur planen byggs och vad som fortfarande kan påverka kostnaden. När kunden kan förklara det med egna ord har ni en bättre grund för nästa beslut.</a:t>
            </a:r>
          </a:p>
          <a:p>
            <a:r>
              <a:t>På skärmen: Förklara prisuppgång och prisfall | Kontrollera offert och handel | Låt kunden återberätta modellen</a:t>
            </a:r>
          </a:p>
          <a:p>
            <a:r>
              <a:t>Bildidé: Visa en dialog med behov, underlag och verifierat nästa steg; inga fiktiva löften om pris eller tolerans.</a:t>
            </a:r>
          </a:p>
          <a:p/>
          <a:p>
            <a:r>
              <a:t>KÄLLOR</a:t>
            </a:r>
          </a:p>
          <a:p>
            <a:r>
              <a:t>Produktspecifikationer för säljare · 10 oktober 2026 (31 sidor) · s. 17, 18, 19 · Produktspecifikation för säljare, 2026-10-10: individuell plan, horisont, prisflöden, volymunderlag och risk.</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Indexdelen byggs med dagliga, regelstyrda inköp över tid. Kunden får en egen plan för överenskomna volymer och leveransperioder. Till skillnad från Direkt och Stabil bestäms inte hela den avsedda säkringen vid ett enda inköpstillfälle. Flera köp sprider tidpunkterna när marknadspriser låses, men de gör inte redan köpt el billigare när marknaden faller.</a:t>
            </a:r>
          </a:p>
          <a:p/>
          <a:p>
            <a:r>
              <a:t>Strategin beskriver framtida köp. Handelsbekräftelsen visar genomförda köp. Ett signerat kundavtal är därför inte ensamt bevis för handel. Håll plan, köp och slutligt utfall isär.</a:t>
            </a:r>
          </a:p>
          <a:p/>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Standardhorisonten är 24 månader, med 12 och 36 månader som alternativ. Horisonten beskriver hur långt fram inköpsplanen arbetar med framtida leverans. Den säger inte automatiskt hur länge kundavtalet gäller eller när kunden kan säga upp avtalet. Dessa tider kontrolleras separat.</a:t>
            </a:r>
          </a:p>
          <a:p/>
          <a:p>
            <a:r>
              <a:t>Säkringsgraden bestäms individuellt och kan skilja mellan årets perioder. Det finns ingen generell standard på 80 procent för denna produkt. Ett illustrerat val på 60 procent får därför aldrig presenteras som produktens norm. Graden behöver kopplas till en angiven referensvolym och leveransperiod, annars är procentsatsen svår att tolka.</a:t>
            </a:r>
          </a:p>
          <a:p/>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Nätinköp är den el kunden behöver köpa från nätet. Bruttoförbrukning är verksamhetens hela elanvändning, även den del som täcks av egen produktion. Egenanvänd solel minskar nätinköpet; exporterad solel är ett annat flöde. Dra inte bort all producerad solel från bruttoförbrukningen när en del säljs ut.</a:t>
            </a:r>
          </a:p>
          <a:p/>
          <a:p>
            <a:r>
              <a:t>Använd underlag per relevant månad och anläggning. En ny laddpark, förändrad produktion, solceller eller ett driftstopp kan göra historiken missvisande. Dokumentera mätperiod, datakälla och förändringar. Även ett korrekt årsbelopp kan dölja att säkringen hamnar i fel månader. Om utfallet ändras måste ansvar och tillåtna ändringar hämtas ur avtalet och mandatet.</a:t>
            </a:r>
          </a:p>
          <a:p/>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Ett inköpssnitt viktas med den volym varje köp avser. Ett stort köp ska väga mer än ett litet. Priserna måste gälla jämförbara komponenter, perioder och valuta innan de läggs ihop. Ett enkelt medelvärde av flera köpkurser är bara rätt när volymerna är lika.</a:t>
            </a:r>
          </a:p>
          <a:p/>
          <a:p>
            <a:r>
              <a:t>Fysisk elkostnad och finansiellt säkringsresultat är olika flöden. I utbildningens förenklade modell räknas kostnaden som fysisk kostnad minus finansiellt resultat. Ett positivt resultat minskar kostnaden; ett negativt resultat ökar den. Prisreferenser, profilhantering, valuta och tillägg följer godkänd offert. Inköpssnittet är därför inte automatiskt kundens fullständiga elhandelspris.</a:t>
            </a:r>
          </a:p>
          <a:p/>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En tidigare säkring kan hjälpa när samma marknadsreferens stiger. När den faller kan kunden i stället betala mer än vid en osäkrad jämförelse. Spridda inköp garanterar inte billigast el. Osäkrad volym och delar utanför säkringen fortsätter att påverka utfallet. Ändrad förbrukning kan dessutom göra en planerad procentandel till en annan faktisk täckning.</a:t>
            </a:r>
          </a:p>
          <a:p/>
          <a:p>
            <a:r>
              <a:t>Utred budgetrisk och prognoskvalitet. Godkänd offert behöver ange perioder, grader, horisont, prisdelar och avvikelsehantering. Årsvolym avgör inte ensam produktvalet. Kunskap om modellen ger inte handelsmandat.</a:t>
            </a:r>
          </a:p>
          <a:p/>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årsvolymer utan lagring eller annan korrigering. Egenanvändning är redan uppmätt eller prognostiserad. 60 procent är ett individuellt exempelval, ingen standard.</a:t>
            </a:r>
          </a:p>
          <a:p/>
          <a:p>
            <a:r>
              <a:t>DATA</a:t>
            </a:r>
          </a:p>
          <a:p>
            <a:r>
              <a:t>Bruttoförbrukning: 600 MWh. Solelproduktion: 100 MWh, varav 70 MWh egenanvänds och 30 MWh exporteras.</a:t>
            </a:r>
          </a:p>
          <a:p>
            <a:r>
              <a:t>Planerad säkring: 60 procent av prognostiserat nätinköp. Faktiskt nätinköp blir 500 MWh. Anta att hela den planerade säkringsvolymen genomförts för samma period.</a:t>
            </a:r>
          </a:p>
          <a:p/>
          <a:p>
            <a:r>
              <a:t>MELLANLED</a:t>
            </a:r>
          </a:p>
          <a:p>
            <a:r>
              <a:t>Nätinköp: 600 − 70 = 530 MWh. Exporten på 30 MWh dras inte bort en gång till.</a:t>
            </a:r>
          </a:p>
          <a:p>
            <a:r>
              <a:t>Planerad och i exemplet genomförd säkring: 530 × 0,60 = 318 MWh.</a:t>
            </a:r>
          </a:p>
          <a:p>
            <a:r>
              <a:t>Faktisk volymtäckning: 318 ÷ 500 × 100 = 63,6 procent.</a:t>
            </a:r>
          </a:p>
          <a:p/>
          <a:p>
            <a:r>
              <a:t>RESULTAT</a:t>
            </a:r>
          </a:p>
          <a:p>
            <a:r>
              <a:t>318 MWh motsvarar 63,6 procent av det faktiska nätinköpet.</a:t>
            </a:r>
          </a:p>
          <a:p/>
          <a:p>
            <a:r>
              <a:t>TOLKNING</a:t>
            </a:r>
          </a:p>
          <a:p>
            <a:r>
              <a:t>Avtalad procent av en prognos är inte samma mått som säkrad volym dividerad med faktisk förbrukning. Beräkningen säger inget om avvikelsekostnader; de bestäms av villkoren.</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årsvolymer utan lagring eller annan korrigering. Egenanvändning är redan uppmätt eller prognostiserad. 60 procent är ett individuellt exempelval, ingen standard.</a:t>
            </a:r>
          </a:p>
          <a:p/>
          <a:p>
            <a:r>
              <a:t>DATA</a:t>
            </a:r>
          </a:p>
          <a:p>
            <a:r>
              <a:t>Bruttoförbrukning: 600 MWh. Solelproduktion: 100 MWh, varav 70 MWh egenanvänds och 30 MWh exporteras.</a:t>
            </a:r>
          </a:p>
          <a:p>
            <a:r>
              <a:t>Planerad säkring: 60 procent av prognostiserat nätinköp. Faktiskt nätinköp blir 500 MWh. Anta att hela den planerade säkringsvolymen genomförts för samma period.</a:t>
            </a:r>
          </a:p>
          <a:p/>
          <a:p>
            <a:r>
              <a:t>MELLANLED</a:t>
            </a:r>
          </a:p>
          <a:p>
            <a:r>
              <a:t>Nätinköp: 600 − 70 = 530 MWh. Exporten på 30 MWh dras inte bort en gång till.</a:t>
            </a:r>
          </a:p>
          <a:p>
            <a:r>
              <a:t>Planerad och i exemplet genomförd säkring: 530 × 0,60 = 318 MWh.</a:t>
            </a:r>
          </a:p>
          <a:p>
            <a:r>
              <a:t>Faktisk volymtäckning: 318 ÷ 500 × 100 = 63,6 procent.</a:t>
            </a:r>
          </a:p>
          <a:p/>
          <a:p>
            <a:r>
              <a:t>RESULTAT</a:t>
            </a:r>
          </a:p>
          <a:p>
            <a:r>
              <a:t>318 MWh motsvarar 63,6 procent av det faktiska nätinköpet.</a:t>
            </a:r>
          </a:p>
          <a:p/>
          <a:p>
            <a:r>
              <a:t>TOLKNING</a:t>
            </a:r>
          </a:p>
          <a:p>
            <a:r>
              <a:t>Avtalad procent av en prognos är inte samma mått som säkrad volym dividerad med faktisk förbrukning. Beräkningen säger inget om avvikelsekostnader; de bestäms av villkoren.</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för en enda jämförbar referenspriskomponent under samma leveransperiod. Profil, andra elhandelskomponenter, påslag, elnät, energiskatt och moms ingår inte. Full matchning mellan illustrerade köp och leveransvolym antas.</a:t>
            </a:r>
          </a:p>
          <a:p/>
          <a:p>
            <a:r>
              <a:t>DATA</a:t>
            </a:r>
          </a:p>
          <a:p>
            <a:r>
              <a:t>Tre köp: 100 MWh till 60 öre/kWh, 200 MWh till 75 öre/kWh och 50 MWh till 50 öre/kWh.</a:t>
            </a:r>
          </a:p>
          <a:p>
            <a:r>
              <a:t>Fysisk referenskostnad antas först vara 90 öre/kWh för samtliga 350 MWh. Finansiellt resultat är i scenariot +80 000 kr.</a:t>
            </a:r>
          </a:p>
          <a:p/>
          <a:p>
            <a:r>
              <a:t>MELLANLED</a:t>
            </a:r>
          </a:p>
          <a:p>
            <a:r>
              <a:t>Omvandla MWh till kWh och öre till kronor: 100 000 × 0,60 + 200 000 × 0,75 + 50 000 × 0,50 = 235 000 kr.</a:t>
            </a:r>
          </a:p>
          <a:p>
            <a:r>
              <a:t>Total volym: 350 000 kWh. Vägt snitt: 235 000 ÷ 350 000 × 100 = 67,142857 öre/kWh.</a:t>
            </a:r>
          </a:p>
          <a:p>
            <a:r>
              <a:t>Fysisk kostnad: 350 000 × 0,90 = 315 000 kr. Efter resultat: 315 000 − 80 000 = 235 000 kr.</a:t>
            </a:r>
          </a:p>
          <a:p>
            <a:r>
              <a:t>Vid ett illustrerat prisfall till 40 öre blir fysisk kostnad 140 000 kr och resultatet −95 000 kr. Då blir 140 000 − (−95 000) = 235 000 kr.</a:t>
            </a:r>
          </a:p>
          <a:p/>
          <a:p>
            <a:r>
              <a:t>RESULTAT</a:t>
            </a:r>
          </a:p>
          <a:p>
            <a:r>
              <a:t>Den jämförbara komponentens inköpssnitt är cirka 67,14 öre/kWh.</a:t>
            </a:r>
          </a:p>
          <a:p/>
          <a:p>
            <a:r>
              <a:t>TOLKNING</a:t>
            </a:r>
          </a:p>
          <a:p>
            <a:r>
              <a:t>Prisfallet sänker den fysiska kostnaden men ger ett negativt säkringsresultat. Det förenklade utfallet visar prisbindningens två riktningar, inte hela fakturan eller en verklig offert.</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Syntetiskt exempel för en enda jämförbar referenspriskomponent under samma leveransperiod. Profil, andra elhandelskomponenter, påslag, elnät, energiskatt och moms ingår inte. Full matchning mellan illustrerade köp och leveransvolym antas.</a:t>
            </a:r>
          </a:p>
          <a:p/>
          <a:p>
            <a:r>
              <a:t>DATA</a:t>
            </a:r>
          </a:p>
          <a:p>
            <a:r>
              <a:t>Tre köp: 100 MWh till 60 öre/kWh, 200 MWh till 75 öre/kWh och 50 MWh till 50 öre/kWh.</a:t>
            </a:r>
          </a:p>
          <a:p>
            <a:r>
              <a:t>Fysisk referenskostnad antas först vara 90 öre/kWh för samtliga 350 MWh. Finansiellt resultat är i scenariot +80 000 kr.</a:t>
            </a:r>
          </a:p>
          <a:p/>
          <a:p>
            <a:r>
              <a:t>MELLANLED</a:t>
            </a:r>
          </a:p>
          <a:p>
            <a:r>
              <a:t>Omvandla MWh till kWh och öre till kronor: 100 000 × 0,60 + 200 000 × 0,75 + 50 000 × 0,50 = 235 000 kr.</a:t>
            </a:r>
          </a:p>
          <a:p>
            <a:r>
              <a:t>Total volym: 350 000 kWh. Vägt snitt: 235 000 ÷ 350 000 × 100 = 67,142857 öre/kWh.</a:t>
            </a:r>
          </a:p>
          <a:p>
            <a:r>
              <a:t>Fysisk kostnad: 350 000 × 0,90 = 315 000 kr. Efter resultat: 315 000 − 80 000 = 235 000 kr.</a:t>
            </a:r>
          </a:p>
          <a:p>
            <a:r>
              <a:t>Vid ett illustrerat prisfall till 40 öre blir fysisk kostnad 140 000 kr och resultatet −95 000 kr. Då blir 140 000 − (−95 000) = 235 000 kr.</a:t>
            </a:r>
          </a:p>
          <a:p/>
          <a:p>
            <a:r>
              <a:t>RESULTAT</a:t>
            </a:r>
          </a:p>
          <a:p>
            <a:r>
              <a:t>Den jämförbara komponentens inköpssnitt är cirka 67,14 öre/kWh.</a:t>
            </a:r>
          </a:p>
          <a:p/>
          <a:p>
            <a:r>
              <a:t>TOLKNING</a:t>
            </a:r>
          </a:p>
          <a:p>
            <a:r>
              <a:t>Prisfallet sänker den fysiska kostnaden men ger ett negativt säkringsresultat. Det förenklade utfallet visar prisbindningens två riktningar, inte hela fakturan eller en verklig offert.</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månader betyder att kunden är bunden i 24 månader.</a:t>
            </a:r>
          </a:p>
          <a:p/>
          <a:p>
            <a:r>
              <a:t>24 månader är standardhorisonten för säkringsplaneringen. Avtalslängd och uppsägning kontrolleras separat.</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betyder att vi alltid slår marknaden.</a:t>
            </a:r>
          </a:p>
          <a:p/>
          <a:p>
            <a:r>
              <a:t>Regler sprider inköpstidpunkterna. Utfallet kan bli både bättre och sämre än en osäkrad jämförelse.</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procent säkras automatiskt och profilkostnaden försvinner.</a:t>
            </a:r>
          </a:p>
          <a:p/>
          <a:p>
            <a:r>
              <a:t>Graden är individuell. Profilhanteringen följer godkänd offert och kan inte antas från produktnamnet.</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 får en egen inköpsplan där regelstyrda köp bygger upp prissäkringen över tid. Vi kommer överens om volymer, perioder och hur stor del som ska säkras. Det sprider inköpstidpunkterna, men kan bli dyrare än osäkrat om marknaden faller.</a:t>
            </a:r>
          </a:p>
          <a:p/>
          <a:p>
            <a:r>
              <a:t>UTVECKLAD FÖRKLARING</a:t>
            </a:r>
          </a:p>
          <a:p>
            <a:r>
              <a:t>Vi kartlägger nätinköp och förändringar per månad. Sedan bestäms individuella grader och horisont. Standardhorisonten 24 månader är inte avtalslängden. Slutkostnaden följer offertens prisformel, genomförda köp, förbrukning och övriga komponenter.</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Ett fiktivt företag planerar laddpunkter och solceller och vill ha en egen plan. Ekonomichefen frågar: ”Betyder 24 månader att 80 procent redan är köpt?” Årsförbrukningen finns, men månadsdata och solelens egenanvändning saknas.</a:t>
            </a:r>
          </a:p>
          <a:p/>
          <a:p>
            <a:r>
              <a:t>UPPGIFTER</a:t>
            </a:r>
          </a:p>
          <a:p>
            <a:r>
              <a:t>Rätta de två antagandena om tid och säkringsgrad.</a:t>
            </a:r>
          </a:p>
          <a:p>
            <a:r>
              <a:t>Beskriv vilka volymuppgifter och förändringar du behöver.</a:t>
            </a:r>
          </a:p>
          <a:p>
            <a:r>
              <a:t>Förklara vad som behöver vara klart innan pris och genomförande kan bekräftas.</a:t>
            </a:r>
          </a:p>
          <a:p/>
          <a:p>
            <a:r>
              <a:t>MODELLSVAR</a:t>
            </a:r>
          </a:p>
          <a:p>
            <a:r>
              <a:t>24 månader beskriver standardhorisonten, medan avtalslängden behöver verifieras separat. Produkten har ingen generell 80-procentsgrad och ett signerat avtal bevisar inte genomförda köp. Begär nätinköp per månad och anläggning, laddprognos samt uppdelning av solel i egenanvändning och export. Stäm av budgetrisk och individuella grader. Använd därefter en godkänd offert med prisreferenser, profil, tillägg och avvikelsevillkor. Bekräfta faktisk handel enligt gällande rutin.</a:t>
            </a:r>
          </a:p>
          <a:p/>
          <a:p>
            <a:r>
              <a:t>BEDÖMNINGSSTÖD</a:t>
            </a:r>
          </a:p>
          <a:p>
            <a:r>
              <a:t>Skiljer horisont, avtal och genomförd handel.</a:t>
            </a:r>
          </a:p>
          <a:p>
            <a:r>
              <a:t>Begär månadsdata och separerar egenanvändning från export.</a:t>
            </a:r>
          </a:p>
          <a:p>
            <a:r>
              <a:t>Beskriver individuell grad och prisfallsrisk.</a:t>
            </a:r>
          </a:p>
          <a:p>
            <a:r>
              <a:t>Hämtar kommersiella villkor och mandat från aktuellt underlag.</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Ett fiktivt företag planerar laddpunkter och solceller och vill ha en egen plan. Ekonomichefen frågar: ”Betyder 24 månader att 80 procent redan är köpt?” Årsförbrukningen finns, men månadsdata och solelens egenanvändning saknas.</a:t>
            </a:r>
          </a:p>
          <a:p/>
          <a:p>
            <a:r>
              <a:t>UPPGIFTER</a:t>
            </a:r>
          </a:p>
          <a:p>
            <a:r>
              <a:t>Rätta de två antagandena om tid och säkringsgrad.</a:t>
            </a:r>
          </a:p>
          <a:p>
            <a:r>
              <a:t>Beskriv vilka volymuppgifter och förändringar du behöver.</a:t>
            </a:r>
          </a:p>
          <a:p>
            <a:r>
              <a:t>Förklara vad som behöver vara klart innan pris och genomförande kan bekräftas.</a:t>
            </a:r>
          </a:p>
          <a:p/>
          <a:p>
            <a:r>
              <a:t>MODELLSVAR</a:t>
            </a:r>
          </a:p>
          <a:p>
            <a:r>
              <a:t>24 månader beskriver standardhorisonten, medan avtalslängden behöver verifieras separat. Produkten har ingen generell 80-procentsgrad och ett signerat avtal bevisar inte genomförda köp. Begär nätinköp per månad och anläggning, laddprognos samt uppdelning av solel i egenanvändning och export. Stäm av budgetrisk och individuella grader. Använd därefter en godkänd offert med prisreferenser, profil, tillägg och avvikelsevillkor. Bekräfta faktisk handel enligt gällande rutin.</a:t>
            </a:r>
          </a:p>
          <a:p/>
          <a:p>
            <a:r>
              <a:t>BEDÖMNINGSSTÖD</a:t>
            </a:r>
          </a:p>
          <a:p>
            <a:r>
              <a:t>Skiljer horisont, avtal och genomförd handel.</a:t>
            </a:r>
          </a:p>
          <a:p>
            <a:r>
              <a:t>Begär månadsdata och separerar egenanvändning från export.</a:t>
            </a:r>
          </a:p>
          <a:p>
            <a:r>
              <a:t>Beskriver individuell grad och prisfallsrisk.</a:t>
            </a:r>
          </a:p>
          <a:p>
            <a:r>
              <a:t>Hämtar kommersiella villkor och mandat från aktuellt underlag.</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Vad betyder produktens standardhorisont på 24 månader?</a:t>
            </a:r>
          </a:p>
          <a:p/>
          <a:p>
            <a:r>
              <a:t>FACIT</a:t>
            </a:r>
          </a:p>
          <a:p>
            <a:r>
              <a:t>Rätt alternativ: B. Inköpsplanen arbetar med framtida leverans inom en 24-månadershorisont. Förklaring: Horisonten avser säkringsplanering. Avtalslängd och faktiskt genomförda köp är separata uppgifter.</a:t>
            </a:r>
          </a:p>
          <a:p/>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I första exemplet är 318 MWh säkrat och faktiskt nätinköp 500 MWh. Vilken faktisk volymtäckning blir det?</a:t>
            </a:r>
          </a:p>
          <a:p/>
          <a:p>
            <a:r>
              <a:t>FACIT</a:t>
            </a:r>
          </a:p>
          <a:p>
            <a:r>
              <a:t>Svar: 63,6 procent. 318 ÷ 500 × 100 = 63,6 procent. Detta är inte en ändring av den avtalade prognosgraden.</a:t>
            </a:r>
          </a:p>
          <a:p/>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Fysisk kostnad är 140 000 kr och finansiellt resultat −95 000 kr. Vad blir kostnaden i den förenklade modellen?</a:t>
            </a:r>
          </a:p>
          <a:p/>
          <a:p>
            <a:r>
              <a:t>FACIT</a:t>
            </a:r>
          </a:p>
          <a:p>
            <a:r>
              <a:t>Rätt alternativ: B. 235 000 kr, eftersom ett negativt resultat ökar kostnaden. Förklaring: 140 000 − (−95 000) = 235 000 kr. Håll modellen åtskild från andra kostnadsposter.</a:t>
            </a:r>
          </a:p>
          <a:p/>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har 100 MWh solelproduktion och vill dra av allt från förbrukningen. Hur svarar du?</a:t>
            </a:r>
          </a:p>
          <a:p/>
          <a:p>
            <a:r>
              <a:t>FACIT</a:t>
            </a:r>
          </a:p>
          <a:p>
            <a:r>
              <a:t>Utred hur mycket som faktiskt används i verksamheten och hur mycket som exporteras. Nätinköpet minskas av egenanvändningen, inte automatiskt av hela produktionen. Begär tidsfördelning och relevanta mätuppgifter.</a:t>
            </a:r>
          </a:p>
          <a:p/>
          <a:p>
            <a:r>
              <a:t>Skiljer produktion, egenanvändning och export.</a:t>
            </a:r>
          </a:p>
          <a:p>
            <a:r>
              <a:t>Kopplar underlaget till nätinköp och relevanta perioder.</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Planen byggs med dagliga, regelstyrda köp.</a:t>
            </a:r>
          </a:p>
          <a:p>
            <a:r>
              <a:t>Graden är individuell; horisont och avtalslängd är skilda uppgifter.</a:t>
            </a:r>
          </a:p>
          <a:p>
            <a:r>
              <a:t>Utgå från nätinköp per period och verifierade förändringar.</a:t>
            </a:r>
          </a:p>
          <a:p>
            <a:r>
              <a:t>Volymväg jämförbara köp och skilj inköpssnitt från fakturapris.</a:t>
            </a:r>
          </a:p>
          <a:p>
            <a:r>
              <a:t>Bekräfta både prisfallsrisk och faktiskt genomförd handel.</a:t>
            </a:r>
          </a:p>
          <a:p/>
          <a:p>
            <a:r>
              <a:t>KÄLLOR</a:t>
            </a:r>
          </a:p>
          <a:p>
            <a:r>
              <a:t>Produktspecifikationer för säljare · 10 oktober 2026 (31 sidor) · s. 17, 18, 19 · Produktspecifikation för säljare, 2026-10-10: individuell plan, horisont, prisflöden, volymunderlag och risk.</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 Trygg samlar elinköp i en gemensam, planerad strategi. Namnet kan låta som ett löfte om en helt fast kostnad, men strategin innehåller både stegvisa indexköp och en rörlig del. Den här lektionen hjälper dig att förklara fördelningen korrekt och visa varför två poolkunder ändå kan få olika årssnitt.</a:t>
            </a:r>
          </a:p>
          <a:p/>
          <a:p>
            <a:r>
              <a:t>LÄRANDEMÅL</a:t>
            </a:r>
          </a:p>
          <a:p>
            <a:r>
              <a:t>Förklara 80 procent index och 20 procent rörligt som strategifördelning.</a:t>
            </a:r>
          </a:p>
          <a:p>
            <a:r>
              <a:t>Skilja strategimål från genomförda säkringar och faktisk volymtäckning.</a:t>
            </a:r>
          </a:p>
          <a:p>
            <a:r>
              <a:t>Beräkna förbrukningsvägda årssnitt från samma periodpriser.</a:t>
            </a:r>
          </a:p>
          <a:p>
            <a:r>
              <a:t>Förklara kvarvarande exponering och kontrollera rätt poolvillkor.</a:t>
            </a:r>
          </a:p>
          <a:p/>
          <a:p>
            <a:r>
              <a:t>KANONISKT BERÄTTARMANUS</a:t>
            </a:r>
          </a:p>
          <a:p>
            <a:r>
              <a:t>pool-trygg-01 · Vad poolen gör</a:t>
            </a:r>
          </a:p>
          <a:p>
            <a:r>
              <a:t>Pool Trygg är en gemensam strategi för elinköp. Den förväntade volymen fördelas på åttio procent index och tjugo procent rörligt. Indexdelen byggs genom regelstyrda, stegvisa köp över tid. Kunden deltar i den gemensamma planen och får inte automatiskt en egen individuellt utformad inköpsplan. Trygg har ingen aktiv fyrtioprocentsdel i det beskrivna upplägget. När du förklarar produkten ska du därför börja med fördelningen och arbetsmetoden. Undvik att låta produktnamnet ersätta förklaringen. Ordet Trygg betyder inte att hela elpriset är fast, att fakturan alltid blir lika stor eller att kunden garanteras ett bättre pris än alla andra alternativ på marknaden.</a:t>
            </a:r>
          </a:p>
          <a:p>
            <a:r>
              <a:t>På skärmen: 80 % index | 20 % rörligt | Gemensam strategi</a:t>
            </a:r>
          </a:p>
          <a:p>
            <a:r>
              <a:t>Bildidé: Visa två strategidelar märkta som förväntad volym; inga symboler för garanterat fast faktura.</a:t>
            </a:r>
          </a:p>
          <a:p/>
          <a:p>
            <a:r>
              <a:t>pool-trygg-02 · Plan och verklig säkring</a:t>
            </a:r>
          </a:p>
          <a:p>
            <a:r>
              <a:t>Anta en prognos på tusen megawattimmar. Strategins indexmål blir då åttahundra megawattimmar och den rörliga delen tvåhundra. Men om bara femhundra megawattimmar hittills har köpts är nuläget femtio procent av prognosen. Målbilden på åttio procent är alltså inte bevis för genomförda köp. Om faktisk förbrukning senare blir ettusen tvåhundrafemtio megawattimmar motsvarar femhundra megawattimmar fyrtio procents täckning. Även om hela målet på åttahundra genomförs blir täckningen sextiofyra procent av den faktiska volymen. Det är därför viktigt att alltid ange både volymgrund och period. Hur avvikelser hanteras ekonomiskt måste sedan hämtas ur kundens aktuella avtal, inte räknas fram ur produktnamnet.</a:t>
            </a:r>
          </a:p>
          <a:p>
            <a:r>
              <a:t>På skärmen: Mål: 800 MWh | Genomfört i exemplet: 500 MWh | Täckning kräver rätt nämnare</a:t>
            </a:r>
          </a:p>
          <a:p>
            <a:r>
              <a:t>Bildidé: Visa mål, nuläge och två utfallsscenarier i separata staplar med tydliga nämnare.</a:t>
            </a:r>
          </a:p>
          <a:p/>
          <a:p>
            <a:r>
              <a:t>pool-trygg-03 · Samma periodpriser, olika snitt</a:t>
            </a:r>
          </a:p>
          <a:p>
            <a:r>
              <a:t>Två kunder kan ha samma jämförbara periodpriser och ändå få olika årssnitt. I vårt påhittade exempel är vinterpriset hundra öre och sommarpriset femtio öre per kilowattimme. Kund A använder sexhundratusen kilowattimmar vinter och fyrahundratusen sommar. Kostnaden blir åttahundratusen kronor, alltså åttio öre i snitt. Kund B använder tvåhundratusen vinter och åttahundratusen sommar. Kostnaden blir sexhundratusen kronor och snittet sextio öre. Det är kundens volymfördelning som ändrar vikterna. Priserna är här en redan sammanställd portföljkomponent. Vi lägger inte på fördelningen åttio och tjugo procent igen. Profil, tillägg, elnät, energiskatt och moms ligger utanför just denna övning.</a:t>
            </a:r>
          </a:p>
          <a:p>
            <a:r>
              <a:t>På skärmen: Kund A: 80 öre/kWh | Kund B: 60 öre/kWh | Vikta med respektive periods kWh</a:t>
            </a:r>
          </a:p>
          <a:p>
            <a:r>
              <a:t>Bildidé: Visa samma prislinje över två olika volymprofiler och räkna varje kostnad med kronor per kWh.</a:t>
            </a:r>
          </a:p>
          <a:p/>
          <a:p>
            <a:r>
              <a:t>pool-trygg-04 · Det som fortfarande kan ändras</a:t>
            </a:r>
          </a:p>
          <a:p>
            <a:r>
              <a:t>Tidigare indexköp kan hjälpa när samma marknadsreferens stiger. Vid prisfall kan de i stället vara dyrare än en osäkrad jämförelse. Den rörliga delen behåller också marknadsexponering. Kundens förbrukning påverkar fakturabeloppet, och förändrad månadsprofil kan påverka årssnittet. Kontrollera därför vad poolpriset omfattar och hur profilhantering och eventuella individuella kostnader fungerar enligt villkoren. Anta inte individuell kvartsavräkning. Poolens portföljpris är inte automatiskt kundens fullständiga elhandelskostnad. Förklara detta före ett produktval, så att kunden kan bedöma både nyttan och kvarvarande risk. Inga påhittade volymtoleranser eller avgifter behövs för förklaringen. De kommersiella detaljerna ska stå i det aktuella godkända underlaget.</a:t>
            </a:r>
          </a:p>
          <a:p>
            <a:r>
              <a:t>På skärmen: Prisfall kan ge dyrare säkring | Rörlig exponering finns kvar | Portföljpris ≠ hela kostnaden</a:t>
            </a:r>
          </a:p>
          <a:p>
            <a:r>
              <a:t>Bildidé: Visa uppgångs- och nedgångsscenarier samt separata kostnadsdelar utan fabricerade avgifter.</a:t>
            </a:r>
          </a:p>
          <a:p/>
          <a:p>
            <a:r>
              <a:t>pool-trygg-05 · Kontrollerna inför nästa steg</a:t>
            </a:r>
          </a:p>
          <a:p>
            <a:r>
              <a:t>Fråga om kunden söker gemensam förvaltning eller en egen inköpsplan. Ta reda på hur budgeten påverkas av prisrörelser, hur nätinköpet fördelas mellan månader och vilka verksamhetsförändringar som planeras. Kontrollera sedan aktuell strategiversion, åttio tjugo, faktiskt genomförd säkring och poolens horisont. Individuell index har en standardhorisont på tjugofyra månader, men den gäller inte automatiskt här. Avtalslängd och uppsägning behöver också kontrolleras separat. Jämför priser för samma period, volym och kostnadsdelar. Avsluta med en godkänd offert där profil, tillägg, avvikelser och eventuella avslutsvillkor är tydliga. Be kunden återberätta skillnaden mellan strategin, den genomförda säkringen och vad som påverkar den slutliga kostnaden.</a:t>
            </a:r>
          </a:p>
          <a:p>
            <a:r>
              <a:t>På skärmen: Kontrollera poolens aktuella horisont | Jämför samma omfattning | Kunden ska förstå kvarvarande risk</a:t>
            </a:r>
          </a:p>
          <a:p>
            <a:r>
              <a:t>Bildidé: Visa en offertgenomgång med verifierade fält och en avslutande återberättandefråga.</a:t>
            </a:r>
          </a:p>
          <a:p/>
          <a:p>
            <a:r>
              <a:t>KÄLLOR</a:t>
            </a:r>
          </a:p>
          <a:p>
            <a:r>
              <a:t>Produktspecifikationer för säljare · 10 oktober 2026 (31 sidor) · s. 20, 21, 22 · Produktspecifikation för säljare, 2026-10-10: Trygg-strategi, pris/profil, uppbyggnad, risk och offertkontroll.</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Pool Trygg använder 80 procent index och 20 procent rörligt. Indexdelen byggs med regelstyrda, stegvisa köp. Kunden deltar i en gemensam strategi i stället för att automatiskt få en egen individuellt utformad inköpsplan. Det är den praktiska skillnaden mot Individuell indexportfölj.</a:t>
            </a:r>
          </a:p>
          <a:p/>
          <a:p>
            <a:r>
              <a:t>Procentsatserna beskriver hur förväntad volym fördelas i strategin. De betyder inte att 80 procent av fakturan är fast, att hela indexdelen redan är köpt eller att exakt 80 procent av varje faktisk kundkvart täcks. Trygg innehåller inte någon aktiv 40-procentsdel i det beskrivna upplägget. Den delen hör till Pool Offensiv.</a:t>
            </a:r>
          </a:p>
          <a:p/>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Indexmålet kan vara 80 procent medan köpen fortfarande byggs upp. Beskriv nuläget med prognos och faktiskt genomförda säkringar för samma period. En plan bevisar inte att målvolymen är köpt.</a:t>
            </a:r>
          </a:p>
          <a:p/>
          <a:p>
            <a:r>
              <a:t>Aktuell poolhorisont hämtas ur offerten och strategin. Individuell index har en standardhorisont på 24 månader, men den gäller inte automatiskt poolen. Äldre kursuppgifter om en viss rullande Trygg-horisont verifierar inte dagens villkor. Horisont, kundavtalets längd och uppsägningstid måste kontrolleras som separata uppgifter.</a:t>
            </a:r>
          </a:p>
          <a:p/>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Poolens portföljpris behöver skiljas från kundens fullständiga elhandelskostnad. Vad profilhantering, tillägg och eventuella individuella kostnader innebär framgår av kundvillkoren. Anta därför inte individuell kvartsavräkning eller att alla kunder har samma totala pris.</a:t>
            </a:r>
          </a:p>
          <a:p/>
          <a:p>
            <a:r>
              <a:t>Även när två kunder har samma jämförbara periodpriser kan deras årssnitt skilja. En vintertung verksamhet använder mer under de dyra månaderna i ett sådant exempel och får då ett högre volymvägt snitt. Beräkna varje periods pris gånger periodens kWh, summera kostnaderna och dividera med den totala volymen. Ett oviktat månadsmedel kan beskriva kalendern men blir fel som kundens kostnadssnitt när volymerna varierar.</a:t>
            </a:r>
          </a:p>
          <a:p/>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Genomförda indexköp kan begränsa effekten av framtida prisuppgångar i de komponenter som säkrats. Samma köp kan bli dyrare än en osäkrad jämförelse vid prisfall. Den rörliga delen behåller marknadsexponering. Därför får Trygg inte förklaras som billigast el, oföränderligt slutpris eller ett lika stort fakturabelopp varje månad.</a:t>
            </a:r>
          </a:p>
          <a:p/>
          <a:p>
            <a:r>
              <a:t>Förbrukningen påverkar också kostnaden. Mer faktisk volym kan göra säkringens täckning lägre än prognosandelen. Solceller, ett driftstopp eller nya öppettider kan flytta månadsvolymerna. Hur avvikelser och poolutfall fördelas är en avtalsfråga. Låt inte namnet Trygg ersätta en kontroll av villkoren.</a:t>
            </a:r>
          </a:p>
          <a:p/>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Fråga om kunden söker gemensam förvaltning eller egen plan. Utred budgetrisk, månadsförbrukning, anläggningar, elområden och förändringar. Årsvolymen räcker inte ensam för en rekommendation.</a:t>
            </a:r>
          </a:p>
          <a:p/>
          <a:p>
            <a:r>
              <a:t>Inför offert behöver strategiversion, 80/20, poolhorisont, faktisk säkringsuppbyggnad och kundavtal kontrolleras. Specificera portföljpris, profilhantering och tillägg. Jämför samma period, volym och kostnadsdelar. Elnät, energiskatt och moms ska hållas isär från den illustrerade elhandelskomponenten. Kontrollera avvikelsefördelning och avslutsvillkor utan att hitta på toleranser eller avgifter.</a:t>
            </a:r>
          </a:p>
          <a:p/>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jämförbara volymer för samma period. Säkringar antas hänföras till exempelvolymen. Inga priser eller avvikelsekostnader beräknas.</a:t>
            </a:r>
          </a:p>
          <a:p/>
          <a:p>
            <a:r>
              <a:t>DATA</a:t>
            </a:r>
          </a:p>
          <a:p>
            <a:r>
              <a:t>Förväntad volym: 1 000 MWh. Strategi: 80 procent index och 20 procent rörligt.</a:t>
            </a:r>
          </a:p>
          <a:p>
            <a:r>
              <a:t>Vid mättillfället är endast 500 MWh av den planerade indexvolymen genomfört. Faktisk förbrukning för perioden antas senare bli 1 250 MWh.</a:t>
            </a:r>
          </a:p>
          <a:p/>
          <a:p>
            <a:r>
              <a:t>MELLANLED</a:t>
            </a:r>
          </a:p>
          <a:p>
            <a:r>
              <a:t>Strategins indexmål: 1 000 × 0,80 = 800 MWh. Strategins rörliga del: 1 000 × 0,20 = 200 MWh.</a:t>
            </a:r>
          </a:p>
          <a:p>
            <a:r>
              <a:t>Genomfört vid mättillfället: 500 ÷ 1 000 × 100 = 50 procent av prognosen, inte 80 procent.</a:t>
            </a:r>
          </a:p>
          <a:p>
            <a:r>
              <a:t>Om inga ytterligare köp görs blir faktisk volymtäckning 500 ÷ 1 250 × 100 = 40 procent.</a:t>
            </a:r>
          </a:p>
          <a:p>
            <a:r>
              <a:t>Om hela målvolymen 800 MWh i stället genomförs blir täckningen 800 ÷ 1 250 × 100 = 64 procent.</a:t>
            </a:r>
          </a:p>
          <a:p/>
          <a:p>
            <a:r>
              <a:t>RESULTAT</a:t>
            </a:r>
          </a:p>
          <a:p>
            <a:r>
              <a:t>80 procent är strategimålet; nuläget är 500 MWh och scenariernas faktiska täckning är 40 eller 64 procent.</a:t>
            </a:r>
          </a:p>
          <a:p/>
          <a:p>
            <a:r>
              <a:t>TOLKNING</a:t>
            </a:r>
          </a:p>
          <a:p>
            <a:r>
              <a:t>Ett strategimål kan inte användas som bevis på genomförd handel. Exemplen beskriver volymrelationer och säger inget om hur avvikelser debiteras.</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jämförbara volymer för samma period. Säkringar antas hänföras till exempelvolymen. Inga priser eller avvikelsekostnader beräknas.</a:t>
            </a:r>
          </a:p>
          <a:p/>
          <a:p>
            <a:r>
              <a:t>DATA</a:t>
            </a:r>
          </a:p>
          <a:p>
            <a:r>
              <a:t>Förväntad volym: 1 000 MWh. Strategi: 80 procent index och 20 procent rörligt.</a:t>
            </a:r>
          </a:p>
          <a:p>
            <a:r>
              <a:t>Vid mättillfället är endast 500 MWh av den planerade indexvolymen genomfört. Faktisk förbrukning för perioden antas senare bli 1 250 MWh.</a:t>
            </a:r>
          </a:p>
          <a:p/>
          <a:p>
            <a:r>
              <a:t>MELLANLED</a:t>
            </a:r>
          </a:p>
          <a:p>
            <a:r>
              <a:t>Strategins indexmål: 1 000 × 0,80 = 800 MWh. Strategins rörliga del: 1 000 × 0,20 = 200 MWh.</a:t>
            </a:r>
          </a:p>
          <a:p>
            <a:r>
              <a:t>Genomfört vid mättillfället: 500 ÷ 1 000 × 100 = 50 procent av prognosen, inte 80 procent.</a:t>
            </a:r>
          </a:p>
          <a:p>
            <a:r>
              <a:t>Om inga ytterligare köp görs blir faktisk volymtäckning 500 ÷ 1 250 × 100 = 40 procent.</a:t>
            </a:r>
          </a:p>
          <a:p>
            <a:r>
              <a:t>Om hela målvolymen 800 MWh i stället genomförs blir täckningen 800 ÷ 1 250 × 100 = 64 procent.</a:t>
            </a:r>
          </a:p>
          <a:p/>
          <a:p>
            <a:r>
              <a:t>RESULTAT</a:t>
            </a:r>
          </a:p>
          <a:p>
            <a:r>
              <a:t>80 procent är strategimålet; nuläget är 500 MWh och scenariernas faktiska täckning är 40 eller 64 procent.</a:t>
            </a:r>
          </a:p>
          <a:p/>
          <a:p>
            <a:r>
              <a:t>TOLKNING</a:t>
            </a:r>
          </a:p>
          <a:p>
            <a:r>
              <a:t>Ett strategimål kan inte användas som bevis på genomförd handel. Exemplen beskriver volymrelationer och säger inget om hur avvikelser debiteras.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Två syntetiska säsongsblock sammanfattar ett år. Priserna avser samma redan sammanställda portföljkomponent; 80/20 har inte en gång till applicerats på dem. Profil, tillägg, andra komponenter, elnät, energiskatt och moms ingår inte.</a:t>
            </a:r>
          </a:p>
          <a:p/>
          <a:p>
            <a:r>
              <a:t>DATA</a:t>
            </a:r>
          </a:p>
          <a:p>
            <a:r>
              <a:t>Illustrerat vinterpris: 100 öre/kWh. Sommarpris: 50 öre/kWh.</a:t>
            </a:r>
          </a:p>
          <a:p>
            <a:r>
              <a:t>Kund A använder 600 000 kWh vinter och 400 000 kWh sommar. Kund B använder 200 000 respektive 800 000 kWh.</a:t>
            </a:r>
          </a:p>
          <a:p/>
          <a:p>
            <a:r>
              <a:t>MELLANLED</a:t>
            </a:r>
          </a:p>
          <a:p>
            <a:r>
              <a:t>Kund A: 600 000 × 1,00 + 400 000 × 0,50 = 800 000 kr.</a:t>
            </a:r>
          </a:p>
          <a:p>
            <a:r>
              <a:t>Kund A:s snitt: 800 000 ÷ 1 000 000 × 100 = 80 öre/kWh.</a:t>
            </a:r>
          </a:p>
          <a:p>
            <a:r>
              <a:t>Kund B: 200 000 × 1,00 + 800 000 × 0,50 = 600 000 kr.</a:t>
            </a:r>
          </a:p>
          <a:p>
            <a:r>
              <a:t>Kund B:s snitt: 600 000 ÷ 1 000 000 × 100 = 60 öre/kWh.</a:t>
            </a:r>
          </a:p>
          <a:p/>
          <a:p>
            <a:r>
              <a:t>RESULTAT</a:t>
            </a:r>
          </a:p>
          <a:p>
            <a:r>
              <a:t>Kund A får 80 öre/kWh och kund B 60 öre/kWh för den illustrerade komponenten.</a:t>
            </a:r>
          </a:p>
          <a:p/>
          <a:p>
            <a:r>
              <a:t>TOLKNING</a:t>
            </a:r>
          </a:p>
          <a:p>
            <a:r>
              <a:t>Årsvolymen och periodpriserna är samma, men månadsfördelningen skiljer. Det oviktade priset 75 öre är inte rätt kostnadssnitt för någon av dessa två kunder.</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Två syntetiska säsongsblock sammanfattar ett år. Priserna avser samma redan sammanställda portföljkomponent; 80/20 har inte en gång till applicerats på dem. Profil, tillägg, andra komponenter, elnät, energiskatt och moms ingår inte.</a:t>
            </a:r>
          </a:p>
          <a:p/>
          <a:p>
            <a:r>
              <a:t>DATA</a:t>
            </a:r>
          </a:p>
          <a:p>
            <a:r>
              <a:t>Illustrerat vinterpris: 100 öre/kWh. Sommarpris: 50 öre/kWh.</a:t>
            </a:r>
          </a:p>
          <a:p>
            <a:r>
              <a:t>Kund A använder 600 000 kWh vinter och 400 000 kWh sommar. Kund B använder 200 000 respektive 800 000 kWh.</a:t>
            </a:r>
          </a:p>
          <a:p/>
          <a:p>
            <a:r>
              <a:t>MELLANLED</a:t>
            </a:r>
          </a:p>
          <a:p>
            <a:r>
              <a:t>Kund A: 600 000 × 1,00 + 400 000 × 0,50 = 800 000 kr.</a:t>
            </a:r>
          </a:p>
          <a:p>
            <a:r>
              <a:t>Kund A:s snitt: 800 000 ÷ 1 000 000 × 100 = 80 öre/kWh.</a:t>
            </a:r>
          </a:p>
          <a:p>
            <a:r>
              <a:t>Kund B: 200 000 × 1,00 + 800 000 × 0,50 = 600 000 kr.</a:t>
            </a:r>
          </a:p>
          <a:p>
            <a:r>
              <a:t>Kund B:s snitt: 600 000 ÷ 1 000 000 × 100 = 60 öre/kWh.</a:t>
            </a:r>
          </a:p>
          <a:p/>
          <a:p>
            <a:r>
              <a:t>RESULTAT</a:t>
            </a:r>
          </a:p>
          <a:p>
            <a:r>
              <a:t>Kund A får 80 öre/kWh och kund B 60 öre/kWh för den illustrerade komponenten.</a:t>
            </a:r>
          </a:p>
          <a:p/>
          <a:p>
            <a:r>
              <a:t>TOLKNING</a:t>
            </a:r>
          </a:p>
          <a:p>
            <a:r>
              <a:t>Årsvolymen och periodpriserna är samma, men månadsfördelningen skiljer. Det oviktade priset 75 öre är inte rätt kostnadssnitt för någon av dessa två kunder.</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Trygg betyder 80 procent fast faktura.</a:t>
            </a:r>
          </a:p>
          <a:p/>
          <a:p>
            <a:r>
              <a:t>80 procent avser indexdelen i strategins förväntade volym. Fakturan påverkas även av faktisk volym och andra komponenter.</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Alla poolkunder har samma årssnitt.</a:t>
            </a:r>
          </a:p>
          <a:p/>
          <a:p>
            <a:r>
              <a:t>Samma periodpriser kan ge olika förbrukningsvägda årssnitt när månadsvolymerna skiljer.</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Poolen har automatiskt 24 månaders horisont.</a:t>
            </a:r>
          </a:p>
          <a:p/>
          <a:p>
            <a:r>
              <a:t>Aktuell poolhorisont kontrolleras separat i strategi och offert; individuell indexstandard kan inte överföras.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 Trygg bygger på gemensamma, regelstyrda inköp för 80 procent av den förväntade volymen och 20 procent rörligt. Det sprider indexdelens inköp över tid. Det ger ingen garanti om lägst pris eller helt fast kostnad.</a:t>
            </a:r>
          </a:p>
          <a:p/>
          <a:p>
            <a:r>
              <a:t>UTVECKLAD FÖRKLARING</a:t>
            </a:r>
          </a:p>
          <a:p>
            <a:r>
              <a:t>Vi kontrollerar prisomfattning, genomförd säkring och kvarvarande inköpsplan. Månadsförbrukning och kundvillkor påverkar utfallet. Köp kan vara fördelaktiga vid uppgång och dyrare än osäkrat vid prisfall. Kontrollera aktuell horisont, avtalslängd och avvikelseregler.</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En fiktiv verkstad väntar 1 200 000 kWh nätinköp: 70 procent vinter och 30 procent sommar. Övningspriserna är 90 respektive 60 öre/kWh för portföljkomponenten. Ekonomichefen tror att Trygg ger samma årssnitt som andra kunder och 80 procent fast faktura.</a:t>
            </a:r>
          </a:p>
          <a:p/>
          <a:p>
            <a:r>
              <a:t>UPPGIFTER</a:t>
            </a:r>
          </a:p>
          <a:p>
            <a:r>
              <a:t>Beräkna verkstadens volymvägda komponentpris och kostnad.</a:t>
            </a:r>
          </a:p>
          <a:p>
            <a:r>
              <a:t>Rätta påståendena om årssnitt och faktura.</a:t>
            </a:r>
          </a:p>
          <a:p>
            <a:r>
              <a:t>Beskriv vilka aktuella pooluppgifter du måste verifiera före offert.</a:t>
            </a:r>
          </a:p>
          <a:p/>
          <a:p>
            <a:r>
              <a:t>MODELLSVAR</a:t>
            </a:r>
          </a:p>
          <a:p>
            <a:r>
              <a:t>Vintervolymen är 840 000 kWh och sommarvolymen 360 000 kWh. Kostnaden blir 840 000 × 0,90 + 360 000 × 0,60 = 972 000 kr. Snittet är 972 000 ÷ 1 200 000 × 100 = 81 öre/kWh. Det gäller bara den illustrerade komponenten. Andra månadsprofiler kan ge andra årssnitt. 80/20 beskriver strategi, inte fakturans fasta andel. Verifiera strategiversion, genomförd säkring, poolhorisont, profilhantering, tillägg, avtalslängd och avvikelsefördelning.</a:t>
            </a:r>
          </a:p>
          <a:p/>
          <a:p>
            <a:r>
              <a:t>BEDÖMNINGSSTÖD</a:t>
            </a:r>
          </a:p>
          <a:p>
            <a:r>
              <a:t>Visar 840 000 och 360 000 kWh samt korrekt kronomvandling.</a:t>
            </a:r>
          </a:p>
          <a:p>
            <a:r>
              <a:t>Anger 81 öre/kWh och 972 000 kr med begränsad omfattning.</a:t>
            </a:r>
          </a:p>
          <a:p>
            <a:r>
              <a:t>Skiljer strategimål, faktisk position och faktura.</a:t>
            </a:r>
          </a:p>
          <a:p>
            <a:r>
              <a:t>Kontrollerar poolens egna aktuella villkor utan antagen horisont.</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En fiktiv verkstad väntar 1 200 000 kWh nätinköp: 70 procent vinter och 30 procent sommar. Övningspriserna är 90 respektive 60 öre/kWh för portföljkomponenten. Ekonomichefen tror att Trygg ger samma årssnitt som andra kunder och 80 procent fast faktura.</a:t>
            </a:r>
          </a:p>
          <a:p/>
          <a:p>
            <a:r>
              <a:t>UPPGIFTER</a:t>
            </a:r>
          </a:p>
          <a:p>
            <a:r>
              <a:t>Beräkna verkstadens volymvägda komponentpris och kostnad.</a:t>
            </a:r>
          </a:p>
          <a:p>
            <a:r>
              <a:t>Rätta påståendena om årssnitt och faktura.</a:t>
            </a:r>
          </a:p>
          <a:p>
            <a:r>
              <a:t>Beskriv vilka aktuella pooluppgifter du måste verifiera före offert.</a:t>
            </a:r>
          </a:p>
          <a:p/>
          <a:p>
            <a:r>
              <a:t>MODELLSVAR</a:t>
            </a:r>
          </a:p>
          <a:p>
            <a:r>
              <a:t>Vintervolymen är 840 000 kWh och sommarvolymen 360 000 kWh. Kostnaden blir 840 000 × 0,90 + 360 000 × 0,60 = 972 000 kr. Snittet är 972 000 ÷ 1 200 000 × 100 = 81 öre/kWh. Det gäller bara den illustrerade komponenten. Andra månadsprofiler kan ge andra årssnitt. 80/20 beskriver strategi, inte fakturans fasta andel. Verifiera strategiversion, genomförd säkring, poolhorisont, profilhantering, tillägg, avtalslängd och avvikelsefördelning.</a:t>
            </a:r>
          </a:p>
          <a:p/>
          <a:p>
            <a:r>
              <a:t>BEDÖMNINGSSTÖD</a:t>
            </a:r>
          </a:p>
          <a:p>
            <a:r>
              <a:t>Visar 840 000 och 360 000 kWh samt korrekt kronomvandling.</a:t>
            </a:r>
          </a:p>
          <a:p>
            <a:r>
              <a:t>Anger 81 öre/kWh och 972 000 kr med begränsad omfattning.</a:t>
            </a:r>
          </a:p>
          <a:p>
            <a:r>
              <a:t>Skiljer strategimål, faktisk position och faktura.</a:t>
            </a:r>
          </a:p>
          <a:p>
            <a:r>
              <a:t>Kontrollerar poolens egna aktuella villkor utan antagen horisont.</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Vilket påstående förklarar 80/20 korrekt?</a:t>
            </a:r>
          </a:p>
          <a:p/>
          <a:p>
            <a:r>
              <a:t>FACIT</a:t>
            </a:r>
          </a:p>
          <a:p>
            <a:r>
              <a:t>Rätt alternativ: B. Förväntad volym fördelas i strategin på 80 procent index och 20 procent rörligt. Förklaring: Fördelningen beskriver strategi. Genomförda köp och faktisk täckning behöver egen verifiering.</a:t>
            </a:r>
          </a:p>
          <a:p/>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800 MWh säkring är genomförd för perioden och faktisk volym blir 1 250 MWh. Vilken faktisk volymtäckning blir det?</a:t>
            </a:r>
          </a:p>
          <a:p/>
          <a:p>
            <a:r>
              <a:t>FACIT</a:t>
            </a:r>
          </a:p>
          <a:p>
            <a:r>
              <a:t>Svar: 64 procent. 800 ÷ 1 250 × 100 = 64 procent. Säkringsvolymen har inte ändrats, men nämnaren skiljer från prognosen.</a:t>
            </a:r>
          </a:p>
          <a:p/>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Varför får kund A och B olika snitt i det andra exemplet?</a:t>
            </a:r>
          </a:p>
          <a:p/>
          <a:p>
            <a:r>
              <a:t>FACIT</a:t>
            </a:r>
          </a:p>
          <a:p>
            <a:r>
              <a:t>Rätt alternativ: B. Deras volymer ligger olika fördelade mellan perioderna. Förklaring: Viktningen görs med kundens kWh i respektive period. Det är inte bevis på ett annat erbjudande eller påslag.</a:t>
            </a:r>
          </a:p>
          <a:p/>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vill att du lovar 24 månaders poolhorisont och samma fakturabelopp varje månad. Hur hanterar du det?</a:t>
            </a:r>
          </a:p>
          <a:p/>
          <a:p>
            <a:r>
              <a:t>FACIT</a:t>
            </a:r>
          </a:p>
          <a:p>
            <a:r>
              <a:t>Kontrollera poolens aktuella horisont separat från avtalslängden. Förklara att strategin inte ger samma fakturabelopp: förbrukning, kvarvarande exponering och övriga komponenter påverkar kostnaden. Ge bara besked som stöds av godkända villkor.</a:t>
            </a:r>
          </a:p>
          <a:p/>
          <a:p>
            <a:r>
              <a:t>Kontrollerar poolhorisont i aktuellt underlag.</a:t>
            </a:r>
          </a:p>
          <a:p>
            <a:r>
              <a:t>Avstår från löfte om lika faktura och förklarar varför.</a:t>
            </a:r>
          </a:p>
          <a:p>
            <a:r>
              <a:t>Skiljer strategi från fullständigt pris och volym.</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80/20 beskriver strategins förväntade volym.</a:t>
            </a:r>
          </a:p>
          <a:p>
            <a:r>
              <a:t>Planerad andel bevisar inte genomförd säkring.</a:t>
            </a:r>
          </a:p>
          <a:p>
            <a:r>
              <a:t>Volymväg varje kunds periodpriser med kundens kWh.</a:t>
            </a:r>
          </a:p>
          <a:p>
            <a:r>
              <a:t>Trygg innebär inte prisgaranti eller lika fakturabelopp.</a:t>
            </a:r>
          </a:p>
          <a:p>
            <a:r>
              <a:t>Kontrollera poolens egen horisont, profil och avvikelsevillkor.</a:t>
            </a:r>
          </a:p>
          <a:p/>
          <a:p>
            <a:r>
              <a:t>KÄLLOR</a:t>
            </a:r>
          </a:p>
          <a:p>
            <a:r>
              <a:t>Produktspecifikationer för säljare · 10 oktober 2026 (31 sidor) · s. 20, 21, 22 · Produktspecifikation för säljare, 2026-10-10: Trygg-strategi, pris/profil, uppbyggnad, risk och offertkontroll.</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 Offensiv kombinerar indexköp, aktiva marknadsbedömningar och rörlig exponering. Här visar vi gynnsamma och ogynnsamma scenarier. Kunden behöver förstå mandatet och att aktiv förvaltning inte garanterar billigast el.</a:t>
            </a:r>
          </a:p>
          <a:p/>
          <a:p>
            <a:r>
              <a:t>LÄRANDEMÅL</a:t>
            </a:r>
          </a:p>
          <a:p>
            <a:r>
              <a:t>Förklara strategins 40 procent index, 40 procent aktivt och 20 procent rörligt.</a:t>
            </a:r>
          </a:p>
          <a:p>
            <a:r>
              <a:t>Skilja aktiv beslutsprincip från faktisk position och garanterat resultat.</a:t>
            </a:r>
          </a:p>
          <a:p>
            <a:r>
              <a:t>Beräkna jämförbara scenarier med rätt volymvikter och kostnadsomfattning.</a:t>
            </a:r>
          </a:p>
          <a:p>
            <a:r>
              <a:t>Bedöma kundens acceptans för sämre aktivt utfall och verifiera aktuellt mandat.</a:t>
            </a:r>
          </a:p>
          <a:p/>
          <a:p>
            <a:r>
              <a:t>KANONISKT BERÄTTARMANUS</a:t>
            </a:r>
          </a:p>
          <a:p>
            <a:r>
              <a:t>pool-offensiv-01 · Tre beslutsprinciper</a:t>
            </a:r>
          </a:p>
          <a:p>
            <a:r>
              <a:t>Pool Offensiv kombinerar tre sätt att hantera elinköpet. Fyrtio procent av den förväntade volymen hör till regelstyrda indexköp. Fyrtio procent hanteras med aktiva marknadsbedömningar inom ett aktuellt mandat. Tjugo procent är rörligt enligt avtalets prisdefinition. Kunden deltar i en gemensam pool, inte automatiskt i en egen individuell inköpsplan. Fördelningen beskriver strategin. Den berättar hur inköpet är tänkt att hanteras, men inte exakt vilka köp som redan är genomförda. Därför ska du skilja strategimålet från faktisk position. Namnet Offensiv betyder inte att kunden garanteras marknadens lägsta pris eller ett helt fast slutpris. De aktiva besluten behöver förklaras med både möjlighet och risk.</a:t>
            </a:r>
          </a:p>
          <a:p>
            <a:r>
              <a:t>På skärmen: 40 % index | 40 % aktiva beslut | 20 % rörligt</a:t>
            </a:r>
          </a:p>
          <a:p>
            <a:r>
              <a:t>Bildidé: Visa tre volymdelar märkta beslutsprincip; låt strategiplan vara skild från handelsposition.</a:t>
            </a:r>
          </a:p>
          <a:p/>
          <a:p>
            <a:r>
              <a:t>pool-offensiv-02 · Aktivt är inget resultatlöfte</a:t>
            </a:r>
          </a:p>
          <a:p>
            <a:r>
              <a:t>Aktiv förvaltning bygger på marknadsbedömningar inom ett mandat. Besluten kan ge ett lägre pris än en annan strategi, men också ett högre. Ingen kan därför förklara den aktiva delen som garanterade bottenköp eller säker överavkastning. Mandatet måste dessutom verifieras i aktuellt underlag. Kontrollera vilken funktion som ansvarar, vilka beslut som tillåts och vilken strategiversion som gäller. Ett äldre utbildningsmaterial bevisar inte vem som förvaltar poolen i dag. När kunden frågar om säkerheten ska du vara konkret: hur skulle budgeten påverkas om det aktiva utfallet blir sämre än en regelstyrd jämförelse? Det svaret behövs innan produkten kan bedömas utifrån kundens behov.</a:t>
            </a:r>
          </a:p>
          <a:p>
            <a:r>
              <a:t>På skärmen: Bättre och sämre utfall är möjliga | Kontrollera aktuellt mandat | Fråga vad budgeten tål</a:t>
            </a:r>
          </a:p>
          <a:p>
            <a:r>
              <a:t>Bildidé: Visa två möjliga utfallsriktningar och en verifieringsruta för ansvarig funktion; inget påhittat namn.</a:t>
            </a:r>
          </a:p>
          <a:p/>
          <a:p>
            <a:r>
              <a:t>pool-offensiv-03 · Mål och genomförda köp</a:t>
            </a:r>
          </a:p>
          <a:p>
            <a:r>
              <a:t>Anta en prognos på tusen megawattimmar. Strategin fördelar då fyrahundra till index, fyrahundra till aktiva beslut och tvåhundra till rörligt. Men i vårt exempel har bara tvåhundra megawattimmar indexköp och hundra megawattimmar aktiva köp genomförts. Om inga andra volymsäkringar finns är den genomförda mängden trehundra megawattimmar, alltså trettio procent av prognosen. Du kan inte säga åttio procent säkrat bara för att index och aktivt tillsammans är åttio procent av strategin. Verifiera den verkliga positionen för rätt period. Om den faktiska förbrukningen ändras ändras också relationen mellan säkrad mängd och kundens volym. Kostnadsansvaret för avvikelser måste sedan hämtas ur avtalet.</a:t>
            </a:r>
          </a:p>
          <a:p>
            <a:r>
              <a:t>På skärmen: Strategimål: 400 / 400 / 200 MWh | Genomfört i exemplet: 300 MWh | 30 % av prognosen</a:t>
            </a:r>
          </a:p>
          <a:p>
            <a:r>
              <a:t>Bildidé: Visa plan och nuläge i olika kolumner och undvik att fylla aktiva strategivolymen som säkrad.</a:t>
            </a:r>
          </a:p>
          <a:p/>
          <a:p>
            <a:r>
              <a:t>pool-offensiv-04 · Två tydliga kostnadsscenarier</a:t>
            </a:r>
          </a:p>
          <a:p>
            <a:r>
              <a:t>Räkna med samma period och jämförbara komponentpriser. I vårt påhittade exempel kostar index sjuttio öre och rörligt åttio öre per kilowattimme. Om aktivdelen blir femtiofem öre ger fyrtio, fyrtio och tjugo procents viktning ett snitt på sextiosex öre. Om aktivdelen i stället blir nittio öre blir snittet åttio öre. För en miljon kilowattimmar är det sexhundrasextiotusen eller åttahundratusen kronor. En jämförbar åttio tjugo-kalkyl ger sjuttiotvå öre, alltså sjuhundratjugotusen kronor. Det första aktiva scenariot är lägre och det andra högre. Scenarierna är inga prognoser eller faktiska köp. Profil, tillägg, elnät, energiskatt och moms ligger utanför denna illustrerade komponent.</a:t>
            </a:r>
          </a:p>
          <a:p>
            <a:r>
              <a:t>På skärmen: Aktivt 55 → totalt 66 öre/kWh | Aktivt 90 → totalt 80 öre/kWh | Jämförbar referens: 72 öre/kWh</a:t>
            </a:r>
          </a:p>
          <a:p>
            <a:r>
              <a:t>Bildidé: Visa båda scenarierna bredvid identisk referens med kronor för samma volym; märk antaganden tydligt.</a:t>
            </a:r>
          </a:p>
          <a:p/>
          <a:p>
            <a:r>
              <a:t>pool-offensiv-05 · Ett välgrundat nästa steg</a:t>
            </a:r>
          </a:p>
          <a:p>
            <a:r>
              <a:t>Fråga om kunden vill ha gemensam förvaltning med aktiva beslut och accepterar ett år när utfallet blir sämre än en annan strategi. Samla nätinköp per månad, anläggningar och elområden samt planerade förändringar. Verifiera aktuell strategi, ansvarig funktion, mandat, faktisk position och poolhorisont. Standardhorisonten för individuell index gäller inte automatiskt här, och horisont är inte samma sak som avtalslängd. Kontrollera också profilhantering, tillägg, avvikelser och eventuella avslutsvillkor i en godkänd offert. Om kunden kräver garanterat lägst pris ska du rätta förväntningen och pröva behovet mot godkända alternativ. Låt till sist kunden återberätta skillnaden mellan en aktiv beslutsprincip, ett genomfört köp och ett antaget scenario.</a:t>
            </a:r>
          </a:p>
          <a:p>
            <a:r>
              <a:t>På skärmen: Pröva riskacceptansen | Verifiera aktuella villkor | Kunden återberättar skillnaderna</a:t>
            </a:r>
          </a:p>
          <a:p>
            <a:r>
              <a:t>Bildidé: Visa behovsfrågor följda av verifierade offertfält; avsluta med kundens återberättande.</a:t>
            </a:r>
          </a:p>
          <a:p/>
          <a:p>
            <a:r>
              <a:t>KÄLLOR</a:t>
            </a:r>
          </a:p>
          <a:p>
            <a:r>
              <a:t>Produktspecifikationer för säljare · 10 oktober 2026 (31 sidor) · s. 23, 24, 25 · Produktspecifikation för säljare, 2026-10-10: Offensiv-strategi, aktiva beslut, mandat, prisomfattning och risk.</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Strategin fördelar förväntad volym på 40 procent index, 40 procent aktiv förvaltning och 20 procent rörligt. Indexdelen bygger på regelstyrda köp över tid. Den aktiva delen bygger på marknadsbedömningar inom ett aktuellt mandat. Den rörliga delen behåller exponering enligt avtalets prisdefinition.</a:t>
            </a:r>
          </a:p>
          <a:p/>
          <a:p>
            <a:r>
              <a:t>Fördelningen beskriver strategin, inte 80 procent genomförd säkring eller en bestämd aktiv position. Olika beslut kan fattas inom mandatet. Kunden deltar i en gemensam pool, inte automatiskt en egen individuell plan.</a:t>
            </a:r>
          </a:p>
          <a:p/>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Marknadsbedömningar kan ge ett lägre pris än en annan strategi, men de kan också ge ett högre pris. Ett lyckat tidigare beslut bevisar inte att nästa beslut lyckas. Produktionen av en prisprognos är inte samma sak som ett löfte om utfall. Undvik påståenden om bottenköp, garanterad överavkastning eller marknadens billigaste el.</a:t>
            </a:r>
          </a:p>
          <a:p/>
          <a:p>
            <a:r>
              <a:t>Kontrollera dagens ansvariga funktion, strategiversion och tillåtna beslut. Äldre material bevisar inte vem som förvaltar poolen nu. Förvaltaridentitet, mandatgränser och tidsramar får inte antas.</a:t>
            </a:r>
          </a:p>
          <a:p/>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Strategimålet är 40/40/20 av förväntad volym. Faktisk position beskriver genomförda köp och annan verifierad exponering för en angiven period. Utfallet beskriver vad dessa beslut och marknaden gav. Om samma ord ”aktiv del” används för alla tre kan kunden felaktigt tro att ett räknat scenario är ett redan genomfört köp.</a:t>
            </a:r>
          </a:p>
          <a:p/>
          <a:p>
            <a:r>
              <a:t>Ändrad förbrukning förändrar säkringens volymtäckning. Kontrollera månadsvolymer, anläggningar, elområden och framtida förändringar. Avvikelsefördelning och kostnadsansvar följer godkända villkor, aldrig en antagen tolerans.</a:t>
            </a:r>
          </a:p>
          <a:p/>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En scenarioberäkning kan vikta tre jämförbara komponentpriser med 40, 40 och 20 procent. Men scenariot måste beskriva antagandena. Välj samma period, volym, referens och profilantaganden i jämförelsen. Om en kalkyl innehåller påslag och en annan inte gör det är prisskillnaden svår att tolka.</a:t>
            </a:r>
          </a:p>
          <a:p/>
          <a:p>
            <a:r>
              <a:t>Priser i öre per kWh delas med 100 för att bli kronor per kWh. Volym i MWh multipliceras med 1 000 för att bli kWh. Portföljpris och finansiellt resultat avräknas enligt villkoren. Profilhantering och tillägg kan påverka kundens fullständiga kostnad. Elnät, energiskatt och moms hålls isär från portföljens illustrerade komponenter.</a:t>
            </a:r>
          </a:p>
          <a:p/>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Pröva Offensiv när kunden önskar gemensam förvaltning med aktiva marknadsbedömningar och accepterar att utfallet kan bli sämre än i en regelstyrd jämförelse. Fråga konkret hur kunden skulle bedöma ett sådant år. En årsvolym eller en önskan om lågt pris räcker inte som rekommendationsgrund.</a:t>
            </a:r>
          </a:p>
          <a:p/>
          <a:p>
            <a:r>
              <a:t>Verifiera mandat, strategi, position, poolhorisont och kundavtal. Individuell index 24-månadershorisont gäller inte automatiskt poolen. Krav på lägsta eller helt fast pris behöver rättas och prövas mot godkända alternativ. Utbildning ger inte sälj- eller handelsmandat.</a:t>
            </a:r>
          </a:p>
          <a:p/>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jämförbara volymer för samma period. De angivna köpen antas vara enda volymsäkringarna. Inget verkligt mandat eller kostnadsutfall anges.</a:t>
            </a:r>
          </a:p>
          <a:p/>
          <a:p>
            <a:r>
              <a:t>DATA</a:t>
            </a:r>
          </a:p>
          <a:p>
            <a:r>
              <a:t>Förväntad volym: 1 000 MWh. Strategi: 40 procent index, 40 procent aktivt och 20 procent rörligt.</a:t>
            </a:r>
          </a:p>
          <a:p>
            <a:r>
              <a:t>Vid mättillfället är 200 MWh indexköp och 100 MWh aktiva köp genomförda. Inga andra volymsäkringar finns i exemplet.</a:t>
            </a:r>
          </a:p>
          <a:p/>
          <a:p>
            <a:r>
              <a:t>MELLANLED</a:t>
            </a:r>
          </a:p>
          <a:p>
            <a:r>
              <a:t>Strategivolymer: 1 000 × 0,40 = 400 MWh index, 400 MWh aktivt och 1 000 × 0,20 = 200 MWh rörligt.</a:t>
            </a:r>
          </a:p>
          <a:p>
            <a:r>
              <a:t>Genomförd säkringsvolym i exemplet: 200 + 100 = 300 MWh.</a:t>
            </a:r>
          </a:p>
          <a:p>
            <a:r>
              <a:t>Andel av prognosen som genomförda köp motsvarar: 300 ÷ 1 000 × 100 = 30 procent.</a:t>
            </a:r>
          </a:p>
          <a:p/>
          <a:p>
            <a:r>
              <a:t>RESULTAT</a:t>
            </a:r>
          </a:p>
          <a:p>
            <a:r>
              <a:t>Strategin är 40/40/20, medan den illustrerade genomförda volymsäkringen motsvarar 30 procent av prognosen.</a:t>
            </a:r>
          </a:p>
          <a:p/>
          <a:p>
            <a:r>
              <a:t>TOLKNING</a:t>
            </a:r>
          </a:p>
          <a:p>
            <a:r>
              <a:t>Aktivdelens 400 MWh beskriver strategins beslutsutrymme för volymen, inte bevis för att 400 MWh redan har köpts. En verklig position behöver verifierad redovisning.</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jämförbara volymer för samma period. De angivna köpen antas vara enda volymsäkringarna. Inget verkligt mandat eller kostnadsutfall anges.</a:t>
            </a:r>
          </a:p>
          <a:p/>
          <a:p>
            <a:r>
              <a:t>DATA</a:t>
            </a:r>
          </a:p>
          <a:p>
            <a:r>
              <a:t>Förväntad volym: 1 000 MWh. Strategi: 40 procent index, 40 procent aktivt och 20 procent rörligt.</a:t>
            </a:r>
          </a:p>
          <a:p>
            <a:r>
              <a:t>Vid mättillfället är 200 MWh indexköp och 100 MWh aktiva köp genomförda. Inga andra volymsäkringar finns i exemplet.</a:t>
            </a:r>
          </a:p>
          <a:p/>
          <a:p>
            <a:r>
              <a:t>MELLANLED</a:t>
            </a:r>
          </a:p>
          <a:p>
            <a:r>
              <a:t>Strategivolymer: 1 000 × 0,40 = 400 MWh index, 400 MWh aktivt och 1 000 × 0,20 = 200 MWh rörligt.</a:t>
            </a:r>
          </a:p>
          <a:p>
            <a:r>
              <a:t>Genomförd säkringsvolym i exemplet: 200 + 100 = 300 MWh.</a:t>
            </a:r>
          </a:p>
          <a:p>
            <a:r>
              <a:t>Andel av prognosen som genomförda köp motsvarar: 300 ÷ 1 000 × 100 = 30 procent.</a:t>
            </a:r>
          </a:p>
          <a:p/>
          <a:p>
            <a:r>
              <a:t>RESULTAT</a:t>
            </a:r>
          </a:p>
          <a:p>
            <a:r>
              <a:t>Strategin är 40/40/20, medan den illustrerade genomförda volymsäkringen motsvarar 30 procent av prognosen.</a:t>
            </a:r>
          </a:p>
          <a:p/>
          <a:p>
            <a:r>
              <a:t>TOLKNING</a:t>
            </a:r>
          </a:p>
          <a:p>
            <a:r>
              <a:t>Aktivdelens 400 MWh beskriver strategins beslutsutrymme för volymen, inte bevis för att 400 MWh redan har köpts. En verklig position behöver verifierad redovisning.</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kalkyl för 1 000 000 kWh i samma period och tre jämförbara referenskomponenter. Profil, tillägg, andra komponenter, elnät, energiskatt och moms ingår inte. Priserna är antaganden, inga köp eller prognoser.</a:t>
            </a:r>
          </a:p>
          <a:p/>
          <a:p>
            <a:r>
              <a:t>DATA</a:t>
            </a:r>
          </a:p>
          <a:p>
            <a:r>
              <a:t>Index: 70 öre/kWh. Rörligt: 80 öre/kWh. Aktivt antas vara 55 öre i scenario A och 90 öre i scenario B.</a:t>
            </a:r>
          </a:p>
          <a:p>
            <a:r>
              <a:t>Som identisk referens används 80 procent index till 70 öre och 20 procent rörligt till 80 öre. Referensen är en jämförelsekalkyl, ingen offert.</a:t>
            </a:r>
          </a:p>
          <a:p/>
          <a:p>
            <a:r>
              <a:t>MELLANLED</a:t>
            </a:r>
          </a:p>
          <a:p>
            <a:r>
              <a:t>Scenario A: 0,40 × 70 + 0,40 × 55 + 0,20 × 80 = 66 öre/kWh. Kostnad: 1 000 000 × 0,66 = 660 000 kr.</a:t>
            </a:r>
          </a:p>
          <a:p>
            <a:r>
              <a:t>Scenario B: 0,40 × 70 + 0,40 × 90 + 0,20 × 80 = 80 öre/kWh. Kostnad: 800 000 kr.</a:t>
            </a:r>
          </a:p>
          <a:p>
            <a:r>
              <a:t>Referens: 0,80 × 70 + 0,20 × 80 = 72 öre/kWh, alltså 720 000 kr.</a:t>
            </a:r>
          </a:p>
          <a:p>
            <a:r>
              <a:t>A är 60 000 kr lägre än referensen. B är 80 000 kr högre. Skillnaden mellan A och B är 140 000 kr.</a:t>
            </a:r>
          </a:p>
          <a:p/>
          <a:p>
            <a:r>
              <a:t>RESULTAT</a:t>
            </a:r>
          </a:p>
          <a:p>
            <a:r>
              <a:t>Aktivdelen ger i de antagna scenarierna ett komponentpris på 66 eller 80 öre/kWh.</a:t>
            </a:r>
          </a:p>
          <a:p/>
          <a:p>
            <a:r>
              <a:t>TOLKNING</a:t>
            </a:r>
          </a:p>
          <a:p>
            <a:r>
              <a:t>Samma strategi kan få olika utfall. Ingen sannolikhet eller garanti kan utläsas av de valda exemplen. Referensen måste ha samma omfattning för att kostnadsskillnaden ska betyda något.</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kalkyl för 1 000 000 kWh i samma period och tre jämförbara referenskomponenter. Profil, tillägg, andra komponenter, elnät, energiskatt och moms ingår inte. Priserna är antaganden, inga köp eller prognoser.</a:t>
            </a:r>
          </a:p>
          <a:p/>
          <a:p>
            <a:r>
              <a:t>DATA</a:t>
            </a:r>
          </a:p>
          <a:p>
            <a:r>
              <a:t>Index: 70 öre/kWh. Rörligt: 80 öre/kWh. Aktivt antas vara 55 öre i scenario A och 90 öre i scenario B.</a:t>
            </a:r>
          </a:p>
          <a:p>
            <a:r>
              <a:t>Som identisk referens används 80 procent index till 70 öre och 20 procent rörligt till 80 öre. Referensen är en jämförelsekalkyl, ingen offert.</a:t>
            </a:r>
          </a:p>
          <a:p/>
          <a:p>
            <a:r>
              <a:t>MELLANLED</a:t>
            </a:r>
          </a:p>
          <a:p>
            <a:r>
              <a:t>Scenario A: 0,40 × 70 + 0,40 × 55 + 0,20 × 80 = 66 öre/kWh. Kostnad: 1 000 000 × 0,66 = 660 000 kr.</a:t>
            </a:r>
          </a:p>
          <a:p>
            <a:r>
              <a:t>Scenario B: 0,40 × 70 + 0,40 × 90 + 0,20 × 80 = 80 öre/kWh. Kostnad: 800 000 kr.</a:t>
            </a:r>
          </a:p>
          <a:p>
            <a:r>
              <a:t>Referens: 0,80 × 70 + 0,20 × 80 = 72 öre/kWh, alltså 720 000 kr.</a:t>
            </a:r>
          </a:p>
          <a:p>
            <a:r>
              <a:t>A är 60 000 kr lägre än referensen. B är 80 000 kr högre. Skillnaden mellan A och B är 140 000 kr.</a:t>
            </a:r>
          </a:p>
          <a:p/>
          <a:p>
            <a:r>
              <a:t>RESULTAT</a:t>
            </a:r>
          </a:p>
          <a:p>
            <a:r>
              <a:t>Aktivdelen ger i de antagna scenarierna ett komponentpris på 66 eller 80 öre/kWh.</a:t>
            </a:r>
          </a:p>
          <a:p/>
          <a:p>
            <a:r>
              <a:t>TOLKNING</a:t>
            </a:r>
          </a:p>
          <a:p>
            <a:r>
              <a:t>Samma strategi kan få olika utfall. Ingen sannolikhet eller garanti kan utläsas av de valda exemplen. Referensen måste ha samma omfattning för att kostnadsskillnaden ska betyda något.</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Aktiv förvaltning betyder att vi alltid köper på botten.</a:t>
            </a:r>
          </a:p>
          <a:p/>
          <a:p>
            <a:r>
              <a:t>Aktiva marknadsbedömningar kan ge bättre eller sämre utfall. Strategin garanterar inte bottenköp.</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procent index plus 40 procent aktivt betyder 80 procent redan säkrat.</a:t>
            </a:r>
          </a:p>
          <a:p/>
          <a:p>
            <a:r>
              <a:t>Strategiandelarna anger förväntad volym. Genomförda köp och faktisk position verifieras separat.</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Offensiv har samma horisont och förvaltare som i det äldre materialet.</a:t>
            </a:r>
          </a:p>
          <a:p/>
          <a:p>
            <a:r>
              <a:t>Aktuell poolhorisont, ansvarig funktion och mandat kontrolleras i dagens strategi och offert.</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 Offensiv fördelar den förväntade volymen på 40 procent regelstyrda indexköp, 40 procent aktiva marknadsbedömningar och 20 procent rörligt. Ni deltar i gemensam förvaltning. De aktiva besluten kan ge både bättre och sämre utfall än en annan strategi.</a:t>
            </a:r>
          </a:p>
          <a:p/>
          <a:p>
            <a:r>
              <a:t>UTVECKLAD FÖRKLARING</a:t>
            </a:r>
          </a:p>
          <a:p>
            <a:r>
              <a:t>Vi verifierar mandat, position och prisomfattning. Strategin är inte faktisk säkringsgrad eller fast slutpris. Budgeten behöver tåla kvarvarande exponering och att aktivdelen blir dyrare än jämförelsen.</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Ett fiktivt företag väntar 2 000 000 kWh och diskuterar Offensiv. Övningspriserna är 65 öre index, 95 aktivt och 50 rörligt, med samma referens och omfattning. Ekonomichefen frågar: ”Måste aktivt alltid slå 80 procent index och 20 procent rörligt?”</a:t>
            </a:r>
          </a:p>
          <a:p/>
          <a:p>
            <a:r>
              <a:t>UPPGIFTER</a:t>
            </a:r>
          </a:p>
          <a:p>
            <a:r>
              <a:t>Beräkna Offensiv-kalkylens komponentpris och kostnad.</a:t>
            </a:r>
          </a:p>
          <a:p>
            <a:r>
              <a:t>Jämför med en 80/20-kalkyl till samma index- och rörliga priser.</a:t>
            </a:r>
          </a:p>
          <a:p>
            <a:r>
              <a:t>Förklara produktens risk och vad som måste verifieras innan beslut.</a:t>
            </a:r>
          </a:p>
          <a:p/>
          <a:p>
            <a:r>
              <a:t>MODELLSVAR</a:t>
            </a:r>
          </a:p>
          <a:p>
            <a:r>
              <a:t>Offensiv ger 0,40 × 65 + 0,40 × 95 + 0,20 × 50 = 74 öre/kWh: 1 480 000 kr. Referensen ger 0,80 × 65 + 0,20 × 50 = 62 öre/kWh: 1 240 000 kr. Skillnaden är 240 000 kr högre för Offensiv-scenariot. Det visar att aktivt kan bli sämre, inte hur framtiden blir. Pröva budgetens riskacceptans och verifiera mandat, position, horisont, profil, kostnader och avvikelsevillkor.</a:t>
            </a:r>
          </a:p>
          <a:p/>
          <a:p>
            <a:r>
              <a:t>BEDÖMNINGSSTÖD</a:t>
            </a:r>
          </a:p>
          <a:p>
            <a:r>
              <a:t>Beräknar 74 och 62 öre/kWh med samma omfattning.</a:t>
            </a:r>
          </a:p>
          <a:p>
            <a:r>
              <a:t>Omvandlar till 1 480 000 och 1 240 000 kr samt 240 000 kr skillnad.</a:t>
            </a:r>
          </a:p>
          <a:p>
            <a:r>
              <a:t>Förklarar att scenariot inte är genomförd handel eller garanti.</a:t>
            </a:r>
          </a:p>
          <a:p>
            <a:r>
              <a:t>Prövar riskacceptans och kontrollerar aktuella kommersiella villkor.</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Ett fiktivt företag väntar 2 000 000 kWh och diskuterar Offensiv. Övningspriserna är 65 öre index, 95 aktivt och 50 rörligt, med samma referens och omfattning. Ekonomichefen frågar: ”Måste aktivt alltid slå 80 procent index och 20 procent rörligt?”</a:t>
            </a:r>
          </a:p>
          <a:p/>
          <a:p>
            <a:r>
              <a:t>UPPGIFTER</a:t>
            </a:r>
          </a:p>
          <a:p>
            <a:r>
              <a:t>Beräkna Offensiv-kalkylens komponentpris och kostnad.</a:t>
            </a:r>
          </a:p>
          <a:p>
            <a:r>
              <a:t>Jämför med en 80/20-kalkyl till samma index- och rörliga priser.</a:t>
            </a:r>
          </a:p>
          <a:p>
            <a:r>
              <a:t>Förklara produktens risk och vad som måste verifieras innan beslut.</a:t>
            </a:r>
          </a:p>
          <a:p/>
          <a:p>
            <a:r>
              <a:t>MODELLSVAR</a:t>
            </a:r>
          </a:p>
          <a:p>
            <a:r>
              <a:t>Offensiv ger 0,40 × 65 + 0,40 × 95 + 0,20 × 50 = 74 öre/kWh: 1 480 000 kr. Referensen ger 0,80 × 65 + 0,20 × 50 = 62 öre/kWh: 1 240 000 kr. Skillnaden är 240 000 kr högre för Offensiv-scenariot. Det visar att aktivt kan bli sämre, inte hur framtiden blir. Pröva budgetens riskacceptans och verifiera mandat, position, horisont, profil, kostnader och avvikelsevillkor.</a:t>
            </a:r>
          </a:p>
          <a:p/>
          <a:p>
            <a:r>
              <a:t>BEDÖMNINGSSTÖD</a:t>
            </a:r>
          </a:p>
          <a:p>
            <a:r>
              <a:t>Beräknar 74 och 62 öre/kWh med samma omfattning.</a:t>
            </a:r>
          </a:p>
          <a:p>
            <a:r>
              <a:t>Omvandlar till 1 480 000 och 1 240 000 kr samt 240 000 kr skillnad.</a:t>
            </a:r>
          </a:p>
          <a:p>
            <a:r>
              <a:t>Förklarar att scenariot inte är genomförd handel eller garanti.</a:t>
            </a:r>
          </a:p>
          <a:p>
            <a:r>
              <a:t>Prövar riskacceptans och kontrollerar aktuella kommersiella villkor.</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beskrivning är korrekt?</a:t>
            </a:r>
          </a:p>
          <a:p/>
          <a:p>
            <a:r>
              <a:t>FACIT</a:t>
            </a:r>
          </a:p>
          <a:p>
            <a:r>
              <a:t>Rätt alternativ: A. 40 procent index, 40 procent aktiva beslut och 20 procent rörligt av strategins förväntade volym. Förklaring: Strategin beskriver beslutsprinciper och förväntad volym. Den säger inte vad som faktiskt är köpt eller garanterar priset.</a:t>
            </a:r>
          </a:p>
          <a:p/>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Räkna det antagna komponentpriset med 40 procent till 70 öre, 40 procent till 90 öre och 20 procent till 80 öre.</a:t>
            </a:r>
          </a:p>
          <a:p/>
          <a:p>
            <a:r>
              <a:t>FACIT</a:t>
            </a:r>
          </a:p>
          <a:p>
            <a:r>
              <a:t>Svar: 80 öre/kWh. 0,40 × 70 + 0,40 × 90 + 0,20 × 80 = 28 + 36 + 16 = 80 öre/kWh.</a:t>
            </a:r>
          </a:p>
          <a:p/>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Vad måste vara lika för en rättvis scenariejämförelse?</a:t>
            </a:r>
          </a:p>
          <a:p/>
          <a:p>
            <a:r>
              <a:t>FACIT</a:t>
            </a:r>
          </a:p>
          <a:p>
            <a:r>
              <a:t>Rätt alternativ: B. Period, volym, referenser, profilantaganden och kostnadsdelar. Förklaring: Skillnader i omfattning kan annars misstolkas som förvaltningens resultat.</a:t>
            </a:r>
          </a:p>
          <a:p/>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säger: ”Jag accepterar Offensiv bara om ni garanterar att aktivt alltid slår index.” Hur svarar du?</a:t>
            </a:r>
          </a:p>
          <a:p/>
          <a:p>
            <a:r>
              <a:t>FACIT</a:t>
            </a:r>
          </a:p>
          <a:p>
            <a:r>
              <a:t>Förklara att aktiv förvaltning kan ge både lägre och högre kostnad än index. Pröva kundens riskacceptans med ett sämre scenario. Om garantin är ett krav behöver behovet och godkända alternativ diskuteras; ge ingen utfästelse som modellen inte stöder.</a:t>
            </a:r>
          </a:p>
          <a:p/>
          <a:p>
            <a:r>
              <a:t>Anger både bättre och sämre utfall.</a:t>
            </a:r>
          </a:p>
          <a:p>
            <a:r>
              <a:t>Prövar budget och riskacceptans.</a:t>
            </a:r>
          </a:p>
          <a:p>
            <a:r>
              <a:t>Håller garanti, mandat och aktuella alternativ sakliga.</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40/40/20 beskriver strategi, inte redan genomförd position.</a:t>
            </a:r>
          </a:p>
          <a:p>
            <a:r>
              <a:t>Aktiv förvaltning ger ingen garanti om överavkastning.</a:t>
            </a:r>
          </a:p>
          <a:p>
            <a:r>
              <a:t>Jämför samma period, volym, referens och kostnadsdelar.</a:t>
            </a:r>
          </a:p>
          <a:p>
            <a:r>
              <a:t>Visa ett sämre aktivt scenario och fråga om budgeten tål det.</a:t>
            </a:r>
          </a:p>
          <a:p>
            <a:r>
              <a:t>Verifiera dagens mandat, poolhorisont och kundvillkor.</a:t>
            </a:r>
          </a:p>
          <a:p/>
          <a:p>
            <a:r>
              <a:t>KÄLLOR</a:t>
            </a:r>
          </a:p>
          <a:p>
            <a:r>
              <a:t>Produktspecifikationer för säljare · 10 oktober 2026 (31 sidor) · s. 23, 24, 25 · Produktspecifikation för säljare, 2026-10-10: Offensiv-strategi, aktiva beslut, mandat, prisomfattning och risk.</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Direkt låter kunden välja ett inköpstillfälle och säkra SYS/EPAD för avtalad mängd och framtida period. Du lär dig förklara beslutet, räkna volym och visa kvarvarande kostnadsvariation för en kund utan erfarenhet av elinköp.</a:t>
            </a:r>
          </a:p>
          <a:p/>
          <a:p>
            <a:r>
              <a:t>LÄRANDEMÅL</a:t>
            </a:r>
          </a:p>
          <a:p>
            <a:r>
              <a:t>Förklara skillnaden mellan köpdag och framtida leveransperiod.</a:t>
            </a:r>
          </a:p>
          <a:p>
            <a:r>
              <a:t>Beskriva vad SYS och EPAD säkrar och vilka kostnader som ligger separat.</a:t>
            </a:r>
          </a:p>
          <a:p>
            <a:r>
              <a:t>Beräkna säkrad mängd och jämföra den med faktisk förbrukning.</a:t>
            </a:r>
          </a:p>
          <a:p>
            <a:r>
              <a:t>Tolka ett uppgångs-, nedgångs- och profilscenario utan att göra det till en fakturaformel.</a:t>
            </a:r>
          </a:p>
          <a:p>
            <a:r>
              <a:t>Genomföra en kunddialog som tydliggör beslutets nytta, risk och nödvändiga offertkontroller.</a:t>
            </a:r>
          </a:p>
          <a:p/>
          <a:p>
            <a:r>
              <a:t>KANONISKT BERÄTTARMANUS</a:t>
            </a:r>
          </a:p>
          <a:p>
            <a:r>
              <a:t>kraftringen-direkt-01 · Vad kunden väljer</a:t>
            </a:r>
          </a:p>
          <a:p>
            <a:r>
              <a:t>Med Kraftringen Direkt väljer kunden ett tillfälle att säkra en prisnivå för en överenskommen mängd och framtida leveransperiod. Köpdag och leveransperiod är alltså olika saker. Vi fattar inköpsbeslutet vid ett tillfälle, men elen ska användas senare. Direkt bygger inte upp den här säkringen genom dagliga indexinköp. Det kunden accepterar behöver därför visa område, referenser, mängd och period. Nyttan är större förutsägbarhet för det som säkras. Samtidigt blir valet beroende av den valda tidpunkten. Om marknaden senare sjunker följer den redan säkrade nivån inte automatiskt med ned. Kunden behöver förstå båda sidor innan beslutet fattas.</a:t>
            </a:r>
          </a:p>
          <a:p>
            <a:r>
              <a:t>På skärmen: Ett inköpstillfälle | Köpdag ≠ leveransperiod | Område · referenser · mängd · period</a:t>
            </a:r>
          </a:p>
          <a:p>
            <a:r>
              <a:t>Bildidé: Avataren markerar en köpdag på en tidslinje och en separat framtida leveransperiod. Fyra faktakort visar vad beslutet måste ange.</a:t>
            </a:r>
          </a:p>
          <a:p/>
          <a:p>
            <a:r>
              <a:t>kraftringen-direkt-02 · Vad som säkras och vad som ligger separat</a:t>
            </a:r>
          </a:p>
          <a:p>
            <a:r>
              <a:t>SYS är det nordiska systempriset. Det är en prisreferens, inte kundens lokala elpris. EPAD används för att säkra skillnaden mellan systempriset och kundens elområde. Tillsammans hanterar de områdets prisreferens för matchad mängd och period. I ett pedagogiskt exempel blir femtio öre systempris och tjugo öre områdesskillnad tillsammans sjuttio öre per kilowattimme. Men lägg inte områdesskillnaden ovanpå ett områdespris som redan inkluderar den. Dygnsprofilen ligger separat. Även osäkrad volym, andra elhandelskostnader och påslag påverkar kostnaden enligt avtalet. Elnät, energiskatt och moms behöver också hållas isär från själva säkringen. Hela fakturan blir alltså inte fast genom dessa två referenser.</a:t>
            </a:r>
          </a:p>
          <a:p>
            <a:r>
              <a:t>På skärmen: SYS + EPAD | 50 + 20 = 70 öre/kWh · exempel | Profil och osäkrat separat | Ingen helt fast faktura</a:t>
            </a:r>
          </a:p>
          <a:p>
            <a:r>
              <a:t>Bildidé: Två referensblock kombineras. Profil, öppen volym och andra kostnader placeras i egna block med tydliga gränser.</a:t>
            </a:r>
          </a:p>
          <a:p/>
          <a:p>
            <a:r>
              <a:t>kraftringen-direkt-03 · Volymbasen styr procentsatsen</a:t>
            </a:r>
          </a:p>
          <a:p>
            <a:r>
              <a:t>Beskriven standard är åttio procent av ett överenskommet volymunderlag, om inget annat avtalas. Med hundra megawattimmar i prognos säkras åttio megawattimmar för samma period. Om verklig förbrukning blir hundratjugofem megawattimmar räknar vi åttio delat med hundratjugofem. Det blir sextiofyra procent av faktiskt uttag. Om förbrukningen i stället blir sextio megawattimmar är kvoten ungefär hundratrettiotre procent. Den säkrade mängden överstiger då uttaget. Det är inte ett löfte om hur kunden ersätts eller hur fakturan ser ut. Avräkningen följer aktuellt avtal. Kom ihåg att samma mängd kan ge olika procenttal beroende på vilken nämnare vi använder.</a:t>
            </a:r>
          </a:p>
          <a:p>
            <a:r>
              <a:t>På skärmen: 100 MWh × 80 % = 80 MWh | 80 ÷ 125 = 64 % | 80 ÷ 60 ≈ 133,33 % | Avräkning enligt avtal</a:t>
            </a:r>
          </a:p>
          <a:p>
            <a:r>
              <a:t>Bildidé: Ett oförändrat block på 80 MWh jämförs med två olika utfallsstaplar. Procentsatserna skrivs som volymkvoter, aldrig som fakturaandel.</a:t>
            </a:r>
          </a:p>
          <a:p/>
          <a:p>
            <a:r>
              <a:t>kraftringen-direkt-04 · Prissäkringen fungerar åt båda håll</a:t>
            </a:r>
          </a:p>
          <a:p>
            <a:r>
              <a:t>Nu använder vi en förenklad principmodell med åttiotusen kilowattimmar säkrade till sjuttio öre och hundratusen kilowattimmar faktiskt uttag. Om den matchande referensen stiger till en krona ger säkringen ett positivt resultat på tjugofyratusen kronor. Spotkostnaden är hundratusen kronor, och modellnettot blir sjuttiosextusen. Om referensen i stället faller till fyrtio öre blir resultatet negativt tjugofyratusen. Då blir modellnettot sextiofyratusen kronor, jämfört med fyrtiotusen utan säkring. Vid kundens spotutfall en krona och fem öre, men referens en krona, blir nettot åttioettusen. Profilskillnaden är femtusen kronor på hela faktiska mängden i just detta exempel. Modellen saknar andra kostnader och ersätter inte prisbilagan.</a:t>
            </a:r>
          </a:p>
          <a:p>
            <a:r>
              <a:t>På skärmen: Syntetisk principmodell | Uppgång: netto 76 000 kr | Nedgång: netto 64 000 kr | Profilscenario: netto 81 000 kr</a:t>
            </a:r>
          </a:p>
          <a:p>
            <a:r>
              <a:t>Bildidé: Tre scenarier visas med fysisk kostnad och finansiellt resultat som separata rader. Avgränsningen till principmodell ligger synlig hela tiden.</a:t>
            </a:r>
          </a:p>
          <a:p/>
          <a:p>
            <a:r>
              <a:t>kraftringen-direkt-05 · Från räkneexempel till kunddialog</a:t>
            </a:r>
          </a:p>
          <a:p>
            <a:r>
              <a:t>Börja kunddialogen med vad verksamheten vill skydda och hur mycket prisvariation budgeten klarar. Be om förväntat nätinköp månad för månad. Fråga om maskiner, öppettider, lokaler eller egen produktion kommer att ändra behovet. Direkt kan vara relevant när ett valt säkringstillfälle är huvudbehovet. Om kunden också vill ha ett gemensamt pris på den säkrade komponenten behöver ni jämföra med Stabil. Gissa inte Direkts månadsfakturering utifrån namnet. Läs aktuell prisbilaga och kontrollera profil, avvikelser och avslut. Visa både uppgång och nedgång, och låt kunden återberätta vad som är säkrat. Ett tydligt beslut kräver att även den kvarvarande risken är begriplig.</a:t>
            </a:r>
          </a:p>
          <a:p>
            <a:r>
              <a:t>På skärmen: Budgetmål och framtida nätinköp | Direkt eller Stabil? | Aktuell prisbilaga | Låt kunden återberätta</a:t>
            </a:r>
          </a:p>
          <a:p>
            <a:r>
              <a:t>Bildidé: Avataren leder en kunddialog med fyra frågekort. Avsluta med kundens egen återberättelse av mängd, komponenter och kvarvarande variation.</a:t>
            </a:r>
          </a:p>
          <a:p/>
          <a:p>
            <a:r>
              <a:t>KÄLLOR</a:t>
            </a:r>
          </a:p>
          <a:p>
            <a:r>
              <a:t>Produktspecifikationer för säljare · 10 oktober 2026 (31 sidor) · s. 29, 30, 31 · Produktspecifikation för säljare, 2026-10-10: Direkt, volymbas, SYS/EPAD, profil, principmodeller och offertkontroller.</a:t>
            </a:r>
          </a:p>
          <a:p>
            <a:r>
              <a:t>Ludwigs uttryckliga produktprecisering i samtalet · Användarens produktskillnad: Direkt och Stabil är två modeller med samma säkringsgrund; Stabil utjämnar endast den säkrade delen.</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Köpdag är dagen då prisnivån accepteras och säkringen genomförs. Leveransperioden är den framtida period säkringen avser. Elen används och faktureras senare. Beslutet ska ange prisreferenser, område, mängd och period.</a:t>
            </a:r>
          </a:p>
          <a:p/>
          <a:p>
            <a:r>
              <a:t>Direkt bygger inte upp säkringen genom dagliga indexinköp. Kunden väljer nivån vid ett tillfälle. Det gör beslutet tydligt men innebär tidpunktsberoende: en senare marknadsnedgång sänker inte automatiskt den redan säkrade nivån.</a:t>
            </a:r>
          </a:p>
          <a:p/>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SYS är det nordiska systempriset, beräknat utan begränsningarna i överföringskapacitet mellan elområdena. Det är inte kundens lokala elpris. EPAD säkrar skillnaden mellan systempriset och kundens elområde. Skillnaden kan vara positiv eller negativ.</a:t>
            </a:r>
          </a:p>
          <a:p/>
          <a:p>
            <a:r>
              <a:t>Tillsammans säkrar SYS och EPAD områdets prisreferens för matchad mängd och period. Om prisuppgiften redan är ett komplett områdespris ska områdesskillnaden inte läggas till igen. Referenssäkring ger samtidigt inte ett helt fast, faktiskt förbrukningsvägt elhandelspris.</a:t>
            </a:r>
          </a:p>
          <a:p/>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Beskriven standard är 80 procent av överenskommet volymunderlag, om inget annat avtalas. Underlag 100 MWh ger 80 MWh säkrat för samma period. Mängden växer eller krymper inte automatiskt med verkligt uttag.</a:t>
            </a:r>
          </a:p>
          <a:p/>
          <a:p>
            <a:r>
              <a:t>Skriv prognos, period och säkrad mängd. Faktisk täckning är säkrad mängd delad med verkligt uttag. En kvot över 100 procent betyder att säkrad mängd överstiger uttaget. Den avgör inte ersättning eller avräkning; sådana regler finns i avtalet.</a:t>
            </a:r>
          </a:p>
          <a:p/>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Månadsprofilen visar volym över årets månader. Dygnsprofilen visar användning inom månadens timmar och kvartar. Samma årsvolym kan därför ge olika kostnad när användningen följer olika priser.</a:t>
            </a:r>
          </a:p>
          <a:p/>
          <a:p>
            <a:r>
              <a:t>Dygnsprofil ligger separat från säkringen och får inte automatiskt räknas bara på osäkrade 20 procent. Osäkrat är marknadsberoende. Andra elhandelskostnader följer prisbilagan; elnät, energiskatt och moms hålls isär.</a:t>
            </a:r>
          </a:p>
          <a:p/>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Säkringen minskar exponeringen mot prisuppgång för omfattade komponenter och mängd. Den garanterar inte lägsta pris. Vid prisfall kan säkrad nivå vara högre än senare marknad. Kunden väljer hur prisrisk hanteras, inte ett säkert vinnande köp.</a:t>
            </a:r>
          </a:p>
          <a:p/>
          <a:p>
            <a:r>
              <a:t>Direkt har inte Stabils gemensamma kundanpassade snittdebitering. Det räcker inte för att härleda en exakt Direktfaktura månad för månad. Använd aktuell prisbilaga för månadspris, valuta, referenser och avräkning, och kontrollera att jämförelser avser samma mängd, period och kostnadsdelar.</a:t>
            </a:r>
          </a:p>
          <a:p/>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Fråga vad kunden vill skydda: marginal, budget eller vald nivå. Samla framtida nätinköp per månad och förändringar i lokaler, maskiner, drift och egen produktion. Historisk årssumma räcker inte när verksamheten ändras.</a:t>
            </a:r>
          </a:p>
          <a:p/>
          <a:p>
            <a:r>
              <a:t>Verifiera område, prognos, mängd, period och aktuella volym-, profil-, flytt- och avslutsvillkor. Visa uppgång och nedgång. Låt kunden återberätta säkrat och kvarvarande risk; det prövar förståelse bättre än ett snabbt ja.</a:t>
            </a:r>
          </a:p>
          <a:p/>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mängdjämförelse för samma period; ingen faktura eller avvikelseersättning.</a:t>
            </a:r>
          </a:p>
          <a:p/>
          <a:p>
            <a:r>
              <a:t>DATA</a:t>
            </a:r>
          </a:p>
          <a:p>
            <a:r>
              <a:t>Prognos 100 MWh = 100 000 kWh; säkring 80 procent.</a:t>
            </a:r>
          </a:p>
          <a:p>
            <a:r>
              <a:t>Alternativa faktiska uttag: 125 MWh respektive 60 MWh.</a:t>
            </a:r>
          </a:p>
          <a:p/>
          <a:p>
            <a:r>
              <a:t>MELLANLED</a:t>
            </a:r>
          </a:p>
          <a:p>
            <a:r>
              <a:t>100 × 0,80 = 80 MWh säkrat.</a:t>
            </a:r>
          </a:p>
          <a:p>
            <a:r>
              <a:t>80 ÷ 125 × 100 = 64 procent.</a:t>
            </a:r>
          </a:p>
          <a:p>
            <a:r>
              <a:t>80 ÷ 60 × 100 ≈ 133,33 procent; säkrad mängd överstiger uttaget med 20 MWh.</a:t>
            </a:r>
          </a:p>
          <a:p/>
          <a:p>
            <a:r>
              <a:t>RESULTAT</a:t>
            </a:r>
          </a:p>
          <a:p>
            <a:r>
              <a:t>Oförändrade 80 MWh motsvarar 64 respektive cirka 133,33 procent av faktiskt uttag.</a:t>
            </a:r>
          </a:p>
          <a:p/>
          <a:p>
            <a:r>
              <a:t>TOLKNING</a:t>
            </a:r>
          </a:p>
          <a:p>
            <a:r>
              <a:t>Olika nämnare ger olika andelar. Översäkring i mängd ger inget automatiskt löfte om ersättning; avtalet avgör avräkningen.</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mängdjämförelse för samma period; ingen faktura eller avvikelseersättning.</a:t>
            </a:r>
          </a:p>
          <a:p/>
          <a:p>
            <a:r>
              <a:t>DATA</a:t>
            </a:r>
          </a:p>
          <a:p>
            <a:r>
              <a:t>Prognos 100 MWh = 100 000 kWh; säkring 80 procent.</a:t>
            </a:r>
          </a:p>
          <a:p>
            <a:r>
              <a:t>Alternativa faktiska uttag: 125 MWh respektive 60 MWh.</a:t>
            </a:r>
          </a:p>
          <a:p/>
          <a:p>
            <a:r>
              <a:t>MELLANLED</a:t>
            </a:r>
          </a:p>
          <a:p>
            <a:r>
              <a:t>100 × 0,80 = 80 MWh säkrat.</a:t>
            </a:r>
          </a:p>
          <a:p>
            <a:r>
              <a:t>80 ÷ 125 × 100 = 64 procent.</a:t>
            </a:r>
          </a:p>
          <a:p>
            <a:r>
              <a:t>80 ÷ 60 × 100 ≈ 133,33 procent; säkrad mängd överstiger uttaget med 20 MWh.</a:t>
            </a:r>
          </a:p>
          <a:p/>
          <a:p>
            <a:r>
              <a:t>RESULTAT</a:t>
            </a:r>
          </a:p>
          <a:p>
            <a:r>
              <a:t>Oförändrade 80 MWh motsvarar 64 respektive cirka 133,33 procent av faktiskt uttag.</a:t>
            </a:r>
          </a:p>
          <a:p/>
          <a:p>
            <a:r>
              <a:t>TOLKNING</a:t>
            </a:r>
          </a:p>
          <a:p>
            <a:r>
              <a:t>Olika nämnare ger olika andelar. Översäkring i mängd ger inget automatiskt löfte om ersättning; avtalet avgör avräkningen.</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principmodell med matchande referens, period och mängd. Spotutfall antas lika referensen. Profil, påslag, nät, skatt och moms ingår inte; ingen fullständig fakturaformel.</a:t>
            </a:r>
          </a:p>
          <a:p/>
          <a:p>
            <a:r>
              <a:t>DATA</a:t>
            </a:r>
          </a:p>
          <a:p>
            <a:r>
              <a:t>SYS 50 + områdesskillnad 20 = 70 öre/kWh = 0,70 kr/kWh säkrad referens.</a:t>
            </a:r>
          </a:p>
          <a:p>
            <a:r>
              <a:t>80 000 kWh säkrat; 100 000 kWh faktiskt. Alternativa senare referenser 1,00 och 0,40 kr/kWh.</a:t>
            </a:r>
          </a:p>
          <a:p/>
          <a:p>
            <a:r>
              <a:t>MELLANLED</a:t>
            </a:r>
          </a:p>
          <a:p>
            <a:r>
              <a:t>Finansiellt resultat = säkrad kWh × (senare referens − säkrad nivå).</a:t>
            </a:r>
          </a:p>
          <a:p>
            <a:r>
              <a:t>Uppgång: 80 000 × (1,00 − 0,70) = +24 000 kr; spotkostnad 100 000 kr minus resultat = 76 000 kr.</a:t>
            </a:r>
          </a:p>
          <a:p>
            <a:r>
              <a:t>Nedgång: 80 000 × (0,40 − 0,70) = −24 000 kr; spotkostnad 40 000 kr minus negativt resultat = 64 000 kr.</a:t>
            </a:r>
          </a:p>
          <a:p/>
          <a:p>
            <a:r>
              <a:t>RESULTAT</a:t>
            </a:r>
          </a:p>
          <a:p>
            <a:r>
              <a:t>Avgränsat modellnetto: 76 000 kr vid uppgång, 64 000 kr vid nedgång.</a:t>
            </a:r>
          </a:p>
          <a:p/>
          <a:p>
            <a:r>
              <a:t>TOLKNING</a:t>
            </a:r>
          </a:p>
          <a:p>
            <a:r>
              <a:t>Säkringen sänker kostnaden vid uppgång men höjer den jämfört med osäkrat vid nedgång. Minusresultatet kräver korrekt tecken. Ingen offert.</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principmodell med matchande referens, period och mängd. Spotutfall antas lika referensen. Profil, påslag, nät, skatt och moms ingår inte; ingen fullständig fakturaformel.</a:t>
            </a:r>
          </a:p>
          <a:p/>
          <a:p>
            <a:r>
              <a:t>DATA</a:t>
            </a:r>
          </a:p>
          <a:p>
            <a:r>
              <a:t>SYS 50 + områdesskillnad 20 = 70 öre/kWh = 0,70 kr/kWh säkrad referens.</a:t>
            </a:r>
          </a:p>
          <a:p>
            <a:r>
              <a:t>80 000 kWh säkrat; 100 000 kWh faktiskt. Alternativa senare referenser 1,00 och 0,40 kr/kWh.</a:t>
            </a:r>
          </a:p>
          <a:p/>
          <a:p>
            <a:r>
              <a:t>MELLANLED</a:t>
            </a:r>
          </a:p>
          <a:p>
            <a:r>
              <a:t>Finansiellt resultat = säkrad kWh × (senare referens − säkrad nivå).</a:t>
            </a:r>
          </a:p>
          <a:p>
            <a:r>
              <a:t>Uppgång: 80 000 × (1,00 − 0,70) = +24 000 kr; spotkostnad 100 000 kr minus resultat = 76 000 kr.</a:t>
            </a:r>
          </a:p>
          <a:p>
            <a:r>
              <a:t>Nedgång: 80 000 × (0,40 − 0,70) = −24 000 kr; spotkostnad 40 000 kr minus negativt resultat = 64 000 kr.</a:t>
            </a:r>
          </a:p>
          <a:p/>
          <a:p>
            <a:r>
              <a:t>RESULTAT</a:t>
            </a:r>
          </a:p>
          <a:p>
            <a:r>
              <a:t>Avgränsat modellnetto: 76 000 kr vid uppgång, 64 000 kr vid nedgång.</a:t>
            </a:r>
          </a:p>
          <a:p/>
          <a:p>
            <a:r>
              <a:t>TOLKNING</a:t>
            </a:r>
          </a:p>
          <a:p>
            <a:r>
              <a:t>Säkringen sänker kostnaden vid uppgång men höjer den jämfört med osäkrat vid nedgång. Minusresultatet kräver korrekt tecken. Ingen offert.</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fortsättning på uppgången: hela faktiska uttaget får förbrukningsvägt spotutfall. Samma avgränsningar gäller; verklig avräkning följer prisbilagan.</a:t>
            </a:r>
          </a:p>
          <a:p/>
          <a:p>
            <a:r>
              <a:t>DATA</a:t>
            </a:r>
          </a:p>
          <a:p>
            <a:r>
              <a:t>Referens 1,00 kr/kWh; kundens spotutfall 1,05 kr/kWh.</a:t>
            </a:r>
          </a:p>
          <a:p>
            <a:r>
              <a:t>100 000 kWh faktiskt; säkringsresultat +24 000 kr.</a:t>
            </a:r>
          </a:p>
          <a:p/>
          <a:p>
            <a:r>
              <a:t>MELLANLED</a:t>
            </a:r>
          </a:p>
          <a:p>
            <a:r>
              <a:t>100 000 × 1,05 = 105 000 kr fysisk kostnad.</a:t>
            </a:r>
          </a:p>
          <a:p>
            <a:r>
              <a:t>105 000 − 24 000 = 81 000 kr modellnetto.</a:t>
            </a:r>
          </a:p>
          <a:p>
            <a:r>
              <a:t>81 000 − 76 000 = 5 000 kr = 100 000 × 0,05.</a:t>
            </a:r>
          </a:p>
          <a:p/>
          <a:p>
            <a:r>
              <a:t>RESULTAT</a:t>
            </a:r>
          </a:p>
          <a:p>
            <a:r>
              <a:t>5 öre på 100 000 kWh ger 5 000 kr profilskillnad.</a:t>
            </a:r>
          </a:p>
          <a:p/>
          <a:p>
            <a:r>
              <a:t>TOLKNING</a:t>
            </a:r>
          </a:p>
          <a:p>
            <a:r>
              <a:t>En beräkning på endast 20 000 kWh hade gett 1 000 kr och missat omfattningen. Referenssäkring och förbrukningsvägt spotutfall är separata led.</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fortsättning på uppgången: hela faktiska uttaget får förbrukningsvägt spotutfall. Samma avgränsningar gäller; verklig avräkning följer prisbilagan.</a:t>
            </a:r>
          </a:p>
          <a:p/>
          <a:p>
            <a:r>
              <a:t>DATA</a:t>
            </a:r>
          </a:p>
          <a:p>
            <a:r>
              <a:t>Referens 1,00 kr/kWh; kundens spotutfall 1,05 kr/kWh.</a:t>
            </a:r>
          </a:p>
          <a:p>
            <a:r>
              <a:t>100 000 kWh faktiskt; säkringsresultat +24 000 kr.</a:t>
            </a:r>
          </a:p>
          <a:p/>
          <a:p>
            <a:r>
              <a:t>MELLANLED</a:t>
            </a:r>
          </a:p>
          <a:p>
            <a:r>
              <a:t>100 000 × 1,05 = 105 000 kr fysisk kostnad.</a:t>
            </a:r>
          </a:p>
          <a:p>
            <a:r>
              <a:t>105 000 − 24 000 = 81 000 kr modellnetto.</a:t>
            </a:r>
          </a:p>
          <a:p>
            <a:r>
              <a:t>81 000 − 76 000 = 5 000 kr = 100 000 × 0,05.</a:t>
            </a:r>
          </a:p>
          <a:p/>
          <a:p>
            <a:r>
              <a:t>RESULTAT</a:t>
            </a:r>
          </a:p>
          <a:p>
            <a:r>
              <a:t>5 öre på 100 000 kWh ger 5 000 kr profilskillnad.</a:t>
            </a:r>
          </a:p>
          <a:p/>
          <a:p>
            <a:r>
              <a:t>TOLKNING</a:t>
            </a:r>
          </a:p>
          <a:p>
            <a:r>
              <a:t>En beräkning på endast 20 000 kWh hade gett 1 000 kr och missat omfattningen. Referenssäkring och förbrukningsvägt spotutfall är separata led.</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procent av fakturan blir fast.</a:t>
            </a:r>
          </a:p>
          <a:p/>
          <a:p>
            <a:r>
              <a:t>80 procent avser beskrivet prognosunderlag. Fakturan beror även på andra komponenter, faktiskt uttag och avtalsvillkor.</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Efter köpet får kunden också alla framtida prisfall.</a:t>
            </a:r>
          </a:p>
          <a:p/>
          <a:p>
            <a:r>
              <a:t>Den redan säkrade nivån följer inte automatiskt med ned. Säkringen fungerar åt båda håll.</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Direkt betyder ett gemensamt månadspris som Stabil.</a:t>
            </a:r>
          </a:p>
          <a:p/>
          <a:p>
            <a:r>
              <a:t>Direkt har inte Stabils kundanpassade snittdebitering. Exakt månadsberäkning hämtas ur aktuell prisbilaga.</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 Direkt väljer ni ett tillfälle att säkra SYS och elområdesskillnaden för en överenskommen mängd och period. Det ger större förutsägbarhet för de delarna. Dygnsprofil, osäkrad volym och andra prisdelar ligger separat. Säkrad nivå följer inte automatiskt med ned om marknaden faller.</a:t>
            </a:r>
          </a:p>
          <a:p/>
          <a:p>
            <a:r>
              <a:t>UTVECKLAD FÖRKLARING</a:t>
            </a:r>
          </a:p>
          <a:p>
            <a:r>
              <a:t>Vi utgår från framtida förbrukning och period. Ni accepterar SYS/EPAD-nivå vid ett tillfälle. Vi anger mängd, återstående risk och avvikelseregler. Behöver ni gemensamt komponentpris jämför vi med Stabil.</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Hallbergs Verkstad har köpt 500 MWh per år och vill välja Direkt. Ny maskin och längre öppettider kan höja inköpet till 650 MWh; solceller utreds. Kunden säger: Då är 80 procent av fakturan fast och vi får billigast pris om marknaden sjunker? Övningen använder gammalt underlag 500 MWh och 80 procents säkring för samma period.</a:t>
            </a:r>
          </a:p>
          <a:p/>
          <a:p>
            <a:r>
              <a:t>UPPGIFTER</a:t>
            </a:r>
          </a:p>
          <a:p>
            <a:r>
              <a:t>Räkna säkrad mängd och andel vid 650 MWh.</a:t>
            </a:r>
          </a:p>
          <a:p>
            <a:r>
              <a:t>Korrigera antagandena och förklara nyttan.</a:t>
            </a:r>
          </a:p>
          <a:p>
            <a:r>
              <a:t>Beskriv underlag och villkor före beslut.</a:t>
            </a:r>
          </a:p>
          <a:p/>
          <a:p>
            <a:r>
              <a:t>MODELLSVAR</a:t>
            </a:r>
          </a:p>
          <a:p>
            <a:r>
              <a:t>Övningen ger 500 × 0,80 = 400 MWh säkrat. Vid 650 MWh blir det 400 ÷ 650 × 100 ≈ 61,54 procent av faktiskt uttag, ingen fast fakturaandel. SYS/EPAD omfattas för avtalad mängd och period; profil, osäkrat och övrigt ligger separat. Prisfall sänker inte säkrad nivå. Visa båda marknadsriktningarna. Uppdatera månadsprognosen för maskin, öppettider och solceller: framtida nätinköp behövs. Kontrollera område, period, referenser, månadsmodell, avvikelser och avslut. Fråga om Stabil behövs och låt kunden återberätta. Gammalt underlag är övning, ingen rekommendation.</a:t>
            </a:r>
          </a:p>
          <a:p/>
          <a:p>
            <a:r>
              <a:t>BEDÖMNINGSSTÖD</a:t>
            </a:r>
          </a:p>
          <a:p>
            <a:r>
              <a:t>Anger 400 MWh och cirka 61,54 procent med rätt nämnare.</a:t>
            </a:r>
          </a:p>
          <a:p>
            <a:r>
              <a:t>Skiljer säkrade referenskomponenter från faktura och återstående risk.</a:t>
            </a:r>
          </a:p>
          <a:p>
            <a:r>
              <a:t>Förklarar både upp- och nedgång utan löfte om lägsta pris.</a:t>
            </a:r>
          </a:p>
          <a:p>
            <a:r>
              <a:t>Uppdaterar framtida månadsprognos och nämner offertens avvikelse- och månadsregler.</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Hallbergs Verkstad har köpt 500 MWh per år och vill välja Direkt. Ny maskin och längre öppettider kan höja inköpet till 650 MWh; solceller utreds. Kunden säger: Då är 80 procent av fakturan fast och vi får billigast pris om marknaden sjunker? Övningen använder gammalt underlag 500 MWh och 80 procents säkring för samma period.</a:t>
            </a:r>
          </a:p>
          <a:p/>
          <a:p>
            <a:r>
              <a:t>UPPGIFTER</a:t>
            </a:r>
          </a:p>
          <a:p>
            <a:r>
              <a:t>Räkna säkrad mängd och andel vid 650 MWh.</a:t>
            </a:r>
          </a:p>
          <a:p>
            <a:r>
              <a:t>Korrigera antagandena och förklara nyttan.</a:t>
            </a:r>
          </a:p>
          <a:p>
            <a:r>
              <a:t>Beskriv underlag och villkor före beslut.</a:t>
            </a:r>
          </a:p>
          <a:p/>
          <a:p>
            <a:r>
              <a:t>MODELLSVAR</a:t>
            </a:r>
          </a:p>
          <a:p>
            <a:r>
              <a:t>Övningen ger 500 × 0,80 = 400 MWh säkrat. Vid 650 MWh blir det 400 ÷ 650 × 100 ≈ 61,54 procent av faktiskt uttag, ingen fast fakturaandel. SYS/EPAD omfattas för avtalad mängd och period; profil, osäkrat och övrigt ligger separat. Prisfall sänker inte säkrad nivå. Visa båda marknadsriktningarna. Uppdatera månadsprognosen för maskin, öppettider och solceller: framtida nätinköp behövs. Kontrollera område, period, referenser, månadsmodell, avvikelser och avslut. Fråga om Stabil behövs och låt kunden återberätta. Gammalt underlag är övning, ingen rekommendation.</a:t>
            </a:r>
          </a:p>
          <a:p/>
          <a:p>
            <a:r>
              <a:t>BEDÖMNINGSSTÖD</a:t>
            </a:r>
          </a:p>
          <a:p>
            <a:r>
              <a:t>Anger 400 MWh och cirka 61,54 procent med rätt nämnare.</a:t>
            </a:r>
          </a:p>
          <a:p>
            <a:r>
              <a:t>Skiljer säkrade referenskomponenter från faktura och återstående risk.</a:t>
            </a:r>
          </a:p>
          <a:p>
            <a:r>
              <a:t>Förklarar både upp- och nedgång utan löfte om lägsta pris.</a:t>
            </a:r>
          </a:p>
          <a:p>
            <a:r>
              <a:t>Uppdaterar framtida månadsprognos och nämner offertens avvikelse- och månadsregler.</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beskrivning av Direkt är korrekt?</a:t>
            </a:r>
          </a:p>
          <a:p/>
          <a:p>
            <a:r>
              <a:t>FACIT</a:t>
            </a:r>
          </a:p>
          <a:p>
            <a:r>
              <a:t>Rätt alternativ: A. SYS/EPAD säkras vid ett tillfälle för avtalad mängd och period; andra delar separat. Förklaring: Ett valt tillfälle för definierade referenser, mängd och period. Dagliga indexinköp, fast faktura och Stabils snittdebitering följer inte av modellen.</a:t>
            </a:r>
          </a:p>
          <a:p/>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80 MWh säkrat, 125 MWh faktiskt för samma period. Vilken procentandel motsvarar säkrad mängd?</a:t>
            </a:r>
          </a:p>
          <a:p/>
          <a:p>
            <a:r>
              <a:t>FACIT</a:t>
            </a:r>
          </a:p>
          <a:p>
            <a:r>
              <a:t>Svar: 64 % av faktisk volym. 80 ÷ 125 × 100 = 64 procent. Nämnaren är faktiskt uttag, inte fakturabeloppet.</a:t>
            </a:r>
          </a:p>
          <a:p/>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I principmodellen är spotutfallet för 100 000 faktiska kWh 5 öre över referensen. Vad visar profilen?</a:t>
            </a:r>
          </a:p>
          <a:p/>
          <a:p>
            <a:r>
              <a:t>FACIT</a:t>
            </a:r>
          </a:p>
          <a:p>
            <a:r>
              <a:t>Rätt alternativ: B. 5 000 kr: profil får inte automatiskt begränsas till öppna delen. Förklaring: 100 000 × 0,05 = 5 000 kr. Referenssäkring och förbrukningsvägt utfall är separata. Verklig avräkning följer prisbilagan.</a:t>
            </a:r>
          </a:p>
          <a:p/>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vill säkra idag, få alla framtida prisfall och ett fast fakturabelopp. Svara och ställ två relevanta frågor.</a:t>
            </a:r>
          </a:p>
          <a:p/>
          <a:p>
            <a:r>
              <a:t>FACIT</a:t>
            </a:r>
          </a:p>
          <a:p>
            <a:r>
              <a:t>Säkrad SYS/EPAD-nivå följer inte automatiskt nedgång. Fakturan påverkas av profil, osäkrat, andra delar och mängd. Fråga om budgetmål och framtida nätinköp; kontrollera offert innan löften.</a:t>
            </a:r>
          </a:p>
          <a:p/>
          <a:p>
            <a:r>
              <a:t>Beskriver båda riktningarna.</a:t>
            </a:r>
          </a:p>
          <a:p>
            <a:r>
              <a:t>Skiljer komponent från faktura.</a:t>
            </a:r>
          </a:p>
          <a:p>
            <a:r>
              <a:t>Frågar om budget och framtida uttag.</a:t>
            </a:r>
          </a:p>
          <a:p>
            <a:r>
              <a:t>Uppfinner inga villkor.</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Ange köpdag och framtida leveransperiod var för sig.</a:t>
            </a:r>
          </a:p>
          <a:p>
            <a:r>
              <a:t>Skriv SYS/EPAD, prognosbas och säkrad mängd uttryckligt.</a:t>
            </a:r>
          </a:p>
          <a:p>
            <a:r>
              <a:t>Räkna faktisk täckning med faktiskt uttag som nämnare.</a:t>
            </a:r>
          </a:p>
          <a:p>
            <a:r>
              <a:t>Visa dygnsprofil och osäkrad volym som separata frågor.</a:t>
            </a:r>
          </a:p>
          <a:p>
            <a:r>
              <a:t>Jämför både stigande och fallande marknad.</a:t>
            </a:r>
          </a:p>
          <a:p>
            <a:r>
              <a:t>Hämta Direkts exakta månads- och avräkningsmodell ur aktuell prisbilaga.</a:t>
            </a:r>
          </a:p>
          <a:p/>
          <a:p>
            <a:r>
              <a:t>KÄLLOR</a:t>
            </a:r>
          </a:p>
          <a:p>
            <a:r>
              <a:t>Produktspecifikationer för säljare · 10 oktober 2026 (31 sidor) · s. 29, 30, 31 · Produktspecifikation för säljare, 2026-10-10: Direkt, volymbas, SYS/EPAD, profil, principmodeller och offertkontroller.</a:t>
            </a:r>
          </a:p>
          <a:p>
            <a:r>
              <a:t>Ludwigs uttryckliga produktprecisering i samtalet · Användarens produktskillnad: Direkt och Stabil är två modeller med samma säkringsgrund; Stabil utjämnar endast den säkrade delen.</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Stabil säkrar SYS/EPAD vid ett tillfälle för avtalad mängd och period. Förväntad månadsprofil ger dessutom ett gemensamt pris på säkrad del. Du lär dig beräkna utjämningen och förklara kvarvarande variation.</a:t>
            </a:r>
          </a:p>
          <a:p/>
          <a:p>
            <a:r>
              <a:t>LÄRANDEMÅL</a:t>
            </a:r>
          </a:p>
          <a:p>
            <a:r>
              <a:t>Förklara Stabils gemensamma pris som SYS/EPAD-pris på överenskommen säkrad mängd.</a:t>
            </a:r>
          </a:p>
          <a:p>
            <a:r>
              <a:t>Beräkna ett förbrukningsvägt pris med korrekta öre-, kron- och volymenheter.</a:t>
            </a:r>
          </a:p>
          <a:p>
            <a:r>
              <a:t>Skilja månadsprofil från dygnsprofil och komponentpris från fakturabelopp.</a:t>
            </a:r>
          </a:p>
          <a:p>
            <a:r>
              <a:t>Förklara varför utjämning inte skapar en besparing i sig.</a:t>
            </a:r>
          </a:p>
          <a:p>
            <a:r>
              <a:t>Hantera ändrad faktisk profil utan att ändra det överenskomna komponentpriset eller uppfinna avvikelsevillkor.</a:t>
            </a:r>
          </a:p>
          <a:p/>
          <a:p>
            <a:r>
              <a:t>KANONISKT BERÄTTARMANUS</a:t>
            </a:r>
          </a:p>
          <a:p>
            <a:r>
              <a:t>kraftringen-stabil-01 · Samma grund, en extra egenskap</a:t>
            </a:r>
          </a:p>
          <a:p>
            <a:r>
              <a:t>Kraftringen Stabil bygger på samma prissäkring som Direkt. Vid ett inköpstillfälle säkras systempriset och elområdesskillnaden för en överenskommen mängd och period. Den extra egenskapen är att kundens förväntade månadsförbrukning används för ett gemensamt, förbrukningsvägt SYS- och EPAD-pris. Varje överenskommen säkrad kilowattimme under perioden debiteras samma komponentpris. Det är viktigt att säga hela meningen. Vi talar om den säkrade komponenten, inte ett helt fast totalt elhandelspris eller en fast faktura. Dygnsprofil, osäkrad mängd och andra kostnader ligger separat. Kunden ska kunna återberätta både vad som har blivit gemensamt och vad som fortfarande kan påverka kostnaden.</a:t>
            </a:r>
          </a:p>
          <a:p>
            <a:r>
              <a:t>På skärmen: Ett inköpstillfälle · SYS + EPAD | Gemensamt pris på avtalad säkrad kWh | Övriga komponenter separat</a:t>
            </a:r>
          </a:p>
          <a:p>
            <a:r>
              <a:t>Bildidé: Direkt och Stabil visas med samma grundblock. Stabil får ett extra block för förbrukningsvägd komponentdebitering, medan profil och öppet ligger utanför.</a:t>
            </a:r>
          </a:p>
          <a:p/>
          <a:p>
            <a:r>
              <a:t>kraftringen-stabil-02 · Månadsprofilen ger vikterna</a:t>
            </a:r>
          </a:p>
          <a:p>
            <a:r>
              <a:t>Årsvolymen visar hur mycket el kunden förväntas köpa. Månadsprofilen visar hur inköpet fördelas över året. En månad med stor mängd får större vikt i prisberäkningen än en månad med liten mängd. Därför behöver vi mer än en årssumma. Vi behöver förväntat nätinköp månad för månad och kända förändringar i verksamheten. Historiken kan hjälpa, men nya maskiner, lokaler, drift eller egen produktion kan göra framtiden annorlunda. Månadsprofil ska dessutom skiljas från dygnsprofil. Dygnsprofil beskriver när inom månadens timmar och kvartar kunden använder el. Den ligger separat i Stabil, även när månadsprofilen har använts för att beräkna det gemensamma komponentpriset.</a:t>
            </a:r>
          </a:p>
          <a:p>
            <a:r>
              <a:t>På skärmen: Årsvolym: hur mycket? | Månadsprofil: vilka månader? | Dygnsprofil: vilka timmar och kvartar? | Framtida nätinköp</a:t>
            </a:r>
          </a:p>
          <a:p>
            <a:r>
              <a:t>Bildidé: Tolv mängdstaplar övergår till vikter. En separat förstoring visar kvartsmönster utan att lägga det i månadsutjämningens prisblock.</a:t>
            </a:r>
          </a:p>
          <a:p/>
          <a:p>
            <a:r>
              <a:t>kraftringen-stabil-03 · Räkna det viktade komponentpriset</a:t>
            </a:r>
          </a:p>
          <a:p>
            <a:r>
              <a:t>I ett pedagogiskt exempel är redan säkrad vintermängd sexhundratusen kilowattimmar till hundra öre. Säkrad sommarmängd är fyrahundratusen kilowattimmar till femtio öre. Hundra öre är en krona, så vinterns komponentkostnad blir sexhundratusen kronor. Sommaren kostar tvåhundratusen. Totalt blir det åttahundratusen kronor för en miljon kilowattimmar. När kostnaden delas med mängden får vi åttio öre per kilowattimme. Det enkla medelvärdet, sjuttiofem öre, blir fel eftersom vintermängden är större. De här mängderna avser redan den säkrade delen. Multiplicera dem inte med åttio procent igen. Exemplet visar bara viktningen för SYS och EPAD, inte en offert eller kundens fullständiga elpris.</a:t>
            </a:r>
          </a:p>
          <a:p>
            <a:r>
              <a:t>På skärmen: 600 000 × 1,00 = 600 000 kr | 400 000 × 0,50 = 200 000 kr | 800 000 ÷ 1 000 000 = 80 öre/kWh | Redan säkrade mängder</a:t>
            </a:r>
          </a:p>
          <a:p>
            <a:r>
              <a:t>Bildidé: En tabell byggs rad för rad. Kostnader, mängder och enheter följer med till divisionen. Det oviktade värdet visas med förklaringen lika vikt trots olika mängd.</a:t>
            </a:r>
          </a:p>
          <a:p/>
          <a:p>
            <a:r>
              <a:t>kraftringen-stabil-04 · Utjämning, belopp och kvarvarande risk</a:t>
            </a:r>
          </a:p>
          <a:p>
            <a:r>
              <a:t>Med det gemensamma komponentpriset åttio öre kostar exempelvintern fyrahundraåttiotusen kronor och sommaren trehundratjugotusen. Summan är fortfarande åttahundratusen kronor. Utjämningen skapar alltså ingen besparing i sig. Priset är gemensamt, men beloppen är olika eftersom mängderna skiljer sig. Samma sak hjälper oss att förstå fakturan: större förbrukning kan ge större kostnad även när en komponent har samma pris. Dessutom ligger dygnsprofil, osäkrat och andra elhandelskostnader separat. Elnät, energiskatt och moms ska också hållas isär. Fråga därför vad kunden menar med stabil kostnad. Handlar det om ett komponentpris, en årsbudget eller lika stora betalningar? Stabils prisutjämning ger inte i sig samma fakturabelopp.</a:t>
            </a:r>
          </a:p>
          <a:p>
            <a:r>
              <a:t>På skärmen: Vinterkomponent: 480 000 kr | Sommarkomponent: 320 000 kr | Total oförändrad: 800 000 kr | Gemensamt pris ≠ samma fakturabelopp</a:t>
            </a:r>
          </a:p>
          <a:p>
            <a:r>
              <a:t>Bildidé: Före och efter utjämning visas med samma total. Därefter multipliceras samma prisblock med två olika mängder, följt av separata övriga fakturakomponenter.</a:t>
            </a:r>
          </a:p>
          <a:p/>
          <a:p>
            <a:r>
              <a:t>kraftringen-stabil-05 · Förändringar och ett tydligt kundbeslut</a:t>
            </a:r>
          </a:p>
          <a:p>
            <a:r>
              <a:t>Beskriven standard är åttio procent av överenskommen prognos, om inget annat avtalas. Det är inte alltid åttio procent av faktiskt uttag. Hundra megawattimmar i prognos ger åttio säkrade. Vid hundratjugofem faktiskt blir volymkvoten sextiofyra procent. Även den faktiska månadsprofilen kan ändras. Det överenskomna SYS- och EPAD-priset ligger då kvar för avtalad säkrad mängd. Lova inte att alla andra kostnader är oförändrade eller att avvikelsen automatiskt blir kostnadsfri. Kontrollera avräkning och ansvar i aktuellt avtal. Samla ett framtida månadsunderlag, visa både uppgång och nedgång, och låt kunden återberätta omfattningen. Då blir Stabils nytta och kvarvarande risk begripliga före beslutet.</a:t>
            </a:r>
          </a:p>
          <a:p>
            <a:r>
              <a:t>På skärmen: 80 MWh ÷ 125 MWh = 64 % | Avtalat komponentpris ligger kvar | Andra avvikelser: aktuellt avtal | Kunden återberättar</a:t>
            </a:r>
          </a:p>
          <a:p>
            <a:r>
              <a:t>Bildidé: En förändrad månadsprofil visas bredvid ett oförändrat avtalat prisblock. Avvikelsevillkor får en separat dokumentmarkering; inga ersättningsbelopp eller toleranser hittas på.</a:t>
            </a:r>
          </a:p>
          <a:p/>
          <a:p>
            <a:r>
              <a:t>KÄLLOR</a:t>
            </a:r>
          </a:p>
          <a:p>
            <a:r>
              <a:t>Produktspecifikationer för säljare · 10 oktober 2026 (31 sidor) · s. 26, 27, 28 · Produktspecifikation för säljare, 2026-10-10: Stabil, gemensamt SYS/EPAD-pris, viktning, profil, volymbas och avtalsgräns.</a:t>
            </a:r>
          </a:p>
          <a:p>
            <a:r>
              <a:t>Ludwigs uttryckliga produktprecisering i samtalet · Explicit användarsvar: gemensamt månadspris gäller endast den säkrade, månadsutjämnade delen.</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SYS och EPAD säkras vid ett tillfälle för avtalad mängd och period. Stabil använder förväntad månadsfördelning för ett gemensamt förbrukningsvägt SYS/EPAD-pris. Varje överenskommen säkrad kWh debiteras samma komponentpris.</a:t>
            </a:r>
          </a:p>
          <a:p/>
          <a:p>
            <a:r>
              <a:t>Det gemensamma priset omfattar endast den säkrade, månadsutjämnade delen. Dygnsprofil, osäkrad mängd och andra elhandelskostnader ligger separat. Direkt har samma referenssäkring men saknar denna kundanpassade snittdebitering. Kunden ska kunna återberätta skillnaden.</a:t>
            </a:r>
          </a:p>
          <a:p/>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Årsvolymen visar total förväntad mängd. Månadsprofilen visar när inköpet behövs. Månader med stor användning får större betydelse för det viktade priset än månader med liten användning.</a:t>
            </a:r>
          </a:p>
          <a:p/>
          <a:p>
            <a:r>
              <a:t>Underlaget ska beskriva framtida nätinköp. Utgå från historik men räkna in nya maskiner, ändrad drift, ledighet, lokaler och egen produktion. Två företag med samma årsvolym kan få olika komponentpriser eftersom deras månadsprofiler skiljer sig.</a:t>
            </a:r>
          </a:p>
          <a:p/>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Multiplicera varje omfattad månadsmängd med dess prisnivå. Summera kostnaderna och dela med omfattad kWh. Håll enheterna konsekventa: 100 öre = 1 krona; 1 MWh = 1 000 kWh. Enkelt medelvärde ger månader lika vikt och blir fel när mängderna skiljer sig.</a:t>
            </a:r>
          </a:p>
          <a:p/>
          <a:p>
            <a:r>
              <a:t>Exemplets mängder avser redan den säkrade delen: multiplicera inte med 80 procent igen. Börjar du med total prognos måste du först veta hur säkrad mängd fördelas enligt avtalet. Blanda inte de stegen.</a:t>
            </a:r>
          </a:p>
          <a:p/>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Utjämningen uttrycker sammanvägd komponentkostnad som gemensamt pris per säkrad kWh. Den gör inte inköpet billigare i sig. Vid samma mängder är totalen före och efter omfördelningen densamma; periodbeloppen förändras.</a:t>
            </a:r>
          </a:p>
          <a:p/>
          <a:p>
            <a:r>
              <a:t>Gemensamt komponentpris är inte gemensamt totalt elhandelspris. Dygnsprofilen beskriver användning inom månadens timmar och kvartar och ligger separat. Osäkrat är marknadsberoende, andra kostnader följer prisbilagan. Elnät, energiskatt och moms hålls isär från säkringen.</a:t>
            </a:r>
          </a:p>
          <a:p/>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Komponenten 80 öre kostar 8 000 kr för 10 000 kWh och 16 000 kr för 20 000 kWh. Större mängd ger högre belopp; andra kostnader tillkommer.</a:t>
            </a:r>
          </a:p>
          <a:p/>
          <a:p>
            <a:r>
              <a:t>Fråga vad stabil kostnad betyder: komponentpris, totalt kWh-pris, årsbudget eller lika betalningar? Månadsutjämningen ger inte lika fakturabelopp. En separat betalningslösning får bara beskrivas om den erbjuds och är dokumenterad.</a:t>
            </a:r>
          </a:p>
          <a:p/>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Beskriven standard är 80 procent av prognos, om inget annat avtalas. Säkrad mängd är inte automatiskt 80 procent av nytt uttag. Ändrad faktisk månadsprofil ändrar inte avtalat SYS/EPAD-pris för avtalad säkrad mängd.</a:t>
            </a:r>
          </a:p>
          <a:p/>
          <a:p>
            <a:r>
              <a:t>Andra kostnader kan påverkas. Toleranser, avräkning och ansvar för volym- och profilavvikelser följer aktuellt avtal. Ändra inte komponentpriset i förklaringen och lova inte kostnadsfri omplanering.</a:t>
            </a:r>
          </a:p>
          <a:p/>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Stabil passar behovet att säkra en vald nivå och uttrycka säkrad komponent som ett gemensamt kWh-pris med säsongsmönstret inräknat. Kunden måste acceptera återstående exponering och att säkrad nivå inte automatiskt följer framtida prisfall.</a:t>
            </a:r>
          </a:p>
          <a:p/>
          <a:p>
            <a:r>
              <a:t>Kontrollera anläggningar, område, framtida månadsvolymer, leveransperiod, prognos och säkrad mängd. Visa viktning och separata delar. Läs avräknings-, valuta-, avvikelse-, flytt- och avslutsvillkor. Utbildning ersätter inte granskad offert.</a:t>
            </a:r>
          </a:p>
          <a:p/>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Syntetiska volymer avser redan den säkrade delen. Exemplet gäller viktning av dess SYS/EPAD-komponenter, före dygnsprofil, osäkrad el och övriga kostnader. Ingen offert; multiplicera inte volymerna med 80 procent igen.</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viktning av redan säkrad SYS/EPAD-mängd: inga ytterligare 80 procent. Inte offert eller totalpris. Profil, osäkrat, tillägg, nät, skatt och moms ingår inte.</a:t>
            </a:r>
          </a:p>
          <a:p/>
          <a:p>
            <a:r>
              <a:t>DATA</a:t>
            </a:r>
          </a:p>
          <a:p>
            <a:r>
              <a:t>Vinter: 600 000 säkrade kWh till 100 öre/kWh.</a:t>
            </a:r>
          </a:p>
          <a:p>
            <a:r>
              <a:t>Sommar: 400 000 säkrade kWh till 50 öre/kWh.</a:t>
            </a:r>
          </a:p>
          <a:p/>
          <a:p>
            <a:r>
              <a:t>MELLANLED</a:t>
            </a:r>
          </a:p>
          <a:p>
            <a:r>
              <a:t>100 öre = 1,00 kr; 50 öre = 0,50 kr.</a:t>
            </a:r>
          </a:p>
          <a:p>
            <a:r>
              <a:t>Vinter: 600 000 × 1,00 = 600 000 kr. Sommar: 400 000 × 0,50 = 200 000 kr.</a:t>
            </a:r>
          </a:p>
          <a:p>
            <a:r>
              <a:t>Totalt 800 000 kr för 1 000 000 kWh.</a:t>
            </a:r>
          </a:p>
          <a:p>
            <a:r>
              <a:t>800 000 ÷ 1 000 000 = 0,80 kr/kWh = 80 öre/kWh.</a:t>
            </a:r>
          </a:p>
          <a:p>
            <a:r>
              <a:t>Oviktat: (100 + 50) ÷ 2 = 75 öre/kWh.</a:t>
            </a:r>
          </a:p>
          <a:p/>
          <a:p>
            <a:r>
              <a:t>RESULTAT</a:t>
            </a:r>
          </a:p>
          <a:p>
            <a:r>
              <a:t>Förbrukningsvägt komponentpris är 80 öre/kWh.</a:t>
            </a:r>
          </a:p>
          <a:p/>
          <a:p>
            <a:r>
              <a:t>TOLKNING</a:t>
            </a:r>
          </a:p>
          <a:p>
            <a:r>
              <a:t>Vintern väger 60 procent, sommaren 40. Mer används när komponenten är dyrare; snittet blir över 75 öre. Oviktat medel passar lika mängder.</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viktning av redan säkrad SYS/EPAD-mängd: inga ytterligare 80 procent. Inte offert eller totalpris. Profil, osäkrat, tillägg, nät, skatt och moms ingår inte.</a:t>
            </a:r>
          </a:p>
          <a:p/>
          <a:p>
            <a:r>
              <a:t>DATA</a:t>
            </a:r>
          </a:p>
          <a:p>
            <a:r>
              <a:t>Vinter: 600 000 säkrade kWh till 100 öre/kWh.</a:t>
            </a:r>
          </a:p>
          <a:p>
            <a:r>
              <a:t>Sommar: 400 000 säkrade kWh till 50 öre/kWh.</a:t>
            </a:r>
          </a:p>
          <a:p/>
          <a:p>
            <a:r>
              <a:t>MELLANLED</a:t>
            </a:r>
          </a:p>
          <a:p>
            <a:r>
              <a:t>100 öre = 1,00 kr; 50 öre = 0,50 kr.</a:t>
            </a:r>
          </a:p>
          <a:p>
            <a:r>
              <a:t>Vinter: 600 000 × 1,00 = 600 000 kr. Sommar: 400 000 × 0,50 = 200 000 kr.</a:t>
            </a:r>
          </a:p>
          <a:p>
            <a:r>
              <a:t>Totalt 800 000 kr för 1 000 000 kWh.</a:t>
            </a:r>
          </a:p>
          <a:p>
            <a:r>
              <a:t>800 000 ÷ 1 000 000 = 0,80 kr/kWh = 80 öre/kWh.</a:t>
            </a:r>
          </a:p>
          <a:p>
            <a:r>
              <a:t>Oviktat: (100 + 50) ÷ 2 = 75 öre/kWh.</a:t>
            </a:r>
          </a:p>
          <a:p/>
          <a:p>
            <a:r>
              <a:t>RESULTAT</a:t>
            </a:r>
          </a:p>
          <a:p>
            <a:r>
              <a:t>Förbrukningsvägt komponentpris är 80 öre/kWh.</a:t>
            </a:r>
          </a:p>
          <a:p/>
          <a:p>
            <a:r>
              <a:t>TOLKNING</a:t>
            </a:r>
          </a:p>
          <a:p>
            <a:r>
              <a:t>Vintern väger 60 procent, sommaren 40. Mer används när komponenten är dyrare; snittet blir över 75 öre. Oviktat medel passar lika mängder.</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Samma redan säkrade mängder, gemensamt SYS/EPAD-pris 80 öre/kWh. Bara komponenten visas, inga periodfakturor.</a:t>
            </a:r>
          </a:p>
          <a:p/>
          <a:p>
            <a:r>
              <a:t>DATA</a:t>
            </a:r>
          </a:p>
          <a:p>
            <a:r>
              <a:t>600 000 kWh vinter och 400 000 kWh sommar; komponentpris 0,80 kr/kWh.</a:t>
            </a:r>
          </a:p>
          <a:p/>
          <a:p>
            <a:r>
              <a:t>MELLANLED</a:t>
            </a:r>
          </a:p>
          <a:p>
            <a:r>
              <a:t>Vinter: 600 000 × 0,80 = 480 000 kr.</a:t>
            </a:r>
          </a:p>
          <a:p>
            <a:r>
              <a:t>Sommar: 400 000 × 0,80 = 320 000 kr.</a:t>
            </a:r>
          </a:p>
          <a:p>
            <a:r>
              <a:t>Totalt 800 000 kr.</a:t>
            </a:r>
          </a:p>
          <a:p>
            <a:r>
              <a:t>Vintern minskar 120 000 kr och sommaren ökar lika mycket jämfört med utgångsvärdena.</a:t>
            </a:r>
          </a:p>
          <a:p/>
          <a:p>
            <a:r>
              <a:t>RESULTAT</a:t>
            </a:r>
          </a:p>
          <a:p>
            <a:r>
              <a:t>Oförändrad total 800 000 kr: 480 000 vinter, 320 000 sommar.</a:t>
            </a:r>
          </a:p>
          <a:p/>
          <a:p>
            <a:r>
              <a:t>TOLKNING</a:t>
            </a:r>
          </a:p>
          <a:p>
            <a:r>
              <a:t>Gemensamt pris ger olika belopp när mängderna skiljer sig. Förändringarna tar ut varandra: ingen besparing i sig och inga lika fakturabelopp.</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Samma redan säkrade mängder, gemensamt SYS/EPAD-pris 80 öre/kWh. Bara komponenten visas, inga periodfakturor.</a:t>
            </a:r>
          </a:p>
          <a:p/>
          <a:p>
            <a:r>
              <a:t>DATA</a:t>
            </a:r>
          </a:p>
          <a:p>
            <a:r>
              <a:t>600 000 kWh vinter och 400 000 kWh sommar; komponentpris 0,80 kr/kWh.</a:t>
            </a:r>
          </a:p>
          <a:p/>
          <a:p>
            <a:r>
              <a:t>MELLANLED</a:t>
            </a:r>
          </a:p>
          <a:p>
            <a:r>
              <a:t>Vinter: 600 000 × 0,80 = 480 000 kr.</a:t>
            </a:r>
          </a:p>
          <a:p>
            <a:r>
              <a:t>Sommar: 400 000 × 0,80 = 320 000 kr.</a:t>
            </a:r>
          </a:p>
          <a:p>
            <a:r>
              <a:t>Totalt 800 000 kr.</a:t>
            </a:r>
          </a:p>
          <a:p>
            <a:r>
              <a:t>Vintern minskar 120 000 kr och sommaren ökar lika mycket jämfört med utgångsvärdena.</a:t>
            </a:r>
          </a:p>
          <a:p/>
          <a:p>
            <a:r>
              <a:t>RESULTAT</a:t>
            </a:r>
          </a:p>
          <a:p>
            <a:r>
              <a:t>Oförändrad total 800 000 kr: 480 000 vinter, 320 000 sommar.</a:t>
            </a:r>
          </a:p>
          <a:p/>
          <a:p>
            <a:r>
              <a:t>TOLKNING</a:t>
            </a:r>
          </a:p>
          <a:p>
            <a:r>
              <a:t>Gemensamt pris ger olika belopp när mängderna skiljer sig. Förändringarna tar ut varandra: ingen besparing i sig och inga lika fakturabelopp.</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volymjämförelse för samma period. Ingen generell fakturaformel eller avvikelseavräkning.</a:t>
            </a:r>
          </a:p>
          <a:p/>
          <a:p>
            <a:r>
              <a:t>DATA</a:t>
            </a:r>
          </a:p>
          <a:p>
            <a:r>
              <a:t>Prognos 100 MWh, säkring 80 procent; faktiskt uttag 125 MWh.</a:t>
            </a:r>
          </a:p>
          <a:p/>
          <a:p>
            <a:r>
              <a:t>MELLANLED</a:t>
            </a:r>
          </a:p>
          <a:p>
            <a:r>
              <a:t>100 × 0,80 = 80 MWh säkrat.</a:t>
            </a:r>
          </a:p>
          <a:p>
            <a:r>
              <a:t>80 ÷ 125 × 100 = 64 procent faktisk volymkvot.</a:t>
            </a:r>
          </a:p>
          <a:p>
            <a:r>
              <a:t>125 − 80 = 45 MWh differens.</a:t>
            </a:r>
          </a:p>
          <a:p/>
          <a:p>
            <a:r>
              <a:t>RESULTAT</a:t>
            </a:r>
          </a:p>
          <a:p>
            <a:r>
              <a:t>80 MWh motsvarar 64 procent av faktiskt uttag.</a:t>
            </a:r>
          </a:p>
          <a:p/>
          <a:p>
            <a:r>
              <a:t>TOLKNING</a:t>
            </a:r>
          </a:p>
          <a:p>
            <a:r>
              <a:t>45 MWh är en mängddifferens, ingen automatisk faktureringsregel. Avtalat SYS/EPAD-pris ligger kvar för avtalad säkrad mängd; andra avvikelser följer avtalet.</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volymjämförelse för samma period. Ingen generell fakturaformel eller avvikelseavräkning.</a:t>
            </a:r>
          </a:p>
          <a:p/>
          <a:p>
            <a:r>
              <a:t>DATA</a:t>
            </a:r>
          </a:p>
          <a:p>
            <a:r>
              <a:t>Prognos 100 MWh, säkring 80 procent; faktiskt uttag 125 MWh.</a:t>
            </a:r>
          </a:p>
          <a:p/>
          <a:p>
            <a:r>
              <a:t>MELLANLED</a:t>
            </a:r>
          </a:p>
          <a:p>
            <a:r>
              <a:t>100 × 0,80 = 80 MWh säkrat.</a:t>
            </a:r>
          </a:p>
          <a:p>
            <a:r>
              <a:t>80 ÷ 125 × 100 = 64 procent faktisk volymkvot.</a:t>
            </a:r>
          </a:p>
          <a:p>
            <a:r>
              <a:t>125 − 80 = 45 MWh differens.</a:t>
            </a:r>
          </a:p>
          <a:p/>
          <a:p>
            <a:r>
              <a:t>RESULTAT</a:t>
            </a:r>
          </a:p>
          <a:p>
            <a:r>
              <a:t>80 MWh motsvarar 64 procent av faktiskt uttag.</a:t>
            </a:r>
          </a:p>
          <a:p/>
          <a:p>
            <a:r>
              <a:t>TOLKNING</a:t>
            </a:r>
          </a:p>
          <a:p>
            <a:r>
              <a:t>45 MWh är en mängddifferens, ingen automatisk faktureringsregel. Avtalat SYS/EPAD-pris ligger kvar för avtalad säkrad mängd; andra avvikelser följer avtalet.</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Stabil innebär samma totala elpris varje månad.</a:t>
            </a:r>
          </a:p>
          <a:p/>
          <a:p>
            <a:r>
              <a:t>Gemensamt pris gäller säkrad SYS/EPAD-del; profil, osäkrat och övrigt påverkar totalen.</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Månadsprofilen är utjämnad, alltså är dygnsprofilen också säkrad.</a:t>
            </a:r>
          </a:p>
          <a:p/>
          <a:p>
            <a:r>
              <a:t>Månads- och dygnsprofil är olika fördelningar. Dygnsprofil ligger separat.</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När verklig månadsprofil ändras räknas komponentpriset automatiskt om.</a:t>
            </a:r>
          </a:p>
          <a:p/>
          <a:p>
            <a:r>
              <a:t>Avtalat SYS/EPAD-pris kvar för säkrad mängd; andra avvikelser enligt avtal.</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Stabil säkrar SYS och elområdesskillnad vid ett tillfälle. Förväntad månadsförbrukning ger gemensamt pris på avtalad säkrad del. Profil, osäkrat och övrigt ligger separat; använd mängd påverkar fakturan.</a:t>
            </a:r>
          </a:p>
          <a:p/>
          <a:p>
            <a:r>
              <a:t>UTVECKLAD FÖRKLARING</a:t>
            </a:r>
          </a:p>
          <a:p>
            <a:r>
              <a:t>Månader med stor förväntad mängd väger mer i komponentpriset. Varje överenskommen säkrad kWh får samma SYS/EPAD-pris, utan besparing genom utjämningen i sig. Ändrad faktisk profil ändrar inte detta pris för avtalad säkrad mängd. Andra kostnader och avvikelser följer prisbilagan. Därför behöver vi er framtida månadsplanering.</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Bergs Bageri har accepterat Stabil med gemensamt SYS/EPAD-pris för avtalad säkrad mängd. Därefter planeras mindre vinterdrift och fler sommarleveranser. Kunden säger: Då blir vårt gemensamma pris billigare och fakturan lika varje månad? Separat budgetövning: redan säkrat 600 000 kWh vinter och 400 000 kWh sommar, komponentpris 80 öre/kWh.</a:t>
            </a:r>
          </a:p>
          <a:p/>
          <a:p>
            <a:r>
              <a:t>UPPGIFTER</a:t>
            </a:r>
          </a:p>
          <a:p>
            <a:r>
              <a:t>Räkna övningens komponentbelopp och förklara skillnaden.</a:t>
            </a:r>
          </a:p>
          <a:p>
            <a:r>
              <a:t>Besvara påståendet om automatiskt ändrat pris.</a:t>
            </a:r>
          </a:p>
          <a:p>
            <a:r>
              <a:t>Beskriv kunddialog och avtalskontroller.</a:t>
            </a:r>
          </a:p>
          <a:p/>
          <a:p>
            <a:r>
              <a:t>MODELLSVAR</a:t>
            </a:r>
          </a:p>
          <a:p>
            <a:r>
              <a:t>Vid övningens oförändrade mängder blir komponentbeloppen 480 000 och 320 000 kr, totalt 800 000 kr. Gemensamt kWh-pris ger olika belopp; hela fakturan är inte fast. Ändrad faktisk månadsprofil ändrar inte avtalat SYS/EPAD-pris för överenskommen säkrad mängd. Lova inget automatiskt billigare pris. Samla ny månadsplanering och fråga om produktionens tider inom dygnet. Kontrollera hur prisbilagan avräknar volym- och profilavvikelser, osäkrat och andra delar samt vem som får kostnad eller nytta. Totalkostnaden kan förändras utan att komponentpriset ändras. Fråga om samma faktura betyder jämn betalning eller ett budgetmål. Beskriv betalningslösning bara om den erbjuds. Övningens gamla mängder är ingen beräkning av det nya utfallet.</a:t>
            </a:r>
          </a:p>
          <a:p/>
          <a:p>
            <a:r>
              <a:t>BEDÖMNINGSSTÖD</a:t>
            </a:r>
          </a:p>
          <a:p>
            <a:r>
              <a:t>Räknar 480 000, 320 000 och 800 000 kr.</a:t>
            </a:r>
          </a:p>
          <a:p>
            <a:r>
              <a:t>Skiljer komponent, totalpris och faktura.</a:t>
            </a:r>
          </a:p>
          <a:p>
            <a:r>
              <a:t>Behåller avtalat komponentpris för säkrad mängd.</a:t>
            </a:r>
          </a:p>
          <a:p>
            <a:r>
              <a:t>Kontrollerar avräkning utan påhittat ansvar.</a:t>
            </a:r>
          </a:p>
          <a:p>
            <a:r>
              <a:t>Uppdaterar underlag och frågar om betalningsmål.</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Bergs Bageri har accepterat Stabil med gemensamt SYS/EPAD-pris för avtalad säkrad mängd. Därefter planeras mindre vinterdrift och fler sommarleveranser. Kunden säger: Då blir vårt gemensamma pris billigare och fakturan lika varje månad? Separat budgetövning: redan säkrat 600 000 kWh vinter och 400 000 kWh sommar, komponentpris 80 öre/kWh.</a:t>
            </a:r>
          </a:p>
          <a:p/>
          <a:p>
            <a:r>
              <a:t>UPPGIFTER</a:t>
            </a:r>
          </a:p>
          <a:p>
            <a:r>
              <a:t>Räkna övningens komponentbelopp och förklara skillnaden.</a:t>
            </a:r>
          </a:p>
          <a:p>
            <a:r>
              <a:t>Besvara påståendet om automatiskt ändrat pris.</a:t>
            </a:r>
          </a:p>
          <a:p>
            <a:r>
              <a:t>Beskriv kunddialog och avtalskontroller.</a:t>
            </a:r>
          </a:p>
          <a:p/>
          <a:p>
            <a:r>
              <a:t>MODELLSVAR</a:t>
            </a:r>
          </a:p>
          <a:p>
            <a:r>
              <a:t>Vid övningens oförändrade mängder blir komponentbeloppen 480 000 och 320 000 kr, totalt 800 000 kr. Gemensamt kWh-pris ger olika belopp; hela fakturan är inte fast. Ändrad faktisk månadsprofil ändrar inte avtalat SYS/EPAD-pris för överenskommen säkrad mängd. Lova inget automatiskt billigare pris. Samla ny månadsplanering och fråga om produktionens tider inom dygnet. Kontrollera hur prisbilagan avräknar volym- och profilavvikelser, osäkrat och andra delar samt vem som får kostnad eller nytta. Totalkostnaden kan förändras utan att komponentpriset ändras. Fråga om samma faktura betyder jämn betalning eller ett budgetmål. Beskriv betalningslösning bara om den erbjuds. Övningens gamla mängder är ingen beräkning av det nya utfallet.</a:t>
            </a:r>
          </a:p>
          <a:p/>
          <a:p>
            <a:r>
              <a:t>BEDÖMNINGSSTÖD</a:t>
            </a:r>
          </a:p>
          <a:p>
            <a:r>
              <a:t>Räknar 480 000, 320 000 och 800 000 kr.</a:t>
            </a:r>
          </a:p>
          <a:p>
            <a:r>
              <a:t>Skiljer komponent, totalpris och faktura.</a:t>
            </a:r>
          </a:p>
          <a:p>
            <a:r>
              <a:t>Behåller avtalat komponentpris för säkrad mängd.</a:t>
            </a:r>
          </a:p>
          <a:p>
            <a:r>
              <a:t>Kontrollerar avräkning utan påhittat ansvar.</a:t>
            </a:r>
          </a:p>
          <a:p>
            <a:r>
              <a:t>Uppdaterar underlag och frågar om betalningsmål.</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Vad omfattar Stabils gemensamma pris enligt produktunderlaget?</a:t>
            </a:r>
          </a:p>
          <a:p/>
          <a:p>
            <a:r>
              <a:t>FACIT</a:t>
            </a:r>
          </a:p>
          <a:p>
            <a:r>
              <a:t>Rätt alternativ: B. SYS/EPAD för överenskommen säkrad kWh under perioden. Förklaring: Gemensamt pris gäller säkrad SYS/EPAD-del. Profil, osäkrat och övrigt ligger separat.</a:t>
            </a:r>
          </a:p>
          <a:p/>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Redan säkrat: 600 000 kWh till 100 öre/kWh och 400 000 kWh till 50 öre/kWh. Vilket viktat komponentpris får du?</a:t>
            </a:r>
          </a:p>
          <a:p/>
          <a:p>
            <a:r>
              <a:t>FACIT</a:t>
            </a:r>
          </a:p>
          <a:p>
            <a:r>
              <a:t>Svar: 80 öre/kWh. 600 000 × 1,00 + 400 000 × 0,50 = 800 000 kr. Delat med 1 000 000 kWh: 80 öre/kWh. Tillämpa inte ytterligare 80 procent.</a:t>
            </a:r>
          </a:p>
          <a:p/>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Faktisk månadsprofil ändras efter accepterat Stabil. Vad kan du säga?</a:t>
            </a:r>
          </a:p>
          <a:p/>
          <a:p>
            <a:r>
              <a:t>FACIT</a:t>
            </a:r>
          </a:p>
          <a:p>
            <a:r>
              <a:t>Rätt alternativ: A. Avtalat SYS/EPAD-pris kvar för säkrad mängd; övriga avvikelser enligt avtal. Förklaring: Ändrad faktisk profil ändrar inte avtalat komponentpris. Andra kostnader, toleranser och ansvar följer avtalet.</a:t>
            </a:r>
          </a:p>
          <a:p/>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använder dubbelt så mycket vissa månader och väntar lika fakturor med Stabil. Förklara och nämn vad du kontrollerar.</a:t>
            </a:r>
          </a:p>
          <a:p/>
          <a:p>
            <a:r>
              <a:t>FACIT</a:t>
            </a:r>
          </a:p>
          <a:p>
            <a:r>
              <a:t>Samma komponentpris gånger dubbel mängd ger dubbelt komponentbelopp. Andra delar kan variera. Fråga om budget- eller betalningsmål, kontrollera framtida månadsvolym, profil, osäkrat och prisbilaga. Betalningslösning bara om den erbjuds.</a:t>
            </a:r>
          </a:p>
          <a:p/>
          <a:p>
            <a:r>
              <a:t>Förklarar pris × mängd.</a:t>
            </a:r>
          </a:p>
          <a:p>
            <a:r>
              <a:t>Skiljer komponent från faktura.</a:t>
            </a:r>
          </a:p>
          <a:p>
            <a:r>
              <a:t>Nämner profil eller osäkrat.</a:t>
            </a:r>
          </a:p>
          <a:p>
            <a:r>
              <a:t>Kontrollerar mål och villkor utan nytt löfte.</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Beskriv ett gemensamt SYS/EPAD-pris på avtalad säkrad mängd.</a:t>
            </a:r>
          </a:p>
          <a:p>
            <a:r>
              <a:t>Vikta månadens pris med månadens omfattade kWh.</a:t>
            </a:r>
          </a:p>
          <a:p>
            <a:r>
              <a:t>Säkra inte redan säkrade exempelvolymer med 80 procent igen.</a:t>
            </a:r>
          </a:p>
          <a:p>
            <a:r>
              <a:t>Skilj månadsprofil, dygnsprofil och osäkrad mängd.</a:t>
            </a:r>
          </a:p>
          <a:p>
            <a:r>
              <a:t>Utjämning skapar inte en besparing eller lika fakturabelopp i sig.</a:t>
            </a:r>
          </a:p>
          <a:p>
            <a:r>
              <a:t>Ändrad faktisk profil ändrar inte avtalat komponentpris; andra avvikelser följer aktuellt avtal.</a:t>
            </a:r>
          </a:p>
          <a:p/>
          <a:p>
            <a:r>
              <a:t>KÄLLOR</a:t>
            </a:r>
          </a:p>
          <a:p>
            <a:r>
              <a:t>Produktspecifikationer för säljare · 10 oktober 2026 (31 sidor) · s. 26, 27, 28 · Produktspecifikation för säljare, 2026-10-10: Stabil, gemensamt SYS/EPAD-pris, viktning, profil, volymbas och avtalsgräns.</a:t>
            </a:r>
          </a:p>
          <a:p>
            <a:r>
              <a:t>Ludwigs uttryckliga produktprecisering i samtalet · Explicit användarsvar: gemensamt månadspris gäller endast den säkrade, månadsutjämnade delen.</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 ska du använda grunderna och produkterna i ett sammanhängande kundmöte. Målet är att lämna en begriplig, motiverad rekommendation. Ett bra svar visar vad du vet, vilken information som saknas och hur nästa beslut kan fattas. Kundfallen och priserna i kapitlet är påhittade undervisningsexempel.</a:t>
            </a:r>
          </a:p>
          <a:p/>
          <a:p>
            <a:r>
              <a:t>LÄRANDEMÅL</a:t>
            </a:r>
          </a:p>
          <a:p>
            <a:r>
              <a:t>Genomföra en behovsanalys som skiljer budgetkrav från önskemål om lågt pris.</a:t>
            </a:r>
          </a:p>
          <a:p>
            <a:r>
              <a:t>Jämföra offerter med samma volym, period och kostnadskomponenter.</a:t>
            </a:r>
          </a:p>
          <a:p>
            <a:r>
              <a:t>Motivera flera rimliga alternativ och förklara deras kvarvarande risker.</a:t>
            </a:r>
          </a:p>
          <a:p>
            <a:r>
              <a:t>Räkna på säkringsgrad utan att förväxla prognosvolym med faktisk förbrukning.</a:t>
            </a:r>
          </a:p>
          <a:p/>
          <a:p>
            <a:r>
              <a:t>KANONISKT BERÄTTARMANUS</a:t>
            </a:r>
          </a:p>
          <a:p>
            <a:r>
              <a:t>kundfall-foretag-01 · Vilket beslut vill kunden fatta?</a:t>
            </a:r>
          </a:p>
          <a:p>
            <a:r>
              <a:t>Ett bra företagsmöte börjar med kundens problem. Vilket avtal är bäst är en fråga som behöver följdfrågor. Vill kunden minska risken för stigande priser, jämna ut en komponent eller använda billiga kvartar bättre? Fråga vad som överraskade i den senaste kostnaden. Var det priset, mängden el eller båda? En prissäkring kan inte göra en större förbrukning kostnadsfri. Be därför kunden precisera sitt budgetmål. Skriv ned målet med kundens ord och använd det när du senare jämför alternativen. En rekommendation blir tydligare när kunden kan se sambandet mellan sitt problem, produktens funktion och den risk som finns kvar.</a:t>
            </a:r>
          </a:p>
          <a:p>
            <a:r>
              <a:t>På skärmen: Prisrisk · volym · budgetmål</a:t>
            </a:r>
          </a:p>
          <a:p>
            <a:r>
              <a:t>Bildidé: Tre separata fält kopplas till kundens uttalade mål.</a:t>
            </a:r>
          </a:p>
          <a:p/>
          <a:p>
            <a:r>
              <a:t>kundfall-foretag-02 · Underlaget före rekommendationen</a:t>
            </a:r>
          </a:p>
          <a:p>
            <a:r>
              <a:t>Samla årsförbrukning, månadsfördelning, elområde och relevant kvartsmönster. Ta reda på om historiken fortfarande beskriver framtiden. En ny produktionslinje kan höja mängden och förändra när elen används. Undersök om last går att flytta, vem som ansvarar för det och vilka begränsningar verksamheten har. Fråga också hur företaget värderar ett framtida prisfall. Den som säkrar en prisnivå får ett mer förutsägbart utfall för den delen, men den följer inte automatiskt marknaden ned. Det är en avvägning som kunden behöver förstå. Aktuell offert anger säkringsgrad, period, mandat och avvikelsevillkor; undervisningsexemplet anger inga bindande villkor.</a:t>
            </a:r>
          </a:p>
          <a:p>
            <a:r>
              <a:t>På skärmen: Historik → framtida prognos | Offertens omfattning och villkor</a:t>
            </a:r>
          </a:p>
          <a:p>
            <a:r>
              <a:t>Bildidé: Förbrukningskurva får markering för planerad ny maskin.</a:t>
            </a:r>
          </a:p>
          <a:p/>
          <a:p>
            <a:r>
              <a:t>kundfall-foretag-03 · Räkna på rätt volym</a:t>
            </a:r>
          </a:p>
          <a:p>
            <a:r>
              <a:t>Exempelverkstaden har ett underlag på hundra megawattimmar. Åttio procent av underlaget ger åttio megawattimmar säkrat. Om den faktiska förbrukningen blir hundratjugofem megawattimmar motsvarar säkringen sextiofyra procent av utfallet. Vi dividerar åttio med hundratjugofem och multiplicerar med hundra. Det är samma säkrade mängd, men en annan andel av verklig användning. Om förbrukningen i stället blir sextio megawattimmar ligger säkrad mängd över utfallet. Vad en avvikelse kostar eller ger avgörs av avtalet. Ingen av procentsatserna visar hur stor del av fakturan som är fast. Skilj därför alltid underlag, inköpt mängd och faktiskt utfall.</a:t>
            </a:r>
          </a:p>
          <a:p>
            <a:r>
              <a:t>På skärmen: 100 MWh × 80 % = 80 MWh | 80 ÷ 125 = 64 %</a:t>
            </a:r>
          </a:p>
          <a:p>
            <a:r>
              <a:t>Bildidé: Tre volymstaplar visar samma säkrade mängd över två olika utfall.</a:t>
            </a:r>
          </a:p>
          <a:p/>
          <a:p>
            <a:r>
              <a:t>kundfall-foretag-04 · Jämför rimliga alternativ</a:t>
            </a:r>
          </a:p>
          <a:p>
            <a:r>
              <a:t>Stabil kan vara relevant för ett säsongsföretag som vill ha sin förväntade månadsprofil inräknad i ett gemensamt säkrat komponentpris. Direkt säkrar samma grundläggande komponenter vid ett tillfälle utan den utjämningen. En individuell indexportfölj sprider regelstyrda inköp över tid. Poolernas procenttal beskriver strategi, inte säkringar som redan finns i exakt samma fördelning. Kvartspris och Rörligt pris innebär andra sätt att följa marknaden. Ingen modell är bäst för alla. Presentera ett huvudalternativ och ett jämförelsealternativ med samma period, volym och kostnadsomfattning. Ta med avgifter och visa vilken risk kunden behåller i varje alternativ.</a:t>
            </a:r>
          </a:p>
          <a:p>
            <a:r>
              <a:t>På skärmen: Behov → modell → kvarvarande risk</a:t>
            </a:r>
          </a:p>
          <a:p>
            <a:r>
              <a:t>Bildidé: Beslutsträd visar relevanta frågor före produktval.</a:t>
            </a:r>
          </a:p>
          <a:p/>
          <a:p>
            <a:r>
              <a:t>kundfall-foretag-05 · En begriplig avslutning</a:t>
            </a:r>
          </a:p>
          <a:p>
            <a:r>
              <a:t>Sammanfatta vad underlaget visar och vad som saknas. Be kunden beskriva med egna ord vad som är säkrat och vad som fortfarande kan variera. Om svaret blir samma räkning varje månad behöver du skilja komponentpris från fakturabelopp. Mängden kilowattimmar spelar fortfarande roll. Lämna sedan ett tydligt nästa steg: uppdaterad prognos, jämförbar offert och genomgång av avvikelsevillkor. Rekommendationen ska gå att granska. Kunden ska förstå både nyttan och avvägningen, och du ska kunna förklara vad som skulle få dig att välja annorlunda. Det är den praktiska slutövningen i företagsspåret.</a:t>
            </a:r>
          </a:p>
          <a:p>
            <a:r>
              <a:t>På skärmen: Förklara · kontrollera förståelse · nästa steg</a:t>
            </a:r>
          </a:p>
          <a:p>
            <a:r>
              <a:t>Bildidé: Sammanfattning visar tre frågor kunden kan besvara.</a:t>
            </a:r>
          </a:p>
          <a:p/>
          <a:p>
            <a:r>
              <a:t>KÄLLOR</a:t>
            </a:r>
          </a:p>
          <a:p>
            <a:r>
              <a:t>Produktspecifikationer för säljare · 10 oktober 2026 (31 sidor) · s. 3, 4, 5, 6, 7, 8, 9, 10, 17, 18, 19, 20, 21, 22, 23, 24, 25, 26, 27, 28, 29, 30, 31 · Gemensamma produkter, portföljer samt Direkt/Stabil; kundfallen är syntetisk pedagogisk tillämpning.</a:t>
            </a:r>
          </a:p>
          <a:p>
            <a:r>
              <a:t>Ludwigs uttryckliga produktprecisering i samtalet · Stabils gemensamma pris gäller endast säkrad månadsutjämnad del.</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Frågan ”vilket avtal är bäst?” saknar ett meningsfullt svar innan du vet vad företaget vill uppnå. En ekonomiansvarig kan vilja begränsa risken för stigande energipriser. En produktionschef kan prioritera att utnyttja billigare kvartar. En ägare kan framför allt vilja slippa följa marknaden. De målen kan leda till olika produkter trots att företagen använder lika många kilowattimmar.</a:t>
            </a:r>
          </a:p>
          <a:p/>
          <a:p>
            <a:r>
              <a:t>Be kunden beskriva en situation där dagens elavtal inte fungerar. ”Förra vintern blev kostnaden svår att prognostisera” är användbar information. Följ upp: var det prisnivån, den kalla vinterns högre förbrukning eller båda som överraskade? Ett jämnare komponentpris löser inte ökande volym. Om problemet främst är mängden el måste kalkylen fortfarande ta höjd för den.</a:t>
            </a:r>
          </a:p>
          <a:p/>
          <a:p>
            <a:r>
              <a:t>Håll rekommendationen och offertbeslutet isär. Du kan förklara en produktprincip med utbildningen. Kundens aktuella pris, tillgängliga produkt, löptid, mandat och avvikelsevillkor måste däremot komma från den konkreta offerten. Lämna inte ett definitivt produktlöfte när någon av dessa uppgifter saknas.</a:t>
            </a:r>
          </a:p>
          <a:p/>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Årsvolymen ger storleksordningen men inte hela kostnadsbilden. Be om månadsförbrukning, relevant kvartshistorik, elområde och verksamhetens planerade förändringar. En ny maskin, utökad öppettid eller flytt kan göra tidigare mätvärden mindre representativa. Anteckna vilken historik kalkylen bygger på och vad som har ändrats i prognosen.</a:t>
            </a:r>
          </a:p>
          <a:p/>
          <a:p>
            <a:r>
              <a:t>Undersök också påverkningsmöjligheterna. Kan laddning, kylning eller annan last flyttas utan att störa leveransen? Att någon tekniskt kan styra ett uttag betyder inte att verksamheten vill eller kan göra det varje dag. Fråga vem som sköter styrningen, vilka gränser som finns och vad alternativet kostar.</a:t>
            </a:r>
          </a:p>
          <a:p/>
          <a:p>
            <a:r>
              <a:t>Till sist behöver du förstå företagets beslutsram. Hur stora prisvariationer kan det bära? Vilken del av kostnaden ska vara mer förutsägbar? Hur värderar det möjligheten att följa ett prisfall? Ett företag som säkrar en prisnivå accepterar samtidigt att den säkrade delen inte följer marknaden ned. Kontrollera att den avvägningen är förstådd innan du argumenterar för tryggheten i upplägget.</a:t>
            </a:r>
          </a:p>
          <a:p/>
          <a:p>
            <a:r>
              <a:t>Årsvolym och förbrukning månad för månad.</a:t>
            </a:r>
          </a:p>
          <a:p>
            <a:r>
              <a:t>Elområde, kvartsmönster och möjlighet att flytta last.</a:t>
            </a:r>
          </a:p>
          <a:p>
            <a:r>
              <a:t>Förändrad verksamhet och datum för förändringen.</a:t>
            </a:r>
          </a:p>
          <a:p>
            <a:r>
              <a:t>Budgetmål, riskutrymme och beslutsansvar.</a:t>
            </a:r>
          </a:p>
          <a:p>
            <a:r>
              <a:t>Befintligt avtals slut och jämförbara offertkomponenter.</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Årsvolymen ger storleksordningen men inte hela kostnadsbilden. Be om månadsförbrukning, relevant kvartshistorik, elområde och verksamhetens planerade förändringar. En ny maskin, utökad öppettid eller flytt kan göra tidigare mätvärden mindre representativa. Anteckna vilken historik kalkylen bygger på och vad som har ändrats i prognosen.</a:t>
            </a:r>
          </a:p>
          <a:p/>
          <a:p>
            <a:r>
              <a:t>Undersök också påverkningsmöjligheterna. Kan laddning, kylning eller annan last flyttas utan att störa leveransen? Att någon tekniskt kan styra ett uttag betyder inte att verksamheten vill eller kan göra det varje dag. Fråga vem som sköter styrningen, vilka gränser som finns och vad alternativet kostar.</a:t>
            </a:r>
          </a:p>
          <a:p/>
          <a:p>
            <a:r>
              <a:t>Till sist behöver du förstå företagets beslutsram. Hur stora prisvariationer kan det bära? Vilken del av kostnaden ska vara mer förutsägbar? Hur värderar det möjligheten att följa ett prisfall? Ett företag som säkrar en prisnivå accepterar samtidigt att den säkrade delen inte följer marknaden ned. Kontrollera att den avvägningen är förstådd innan du argumenterar för tryggheten i upplägget.</a:t>
            </a:r>
          </a:p>
          <a:p/>
          <a:p>
            <a:r>
              <a:t>Årsvolym och förbrukning månad för månad.</a:t>
            </a:r>
          </a:p>
          <a:p>
            <a:r>
              <a:t>Elområde, kvartsmönster och möjlighet att flytta last.</a:t>
            </a:r>
          </a:p>
          <a:p>
            <a:r>
              <a:t>Förändrad verksamhet och datum för förändringen.</a:t>
            </a:r>
          </a:p>
          <a:p>
            <a:r>
              <a:t>Budgetmål, riskutrymme och beslutsansvar.</a:t>
            </a:r>
          </a:p>
          <a:p>
            <a:r>
              <a:t>Befintligt avtals slut och jämförbara offertkomponenter.</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Exempelverkstaden räknar med 100 MWh under leveransperioden. Den har mest produktion på vardagar och ser risk för att en ny produktionslinje höjer förbrukningen till 125 MWh. Ekonomiansvarig säger: ”Vi vill veta att 80 procent av vår elkostnad är fast.” Formuleringen är ett tillfälle att kontrollera förståelsen, inte att svara ja direkt.</a:t>
            </a:r>
          </a:p>
          <a:p/>
          <a:p>
            <a:r>
              <a:t>I det beskrivna Direkt- eller Stabilupplägget avser 80 procent det överenskomna volymunderlaget. Det ger 80 MWh säkrad volym vid en prognos på 100 MWh. Om utfallet blir 125 MWh motsvarar samma säkring 64 procent av den faktiska volymen. Elnät, skatt, moms och priskomponenter utanför säkringen ingår inte i den procentsatsen. Dygnsprofilen är separat och den öppna volymen är marknadsberoende.</a:t>
            </a:r>
          </a:p>
          <a:p/>
          <a:p>
            <a:r>
              <a:t>Direkt kan vara relevant om kunden vill bestämma prisnivån för de säkrade komponenterna vid ett valt tillfälle. Stabil lägger till ett gemensamt förbrukningsvägt pris på den säkrade, månadsutjämnade delen. Om verkstaden saknar tydlig säsongsvariation kan den skillnaden ha annan betydelse än för ett uppvärmningsintensivt företag. Ta reda på vilket problem utjämningen skulle lösa innan du rekommenderar den.</a:t>
            </a:r>
          </a:p>
          <a:p/>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Exempellagret använder 60 procent av årets el på vintern och 40 procent på sommaren. Det vill få säsongsmönstret inräknat i komponentpriset från början. Här är Stabil relevant att förklara: månader med hög förväntad förbrukning får större vikt när det gemensamma priset beräknas. Om vinterns komponentpris är högre blir det viktade priset också högre än ett oviktat medelvärde.</a:t>
            </a:r>
          </a:p>
          <a:p/>
          <a:p>
            <a:r>
              <a:t>Be kunden precisera budgetmålet. ”Samma pris på säkrade komponenter” är ett möjligt resultat i Stabil. ”Samma slutliga elhandelspris” följer inte automatiskt när öppna volymer, dygnsprofil eller andra rörliga kostnader tillkommer. ”Samma fakturabelopp” följer heller inte: mängden kWh varierar. Det avtalade gemensamma komponentpriset för den överenskomna säkrade volymen ändras inte enbart för att den faktiska månadsfördelningen ändras.</a:t>
            </a:r>
          </a:p>
          <a:p/>
          <a:p>
            <a:r>
              <a:t>Granska sedan vad avtalet säger om avvikande volym och kostnader. Du ska kunna skilja den fasta komponentregeln från hur andra avvikelser avräknas. Ett bra kundsvar är: ”Vi kan förklara den utjämnade delen tydligt, och vi går igenom hur just er offert hanterar förbrukning som avviker från underlaget.”</a:t>
            </a:r>
          </a:p>
          <a:p/>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Ett företag som vill sprida inköpstillfällena kan vara intresserat av en individuell indexportfölj. Där byggs inköpet enligt regler över tid. Säkringshorisonten beskriver hur långt fram inköp görs och ska inte läsas som bindningstid. Kontrollera kundens individuella säkringsgrad och mandat i offerten.</a:t>
            </a:r>
          </a:p>
          <a:p/>
          <a:p>
            <a:r>
              <a:t>Pool Trygg och Pool Offensiv ger andra strategiska fördelningar. Tryggs 80 procent index och 20 procent rörligt respektive Offensivs 40 procent index, 40 procent aktivt och 20 procent rörligt är planerade fördelningar av förväntad volym. De säger inte att den faktiska portföljen vid varje tidpunkt har just dessa säkringar. Den aktiva delen innebär förvaltningsbeslut och risk, inte garanterat bättre pris.</a:t>
            </a:r>
          </a:p>
          <a:p/>
          <a:p>
            <a:r>
              <a:t>Kvartspris eller Rörligt pris kan vara rimliga om kunden kan bära marknadsvariationerna. De fungerar olika: Kvartspris kopplar kundens uttag till respektive kvarts pris, medan Rörligt pris följer den avtalade månadsmodellen. Lägre pris i en enskild kvart är därför inte tillräckligt för att bedöma ett helt månadsutfall.</a:t>
            </a:r>
          </a:p>
          <a:p/>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Sammanfatta först behovet med kundens ord, sedan vad underlaget visar. Presentera ett huvudalternativ och ett jämförelsealternativ. Säg varför de passar och vilken risk kunden behåller i respektive modell. Förklara också vad som skulle få dig att ändra rekommendationen, till exempel en större produktionsökning eller ett annat budgetmål.</a:t>
            </a:r>
          </a:p>
          <a:p/>
          <a:p>
            <a:r>
              <a:t>Kontrollera förståelsen med en öppen fråga: ”Hur skulle ni själva beskriva vad som är säkrat och vad som fortfarande kan variera?” Kundens svar är bättre belägg än ett snabbt ja. Om svaret blandar ihop komponentpris och faktura behöver du gå tillbaka till mängd och pris. Nästa steg ska handla om rätt underlag och aktuell offert, utan att utbildningsdialogen beskrivs som ett accepterat avtal.</a:t>
            </a:r>
          </a:p>
          <a:p/>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volymberäkning för beskrivna 80-procentsupplägget. Ingen fakturaberäkning eller avvikelseavräkning.</a:t>
            </a:r>
          </a:p>
          <a:p/>
          <a:p>
            <a:r>
              <a:t>DATA</a:t>
            </a:r>
          </a:p>
          <a:p>
            <a:r>
              <a:t>Överenskommet volymunderlag: 100 MWh.</a:t>
            </a:r>
          </a:p>
          <a:p>
            <a:r>
              <a:t>Säkringsgrad vid inköpet: 80 procent.</a:t>
            </a:r>
          </a:p>
          <a:p>
            <a:r>
              <a:t>Två möjliga utfall: 125 MWh respektive 60 MWh.</a:t>
            </a:r>
          </a:p>
          <a:p/>
          <a:p>
            <a:r>
              <a:t>MELLANLED</a:t>
            </a:r>
          </a:p>
          <a:p>
            <a:r>
              <a:t>100 MWh × 0,80 = 80 MWh säkrad volym.</a:t>
            </a:r>
          </a:p>
          <a:p>
            <a:r>
              <a:t>80 MWh ÷ 125 MWh × 100 = 64 procent av faktisk volym.</a:t>
            </a:r>
          </a:p>
          <a:p>
            <a:r>
              <a:t>80 MWh ÷ 60 MWh × 100 ≈ 133,33 procent av faktisk volym.</a:t>
            </a:r>
          </a:p>
          <a:p/>
          <a:p>
            <a:r>
              <a:t>RESULTAT</a:t>
            </a:r>
          </a:p>
          <a:p>
            <a:r>
              <a:t>Samma 80 MWh motsvarar 64 procent respektive cirka 133,33 procent av utfallet.</a:t>
            </a:r>
          </a:p>
          <a:p/>
          <a:p>
            <a:r>
              <a:t>TOLKNING</a:t>
            </a:r>
          </a:p>
          <a:p>
            <a:r>
              <a:t>En fast prognosandel följer inte automatiskt den faktiska mängden. Det andra utfallet visar överstegande säkrad volym; vad det kostar eller ger regleras i avtalet. Procentsatserna säger inget om hur stor del av fakturan som är fast.</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volymberäkning för beskrivna 80-procentsupplägget. Ingen fakturaberäkning eller avvikelseavräkning.</a:t>
            </a:r>
          </a:p>
          <a:p/>
          <a:p>
            <a:r>
              <a:t>DATA</a:t>
            </a:r>
          </a:p>
          <a:p>
            <a:r>
              <a:t>Överenskommet volymunderlag: 100 MWh.</a:t>
            </a:r>
          </a:p>
          <a:p>
            <a:r>
              <a:t>Säkringsgrad vid inköpet: 80 procent.</a:t>
            </a:r>
          </a:p>
          <a:p>
            <a:r>
              <a:t>Två möjliga utfall: 125 MWh respektive 60 MWh.</a:t>
            </a:r>
          </a:p>
          <a:p/>
          <a:p>
            <a:r>
              <a:t>MELLANLED</a:t>
            </a:r>
          </a:p>
          <a:p>
            <a:r>
              <a:t>100 MWh × 0,80 = 80 MWh säkrad volym.</a:t>
            </a:r>
          </a:p>
          <a:p>
            <a:r>
              <a:t>80 MWh ÷ 125 MWh × 100 = 64 procent av faktisk volym.</a:t>
            </a:r>
          </a:p>
          <a:p>
            <a:r>
              <a:t>80 MWh ÷ 60 MWh × 100 ≈ 133,33 procent av faktisk volym.</a:t>
            </a:r>
          </a:p>
          <a:p/>
          <a:p>
            <a:r>
              <a:t>RESULTAT</a:t>
            </a:r>
          </a:p>
          <a:p>
            <a:r>
              <a:t>Samma 80 MWh motsvarar 64 procent respektive cirka 133,33 procent av utfallet.</a:t>
            </a:r>
          </a:p>
          <a:p/>
          <a:p>
            <a:r>
              <a:t>TOLKNING</a:t>
            </a:r>
          </a:p>
          <a:p>
            <a:r>
              <a:t>En fast prognosandel följer inte automatiskt den faktiska mängden. Det andra utfallet visar överstegande säkrad volym; vad det kostar eller ger regleras i avtalet. Procentsatserna säger inget om hur stor del av fakturan som är fast.</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Två påhittade, direkt jämförbara energihandelskalkyler för ett år. Samma komponenter och volym; elnät, skatt och moms är uteslutna. Ingen offert eller prognos för en faktisk produkt.</a:t>
            </a:r>
          </a:p>
          <a:p/>
          <a:p>
            <a:r>
              <a:t>DATA</a:t>
            </a:r>
          </a:p>
          <a:p>
            <a:r>
              <a:t>Jämförelsevolym: 120 000 kWh.</a:t>
            </a:r>
          </a:p>
          <a:p>
            <a:r>
              <a:t>Alternativ A: 100 öre/kWh och 1 200 kr i årsavgift.</a:t>
            </a:r>
          </a:p>
          <a:p>
            <a:r>
              <a:t>Alternativ B: 97 öre/kWh och 3 600 kr i årsavgift.</a:t>
            </a:r>
          </a:p>
          <a:p/>
          <a:p>
            <a:r>
              <a:t>MELLANLED</a:t>
            </a:r>
          </a:p>
          <a:p>
            <a:r>
              <a:t>100 öre = 1,00 kr. A: 120 000 × 1,00 + 1 200 = 121 200 kr.</a:t>
            </a:r>
          </a:p>
          <a:p>
            <a:r>
              <a:t>97 öre = 0,97 kr. B: 120 000 × 0,97 + 3 600 = 120 000 kr.</a:t>
            </a:r>
          </a:p>
          <a:p>
            <a:r>
              <a:t>121 200 − 120 000 = 1 200 kr skillnad på den gemensamma jämförelsebasen.</a:t>
            </a:r>
          </a:p>
          <a:p/>
          <a:p>
            <a:r>
              <a:t>RESULTAT</a:t>
            </a:r>
          </a:p>
          <a:p>
            <a:r>
              <a:t>B är 1 200 kr lägre i just detta exempel trots högre årsavgift.</a:t>
            </a:r>
          </a:p>
          <a:p/>
          <a:p>
            <a:r>
              <a:t>TOLKNING</a:t>
            </a:r>
          </a:p>
          <a:p>
            <a:r>
              <a:t>Jämför totalen för samma omfattning och mängd. Om priserna bygger på olika profiler, perioder eller inkluderade komponenter är denna uträkning inte en rättvis jämförelse förrän skillnaderna har hanterats.</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Två påhittade, direkt jämförbara energihandelskalkyler för ett år. Samma komponenter och volym; elnät, skatt och moms är uteslutna. Ingen offert eller prognos för en faktisk produkt.</a:t>
            </a:r>
          </a:p>
          <a:p/>
          <a:p>
            <a:r>
              <a:t>DATA</a:t>
            </a:r>
          </a:p>
          <a:p>
            <a:r>
              <a:t>Jämförelsevolym: 120 000 kWh.</a:t>
            </a:r>
          </a:p>
          <a:p>
            <a:r>
              <a:t>Alternativ A: 100 öre/kWh och 1 200 kr i årsavgift.</a:t>
            </a:r>
          </a:p>
          <a:p>
            <a:r>
              <a:t>Alternativ B: 97 öre/kWh och 3 600 kr i årsavgift.</a:t>
            </a:r>
          </a:p>
          <a:p/>
          <a:p>
            <a:r>
              <a:t>MELLANLED</a:t>
            </a:r>
          </a:p>
          <a:p>
            <a:r>
              <a:t>100 öre = 1,00 kr. A: 120 000 × 1,00 + 1 200 = 121 200 kr.</a:t>
            </a:r>
          </a:p>
          <a:p>
            <a:r>
              <a:t>97 öre = 0,97 kr. B: 120 000 × 0,97 + 3 600 = 120 000 kr.</a:t>
            </a:r>
          </a:p>
          <a:p>
            <a:r>
              <a:t>121 200 − 120 000 = 1 200 kr skillnad på den gemensamma jämförelsebasen.</a:t>
            </a:r>
          </a:p>
          <a:p/>
          <a:p>
            <a:r>
              <a:t>RESULTAT</a:t>
            </a:r>
          </a:p>
          <a:p>
            <a:r>
              <a:t>B är 1 200 kr lägre i just detta exempel trots högre årsavgift.</a:t>
            </a:r>
          </a:p>
          <a:p/>
          <a:p>
            <a:r>
              <a:t>TOLKNING</a:t>
            </a:r>
          </a:p>
          <a:p>
            <a:r>
              <a:t>Jämför totalen för samma omfattning och mängd. Om priserna bygger på olika profiler, perioder eller inkluderade komponenter är denna uträkning inte en rättvis jämförelse förrän skillnaderna har hanterats.</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Kunden vill ha trygghet, alltså ska vi alltid rekommendera Stabil.</a:t>
            </a:r>
          </a:p>
          <a:p/>
          <a:p>
            <a:r>
              <a:t>Ta reda på vilken risk och vilken kostnadsvariation kunden vill hantera. Stabil jämnar ut säkrade komponenter; behovet kan handla om något annat.</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portfölj med 80 procent index är redan 80 procent prissäkrad.</a:t>
            </a:r>
          </a:p>
          <a:p/>
          <a:p>
            <a:r>
              <a:t>Strategisk fördelning och faktiskt genomförda positioner är skilda saker.</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 billigaste örestalet visar den bästa offerten.</a:t>
            </a:r>
          </a:p>
          <a:p/>
          <a:p>
            <a:r>
              <a:t>Volym, period, komponenter, avgifter och risk måste vara jämförbara innan totalen kan tolkas.</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 börjar med hur mycket el ni använder, när ni använder den och vilken risk ni vill hantera. Sedan jämför vi samma delar av priset. Prissäkring kan ge mer förutsägbarhet på de delar som omfattas, men mängden el och övriga komponenter påverkar fortfarande kostnaden.</a:t>
            </a:r>
          </a:p>
          <a:p/>
          <a:p>
            <a:r>
              <a:t>UTVECKLAD FÖRKLARING</a:t>
            </a:r>
          </a:p>
          <a:p>
            <a:r>
              <a:t>För ert företag behöver vi först skilja stigande pris från högre förbrukning. Direkt och Stabil säkrar SYS och elområdesskillnaden för överenskommen volym och period vid ett tillfälle. Stabil räknar dessutom in er förväntade månadsprofil i ett gemensamt komponentpris. Portföljlösningar sprider inköpsbesluten på andra sätt. Vi visar vad som ligger kvar öppet i varje alternativ och använder er aktuella offert för alla priser och avvikelsevillkor.</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Exempelfabriken har historiskt använt 100 MWh, med tydlig vintertopp. Nästa år kan en ny linje öka användningen till 125 MWh. Ekonomiansvarig vill ”ha 80 procent fast och samma räkning varje månad” och vill jämföra Stabil med en portfölj. Inga aktuella offertvillkor finns ännu.</a:t>
            </a:r>
          </a:p>
          <a:p/>
          <a:p>
            <a:r>
              <a:t>UPPGIFTER</a:t>
            </a:r>
          </a:p>
          <a:p>
            <a:r>
              <a:t>Vilka fem uppgifter behöver du komplettera?</a:t>
            </a:r>
          </a:p>
          <a:p>
            <a:r>
              <a:t>Räkna säkrad volym och täckning vid 125 MWh om underlaget fortfarande är 100 MWh.</a:t>
            </a:r>
          </a:p>
          <a:p>
            <a:r>
              <a:t>Förklara vilka delar av kundens önskemål som Stabil hanterar och vilka det inte automatiskt hanterar.</a:t>
            </a:r>
          </a:p>
          <a:p>
            <a:r>
              <a:t>Presentera ett motiverat huvudalternativ och ett rimligt jämförelsealternativ utan att hitta på villkor.</a:t>
            </a:r>
          </a:p>
          <a:p/>
          <a:p>
            <a:r>
              <a:t>MODELLSVAR</a:t>
            </a:r>
          </a:p>
          <a:p>
            <a:r>
              <a:t>Komplettera prognos och tidpunkt för nya linjen, månadsprofil, kvartsmönster/laststyrning, elområde samt budgetkrav och aktuella offertvillkor. Det gamla underlaget ger 80 MWh säkrat och 64 procent täckning vid 125 MWh. Uppdatera därför underlaget innan köpbeslutet. Stabil kan vara relevant för att vikta den förväntade vintertoppen till ett gemensamt säkrat komponentpris. Det är inte en fast faktura eller ett helt fast slutpris. Jämför med individuell indexportfölj om kunden vill sprida inköpstillfällena; kontrollera individuellt mandat, säkringsgrad och horisont. Om kunden egentligen kräver hela energipriset fast måste tillgängliga Fastprisvillkor undersökas, utan att anta att en sådan offert finns.</a:t>
            </a:r>
          </a:p>
          <a:p/>
          <a:p>
            <a:r>
              <a:t>BEDÖMNINGSSTÖD</a:t>
            </a:r>
          </a:p>
          <a:p>
            <a:r>
              <a:t>Skiljer prognosvolym från faktiskt utfall och räknar 80 MWh/64 procent.</a:t>
            </a:r>
          </a:p>
          <a:p>
            <a:r>
              <a:t>Förklarar komponentpris, slutpris och fakturabelopp var för sig.</a:t>
            </a:r>
          </a:p>
          <a:p>
            <a:r>
              <a:t>Visar att månadsprofil och dygnsprofil är olika.</a:t>
            </a:r>
          </a:p>
          <a:p>
            <a:r>
              <a:t>Kontrollerar faktiska mandat och avvikelsevillkor.</a:t>
            </a:r>
          </a:p>
          <a:p>
            <a:r>
              <a:t>Motiverar alternativen från kundens mål och visar kvarvarande risk.</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Exempelfabriken har historiskt använt 100 MWh, med tydlig vintertopp. Nästa år kan en ny linje öka användningen till 125 MWh. Ekonomiansvarig vill ”ha 80 procent fast och samma räkning varje månad” och vill jämföra Stabil med en portfölj. Inga aktuella offertvillkor finns ännu.</a:t>
            </a:r>
          </a:p>
          <a:p/>
          <a:p>
            <a:r>
              <a:t>UPPGIFTER</a:t>
            </a:r>
          </a:p>
          <a:p>
            <a:r>
              <a:t>Vilka fem uppgifter behöver du komplettera?</a:t>
            </a:r>
          </a:p>
          <a:p>
            <a:r>
              <a:t>Räkna säkrad volym och täckning vid 125 MWh om underlaget fortfarande är 100 MWh.</a:t>
            </a:r>
          </a:p>
          <a:p>
            <a:r>
              <a:t>Förklara vilka delar av kundens önskemål som Stabil hanterar och vilka det inte automatiskt hanterar.</a:t>
            </a:r>
          </a:p>
          <a:p>
            <a:r>
              <a:t>Presentera ett motiverat huvudalternativ och ett rimligt jämförelsealternativ utan att hitta på villkor.</a:t>
            </a:r>
          </a:p>
          <a:p/>
          <a:p>
            <a:r>
              <a:t>MODELLSVAR</a:t>
            </a:r>
          </a:p>
          <a:p>
            <a:r>
              <a:t>Komplettera prognos och tidpunkt för nya linjen, månadsprofil, kvartsmönster/laststyrning, elområde samt budgetkrav och aktuella offertvillkor. Det gamla underlaget ger 80 MWh säkrat och 64 procent täckning vid 125 MWh. Uppdatera därför underlaget innan köpbeslutet. Stabil kan vara relevant för att vikta den förväntade vintertoppen till ett gemensamt säkrat komponentpris. Det är inte en fast faktura eller ett helt fast slutpris. Jämför med individuell indexportfölj om kunden vill sprida inköpstillfällena; kontrollera individuellt mandat, säkringsgrad och horisont. Om kunden egentligen kräver hela energipriset fast måste tillgängliga Fastprisvillkor undersökas, utan att anta att en sådan offert finns.</a:t>
            </a:r>
          </a:p>
          <a:p/>
          <a:p>
            <a:r>
              <a:t>BEDÖMNINGSSTÖD</a:t>
            </a:r>
          </a:p>
          <a:p>
            <a:r>
              <a:t>Skiljer prognosvolym från faktiskt utfall och räknar 80 MWh/64 procent.</a:t>
            </a:r>
          </a:p>
          <a:p>
            <a:r>
              <a:t>Förklarar komponentpris, slutpris och fakturabelopp var för sig.</a:t>
            </a:r>
          </a:p>
          <a:p>
            <a:r>
              <a:t>Visar att månadsprofil och dygnsprofil är olika.</a:t>
            </a:r>
          </a:p>
          <a:p>
            <a:r>
              <a:t>Kontrollerar faktiska mandat och avvikelsevillkor.</a:t>
            </a:r>
          </a:p>
          <a:p>
            <a:r>
              <a:t>Motiverar alternativen från kundens mål och visar kvarvarande risk.</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Exempelfabriken har historiskt använt 100 MWh, med tydlig vintertopp. Nästa år kan en ny linje öka användningen till 125 MWh. Ekonomiansvarig vill ”ha 80 procent fast och samma räkning varje månad” och vill jämföra Stabil med en portfölj. Inga aktuella offertvillkor finns ännu.</a:t>
            </a:r>
          </a:p>
          <a:p/>
          <a:p>
            <a:r>
              <a:t>UPPGIFTER</a:t>
            </a:r>
          </a:p>
          <a:p>
            <a:r>
              <a:t>Vilka fem uppgifter behöver du komplettera?</a:t>
            </a:r>
          </a:p>
          <a:p>
            <a:r>
              <a:t>Räkna säkrad volym och täckning vid 125 MWh om underlaget fortfarande är 100 MWh.</a:t>
            </a:r>
          </a:p>
          <a:p>
            <a:r>
              <a:t>Förklara vilka delar av kundens önskemål som Stabil hanterar och vilka det inte automatiskt hanterar.</a:t>
            </a:r>
          </a:p>
          <a:p>
            <a:r>
              <a:t>Presentera ett motiverat huvudalternativ och ett rimligt jämförelsealternativ utan att hitta på villkor.</a:t>
            </a:r>
          </a:p>
          <a:p/>
          <a:p>
            <a:r>
              <a:t>MODELLSVAR</a:t>
            </a:r>
          </a:p>
          <a:p>
            <a:r>
              <a:t>Komplettera prognos och tidpunkt för nya linjen, månadsprofil, kvartsmönster/laststyrning, elområde samt budgetkrav och aktuella offertvillkor. Det gamla underlaget ger 80 MWh säkrat och 64 procent täckning vid 125 MWh. Uppdatera därför underlaget innan köpbeslutet. Stabil kan vara relevant för att vikta den förväntade vintertoppen till ett gemensamt säkrat komponentpris. Det är inte en fast faktura eller ett helt fast slutpris. Jämför med individuell indexportfölj om kunden vill sprida inköpstillfällena; kontrollera individuellt mandat, säkringsgrad och horisont. Om kunden egentligen kräver hela energipriset fast måste tillgängliga Fastprisvillkor undersökas, utan att anta att en sådan offert finns.</a:t>
            </a:r>
          </a:p>
          <a:p/>
          <a:p>
            <a:r>
              <a:t>BEDÖMNINGSSTÖD</a:t>
            </a:r>
          </a:p>
          <a:p>
            <a:r>
              <a:t>Skiljer prognosvolym från faktiskt utfall och räknar 80 MWh/64 procent.</a:t>
            </a:r>
          </a:p>
          <a:p>
            <a:r>
              <a:t>Förklarar komponentpris, slutpris och fakturabelopp var för sig.</a:t>
            </a:r>
          </a:p>
          <a:p>
            <a:r>
              <a:t>Visar att månadsprofil och dygnsprofil är olika.</a:t>
            </a:r>
          </a:p>
          <a:p>
            <a:r>
              <a:t>Kontrollerar faktiska mandat och avvikelsevillkor.</a:t>
            </a:r>
          </a:p>
          <a:p>
            <a:r>
              <a:t>Motiverar alternativen från kundens mål och visar kvarvarande risk.</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fråga är mest användbar när kunden säger att elkostnaden blev oväntat hög?</a:t>
            </a:r>
          </a:p>
          <a:p/>
          <a:p>
            <a:r>
              <a:t>FACIT</a:t>
            </a:r>
          </a:p>
          <a:p>
            <a:r>
              <a:t>Rätt alternativ: B. Berodde överraskningen på pris, förbrukning eller båda? Förklaring: Du behöver identifiera vilket problem kunden vill lösa. Prissäkring och lägre förbrukning hanterar olika saker.</a:t>
            </a:r>
          </a:p>
          <a:p/>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80 MWh är säkrat och utfallet blir 125 MWh. Hur stor andel av faktisk volym motsvarar säkringen?</a:t>
            </a:r>
          </a:p>
          <a:p/>
          <a:p>
            <a:r>
              <a:t>FACIT</a:t>
            </a:r>
          </a:p>
          <a:p>
            <a:r>
              <a:t>Svar: 64 procent. 80 ÷ 125 × 100 = 64 procent. Detta är en volymandel, inte en fakturaandel.</a:t>
            </a:r>
          </a:p>
          <a:p/>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Vad krävs innan två erbjudna örespriser jämförs?</a:t>
            </a:r>
          </a:p>
          <a:p/>
          <a:p>
            <a:r>
              <a:t>FACIT</a:t>
            </a:r>
          </a:p>
          <a:p>
            <a:r>
              <a:t>Rätt alternativ: A. Samma volym, period och omfattning samt hänsyn till avgifter och risk. Förklaring: Ett pris som inkluderar fler kostnader eller en annan profil kan inte jämföras direkt med ett smalare pris.</a:t>
            </a:r>
          </a:p>
          <a:p/>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säger ”Stabil ger samma räkning varje månad”. Skriv ett begripligt svar och en följdfråga.</a:t>
            </a:r>
          </a:p>
          <a:p/>
          <a:p>
            <a:r>
              <a:t>FACIT</a:t>
            </a:r>
          </a:p>
          <a:p>
            <a:r>
              <a:t>Stabil ger samma avtalade pris på den säkrade månadsutjämnade delen. Totalpriset och fakturabeloppet kan fortfarande variera. Fråga om kunden främst vill jämna ut en komponent eller behöver planera hela kostnaden.</a:t>
            </a:r>
          </a:p>
          <a:p/>
          <a:p>
            <a:r>
              <a:t>Avgränsar samma pris till säkrad komponent.</a:t>
            </a:r>
          </a:p>
          <a:p>
            <a:r>
              <a:t>Tar upp mängden kWh och rörliga delar.</a:t>
            </a:r>
          </a:p>
          <a:p>
            <a:r>
              <a:t>Ställer en konkret behovsfråga utan att lova jämn betalning.</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Utgå från kundens problem och dess förbrukning.</a:t>
            </a:r>
          </a:p>
          <a:p>
            <a:r>
              <a:t>Uppdatera prognosen när verksamheten ändras.</a:t>
            </a:r>
          </a:p>
          <a:p>
            <a:r>
              <a:t>Jämför kostnader på samma bas.</a:t>
            </a:r>
          </a:p>
          <a:p>
            <a:r>
              <a:t>Beskriv säkrade komponenter och kvarvarande risk var för sig.</a:t>
            </a:r>
          </a:p>
          <a:p>
            <a:r>
              <a:t>Kontrollera förståelsen innan nästa offertsteg.</a:t>
            </a:r>
          </a:p>
          <a:p/>
          <a:p>
            <a:r>
              <a:t>KÄLLOR</a:t>
            </a:r>
          </a:p>
          <a:p>
            <a:r>
              <a:t>Produktspecifikationer för säljare · 10 oktober 2026 (31 sidor) · s. 3, 4, 5, 6, 7, 8, 9, 10, 17, 18, 19, 20, 21, 22, 23, 24, 25, 26, 27, 28, 29, 30, 31 · Gemensamma produkter, portföljer samt Direkt/Stabil; kundfallen är syntetisk pedagogisk tillämpning.</a:t>
            </a:r>
          </a:p>
          <a:p>
            <a:r>
              <a:t>Ludwigs uttryckliga produktprecisering i samtalet · Stabils gemensamma pris gäller endast säkrad månadsutjämnad del.</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ett bra konsumentsamtal ska kunden förstå sitt val, inte bara höra ett produktnamn. Här använder du produktkunskapen i tre hushållsfall och ett telefonrollspel. Alla namn, priser och dialoger är fiktiva utbildningsexempel. Verkliga inspelningar finns bara när de har lagts till i samtalsbiblioteket enligt verksamhetens godkända rutin.</a:t>
            </a:r>
          </a:p>
          <a:p/>
          <a:p>
            <a:r>
              <a:t>LÄRANDEMÅL</a:t>
            </a:r>
          </a:p>
          <a:p>
            <a:r>
              <a:t>Kartlägga förbrukning, budgetbehov och faktisk möjlighet att flytta elanvändning.</a:t>
            </a:r>
          </a:p>
          <a:p>
            <a:r>
              <a:t>Förklara fem konsumentprodukter utan löften om marknadens lägsta pris.</a:t>
            </a:r>
          </a:p>
          <a:p>
            <a:r>
              <a:t>Jämföra kostnader och kontrollera kundens förståelse.</a:t>
            </a:r>
          </a:p>
          <a:p>
            <a:r>
              <a:t>Granska ett lyckat samtal med en tydlig bedömningsmall.</a:t>
            </a:r>
          </a:p>
          <a:p/>
          <a:p>
            <a:r>
              <a:t>KANONISKT BERÄTTARMANUS</a:t>
            </a:r>
          </a:p>
          <a:p>
            <a:r>
              <a:t>kundfall-privat-01 · Börja i kundens vardag</a:t>
            </a:r>
          </a:p>
          <a:p>
            <a:r>
              <a:t>Ett bra konsumentsamtal gör kundens val begripligt. Börja med vad kunden vill få hjälp med. Är det oro inför vintern, intresse för styrd laddning eller en faktura som är svår att förstå? Fråga om uppvärmning, ungefärlig årsförbrukning och större uttag. Ta reda på vad kunden faktiskt kan flytta i tid. En bil som står hemma hela natten kan ge möjlighet till styrning, men det betyder inte att hela hushållets elanvändning är flyttbar. Fråga också hur stor prisvariation kunden kan acceptera. Rekommendationen ska följa kundens vardag och riskutrymme, inte ett antagande om att samma modell passar alla.</a:t>
            </a:r>
          </a:p>
          <a:p>
            <a:r>
              <a:t>På skärmen: Vardag · kWh · styrning · budget</a:t>
            </a:r>
          </a:p>
          <a:p>
            <a:r>
              <a:t>Bildidé: Tre fiktiva hushåll visas med olika uttag och behov.</a:t>
            </a:r>
          </a:p>
          <a:p/>
          <a:p>
            <a:r>
              <a:t>kundfall-privat-02 · Förklara modellerna med rätt gränser</a:t>
            </a:r>
          </a:p>
          <a:p>
            <a:r>
              <a:t>Kvartspris följer kundens användning och priset i varje kvart. Rörligt pris följer avtalets månadsmodell. Fastpris bestämmer energihandelspriset enligt avtalet för en period. Opti jämför två hela månadsutfall för samma volym och komponenter. Det väljer inte ett lägsta pris i varje kvart. Vintersäkrat kombinerar ett fast energihandelspris under de avtalade vintermånaderna med Kvartspris under sommardelen. Standard i underlaget är oktober till mars och april till september, men kontrollera det aktuella avtalet. Elnät, skatt och moms är separata fakturadelar. En begriplig förklaring visar både produktens funktion och vad kunden fortfarande behöver ta höjd för.</a:t>
            </a:r>
          </a:p>
          <a:p>
            <a:r>
              <a:t>På skärmen: Kvartspris · Rörligt · Fastpris | Opti: hela månaden | Vintersäkrat: två delar av året</a:t>
            </a:r>
          </a:p>
          <a:p>
            <a:r>
              <a:t>Bildidé: Produkter läggs på en tidslinje med tydligt jämförelsefönster.</a:t>
            </a:r>
          </a:p>
          <a:p/>
          <a:p>
            <a:r>
              <a:t>kundfall-privat-03 · Räkna i både öre och kronor</a:t>
            </a:r>
          </a:p>
          <a:p>
            <a:r>
              <a:t>I en liten lägenhet kan den fasta avgiften förändra jämförelsen. Vårt exempel använder tvåtusen kilowattimmar per år. Alternativ A kostar nittio öre per kilowattimme och fyrtionio kronor i månaden. Energikostnaden blir artonhundra kronor och årsavgiften femhundraåttioåtta. Totalt tvåtusentrehundraåttioåtta kronor. Alternativ B kostar hundra öre och nitton kronor per månad. Det blir tvåtusentvåhundratjugoåtta kronor. B är alltså hundrasextio kronor lägre trots det högre örestalet. Priserna är påhittade och omfattningen är densamma. Om komponenter eller perioder skiljer sig måste jämförelsen göras om. Resultatet är inte hushållets kompletta elräkning.</a:t>
            </a:r>
          </a:p>
          <a:p>
            <a:r>
              <a:t>På skärmen: A: 2 388 kr | B: 2 228 kr | Samma volym och omfattning</a:t>
            </a:r>
          </a:p>
          <a:p>
            <a:r>
              <a:t>Bildidé: Energikostnad och avgift byggs som två stapeldelar.</a:t>
            </a:r>
          </a:p>
          <a:p/>
          <a:p>
            <a:r>
              <a:t>kundfall-privat-04 · Kontrollera kundens förståelse</a:t>
            </a:r>
          </a:p>
          <a:p>
            <a:r>
              <a:t>Exempelhushållet oroar sig för vintern. Fråga om det är högre priser, högre förbrukning eller båda som skapar oron. Förklara att ett fast vinterpris på energihandeln ger förutsägbarhet per kilowattimme på den delen, men inte samma faktura. Huset kan använda mer el när det är kallt. Andra fakturadelar tillkommer också. Be kunden återge modellen med egna ord. En fråga som vilken del är bestämd i förväg och vad kan fortfarande göra räkningen större hjälper dig att upptäcka missförstånd. Ett snabbt ja visar mindre än en egen förklaring. Gå igenom den aktuella offertens månader, prisomfattning och villkor före nästa steg.</a:t>
            </a:r>
          </a:p>
          <a:p>
            <a:r>
              <a:t>På skärmen: Fast pris per kWh ≠ samma belopp | Låt kunden återberätta</a:t>
            </a:r>
          </a:p>
          <a:p>
            <a:r>
              <a:t>Bildidé: Prisstapel hålls stilla medan mängden kWh och kostnaden ändras.</a:t>
            </a:r>
          </a:p>
          <a:p/>
          <a:p>
            <a:r>
              <a:t>kundfall-privat-05 · Lär av lyckade samtal</a:t>
            </a:r>
          </a:p>
          <a:p>
            <a:r>
              <a:t>I samtalsbiblioteket ska ett lyckat exempel visa vad som fungerade. Lyssna efter frågorna som gjorde behovet tydligt. Se hur säljaren beskrev prisets omfattning och vilka risker som finns kvar. Leta efter belägg för att kunden förstod. Ett accepterat avtal är inte ensamt ett kvitto på en korrekt förklaring. Välj en sekvens och beskriv hur principen kan användas i ett nytt samtal. Våra dialoger i utbildningen är fiktiva rollspel, inte verkliga inspelningar. Använd riktiga ljudfiler enligt verksamhetens godkända rutiner och tänk på att bibliotekets lokala lagring inte automatiskt delar dem. Målet är ett bättre, tydligare kundmöte.</a:t>
            </a:r>
          </a:p>
          <a:p>
            <a:r>
              <a:t>På skärmen: Behov → förklaring → förståelse | Rollspel och verkliga samtal märks tydligt</a:t>
            </a:r>
          </a:p>
          <a:p>
            <a:r>
              <a:t>Bildidé: Bedömningsmall får konkreta exempel utan att visa riktiga kunddata.</a:t>
            </a:r>
          </a:p>
          <a:p/>
          <a:p>
            <a:r>
              <a:t>KÄLLOR</a:t>
            </a:r>
          </a:p>
          <a:p>
            <a:r>
              <a:t>Produktspecifikationer för säljare · 10 oktober 2026 (31 sidor) · s. 3, 4, 5, 6, 7, 8, 9, 10, 11, 12, 13, 14, 15, 16 · Fem konsumentprodukter; samtliga kundfall och rollspel är fiktiva pedagogiska tillämpningar.</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Börja med att ta reda på vad kunden vill få hjälp med. En kund kan vilja känna större trygghet inför vintern. En annan vill utnyttja sin laddbox och automatisk styrning. En tredje tycker att fakturan är svår att förstå. Anpassa förklaringen till det behovet och använd få fackord åt gången.</a:t>
            </a:r>
          </a:p>
          <a:p/>
          <a:p>
            <a:r>
              <a:t>Fråga om bostadens uppvärmning, ungefärlig årsförbrukning, elbil och andra större uttag. Ta reda på om kundens användning går att flytta i praktiken. Det är skillnad på att kunna välja nattladdning och att kunna styra all uppvärmning utan att påverka komforten. Om kunden saknar historik ska du säga det, inte behandla en gissad profil som säker.</a:t>
            </a:r>
          </a:p>
          <a:p/>
          <a:p>
            <a:r>
              <a:t>Fråga sedan hur mycket variation kunden kan acceptera. Ett hushåll kan föredra ett mer förutsägbart energipris även om det inte följer framtida prisfall. Ett annat kan acceptera variation och prioritera ett marknadsföljande upplägg. Du behöver inte få kunden att välja samma sak som du själv skulle välja. Din uppgift är att göra konsekvenserna begripliga.</a:t>
            </a:r>
          </a:p>
          <a:p/>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Kvartspris kopplar kundens uttag till priset i respektive kvart. Det kan vara relevant när stora uttag går att styra och kunden accepterar prisvariation. Att en kvart är billig betyder inte att kundens hela månadspris blir lågt; de använda kilowattimmarna avgör viktningen.</a:t>
            </a:r>
          </a:p>
          <a:p/>
          <a:p>
            <a:r>
              <a:t>Rörligt pris följer den avtalade månadsmodellen. Det ger inte hela energipriset fast över en längre period. Fastpris ger det avtalade energihandelspriset enligt produktens omfattning under perioden. Kunden använder fortfarande olika mycket el och betalar också kostnader som ligger utanför energihandelspriset.</a:t>
            </a:r>
          </a:p>
          <a:p/>
          <a:p>
            <a:r>
              <a:t>Opti jämför två månadsutfall för samma volym och prisomfattning: det faktiska förbrukningsvägda kvartsutfallet och avtalets rörliga månadspris. Det lägre används enligt modellen. Det är inte ett byte till det lägsta priset varje kvart och inte ett löfte om det lägsta priset bland alla avtal på marknaden.</a:t>
            </a:r>
          </a:p>
          <a:p/>
          <a:p>
            <a:r>
              <a:t>Vintersäkrat kombinerar ett fast energihandelspris under vinterdelen med Kvartspris under sommardelen. Standardperioderna i underlaget är oktober till mars respektive april till september; aktuellt avtal kan ange andra månader. Vinterdelen omfattar energihandelskomponenterna inklusive dygnsprofilen. Elnät, energiskatt och moms ligger utanför själva energihandelspriset.</a:t>
            </a:r>
          </a:p>
          <a:p/>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Kvartspris kopplar kundens uttag till priset i respektive kvart. Det kan vara relevant när stora uttag går att styra och kunden accepterar prisvariation. Att en kvart är billig betyder inte att kundens hela månadspris blir lågt; de använda kilowattimmarna avgör viktningen.</a:t>
            </a:r>
          </a:p>
          <a:p/>
          <a:p>
            <a:r>
              <a:t>Rörligt pris följer den avtalade månadsmodellen. Det ger inte hela energipriset fast över en längre period. Fastpris ger det avtalade energihandelspriset enligt produktens omfattning under perioden. Kunden använder fortfarande olika mycket el och betalar också kostnader som ligger utanför energihandelspriset.</a:t>
            </a:r>
          </a:p>
          <a:p/>
          <a:p>
            <a:r>
              <a:t>Opti jämför två månadsutfall för samma volym och prisomfattning: det faktiska förbrukningsvägda kvartsutfallet och avtalets rörliga månadspris. Det lägre används enligt modellen. Det är inte ett byte till det lägsta priset varje kvart och inte ett löfte om det lägsta priset bland alla avtal på marknaden.</a:t>
            </a:r>
          </a:p>
          <a:p/>
          <a:p>
            <a:r>
              <a:t>Vintersäkrat kombinerar ett fast energihandelspris under vinterdelen med Kvartspris under sommardelen. Standardperioderna i underlaget är oktober till mars respektive april till september; aktuellt avtal kan ange andra månader. Vinterdelen omfattar energihandelskomponenterna inklusive dygnsprofilen. Elnät, energiskatt och moms ligger utanför själva energihandelspriset.</a:t>
            </a:r>
          </a:p>
          <a:p/>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Exempelvillan använder 18 000 kWh per år och har en laddbox. Kunden säger att bilen ofta står hemma hela natten, men att värmepumpen behövs när huset är kallt. Kvartspris är relevant att diskutera eftersom laddningen kan vara flyttbar. Undersök hur stor del av användningen det faktiskt gäller och om styrningen är aktiverad.</a:t>
            </a:r>
          </a:p>
          <a:p/>
          <a:p>
            <a:r>
              <a:t>Förklara att möjligheten att flytta laddning är en möjlighet, inte en säker besparing. Framtida kvartpriser är inte kända. En jämförelse med historiska data visar hur ett visst mönster hade slagit i en bestämd period; den garanterar inte samma framtida utfall. Ta med förbrukningen i båda jämförelsealternativen.</a:t>
            </a:r>
          </a:p>
          <a:p/>
          <a:p>
            <a:r>
              <a:t>Om kunden vill kombinera kvartsexponering med månadsjämförelsen i Opti behöver du förklara just den jämförelsen. Kunden ska kunna återge att den görs för hela månaden. Om budgettrygghet inför vintern är viktigare kan Fastpris eller Vintersäkrat vara andra relevanta alternativ att undersöka i aktuell offert.</a:t>
            </a:r>
          </a:p>
          <a:p/>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Exempellägenheten använder 2 000 kWh per år och har ingen elvärme eller elbil. Kunden fokuserar på skillnaden mellan två örespriser. Här kan den fasta avgiften få stor betydelse i totalen. Räkna på samma volym och samma omfattning innan du säger att ett erbjudande blir billigare.</a:t>
            </a:r>
          </a:p>
          <a:p/>
          <a:p>
            <a:r>
              <a:t>Undvik att göra styrbarhet till ett allmänt argument för alla. Om kundens större uttag är få kan tiden och intresset för aktiv styrning väga tyngre än skillnaden i ett historiskt exempel. Rörligt pris, Kvartspris eller andra tillgängliga alternativ behöver fortfarande bedömas efter kundens mål. Produktnamnet väljer inte åt kunden.</a:t>
            </a:r>
          </a:p>
          <a:p/>
          <a:p>
            <a:r>
              <a:t>Visa kostnaden i kronor tillsammans med öre per kilowattimme. Det hjälper kunden att förstå storleksordningen. Säg exakt vilka delar du har räknat med. Om elnät, skatt och moms saknas är resultatet en avgränsad energihandelskalkyl, inte hushållets fullständiga elräkning.</a:t>
            </a:r>
          </a:p>
          <a:p/>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Exempelhushållet har eluppvärmning och använder mycket mer el under kalla månader. Kunden vill ha större förutsägbarhet just då men kan acceptera ett marknadsföljande pris på sommaren. Vintersäkrat är relevant att gå igenom eftersom modellen delar året. Kontrollera vilka månader och komponenter som gäller i det aktuella erbjudandet.</a:t>
            </a:r>
          </a:p>
          <a:p/>
          <a:p>
            <a:r>
              <a:t>Påminn om att högre vinterförbrukning fortfarande ger högre kostnad även när priset per kWh är fast på vinterdelen. Fast pris på energihandeln betyder inte samma faktura. Särskilt ett uppvärmningshushåll behöver skilja väderriskens mängdeffekt från marknadens priseffekt.</a:t>
            </a:r>
          </a:p>
          <a:p/>
          <a:p>
            <a:r>
              <a:t>Jämför också med Fastpris om kunden önskar förutsägbarhet under hela avtalsperioden. Håll jämförelsen neutral: ett fast pris kan bli mindre fördelaktigt när marknaden faller. Det skydd kunden köper har en avvägning, och den ska vara tydlig även när kunden själv använder ordet trygghet.</a:t>
            </a:r>
          </a:p>
          <a:p/>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Säljare: ”Vad skulle du framför allt vilja få bättre kontroll på i ditt elavtal?” Kund: ”Jag oroar mig för vinterns räkningar.” Säljare: ”Är det främst att priset kan stiga, eller att huset använder mer el när det är kallt?” Kund: ”Båda, men jag vill förstå vad jag kan bestämma i förväg.”</a:t>
            </a:r>
          </a:p>
          <a:p/>
          <a:p>
            <a:r>
              <a:t>Säljare: ”Då börjar vi med pris och mängd var för sig. Ett fast energihandelspris gör den delen mer förutsägbar per kilowattimme. Använder huset mer el blir kostnaden ändå högre. Med Vintersäkrat är energihandelspriset fast under de avtalade vintermånaderna och följer kvartpriser under sommardelen.” Kund: ”Så det är inte samma räkning varje månad?”</a:t>
            </a:r>
          </a:p>
          <a:p/>
          <a:p>
            <a:r>
              <a:t>Säljare: ”Precis. Förbrukningen varierar, och elnät, skatt och moms är andra delar av räkningen. Vi går igenom aktuella månader, prisomfattning och villkor i erbjudandet. Hur skulle du själv beskriva skillnaden mot Kvartspris hela året?” Kund: ”Jag får ett bestämt energipris under vinterdelen men varierande pris på sommaren, och mängden spelar fortfarande roll.”</a:t>
            </a:r>
          </a:p>
          <a:p/>
          <a:p>
            <a:r>
              <a:t>Detta är ett manus för träning, inte ett verkligt lyckat kundsamtal. Det lyckade momentet är att kunden kan återge modellen. Ett bra samtal innehåller öppna frågor, en anpassad förklaring, tydlig prisomfattning och ett nästa steg enligt den godkända säljprocessen. Utbildningen ersätter inte rutiner för information, avtal eller inspelning.</a:t>
            </a:r>
          </a:p>
          <a:p/>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Säljare: ”Vad skulle du framför allt vilja få bättre kontroll på i ditt elavtal?” Kund: ”Jag oroar mig för vinterns räkningar.” Säljare: ”Är det främst att priset kan stiga, eller att huset använder mer el när det är kallt?” Kund: ”Båda, men jag vill förstå vad jag kan bestämma i förväg.”</a:t>
            </a:r>
          </a:p>
          <a:p/>
          <a:p>
            <a:r>
              <a:t>Säljare: ”Då börjar vi med pris och mängd var för sig. Ett fast energihandelspris gör den delen mer förutsägbar per kilowattimme. Använder huset mer el blir kostnaden ändå högre. Med Vintersäkrat är energihandelspriset fast under de avtalade vintermånaderna och följer kvartpriser under sommardelen.” Kund: ”Så det är inte samma räkning varje månad?”</a:t>
            </a:r>
          </a:p>
          <a:p/>
          <a:p>
            <a:r>
              <a:t>Säljare: ”Precis. Förbrukningen varierar, och elnät, skatt och moms är andra delar av räkningen. Vi går igenom aktuella månader, prisomfattning och villkor i erbjudandet. Hur skulle du själv beskriva skillnaden mot Kvartspris hela året?” Kund: ”Jag får ett bestämt energipris under vinterdelen men varierande pris på sommaren, och mängden spelar fortfarande roll.”</a:t>
            </a:r>
          </a:p>
          <a:p/>
          <a:p>
            <a:r>
              <a:t>Detta är ett manus för träning, inte ett verkligt lyckat kundsamtal. Det lyckade momentet är att kunden kan återge modellen. Ett bra samtal innehåller öppna frågor, en anpassad förklaring, tydlig prisomfattning och ett nästa steg enligt den godkända säljprocessen. Utbildningen ersätter inte rutiner för information, avtal eller inspelning.</a:t>
            </a:r>
          </a:p>
          <a:p/>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När ett verkligt samtal har lagts till i det befintliga B2C-biblioteket, lyssna först efter kundens behov innan du bedömer produktförklaringen. Anteckna vilka frågor som gjorde behovet tydligt. Skriv sedan ned hur säljaren skilde pris per kWh från mängd och hur kunden visade sin förståelse.</a:t>
            </a:r>
          </a:p>
          <a:p/>
          <a:p>
            <a:r>
              <a:t>Välj en kort, meningsfull sekvens för diskussion. Beskriv varför den fungerade och hur principen kan användas i nästa samtal. Ett avtal som tecknas är inte ensamt ett bevis på att förklaringen var korrekt. Bedöm också om kvarvarande risker beskrevs och om några besparings- eller fastprislöften gick längre än produkten tillåter.</a:t>
            </a:r>
          </a:p>
          <a:p/>
          <a:p>
            <a:r>
              <a:t>Följ verksamhetens godkända rutiner för att använda och dela riktiga inspelningar. Bibliotekets lokala lagring innebär inte att ljudfilen automatiskt delas med andra deltagare. Lägg aldrig till ett fiktivt rollspel under en etikett som säger att det är ett verkligt kundsamtal.</a:t>
            </a:r>
          </a:p>
          <a:p/>
          <a:p>
            <a:r>
              <a:t>Vilka behov kom fram och genom vilka frågor?</a:t>
            </a:r>
          </a:p>
          <a:p>
            <a:r>
              <a:t>Vilken del av priset förklarades och vilken risk nämndes?</a:t>
            </a:r>
          </a:p>
          <a:p>
            <a:r>
              <a:t>Vad visade att kunden förstod?</a:t>
            </a:r>
          </a:p>
          <a:p>
            <a:r>
              <a:t>Vilken formulering kan förbättras och varför?</a:t>
            </a:r>
          </a:p>
          <a:p>
            <a:r>
              <a:t>Vad blir ett tydligt nästa steg enligt den faktiska processen?</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FULLSTÄNDIG GENOMGÅNG</a:t>
            </a:r>
          </a:p>
          <a:p>
            <a:r>
              <a:t>När ett verkligt samtal har lagts till i det befintliga B2C-biblioteket, lyssna först efter kundens behov innan du bedömer produktförklaringen. Anteckna vilka frågor som gjorde behovet tydligt. Skriv sedan ned hur säljaren skilde pris per kWh från mängd och hur kunden visade sin förståelse.</a:t>
            </a:r>
          </a:p>
          <a:p/>
          <a:p>
            <a:r>
              <a:t>Välj en kort, meningsfull sekvens för diskussion. Beskriv varför den fungerade och hur principen kan användas i nästa samtal. Ett avtal som tecknas är inte ensamt ett bevis på att förklaringen var korrekt. Bedöm också om kvarvarande risker beskrevs och om några besparings- eller fastprislöften gick längre än produkten tillåter.</a:t>
            </a:r>
          </a:p>
          <a:p/>
          <a:p>
            <a:r>
              <a:t>Följ verksamhetens godkända rutiner för att använda och dela riktiga inspelningar. Bibliotekets lokala lagring innebär inte att ljudfilen automatiskt delas med andra deltagare. Lägg aldrig till ett fiktivt rollspel under en etikett som säger att det är ett verkligt kundsamtal.</a:t>
            </a:r>
          </a:p>
          <a:p/>
          <a:p>
            <a:r>
              <a:t>Vilka behov kom fram och genom vilka frågor?</a:t>
            </a:r>
          </a:p>
          <a:p>
            <a:r>
              <a:t>Vilken del av priset förklarades och vilken risk nämndes?</a:t>
            </a:r>
          </a:p>
          <a:p>
            <a:r>
              <a:t>Vad visade att kunden förstod?</a:t>
            </a:r>
          </a:p>
          <a:p>
            <a:r>
              <a:t>Vilken formulering kan förbättras och varför?</a:t>
            </a:r>
          </a:p>
          <a:p>
            <a:r>
              <a:t>Vad blir ett tydligt nästa steg enligt den faktiska processen?</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energihandelspriser med jämförbara komponenter och samma årsvolym. Elnät, skatt och moms uteslutna. Ingen faktisk offert.</a:t>
            </a:r>
          </a:p>
          <a:p/>
          <a:p>
            <a:r>
              <a:t>DATA</a:t>
            </a:r>
          </a:p>
          <a:p>
            <a:r>
              <a:t>Årsförbrukning: 2 000 kWh.</a:t>
            </a:r>
          </a:p>
          <a:p>
            <a:r>
              <a:t>A: 90 öre/kWh och 49 kr/månad.</a:t>
            </a:r>
          </a:p>
          <a:p>
            <a:r>
              <a:t>B: 100 öre/kWh och 19 kr/månad.</a:t>
            </a:r>
          </a:p>
          <a:p/>
          <a:p>
            <a:r>
              <a:t>MELLANLED</a:t>
            </a:r>
          </a:p>
          <a:p>
            <a:r>
              <a:t>A:s energi: 2 000 × 0,90 = 1 800 kr. Avgift: 49 × 12 = 588 kr. Totalt: 2 388 kr.</a:t>
            </a:r>
          </a:p>
          <a:p>
            <a:r>
              <a:t>B:s energi: 2 000 × 1,00 = 2 000 kr. Avgift: 19 × 12 = 228 kr. Totalt: 2 228 kr.</a:t>
            </a:r>
          </a:p>
          <a:p>
            <a:r>
              <a:t>2 388 − 2 228 = 160 kr.</a:t>
            </a:r>
          </a:p>
          <a:p/>
          <a:p>
            <a:r>
              <a:t>RESULTAT</a:t>
            </a:r>
          </a:p>
          <a:p>
            <a:r>
              <a:t>B är 160 kr lägre under exemplet trots högre energipris.</a:t>
            </a:r>
          </a:p>
          <a:p/>
          <a:p>
            <a:r>
              <a:t>TOLKNING</a:t>
            </a:r>
          </a:p>
          <a:p>
            <a:r>
              <a:t>Den fasta avgiften får större relativ betydelse när volymen är liten. Verkliga priser måste fortfarande jämföras för samma period och omfattning.</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Syntetiska energihandelspriser med jämförbara komponenter och samma årsvolym. Elnät, skatt och moms uteslutna. Ingen faktisk offert.</a:t>
            </a:r>
          </a:p>
          <a:p/>
          <a:p>
            <a:r>
              <a:t>DATA</a:t>
            </a:r>
          </a:p>
          <a:p>
            <a:r>
              <a:t>Årsförbrukning: 2 000 kWh.</a:t>
            </a:r>
          </a:p>
          <a:p>
            <a:r>
              <a:t>A: 90 öre/kWh och 49 kr/månad.</a:t>
            </a:r>
          </a:p>
          <a:p>
            <a:r>
              <a:t>B: 100 öre/kWh och 19 kr/månad.</a:t>
            </a:r>
          </a:p>
          <a:p/>
          <a:p>
            <a:r>
              <a:t>MELLANLED</a:t>
            </a:r>
          </a:p>
          <a:p>
            <a:r>
              <a:t>A:s energi: 2 000 × 0,90 = 1 800 kr. Avgift: 49 × 12 = 588 kr. Totalt: 2 388 kr.</a:t>
            </a:r>
          </a:p>
          <a:p>
            <a:r>
              <a:t>B:s energi: 2 000 × 1,00 = 2 000 kr. Avgift: 19 × 12 = 228 kr. Totalt: 2 228 kr.</a:t>
            </a:r>
          </a:p>
          <a:p>
            <a:r>
              <a:t>2 388 − 2 228 = 160 kr.</a:t>
            </a:r>
          </a:p>
          <a:p/>
          <a:p>
            <a:r>
              <a:t>RESULTAT</a:t>
            </a:r>
          </a:p>
          <a:p>
            <a:r>
              <a:t>B är 160 kr lägre under exemplet trots högre energipris.</a:t>
            </a:r>
          </a:p>
          <a:p/>
          <a:p>
            <a:r>
              <a:t>TOLKNING</a:t>
            </a:r>
          </a:p>
          <a:p>
            <a:r>
              <a:t>Den fasta avgiften får större relativ betydelse när volymen är liten. Verkliga priser måste fortfarande jämföras för samma period och omfattning.</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illustration av Optis jämförelse. Samma 2 000 kWh och samma omfattade priskomponenter; inga övriga avgifter eller skatter.</a:t>
            </a:r>
          </a:p>
          <a:p/>
          <a:p>
            <a:r>
              <a:t>DATA</a:t>
            </a:r>
          </a:p>
          <a:p>
            <a:r>
              <a:t>Månadens faktiska förbrukningsvägda kvartspris på jämförelsebasen: 110 öre/kWh.</a:t>
            </a:r>
          </a:p>
          <a:p>
            <a:r>
              <a:t>Avtalets rörliga månadspris på samma bas: 95 öre/kWh.</a:t>
            </a:r>
          </a:p>
          <a:p>
            <a:r>
              <a:t>Månadsvolym: 2 000 kWh.</a:t>
            </a:r>
          </a:p>
          <a:p/>
          <a:p>
            <a:r>
              <a:t>MELLANLED</a:t>
            </a:r>
          </a:p>
          <a:p>
            <a:r>
              <a:t>Kvartsutfallet: 2 000 × 1,10 = 2 200 kr.</a:t>
            </a:r>
          </a:p>
          <a:p>
            <a:r>
              <a:t>Rörligt månadsutfall: 2 000 × 0,95 = 1 900 kr.</a:t>
            </a:r>
          </a:p>
          <a:p>
            <a:r>
              <a:t>Det lägre månadsutfallet i jämförelsen är 1 900 kr. Skillnaden är 300 kr.</a:t>
            </a:r>
          </a:p>
          <a:p/>
          <a:p>
            <a:r>
              <a:t>RESULTAT</a:t>
            </a:r>
          </a:p>
          <a:p>
            <a:r>
              <a:t>Månadsmodellen ger det lägre utfallet i just detta exempel.</a:t>
            </a:r>
          </a:p>
          <a:p/>
          <a:p>
            <a:r>
              <a:t>TOLKNING</a:t>
            </a:r>
          </a:p>
          <a:p>
            <a:r>
              <a:t>Jämförelsen sker över hela månaden på samma bas. Vi har inte valt det billigaste alternativet för varje enskild kvart och inte jämfört alla avtal på marknaden.</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OMFATTNING</a:t>
            </a:r>
          </a:p>
          <a:p>
            <a:r>
              <a:t>Syntetisk illustration av Optis jämförelse. Samma 2 000 kWh och samma omfattade priskomponenter; inga övriga avgifter eller skatter.</a:t>
            </a:r>
          </a:p>
          <a:p/>
          <a:p>
            <a:r>
              <a:t>DATA</a:t>
            </a:r>
          </a:p>
          <a:p>
            <a:r>
              <a:t>Månadens faktiska förbrukningsvägda kvartspris på jämförelsebasen: 110 öre/kWh.</a:t>
            </a:r>
          </a:p>
          <a:p>
            <a:r>
              <a:t>Avtalets rörliga månadspris på samma bas: 95 öre/kWh.</a:t>
            </a:r>
          </a:p>
          <a:p>
            <a:r>
              <a:t>Månadsvolym: 2 000 kWh.</a:t>
            </a:r>
          </a:p>
          <a:p/>
          <a:p>
            <a:r>
              <a:t>MELLANLED</a:t>
            </a:r>
          </a:p>
          <a:p>
            <a:r>
              <a:t>Kvartsutfallet: 2 000 × 1,10 = 2 200 kr.</a:t>
            </a:r>
          </a:p>
          <a:p>
            <a:r>
              <a:t>Rörligt månadsutfall: 2 000 × 0,95 = 1 900 kr.</a:t>
            </a:r>
          </a:p>
          <a:p>
            <a:r>
              <a:t>Det lägre månadsutfallet i jämförelsen är 1 900 kr. Skillnaden är 300 kr.</a:t>
            </a:r>
          </a:p>
          <a:p/>
          <a:p>
            <a:r>
              <a:t>RESULTAT</a:t>
            </a:r>
          </a:p>
          <a:p>
            <a:r>
              <a:t>Månadsmodellen ger det lägre utfallet i just detta exempel.</a:t>
            </a:r>
          </a:p>
          <a:p/>
          <a:p>
            <a:r>
              <a:t>TOLKNING</a:t>
            </a:r>
          </a:p>
          <a:p>
            <a:r>
              <a:t>Jämförelsen sker över hela månaden på samma bas. Vi har inte valt det billigaste alternativet för varje enskild kvart och inte jämfört alla avtal på marknaden.</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 laddbox är Kvartspris alltid billigast.</a:t>
            </a:r>
          </a:p>
          <a:p/>
          <a:p>
            <a:r>
              <a:t>Utfallet beror på framtida priser, faktisk förbrukningsfördelning och möjlig styrning. Laddboxen garanterar ingen besparing.</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 väljer lägsta pris varje kvart.</a:t>
            </a:r>
          </a:p>
          <a:p/>
          <a:p>
            <a:r>
              <a:t>Opti jämför två hela månadsutfall för samma volym och omfattning.</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Vintersäkrat ger samma räkning under vintermånaderna.</a:t>
            </a:r>
          </a:p>
          <a:p/>
          <a:p>
            <a:r>
              <a:t>Priset på vinterdelens energihandel är fast enligt avtalet. Förbrukningen och andra fakturadelar påverkar beloppet.</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 väljer avtalsmodell utifrån hur du använder el, hur mycket du kan flytta och hur stor prisvariation du vill acceptera. Sedan visar vi vad priset omfattar och vad som fortfarande kan ändras. Ett fast pris per kilowattimme betyder inte att räkningen blir lika stor varje månad.</a:t>
            </a:r>
          </a:p>
          <a:p/>
          <a:p>
            <a:r>
              <a:t>UTVECKLAD FÖRKLARING</a:t>
            </a:r>
          </a:p>
          <a:p>
            <a:r>
              <a:t>Kvartspris följer dina uttag kvart för kvart, Rörligt pris följer avtalets månadsmodell och Fastpris bestämmer energihandelspriset enligt avtalet för perioden. Opti jämför två hela månadsutfall på samma bas. Vintersäkrat kombinerar en fast vinterdel med en kvartssatt sommardel. Vi räknar med dina kWh och eventuella avgifter och håller elnät, skatt och moms tydligt åtskilda.</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Exempelvillan använder 18 000 kWh om året. Huset har värmepump och elbil. Kunden kan flytta en del laddning men vill slippa stora prisöverraskningar på vintern. Kunden tror att Opti alltid ger lägsta priset på hela marknaden och att Vintersäkrat betyder samma faktura.</a:t>
            </a:r>
          </a:p>
          <a:p/>
          <a:p>
            <a:r>
              <a:t>UPPGIFTER</a:t>
            </a:r>
          </a:p>
          <a:p>
            <a:r>
              <a:t>Ställ fyra behovsfrågor innan du väljer modell.</a:t>
            </a:r>
          </a:p>
          <a:p>
            <a:r>
              <a:t>Korrigera båda missförstånden med vardagliga ord.</a:t>
            </a:r>
          </a:p>
          <a:p>
            <a:r>
              <a:t>Ge två relevanta alternativ och förklara vad som skulle tala för vart och ett.</a:t>
            </a:r>
          </a:p>
          <a:p>
            <a:r>
              <a:t>Skriv en fråga som kontrollerar kundens förståelse.</a:t>
            </a:r>
          </a:p>
          <a:p/>
          <a:p>
            <a:r>
              <a:t>MODELLSVAR</a:t>
            </a:r>
          </a:p>
          <a:p>
            <a:r>
              <a:t>Fråga om vinterandel, laddvolym/styrning, budgetutrymme och vilka delar av kostnaden kunden vill göra mer förutsägbara. Opti väljer det lägre av två definierade månadsutfall på samma bas, inte det lägsta priset bland alla marknadsavtal. Vintersäkrat bestämmer energihandelspriset under avtalets vintermånader, men högre mängd el och andra fakturadelar kan höja beloppet. Vintersäkrat är relevant om vinterprisets förutsägbarhet väger tyngst; Opti eller Kvartspris kan vara relevant om marknadsföljande pris och styrbar laddning väger tyngre. Fastpris kan också undersökas om kunden vill ha energiprisets förutsägbarhet under hela perioden. Kontrollera alltid aktuell offert. Fråga: ”Vilken del är bestämd i förväg och vad kan fortfarande göra din räkning större?”</a:t>
            </a:r>
          </a:p>
          <a:p/>
          <a:p>
            <a:r>
              <a:t>BEDÖMNINGSSTÖD</a:t>
            </a:r>
          </a:p>
          <a:p>
            <a:r>
              <a:t>Utgår från hushållets faktiska förbrukning och styrmöjlighet.</a:t>
            </a:r>
          </a:p>
          <a:p>
            <a:r>
              <a:t>Avgränsar Optis månadsjämförelse korrekt.</a:t>
            </a:r>
          </a:p>
          <a:p>
            <a:r>
              <a:t>Skiljer fast vinterpris från fakturabelopp.</a:t>
            </a:r>
          </a:p>
          <a:p>
            <a:r>
              <a:t>Beskriver alternativen och riskerna utan garanti om billigast utfall.</a:t>
            </a:r>
          </a:p>
          <a:p>
            <a:r>
              <a:t>Använder en öppen förståelsefråga.</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KUNDFALL</a:t>
            </a:r>
          </a:p>
          <a:p>
            <a:r>
              <a:t>Fiktiva Exempelvillan använder 18 000 kWh om året. Huset har värmepump och elbil. Kunden kan flytta en del laddning men vill slippa stora prisöverraskningar på vintern. Kunden tror att Opti alltid ger lägsta priset på hela marknaden och att Vintersäkrat betyder samma faktura.</a:t>
            </a:r>
          </a:p>
          <a:p/>
          <a:p>
            <a:r>
              <a:t>UPPGIFTER</a:t>
            </a:r>
          </a:p>
          <a:p>
            <a:r>
              <a:t>Ställ fyra behovsfrågor innan du väljer modell.</a:t>
            </a:r>
          </a:p>
          <a:p>
            <a:r>
              <a:t>Korrigera båda missförstånden med vardagliga ord.</a:t>
            </a:r>
          </a:p>
          <a:p>
            <a:r>
              <a:t>Ge två relevanta alternativ och förklara vad som skulle tala för vart och ett.</a:t>
            </a:r>
          </a:p>
          <a:p>
            <a:r>
              <a:t>Skriv en fråga som kontrollerar kundens förståelse.</a:t>
            </a:r>
          </a:p>
          <a:p/>
          <a:p>
            <a:r>
              <a:t>MODELLSVAR</a:t>
            </a:r>
          </a:p>
          <a:p>
            <a:r>
              <a:t>Fråga om vinterandel, laddvolym/styrning, budgetutrymme och vilka delar av kostnaden kunden vill göra mer förutsägbara. Opti väljer det lägre av två definierade månadsutfall på samma bas, inte det lägsta priset bland alla marknadsavtal. Vintersäkrat bestämmer energihandelspriset under avtalets vintermånader, men högre mängd el och andra fakturadelar kan höja beloppet. Vintersäkrat är relevant om vinterprisets förutsägbarhet väger tyngst; Opti eller Kvartspris kan vara relevant om marknadsföljande pris och styrbar laddning väger tyngre. Fastpris kan också undersökas om kunden vill ha energiprisets förutsägbarhet under hela perioden. Kontrollera alltid aktuell offert. Fråga: ”Vilken del är bestämd i förväg och vad kan fortfarande göra din räkning större?”</a:t>
            </a:r>
          </a:p>
          <a:p/>
          <a:p>
            <a:r>
              <a:t>BEDÖMNINGSSTÖD</a:t>
            </a:r>
          </a:p>
          <a:p>
            <a:r>
              <a:t>Utgår från hushållets faktiska förbrukning och styrmöjlighet.</a:t>
            </a:r>
          </a:p>
          <a:p>
            <a:r>
              <a:t>Avgränsar Optis månadsjämförelse korrekt.</a:t>
            </a:r>
          </a:p>
          <a:p>
            <a:r>
              <a:t>Skiljer fast vinterpris från fakturabelopp.</a:t>
            </a:r>
          </a:p>
          <a:p>
            <a:r>
              <a:t>Beskriver alternativen och riskerna utan garanti om billigast utfall.</a:t>
            </a:r>
          </a:p>
          <a:p>
            <a:r>
              <a:t>Använder en öppen förståelsefråga.</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Vilket påstående är mest korrekt för en kund med laddbox?</a:t>
            </a:r>
          </a:p>
          <a:p/>
          <a:p>
            <a:r>
              <a:t>FACIT</a:t>
            </a:r>
          </a:p>
          <a:p>
            <a:r>
              <a:t>Rätt alternativ: B. Flyttbar laddning kan vara relevant, men utfallet beror på priser och kundens användning. Förklaring: Möjlig styrning behöver kopplas till de uttag som faktiskt går att flytta. Framtida besparing är inte garanterad.</a:t>
            </a:r>
          </a:p>
          <a:p/>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årsavgift motsvarar 49 kr per månad?</a:t>
            </a:r>
          </a:p>
          <a:p/>
          <a:p>
            <a:r>
              <a:t>FACIT</a:t>
            </a:r>
          </a:p>
          <a:p>
            <a:r>
              <a:t>Svar: 588 kr per år. 49 × 12 = 588 kr per år. Lägg avgiften till energikostnaden när jämförelsebasen är densamma.</a:t>
            </a:r>
          </a:p>
          <a:p/>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Vad kännetecknar en korrekt analys av ett lyckat samtal?</a:t>
            </a:r>
          </a:p>
          <a:p/>
          <a:p>
            <a:r>
              <a:t>FACIT</a:t>
            </a:r>
          </a:p>
          <a:p>
            <a:r>
              <a:t>Rätt alternativ: C. Att behov, prisomfattning, risk och kundens förståelse blev tydliga. Förklaring: Ett bra undervisningsexempel visar varför förklaringen fungerar och om kunden faktiskt förstod den.</a:t>
            </a:r>
          </a:p>
          <a:p/>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Skriv två meningar som förklarar Opti utan att säga att det alltid är billigast på marknaden.</a:t>
            </a:r>
          </a:p>
          <a:p/>
          <a:p>
            <a:r>
              <a:t>FACIT</a:t>
            </a:r>
          </a:p>
          <a:p>
            <a:r>
              <a:t>Opti jämför månadens faktiska förbrukningsvägda kvartsutfall med avtalets rörliga månadsutfall för samma volym och komponenter. Det lägre av dessa två används enligt modellen; jämförelsen gäller inte varje kvart eller alla marknadsavtal.</a:t>
            </a:r>
          </a:p>
          <a:p/>
          <a:p>
            <a:r>
              <a:t>Anger hela månaden.</a:t>
            </a:r>
          </a:p>
          <a:p>
            <a:r>
              <a:t>Anger de två jämförda utfallen.</a:t>
            </a:r>
          </a:p>
          <a:p>
            <a:r>
              <a:t>Håller samma volym och omfattning.</a:t>
            </a:r>
          </a:p>
          <a:p>
            <a:r>
              <a:t>Undviker ett allmänt billigastlöfte.</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 om vardag, budget och styrbar förbrukning.</a:t>
            </a:r>
          </a:p>
          <a:p>
            <a:r>
              <a:t>Visa öre/kWh och kronor på samma jämförelsebas.</a:t>
            </a:r>
          </a:p>
          <a:p>
            <a:r>
              <a:t>Förklara varje produkts omfattning och risk.</a:t>
            </a:r>
          </a:p>
          <a:p>
            <a:r>
              <a:t>Be kunden återge modellen med egna ord.</a:t>
            </a:r>
          </a:p>
          <a:p>
            <a:r>
              <a:t>Bedöm samtalskvalitet genom förståelse och korrekt innehåll.</a:t>
            </a:r>
          </a:p>
          <a:p/>
          <a:p>
            <a:r>
              <a:t>KÄLLOR</a:t>
            </a:r>
          </a:p>
          <a:p>
            <a:r>
              <a:t>Produktspecifikationer för säljare · 10 oktober 2026 (31 sidor) · s. 3, 4, 5, 6, 7, 8, 9, 10, 11, 12, 13, 14, 15, 16 · Fem konsumentprodukter; samtliga kundfall och rollspel är fiktiva pedagogiska tillämpningar.</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kW, kilowatt</a:t>
            </a:r>
          </a:p>
          <a:p>
            <a:r>
              <a:t>Enhet för effekt: hur snabbt energi används eller produceras i ett ögonblick. En apparat på 4 kW som används i två timmar använder 8 kWh om effekten är konstant.</a:t>
            </a:r>
          </a:p>
          <a:p/>
          <a:p>
            <a:r>
              <a:t>kWh, kilowattimme</a:t>
            </a:r>
          </a:p>
          <a:p>
            <a:r>
              <a:t>Enhet för energi: mängden el som används eller produceras. kWh används för att multiplicera en mängd med ett pris per kWh; den ska inte förväxlas med effekt i kW.</a:t>
            </a:r>
          </a:p>
          <a:p/>
          <a:p>
            <a:r>
              <a:t>MWh, megawattimme</a:t>
            </a:r>
          </a:p>
          <a:p>
            <a:r>
              <a:t>Energi motsvarande 1 000 kWh. Volymuppgifter måste omvandlas till samma enhet innan de jämförs eller multipliceras med pris.</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Öre per kWh</a:t>
            </a:r>
          </a:p>
          <a:p>
            <a:r>
              <a:t>Pris per energienhet. 100 öre/kWh motsvarar 1 kr/kWh. Prisets omfattning måste anges: spotreferens, viss komponent eller ett definierat elhandelspris.</a:t>
            </a:r>
          </a:p>
          <a:p/>
          <a:p>
            <a:r>
              <a:t>Spotpris</a:t>
            </a:r>
          </a:p>
          <a:p>
            <a:r>
              <a:t>Marknadspris för el i en viss leveransperiod och ett visst elområde. Det är en prisreferens och inte automatiskt kundens fullständiga elhandelspris eller hela elkostnad.</a:t>
            </a:r>
          </a:p>
          <a:p/>
          <a:p>
            <a:r>
              <a:t>Elområde</a:t>
            </a:r>
          </a:p>
          <a:p>
            <a:r>
              <a:t>Geografiskt område med ett eget marknadspris för el. Kundens anläggning måste kopplas till rätt område; ett nordiskt referenspris ersätter inte områdespriset.</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Systempris, SYS</a:t>
            </a:r>
          </a:p>
          <a:p>
            <a:r>
              <a:t>Nordiskt referenspris beräknat utan begränsningarna i överföringskapacitet mellan elområdena. SYS används vid finansiell prissäkring men är inte kundens lokala elpris.</a:t>
            </a:r>
          </a:p>
          <a:p/>
          <a:p>
            <a:r>
              <a:t>EPAD</a:t>
            </a:r>
          </a:p>
          <a:p>
            <a:r>
              <a:t>Instrument för att prissäkra skillnaden mellan ett elområdes pris och systempriset för motsvarande period. EPAD och SYS behöver matcha område, volym och period för avsedd referenssäkring.</a:t>
            </a:r>
          </a:p>
          <a:p/>
          <a:p>
            <a:r>
              <a:t>Elområdesskillnad</a:t>
            </a:r>
          </a:p>
          <a:p>
            <a:r>
              <a:t>Skillnaden mellan priset i ett elområde och systempriset. Den kan vara positiv eller negativ. Lägg inte till den en gång till ovanpå ett komplett områdespris.</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Områdespris</a:t>
            </a:r>
          </a:p>
          <a:p>
            <a:r>
              <a:t>Marknadspris för ett visst elområde och en viss period. Om en prisuppgift redan är områdespriset inkluderar den skillnaden mot SYS; EPAD får inte dubbelräknas.</a:t>
            </a:r>
          </a:p>
          <a:p/>
          <a:p>
            <a:r>
              <a:t>Prissäkring</a:t>
            </a:r>
          </a:p>
          <a:p>
            <a:r>
              <a:t>Åtgärd som bestämmer en prisnivå för definierade referenser, mängder och perioder. Den minskar viss framtida prisexponering men garanterar varken lägsta pris eller helt fast kundfaktura.</a:t>
            </a:r>
          </a:p>
          <a:p/>
          <a:p>
            <a:r>
              <a:t>Finansiellt säkringsresultat</a:t>
            </a:r>
          </a:p>
          <a:p>
            <a:r>
              <a:t>Resultat från en genomförd finansiell säkring. I kursens avgränsade principmodeller minskar ett positivt resultat elkostnaden och ett negativt resultat ökar den. Kundens avräkning följer prisbilagan.</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Säkrad mängd</a:t>
            </a:r>
          </a:p>
          <a:p>
            <a:r>
              <a:t>Överenskommen eller faktiskt genomförd mängd som omfattas av en viss prissäkring för en bestämd leveransperiod. Planerad mängd och genomförda köp behöver hållas isär.</a:t>
            </a:r>
          </a:p>
          <a:p/>
          <a:p>
            <a:r>
              <a:t>Förbrukningsprognos</a:t>
            </a:r>
          </a:p>
          <a:p>
            <a:r>
              <a:t>Bedömning av framtida elbehov med periodfördelning. Historik är ett underlag, men driftförändringar, egen produktion och nya anläggningar behöver vägas in.</a:t>
            </a:r>
          </a:p>
          <a:p/>
          <a:p>
            <a:r>
              <a:t>Prognosbas</a:t>
            </a:r>
          </a:p>
          <a:p>
            <a:r>
              <a:t>Den överenskomna volym som en angiven säkringsandel räknas från. Exempelvis 80 procent av 100 MWh ger 80 MWh; prognosbasen är inte fakturabeloppet.</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Säkringsgrad av prognos</a:t>
            </a:r>
          </a:p>
          <a:p>
            <a:r>
              <a:t>Andel av ett uttryckligt prognosunderlag som planeras eller avtalas att säkras. Ange period och om uppgiften gäller strategi, avtalad mängd eller redan genomförd handel.</a:t>
            </a:r>
          </a:p>
          <a:p/>
          <a:p>
            <a:r>
              <a:t>Faktiskt uttag</a:t>
            </a:r>
          </a:p>
          <a:p>
            <a:r>
              <a:t>Den verkliga uppmätta mängd kunden har använt från nätet under en viss period. Utfallet kan skilja sig från prognosen.</a:t>
            </a:r>
          </a:p>
          <a:p/>
          <a:p>
            <a:r>
              <a:t>Faktisk volymtäckning</a:t>
            </a:r>
          </a:p>
          <a:p>
            <a:r>
              <a:t>Säkrad mängd dividerad med faktiskt uttag för jämförbar period. Det är en volymkvot, inte andelen av fakturan som är fast och inte en garanti för kostnadsutfallet.</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Översäkring</a:t>
            </a:r>
          </a:p>
          <a:p>
            <a:r>
              <a:t>Situation där säkrad mängd överstiger motsvarande faktiskt uttag. Hur överskott eller avvikelser avräknas och vem som bär kostnaden avgörs av aktuellt avtal.</a:t>
            </a:r>
          </a:p>
          <a:p/>
          <a:p>
            <a:r>
              <a:t>Osäkrad mängd</a:t>
            </a:r>
          </a:p>
          <a:p>
            <a:r>
              <a:t>Volym som inte omfattas av den aktuella säkringen och därför behåller marknadsexponering. Den är inte automatiskt exakt 20 procent av varje nytt faktiskt uttag.</a:t>
            </a:r>
          </a:p>
          <a:p/>
          <a:p>
            <a:r>
              <a:t>Marknadsexponering</a:t>
            </a:r>
          </a:p>
          <a:p>
            <a:r>
              <a:t>Hur kundens kostnad kan påverkas av ändrade marknadspriser. Bedöm komponenter, mängder, perioder och profil; en enda procentuppgift beskriver inte hela risken.</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Köpdag</a:t>
            </a:r>
          </a:p>
          <a:p>
            <a:r>
              <a:t>Tidpunkt då ett inköp eller en säkring genomförs. Skilj från den framtida period under vilken den avtalade elen ska levereras.</a:t>
            </a:r>
          </a:p>
          <a:p/>
          <a:p>
            <a:r>
              <a:t>Leveransperiod</a:t>
            </a:r>
          </a:p>
          <a:p>
            <a:r>
              <a:t>Period som elinköpet, priset eller säkringen avser. Det är leveransen, inte enbart dagen då fakturan skickas, som avgör vilken avtalad prisperiod som används.</a:t>
            </a:r>
          </a:p>
          <a:p/>
          <a:p>
            <a:r>
              <a:t>Månadsprofil</a:t>
            </a:r>
          </a:p>
          <a:p>
            <a:r>
              <a:t>Hur förväntad eller faktisk förbrukning fördelas mellan månaderna. Den beskriver säsongsmönstret och skiljer sig från tidpunkterna inom varje månad.</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Dygnsprofil</a:t>
            </a:r>
          </a:p>
          <a:p>
            <a:r>
              <a:t>Hur elförbrukningen fördelas mellan timmar och kvartar inom månaden. I Direkt och Stabil ligger den separat från SYS/EPAD-säkringen; Vintersäkrats fasta vinterdel inkluderar den.</a:t>
            </a:r>
          </a:p>
          <a:p/>
          <a:p>
            <a:r>
              <a:t>Förbrukningsvägt pris</a:t>
            </a:r>
          </a:p>
          <a:p>
            <a:r>
              <a:t>Sammanlagd kostnad för de omfattade mängderna dividerad med deras sammanlagda kWh. Perioder med större mängd får större vikt. Ange alltid vilka prisdelar som ingår.</a:t>
            </a:r>
          </a:p>
          <a:p/>
          <a:p>
            <a:r>
              <a:t>Oviktat medelvärde</a:t>
            </a:r>
          </a:p>
          <a:p>
            <a:r>
              <a:t>Genomsnitt där varje prisuppgift får samma vikt. Det motsvarar inte automatiskt kundens förbrukningsvägda pris när mängderna bakom prisuppgifterna skiljer sig.</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Kvartspris</a:t>
            </a:r>
          </a:p>
          <a:p>
            <a:r>
              <a:t>Produkt där faktisk förbrukning i varje kvart avräknas mot kvartens pris i kundens elområde enligt avtalet. Egen tidsprofil ingår i viktningen och ska inte läggas till igen.</a:t>
            </a:r>
          </a:p>
          <a:p/>
          <a:p>
            <a:r>
              <a:t>Rörligt månadspris</a:t>
            </a:r>
          </a:p>
          <a:p>
            <a:r>
              <a:t>Gemensamt månadspris enligt avtalets modell, normalt fastställt i efterhand. Det är en annan avräkning än kundens individuella viktning av varje kvart.</a:t>
            </a:r>
          </a:p>
          <a:p/>
          <a:p>
            <a:r>
              <a:t>Fastpris</a:t>
            </a:r>
          </a:p>
          <a:p>
            <a:r>
              <a:t>Avtalat elhandelspris per kWh för uttryckligt definierade delar, period och villkor. Känt enhetspris innebär inte lika fakturabelopp eller att nät, skatt och moms är låsta.</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a:t>
            </a:r>
          </a:p>
          <a:p>
            <a:r>
              <a:t>Månadsvis efterhandsval av det lägre av avtalets individuellt kvartsvägda och rörliga månadsalternativ för samma faktiska månadsvolym och kostnadsdelar. Det är inte minimum varje kvart eller billigast på hela marknaden.</a:t>
            </a:r>
          </a:p>
          <a:p/>
          <a:p>
            <a:r>
              <a:t>Vintersäkrat</a:t>
            </a:r>
          </a:p>
          <a:p>
            <a:r>
              <a:t>Fast elhandelspris inklusive dygnsprofil under avtalad vinterperiod och kvartspris under sommarperiod. Standard är oktober–mars respektive april–september; andra perioder kräver uttryckligt avtal.</a:t>
            </a:r>
          </a:p>
          <a:p/>
          <a:p>
            <a:r>
              <a:t>Individuell indexportfölj</a:t>
            </a:r>
          </a:p>
          <a:p>
            <a:r>
              <a:t>Egen regelstyrd inköpsplan med dagliga köp över tid. Standardhorisont är 24 månader, med 12 och 36 som alternativ. Säkringsgrad är individuell; ingen universell 80-procentsregel.</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Säkringshorisont</a:t>
            </a:r>
          </a:p>
          <a:p>
            <a:r>
              <a:t>Hur långt fram i framtida leveransperioder inköpsplanen bygger säkringar. Den är inte automatiskt avtalets längd. Individuell indexstandard får inte utan stöd överföras till en pool.</a:t>
            </a:r>
          </a:p>
          <a:p/>
          <a:p>
            <a:r>
              <a:t>Avtalslängd</a:t>
            </a:r>
          </a:p>
          <a:p>
            <a:r>
              <a:t>Den tid kundavtalet gäller enligt aktuella villkor. Avtalets längd, leveransperiod och säkringshorisont är olika uppgifter och behöver kontrolleras var för sig.</a:t>
            </a:r>
          </a:p>
          <a:p/>
          <a:p>
            <a:r>
              <a:t>Pool Trygg</a:t>
            </a:r>
          </a:p>
          <a:p>
            <a:r>
              <a:t>Gemensam strategi med 80 procent index och 20 procent rörligt av förväntad volym. Strategifördelningen bevisar inte att 80 procent redan är säkrat eller att 80 procent av fakturan är fast.</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 Offensiv</a:t>
            </a:r>
          </a:p>
          <a:p>
            <a:r>
              <a:t>Gemensam strategi med 40 procent index, 40 procent aktiva beslut och 20 procent rörligt av förväntad volym. Aktiva beslut kan ge bättre eller sämre utfall; aktuellt mandat styr.</a:t>
            </a:r>
          </a:p>
          <a:p/>
          <a:p>
            <a:r>
              <a:t>Indexdel</a:t>
            </a:r>
          </a:p>
          <a:p>
            <a:r>
              <a:t>Del av inköpsstrategin som bygger säkringar med regelstyrda köp över tid. Planerad andel är inte ett bevis på dagens faktiska position och garanterar inte billigast inköp.</a:t>
            </a:r>
          </a:p>
          <a:p/>
          <a:p>
            <a:r>
              <a:t>Aktiv del</a:t>
            </a:r>
          </a:p>
          <a:p>
            <a:r>
              <a:t>Strategidel där marknadsbedömningar styr beslut inom godkänt mandat. Andelen beskriver beslutsprincipen, inte garanterad avkastning eller en viss aktuell säkringsposition.</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Mandat</a:t>
            </a:r>
          </a:p>
          <a:p>
            <a:r>
              <a:t>Dokumenterad ram för vilka beslut en funktion får fatta. Ansvarig förvaltare, aktuella befogenheter och gränser verifieras i gällande underlag, inte i äldre utbildningsmaterial.</a:t>
            </a:r>
          </a:p>
          <a:p/>
          <a:p>
            <a:r>
              <a:t>Faktisk position</a:t>
            </a:r>
          </a:p>
          <a:p>
            <a:r>
              <a:t>De köp och säkringar som verkligen genomförts för angivna perioder och mängder. Den kan skilja från strategi eller plan; signerat kundavtal är inte ensamt bevis på handel.</a:t>
            </a:r>
          </a:p>
          <a:p/>
          <a:p>
            <a:r>
              <a:t>Kraftringen Direkt</a:t>
            </a:r>
          </a:p>
          <a:p>
            <a:r>
              <a:t>SYS och EPAD säkras vid ett inköpstillfälle för överenskommen mängd och period. Har inte Stabils kundanpassade månadsutjämning. Exakt månads- och avräkningsmodell följer aktuell prisbilaga.</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Kraftringen Stabil</a:t>
            </a:r>
          </a:p>
          <a:p>
            <a:r>
              <a:t>Samma säkringsgrund som Direkt, med gemensamt förbrukningsvägt SYS/EPAD-pris på avtalad säkrad mängd. Ändrad faktisk månadsprofil ändrar inte detta komponentpris; övrig avvikelsehantering följer avtalet.</a:t>
            </a:r>
          </a:p>
          <a:p/>
          <a:p>
            <a:r>
              <a:t>Månadsutjämning</a:t>
            </a:r>
          </a:p>
          <a:p>
            <a:r>
              <a:t>Fördelning genom ett gemensamt komponentpris per omfattad kWh över en period, beräknat med förväntade månadsvolymer. Utjämning ger inte i sig lägre total inköpskostnad eller lika fakturabelopp.</a:t>
            </a:r>
          </a:p>
          <a:p/>
          <a:p>
            <a:r>
              <a:t>Volymavvikelse</a:t>
            </a:r>
          </a:p>
          <a:p>
            <a:r>
              <a:t>Skillnad mellan avtalat eller prognostiserat volymunderlag och faktiskt uttag. Toleranser, avräkning och kostnadsansvar är avtalsfrågor och ska inte hittas på i kundförklaringen.</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Profilavvikelse</a:t>
            </a:r>
          </a:p>
          <a:p>
            <a:r>
              <a:t>Skillnad mellan förväntad och faktisk tidsfördelning av förbrukningen. Ändrad årsvolym och ändrad profil är olika frågor. Hur avvikelsen påverkar kostnader följer produkt och avtal.</a:t>
            </a:r>
          </a:p>
          <a:p/>
          <a:p>
            <a:r>
              <a:t>Elhandelspris</a:t>
            </a:r>
          </a:p>
          <a:p>
            <a:r>
              <a:t>Pris för de elhandelsdelar som definieras i avtalet. En uppgiven komponent eller spotreferens är inte automatiskt ett komplett elhandelspris; kontrollera profil, påslag och avgifter.</a:t>
            </a:r>
          </a:p>
          <a:p/>
          <a:p>
            <a:r>
              <a:t>Fakturabelopp</a:t>
            </a:r>
          </a:p>
          <a:p>
            <a:r>
              <a:t>Belopp som debiteras för aktuell period och de poster fakturan omfattar. Det påverkas av mängd och kostnadsposter även när ett visst kWh-pris är fast.</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Elnät</a:t>
            </a:r>
          </a:p>
          <a:p>
            <a:r>
              <a:t>Tjänsten att överföra el genom nätet till anläggningen. Nätkostnader och villkor är skilda från elhandelsproduktens pris och låses inte genom en elhandelssäkring.</a:t>
            </a:r>
          </a:p>
          <a:p/>
          <a:p>
            <a:r>
              <a:t>Effektavgift</a:t>
            </a:r>
          </a:p>
          <a:p>
            <a:r>
              <a:t>Nätavgift som enligt nätbolagets villkor kan bero på uppmätt eller beräknad effekt. Lastflytt kan påverka både energi och effekt; anta inte ett visst nätutfall utan aktuella villkor.</a:t>
            </a:r>
          </a:p>
          <a:p/>
          <a:p>
            <a:r>
              <a:t>Energiskatt</a:t>
            </a:r>
          </a:p>
          <a:p>
            <a:r>
              <a:t>Skattepost kopplad till elanvändningen enligt gällande regler. Den ska hållas isär från produktens säkrade elhandelskomponenter; kursen fastställer ingen generell aktuell skattesats.</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Moms</a:t>
            </a:r>
          </a:p>
          <a:p>
            <a:r>
              <a:t>Skattepåslag på de poster som omfattas av gällande regler. Jämförelser behöver samma momsgrund. Ett pris före moms och ett pris inklusive moms kan inte direkt jämföras.</a:t>
            </a:r>
          </a:p>
          <a:p/>
          <a:p>
            <a:r>
              <a:t>Påslag</a:t>
            </a:r>
          </a:p>
          <a:p>
            <a:r>
              <a:t>Avtalad kostnad utöver en angiven prisreferens, ofta uttryckt per kWh. Kontrollera vilka kostnader som redan ingår så att samma post inte läggs till två gånger.</a:t>
            </a:r>
          </a:p>
          <a:p/>
          <a:p>
            <a:r>
              <a:t>Fast avgift</a:t>
            </a:r>
          </a:p>
          <a:p>
            <a:r>
              <a:t>Avgift som inte direkt varierar med kWh i den angivna perioden. Samma månadsavgift ger högre effektivt örepåslag per kWh vid mindre förbrukning.</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Prisbilaga</a:t>
            </a:r>
          </a:p>
          <a:p>
            <a:r>
              <a:t>Avtalsunderlag som definierar prisreferenser, kostnadsposter och avräkning. Den aktuella versionen avgör kundens prisomfattning och kan inte ersättas med en generell kursformel.</a:t>
            </a:r>
          </a:p>
          <a:p/>
          <a:p>
            <a:r>
              <a:t>Offertgiltighet</a:t>
            </a:r>
          </a:p>
          <a:p>
            <a:r>
              <a:t>Den tidsram och de förutsättningar under vilka ett erbjudande kan accepteras. En historisk prisuppgift i utbildningen är inte ett aktuellt erbjudande.</a:t>
            </a:r>
          </a:p>
          <a:p/>
          <a:p>
            <a:r>
              <a:t>Bruttoförbrukning</a:t>
            </a:r>
          </a:p>
          <a:p>
            <a:r>
              <a:t>Verksamhetens eller hushållets totala elanvändning, oavsett om elen tas från nätet eller egen produktion. Den är inte automatiskt samma som nätinköpet.</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Nätinköp</a:t>
            </a:r>
          </a:p>
          <a:p>
            <a:r>
              <a:t>El som behöver köpas från nätet. Egenanvänd produktion kan minska inköpet; exporterad el är ett annat flöde. Separera mängder och perioder i prognosen.</a:t>
            </a:r>
          </a:p>
          <a:p/>
          <a:p>
            <a:r>
              <a:t>Egenanvänd solel</a:t>
            </a:r>
          </a:p>
          <a:p>
            <a:r>
              <a:t>Del av egen solelproduktion som faktiskt används i den egna anläggningen. Den minskar motsvarande nätinköp i tidsmässigt matchad användning; all producerad solel är inte egenanvänd.</a:t>
            </a:r>
          </a:p>
          <a:p/>
          <a:p>
            <a:r>
              <a:t>Export av el</a:t>
            </a:r>
          </a:p>
          <a:p>
            <a:r>
              <a:t>Egenproducerad el som matas ut till nätet. Export ska inte automatiskt dras av som om den ersatte inköpt el; inköp och försäljning hålls isär.</a:t>
            </a:r>
          </a:p>
        </p:txBody>
      </p:sp>
      <p:sp>
        <p:nvSpPr>
          <p:cNvPr id="4" name="Slide Number Placeholder 3"/>
          <p:cNvSpPr>
            <a:spLocks noGrp="1"/>
          </p:cNvSpPr>
          <p:nvPr>
            <p:ph type="sldNum" idx="5" sz="quarter"/>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Lastflytt</a:t>
            </a:r>
          </a:p>
          <a:p>
            <a:r>
              <a:t>Ändrad tidpunkt för användning, exempelvis laddning. Vid kvartspris kan det ändra individuell energikostnad, men funktion, mätning och nätets effektvillkor behöver kontrolleras.</a:t>
            </a:r>
          </a:p>
          <a:p/>
          <a:p>
            <a:r>
              <a:t>Mätvärden</a:t>
            </a:r>
          </a:p>
          <a:p>
            <a:r>
              <a:t>Registrerad förbrukning eller produktion för angivna tidsintervall. Komplett, korrekt data behövs för relevant förbrukningsvägning; en årsvolym visar inte kvartsmönstret.</a:t>
            </a:r>
          </a:p>
          <a:p/>
          <a:p>
            <a:r>
              <a:t>Jämförbar prisomfattning</a:t>
            </a:r>
          </a:p>
          <a:p>
            <a:r>
              <a:t>Samma period, mängd, referenser, profilantaganden, avgifter och skatte-/momsgrund i en jämförelse. Lika öretal räcker inte om prisraderna omfattar olika delar.</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Återberättelse</a:t>
            </a:r>
          </a:p>
          <a:p>
            <a:r>
              <a:t>Kunden beskriver med egna ord vad produkten innebär, vad som kan variera och vad beslutet omfattar. Det hjälper säljaren upptäcka missförstånd före beslut.</a:t>
            </a:r>
          </a:p>
          <a:p/>
          <a:p>
            <a:r>
              <a:t>Kunskapskontroll</a:t>
            </a:r>
          </a:p>
          <a:p>
            <a:r>
              <a:t>Övning som prövar förståelse och ger facit eller bedömningsstöd. Resultatet ersätter inte säljmandat, granskad offert, kundavtal eller ett formellt certifieringsbeslut.</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Gör testet individuellt före gemensam genomgång. Bedöm resonemang och korrekt avgränsning, inte bara slutvärde. Facit och bedömningskriterier finns i respektive frågas bildanteckningar och i självstudiematerialet.</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maskin märkt 8 kW står på kundens energilista. Vilken komplettering behövs för att uppskatta energimängden?</a:t>
            </a:r>
          </a:p>
          <a:p/>
          <a:p>
            <a:r>
              <a:t>FACIT</a:t>
            </a:r>
          </a:p>
          <a:p>
            <a:r>
              <a:t>Rätt alternativ: A. Antalet timmar maskinen används och hur effekten varierar. Förklaring: kW är effekt. Energi kräver tid och faktisk effektprofil: konstant kW × timmar ger kWh. Elområde behövs för prisanalys men ersätter inte volymberäkningen.</a:t>
            </a:r>
          </a:p>
          <a:p/>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prisrad anger redan hela SE4-referensen. Säljaren vill lägga EPAD ovanpå den för att komma till områdets nivå. Vad är rätt?</a:t>
            </a:r>
          </a:p>
          <a:p/>
          <a:p>
            <a:r>
              <a:t>FACIT</a:t>
            </a:r>
          </a:p>
          <a:p>
            <a:r>
              <a:t>Rätt alternativ: C. Kontrollera definitionen: skillnaden ingår redan i ett komplett områdespris och ska inte räknas igen. Förklaring: SYS plus områdesskillnad kan beskriva områdesreferensen. När uppgiften redan avser hela områdespriset blir ett extra EPAD-tillägg dubbelräkning. Kundens övriga kostnader är en separat kontroll.</a:t>
            </a:r>
          </a:p>
          <a:p/>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Två lager har samma månadsvolymer. Det ena laddar truckar nattid, det andra under andra kvartar. Vilken slutsats är möjlig?</a:t>
            </a:r>
          </a:p>
          <a:p/>
          <a:p>
            <a:r>
              <a:t>FACIT</a:t>
            </a:r>
          </a:p>
          <a:p>
            <a:r>
              <a:t>Rätt alternativ: B. Dygnsprofilen kan ge olika förbrukningsvägda spotutfall; månadsprofilen visar inte de tiderna. Förklaring: Månadsprofil beskriver fördelning mellan månader. Inom månaden kan olika kvartsmönster ge olika förbrukningsvägda priser. Produkternas profilhantering avgör hur detta avräknas.</a:t>
            </a:r>
          </a:p>
          <a:p/>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kund med gemensamt Rörligt månadspris vill ha en garanterad individuell spotvinst av nattdrift. Vad kan du säga?</a:t>
            </a:r>
          </a:p>
          <a:p/>
          <a:p>
            <a:r>
              <a:t>FACIT</a:t>
            </a:r>
          </a:p>
          <a:p>
            <a:r>
              <a:t>Rätt alternativ: C. Egen tidsflytt har inte samma direkta individuella prisgenomslag som kvartsviktning; kontrollera månadsmodell och nätvillkor. Förklaring: Rörligt pris använder avtalets gemensamma månadsmodell. Lastflytt kan vara praktiskt relevant, men man ska inte föra över Kvartsprisets individuella avräkning till en annan produkt.</a:t>
            </a:r>
          </a:p>
          <a:p/>
          <a:p/>
        </p:txBody>
      </p:sp>
      <p:sp>
        <p:nvSpPr>
          <p:cNvPr id="4" name="Slide Number Placeholder 3"/>
          <p:cNvSpPr>
            <a:spLocks noGrp="1"/>
          </p:cNvSpPr>
          <p:nvPr>
            <p:ph type="sldNum" idx="5" sz="quarter"/>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Marknadens spotpris är negativt i några kvartar. Vilket påstående följer?</a:t>
            </a:r>
          </a:p>
          <a:p/>
          <a:p>
            <a:r>
              <a:t>FACIT</a:t>
            </a:r>
          </a:p>
          <a:p>
            <a:r>
              <a:t>Rätt alternativ: A. En negativ referens innebär inte automatiskt negativ full kostnad; andra poster och faktisk användning påverkar. Förklaring: Negativa spotkvartar är en enskild prisuppgift. Andra kvartar, förbrukning, påslag, avgifter och nätkostnader måste vägas in innan något sägs om totalen.</a:t>
            </a:r>
          </a:p>
          <a:p/>
          <a:p/>
        </p:txBody>
      </p:sp>
      <p:sp>
        <p:nvSpPr>
          <p:cNvPr id="4" name="Slide Number Placeholder 3"/>
          <p:cNvSpPr>
            <a:spLocks noGrp="1"/>
          </p:cNvSpPr>
          <p:nvPr>
            <p:ph type="sldNum" idx="5" sz="quarter"/>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vill byta elhandelsmodell för att samtidigt låsa nätavgift och skatt. Vilken beskrivning är korrekt?</a:t>
            </a:r>
          </a:p>
          <a:p/>
          <a:p>
            <a:r>
              <a:t>FACIT</a:t>
            </a:r>
          </a:p>
          <a:p>
            <a:r>
              <a:t>Rätt alternativ: B. Elhandel, elnät och skatt är separata kostnader; kontrollera dem var för sig. Förklaring: Elhandelsproduktens riskhantering omfattar definierade elhandelsdelar. Nät, energiskatt och moms måste beskrivas separat och jämförelser göras med samma omfattning.</a:t>
            </a:r>
          </a:p>
          <a:p/>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har redan valt en säkrad nivå. Därefter sjunker den matchande marknadsreferensen. Vilket budskap är rätt?</a:t>
            </a:r>
          </a:p>
          <a:p/>
          <a:p>
            <a:r>
              <a:t>FACIT</a:t>
            </a:r>
          </a:p>
          <a:p>
            <a:r>
              <a:t>Rätt alternativ: C. Säkrad nivå följer inte automatiskt ned; lägre senare marknad är en möjlig avvägning med förutsägbarheten. Förklaring: Säkringen fungerar åt båda håll. Att skydda sig mot viss uppgång innebär att senare prisfall inte automatiskt sänker den redan genomförda säkringens nivå.</a:t>
            </a:r>
          </a:p>
          <a:p/>
          <a:p/>
        </p:txBody>
      </p:sp>
      <p:sp>
        <p:nvSpPr>
          <p:cNvPr id="4" name="Slide Number Placeholder 3"/>
          <p:cNvSpPr>
            <a:spLocks noGrp="1"/>
          </p:cNvSpPr>
          <p:nvPr>
            <p:ph type="sldNum" idx="5" sz="quarter"/>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Individuell indexportfölj beskrivs med 24 månaders standardhorisont. Vilken uppgift behöver fortfarande kontrolleras separat?</a:t>
            </a:r>
          </a:p>
          <a:p/>
          <a:p>
            <a:r>
              <a:t>FACIT</a:t>
            </a:r>
          </a:p>
          <a:p>
            <a:r>
              <a:t>Rätt alternativ: A. Avtalslängd och individuell säkringsgrad; horisonten anger hur långt fram inköpsplanen arbetar. Förklaring: Standardhorisonten gäller den individuella inköpsplanens framtida leveranser. Avtalstid och säkringsgrad är separata avtalsuppgifter; 12 och 36 månader är alternativa horisonter enligt produktunderlaget.</a:t>
            </a:r>
          </a:p>
          <a:p/>
          <a:p/>
        </p:txBody>
      </p:sp>
      <p:sp>
        <p:nvSpPr>
          <p:cNvPr id="4" name="Slide Number Placeholder 3"/>
          <p:cNvSpPr>
            <a:spLocks noGrp="1"/>
          </p:cNvSpPr>
          <p:nvPr>
            <p:ph type="sldNum" idx="5" sz="quarter"/>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Pool Trygg-strategi visar 80/20. Vilket underlag behövs för att uttala sig om redan säkrad mängd?</a:t>
            </a:r>
          </a:p>
          <a:p/>
          <a:p>
            <a:r>
              <a:t>FACIT</a:t>
            </a:r>
          </a:p>
          <a:p>
            <a:r>
              <a:t>Rätt alternativ: B. Genomförda köp eller positionsunderlag för rätt period, utöver strategi och prognos. Förklaring: Strategin fördelar förväntad volym mellan index och rörligt. Aktuell faktisk position och täckning kräver dokumentation om vad som genomförts och vilket volymunderlag det gäller.</a:t>
            </a:r>
          </a:p>
          <a:p/>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Ett äldre utbildningsblad namnger en förvaltare och poolhorisont. Hur används uppgiften när Pool Offensiv ska erbjudas idag?</a:t>
            </a:r>
          </a:p>
          <a:p/>
          <a:p>
            <a:r>
              <a:t>FACIT</a:t>
            </a:r>
          </a:p>
          <a:p>
            <a:r>
              <a:t>Rätt alternativ: C. Som historisk information; dagens förvaltning, mandat och horisont verifieras i aktuell strategi och offert. Förklaring: Äldre utbildning bevisar inte dagens förvaltaruppdrag eller poolhorisont. Aktiv förvaltning styrs av aktuellt mandat och kan ge både bättre och sämre utfall.</a:t>
            </a:r>
          </a:p>
          <a:p/>
          <a:p/>
        </p:txBody>
      </p:sp>
      <p:sp>
        <p:nvSpPr>
          <p:cNvPr id="4" name="Slide Number Placeholder 3"/>
          <p:cNvSpPr>
            <a:spLocks noGrp="1"/>
          </p:cNvSpPr>
          <p:nvPr>
            <p:ph type="sldNum" idx="5" sz="quarter"/>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Stabil-kund flyttar mer produktion från februari till juni efter accepterat upplägg. Vad är en korrekt första förklaring?</a:t>
            </a:r>
          </a:p>
          <a:p/>
          <a:p>
            <a:r>
              <a:t>FACIT</a:t>
            </a:r>
          </a:p>
          <a:p>
            <a:r>
              <a:t>Rätt alternativ: A. Avtalat SYS/EPAD-pris för säkrad mängd ligger kvar; övriga effekter behöver bedömas enligt aktuellt avtal. Förklaring: Stabils gemensamma komponentpris ändras inte av ändrad faktisk månadsprofil för den avtalade säkrade mängden. Profil, osäkrat, volym och andra avvikelser kan fortfarande påverka kostnaden enligt villkoren.</a:t>
            </a:r>
          </a:p>
          <a:p/>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uppgift skiljer Direkt från Individuell indexportfölj redan i inköpsprocessen?</a:t>
            </a:r>
          </a:p>
          <a:p/>
          <a:p>
            <a:r>
              <a:t>FACIT</a:t>
            </a:r>
          </a:p>
          <a:p>
            <a:r>
              <a:t>Rätt alternativ: B. Direkt säkrar vald nivå vid ett tillfälle; individuell index bygger egen säkring med regelstyrda dagliga köp. Förklaring: Direkt använder ett valt inköpstillfälle. Individuell index sprider köp över tid enligt kundens plan och har individuell säkringsgrad. Processen får inte blandas ihop med senare fakturering.</a:t>
            </a:r>
          </a:p>
          <a:p/>
          <a:p/>
        </p:txBody>
      </p:sp>
      <p:sp>
        <p:nvSpPr>
          <p:cNvPr id="4" name="Slide Number Placeholder 3"/>
          <p:cNvSpPr>
            <a:spLocks noGrp="1"/>
          </p:cNvSpPr>
          <p:nvPr>
            <p:ph type="sldNum" idx="5" sz="quarter"/>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 energiberäkning: en last använder konstant 8 kW i 3 timmar. Hur många kWh används? Inga kostnader beräknas.</a:t>
            </a:r>
          </a:p>
          <a:p/>
          <a:p>
            <a:r>
              <a:t>FACIT</a:t>
            </a:r>
          </a:p>
          <a:p>
            <a:r>
              <a:t>Svar: 24 kWh. 8 kW × 3 timmar = 24 kWh. Effekt och energi är olika storheter; pris ska multipliceras med energimängden.</a:t>
            </a:r>
          </a:p>
          <a:p/>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Syntetiskt månadsfall: 4 500 kWh till jämförbart elhandelspris 82 öre/kWh inklusive påslag, plus antagen fast avgift 90 kr. Ingen annan post ingår; nät, skatt och moms är uteslutna. Vad kostar de angivna delarna tillsammans?</a:t>
            </a:r>
          </a:p>
          <a:p/>
          <a:p>
            <a:r>
              <a:t>FACIT</a:t>
            </a:r>
          </a:p>
          <a:p>
            <a:r>
              <a:t>Svar: 3780 kr. 82 öre = 0,82 kr. 4 500 × 0,82 = 3 690 kr; plus 90 = 3 780 kr. Lägg inte på samma påslag igen när det redan ingår.</a:t>
            </a:r>
          </a:p>
          <a:p/>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Ett syntetiskt Direkt-underlag är 250 MWh och 80 procent har säkrats. Faktiskt uttag blir 320 MWh för samma period. Hur stor procentandel av faktiskt uttag motsvarar säkrad mängd? Ingen faktura beräknas.</a:t>
            </a:r>
          </a:p>
          <a:p/>
          <a:p>
            <a:r>
              <a:t>FACIT</a:t>
            </a:r>
          </a:p>
          <a:p>
            <a:r>
              <a:t>Svar: 62,5 % av faktisk volym. 250 × 0,80 = 200 MWh. 200 ÷ 320 × 100 = 62,5 procent. Prognosandelen 80 procent använder en annan nämnare än faktisk täckning.</a:t>
            </a:r>
          </a:p>
          <a:p/>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Syntetiska matchande referenser: SYS 45 öre/kWh och elområdesskillnad −8 öre/kWh. Vad blir summan för områdets referens? Andra elhandelsdelar, profil, nät, skatt och moms ingår inte.</a:t>
            </a:r>
          </a:p>
          <a:p/>
          <a:p>
            <a:r>
              <a:t>FACIT</a:t>
            </a:r>
          </a:p>
          <a:p>
            <a:r>
              <a:t>Svar: 37 öre/kWh. 45 + (−8) = 37 öre/kWh. En negativ områdesskillnad minskar summan. Resultatet är referenskomponenten och ska inte presenteras som ett komplett kundpris.</a:t>
            </a:r>
          </a:p>
          <a:p/>
          <a:p/>
        </p:txBody>
      </p:sp>
      <p:sp>
        <p:nvSpPr>
          <p:cNvPr id="4" name="Slide Number Placeholder 3"/>
          <p:cNvSpPr>
            <a:spLocks noGrp="1"/>
          </p:cNvSpPr>
          <p:nvPr>
            <p:ph type="sldNum" idx="5" sz="quarter"/>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 Stabil-viktning av redan säkrad SYS/EPAD-mängd: 180 000 kWh till 70 öre och 120 000 kWh till 110 öre. Vilket gemensamt komponentpris fås? Profil, osäkrat, övriga kostnader, nät, skatt och moms ingår inte.</a:t>
            </a:r>
          </a:p>
          <a:p/>
          <a:p>
            <a:r>
              <a:t>FACIT</a:t>
            </a:r>
          </a:p>
          <a:p>
            <a:r>
              <a:t>Svar: 86 öre/kWh. 180 000 × 0,70 + 120 000 × 1,10 = 258 000 kr. 258 000 ÷ 300 000 = 0,86 kr/kWh = 86 öre. Mängderna är redan säkrade; tillämpa inte ytterligare 80 procent.</a:t>
            </a:r>
          </a:p>
          <a:p/>
          <a:p/>
        </p:txBody>
      </p:sp>
      <p:sp>
        <p:nvSpPr>
          <p:cNvPr id="4" name="Slide Number Placeholder 3"/>
          <p:cNvSpPr>
            <a:spLocks noGrp="1"/>
          </p:cNvSpPr>
          <p:nvPr>
            <p:ph type="sldNum" idx="5" sz="quarter"/>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Ett företag vill sprida inköp över tid, ha en egen plan och anpassa säkringsgrad per säsong. Kollegan rekommenderar Direkt enbart för att kunden är stor. Förklara en bättre väg till produktval och vilka uppgifter som saknas.</a:t>
            </a:r>
          </a:p>
          <a:p/>
          <a:p>
            <a:r>
              <a:t>FACIT</a:t>
            </a:r>
          </a:p>
          <a:p>
            <a:r>
              <a:t>Behovet pekar mot att undersöka Individuell indexportfölj eftersom köp sprids regelstyrt och planen är kundens egen. Årsvolym är inte ensam produktregel. Kartlägg budgetrisk, framtida nätinköp per månad, datakvalitet, förändringar och önskad horisont; jämför gemensam pool om kunden hellre vill ha den förvaltningen. Kontrollera offertens omfattning och villkor före rekommendation eller beslut.</a:t>
            </a:r>
          </a:p>
          <a:p/>
          <a:p>
            <a:r>
              <a:t>Kopplar inköpsprocess och eget planbehov till individuell index.</a:t>
            </a:r>
          </a:p>
          <a:p>
            <a:r>
              <a:t>Avvisar rekommendation enbart från kundstorlek.</a:t>
            </a:r>
          </a:p>
          <a:p>
            <a:r>
              <a:t>Tar upp budget, framtida månadsvolym och förändringar.</a:t>
            </a:r>
          </a:p>
          <a:p>
            <a:r>
              <a:t>Håller horisont, säkringsgrad och avtalslängd isär.</a:t>
            </a:r>
          </a:p>
        </p:txBody>
      </p:sp>
      <p:sp>
        <p:nvSpPr>
          <p:cNvPr id="4" name="Slide Number Placeholder 3"/>
          <p:cNvSpPr>
            <a:spLocks noGrp="1"/>
          </p:cNvSpPr>
          <p:nvPr>
            <p:ph type="sldNum" idx="5" sz="quarter"/>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Syntetiskt planeringsfall: bruttoförbrukning 400 MWh, solelproduktion 120 MWh, varav 90 MWh egenanvänd och 30 MWh exporterad för samma år. Ingen lagring eller annan produktion finns i övningen. Kollegan sänker nätinköpsprognosen till 280 MWh. Korrigera resonemanget och beskriv vad som fortfarande behövs inför säkring.</a:t>
            </a:r>
          </a:p>
          <a:p/>
          <a:p>
            <a:r>
              <a:t>FACIT</a:t>
            </a:r>
          </a:p>
          <a:p>
            <a:r>
              <a:t>Endast egenanvända 90 MWh ersätter nätinköp i detta fall: 400 − 90 = 310 MWh. Exporterade 30 MWh är ett separat försäljningsflöde och ska inte dras av som egenanvändning. Årsmängden räcker inte för säkring: det behövs en månads- och tidsmässigt relevant prognos, rätt anläggning/område, kommande förändringar samt avtalets mängd- och profilregler.</a:t>
            </a:r>
          </a:p>
          <a:p/>
          <a:p>
            <a:r>
              <a:t>Anger 310 MWh och skiljer egenanvänt från export.</a:t>
            </a:r>
          </a:p>
          <a:p>
            <a:r>
              <a:t>Påpekar att 280 MWh drar av för mycket produktion.</a:t>
            </a:r>
          </a:p>
          <a:p>
            <a:r>
              <a:t>Efterfrågar månadsfördelning och framtida förändringar.</a:t>
            </a:r>
          </a:p>
          <a:p>
            <a:r>
              <a:t>Lämnar ingen påhittad avräkningsregel.</a:t>
            </a:r>
          </a:p>
        </p:txBody>
      </p:sp>
      <p:sp>
        <p:nvSpPr>
          <p:cNvPr id="4" name="Slide Number Placeholder 3"/>
          <p:cNvSpPr>
            <a:spLocks noGrp="1"/>
          </p:cNvSpPr>
          <p:nvPr>
            <p:ph type="sldNum" idx="5" sz="quarter"/>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Två poolofferter anger olika öretal. Den ena visar bara en portföljkomponent och den andra fler elhandelsdelar. Kunden ber dig välja billigast och garantera att Offensivs aktiva del slår index. Skriv ett svar som möjliggör ett välgrundat beslut.</a:t>
            </a:r>
          </a:p>
          <a:p/>
          <a:p>
            <a:r>
              <a:t>FACIT</a:t>
            </a:r>
          </a:p>
          <a:p>
            <a:r>
              <a:t>Jämför inte ofullständiga öretal direkt. Stäm av samma period, volym, referenser, profil, valuta, påslag, avgifter och skatte-/momsgrund. Räkna jämförbar kostnad med kundens förväntade profil och visa alternativa utfall. Offensivs aktiva del kan ge bättre eller sämre resultat än index; kontrollera aktuellt mandat och faktisk position. Kundens riskacceptans och behov av gemensam förvaltning behöver klarläggas. Ingen överavkastning kan garanteras av strateginamnet.</a:t>
            </a:r>
          </a:p>
          <a:p/>
          <a:p>
            <a:r>
              <a:t>Normaliserar prisomfattning innan billigast bedöms.</a:t>
            </a:r>
          </a:p>
          <a:p>
            <a:r>
              <a:t>Förklarar aktiv risk utan överavkastningsgaranti.</a:t>
            </a:r>
          </a:p>
          <a:p>
            <a:r>
              <a:t>Kontrollerar aktuellt mandat och position.</a:t>
            </a:r>
          </a:p>
          <a:p>
            <a:r>
              <a:t>Efterfrågar kundens risk- och budgetbehov.</a:t>
            </a:r>
          </a:p>
        </p:txBody>
      </p:sp>
      <p:sp>
        <p:nvSpPr>
          <p:cNvPr id="4" name="Slide Number Placeholder 3"/>
          <p:cNvSpPr>
            <a:spLocks noGrp="1"/>
          </p:cNvSpPr>
          <p:nvPr>
            <p:ph type="sldNum" idx="5" sz="quarter"/>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Gör testet individuellt före gemensam genomgång. Bedöm resonemang och korrekt avgränsning, inte bara slutvärde. Facit och bedömningskriterier finns i respektive frågas bildanteckningar och i självstudiematerialet.</a:t>
            </a:r>
          </a:p>
        </p:txBody>
      </p:sp>
      <p:sp>
        <p:nvSpPr>
          <p:cNvPr id="4" name="Slide Number Placeholder 3"/>
          <p:cNvSpPr>
            <a:spLocks noGrp="1"/>
          </p:cNvSpPr>
          <p:nvPr>
            <p:ph type="sldNum" idx="5" sz="quarter"/>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laddbox kan leverera 6 kW och bilen behöver 18 kWh. Vilket påstående använder enheterna korrekt?</a:t>
            </a:r>
          </a:p>
          <a:p/>
          <a:p>
            <a:r>
              <a:t>FACIT</a:t>
            </a:r>
          </a:p>
          <a:p>
            <a:r>
              <a:t>Rätt alternativ: B. 6 kW beskriver effekt; 18 kWh beskriver energimängd. Förklaring: Effekt beskriver hur snabbt energi används. Energi beskriver mängden. Tid, faktisk laddning och förluster påverkar användningen; kW är inte ett örepris eller årsvolym.</a:t>
            </a:r>
          </a:p>
          <a:p/>
          <a:p/>
        </p:txBody>
      </p:sp>
      <p:sp>
        <p:nvSpPr>
          <p:cNvPr id="4" name="Slide Number Placeholder 3"/>
          <p:cNvSpPr>
            <a:spLocks noGrp="1"/>
          </p:cNvSpPr>
          <p:nvPr>
            <p:ph type="sldNum" idx="5" sz="quarter"/>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får en enda faktura varje månad men har Kvartspris. Vad betyder månadsfakturan för prisberäkningen?</a:t>
            </a:r>
          </a:p>
          <a:p/>
          <a:p>
            <a:r>
              <a:t>FACIT</a:t>
            </a:r>
          </a:p>
          <a:p>
            <a:r>
              <a:t>Rätt alternativ: A. Varje kvart kan fortfarande avräknas med egen användning och kvartpris; fakturans frekvens ändrar inte modellen. Förklaring: Faktureringstid och avräkningsmodell är olika saker. Kvartspris kan summeras och faktureras månadsvis utan att den individuella förbrukningsvägningen försvinner.</a:t>
            </a:r>
          </a:p>
          <a:p/>
          <a:p/>
        </p:txBody>
      </p:sp>
      <p:sp>
        <p:nvSpPr>
          <p:cNvPr id="4" name="Slide Number Placeholder 3"/>
          <p:cNvSpPr>
            <a:spLocks noGrp="1"/>
          </p:cNvSpPr>
          <p:nvPr>
            <p:ph type="sldNum" idx="5" sz="quarter"/>
          </p:nvPr>
        </p:nvSpPr>
        <p:spPr/>
      </p:sp>
    </p:spTree>
  </p:cSld>
  <p:clrMapOvr>
    <a:masterClrMapping/>
  </p:clrMapOvr>
</p:notes>
</file>

<file path=ppt/notesSlides/notesSlide4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Ett hushåll med Rörligt månadspris flyttar tvätt till en billig kvart. Vilket löfte ska undvikas?</a:t>
            </a:r>
          </a:p>
          <a:p/>
          <a:p>
            <a:r>
              <a:t>FACIT</a:t>
            </a:r>
          </a:p>
          <a:p>
            <a:r>
              <a:t>Rätt alternativ: C. Att lova exakt samma individuella spotbesparing som en Kvartspris-kund. Förklaring: Gemensamt månadspris avräknas inte som hushållets egen kvartsviktning. En lastflytt ska inte tillskrivas ett direkt individuellt prisgenomslag som modellen inte ger.</a:t>
            </a:r>
          </a:p>
          <a:p/>
          <a:p/>
        </p:txBody>
      </p:sp>
      <p:sp>
        <p:nvSpPr>
          <p:cNvPr id="4" name="Slide Number Placeholder 3"/>
          <p:cNvSpPr>
            <a:spLocks noGrp="1"/>
          </p:cNvSpPr>
          <p:nvPr>
            <p:ph type="sldNum" idx="5" sz="quarter"/>
          </p:nvPr>
        </p:nvSpPr>
        <p:spPr/>
      </p:sp>
    </p:spTree>
  </p:cSld>
  <p:clrMapOvr>
    <a:masterClrMapping/>
  </p:clrMapOvr>
</p:notes>
</file>

<file path=ppt/notesSlides/notesSlide4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Fast elhandelspris per kWh ligger kvar, men kunden använder mer el under en kall månad. Vad kan hända?</a:t>
            </a:r>
          </a:p>
          <a:p/>
          <a:p>
            <a:r>
              <a:t>FACIT</a:t>
            </a:r>
          </a:p>
          <a:p>
            <a:r>
              <a:t>Rätt alternativ: A. Elhandelsbeloppet kan öka eftersom fler kWh multipliceras med samma pris. Förklaring: Fast enhetspris är inte fast mängd eller fast belopp. Kontrollera också separat avgift, nät, skatt och moms när hela fakturan förklaras.</a:t>
            </a:r>
          </a:p>
          <a:p/>
          <a:p/>
        </p:txBody>
      </p:sp>
      <p:sp>
        <p:nvSpPr>
          <p:cNvPr id="4" name="Slide Number Placeholder 3"/>
          <p:cNvSpPr>
            <a:spLocks noGrp="1"/>
          </p:cNvSpPr>
          <p:nvPr>
            <p:ph type="sldNum" idx="5" sz="quarter"/>
          </p:nvPr>
        </p:nvSpPr>
        <p:spPr/>
      </p:sp>
    </p:spTree>
  </p:cSld>
  <p:clrMapOvr>
    <a:masterClrMapping/>
  </p:clrMapOvr>
</p:notes>
</file>

<file path=ppt/notesSlides/notesSlide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säger att Opti väljer ett nytt billigaste alternativ var femtonde minut. Hur rättar du det?</a:t>
            </a:r>
          </a:p>
          <a:p/>
          <a:p>
            <a:r>
              <a:t>FACIT</a:t>
            </a:r>
          </a:p>
          <a:p>
            <a:r>
              <a:t>Rätt alternativ: B. Jämförelsen görs efter hela månaden mellan avtalets två alternativ för samma faktiska volym och delar. Förklaring: Kvartsalternativet räknas från faktisk användning under hela månaden och jämförs med det rörliga månadsalternativet. Det lägre jämförbara månadsutfallet används; inget minimum tas kvart för kvart.</a:t>
            </a:r>
          </a:p>
          <a:p/>
          <a:p/>
        </p:txBody>
      </p:sp>
      <p:sp>
        <p:nvSpPr>
          <p:cNvPr id="4" name="Slide Number Placeholder 3"/>
          <p:cNvSpPr>
            <a:spLocks noGrp="1"/>
          </p:cNvSpPr>
          <p:nvPr>
            <p:ph type="sldNum" idx="5" sz="quarter"/>
          </p:nvPr>
        </p:nvSpPr>
        <p:spPr/>
      </p:sp>
    </p:spTree>
  </p:cSld>
  <p:clrMapOvr>
    <a:masterClrMapping/>
  </p:clrMapOvr>
</p:notes>
</file>

<file path=ppt/notesSlides/notesSlide4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Optis båda jämförda månadsvärden stiger. Vad säger modellen om framtida kostnad?</a:t>
            </a:r>
          </a:p>
          <a:p/>
          <a:p>
            <a:r>
              <a:t>FACIT</a:t>
            </a:r>
          </a:p>
          <a:p>
            <a:r>
              <a:t>Rätt alternativ: C. Kostnaden kan ändå stiga; lägre av två avtalsalternativ är inte ett fast pristak. Förklaring: Båda alternativen är marknadsberoende. Opti begränsar valet till de två definierade jämförelserna, inte till ett fast öretak eller hela marknadens billigaste avtal.</a:t>
            </a:r>
          </a:p>
          <a:p/>
          <a:p/>
        </p:txBody>
      </p:sp>
      <p:sp>
        <p:nvSpPr>
          <p:cNvPr id="4" name="Slide Number Placeholder 3"/>
          <p:cNvSpPr>
            <a:spLocks noGrp="1"/>
          </p:cNvSpPr>
          <p:nvPr>
            <p:ph type="sldNum" idx="5" sz="quarter"/>
          </p:nvPr>
        </p:nvSpPr>
        <p:spPr/>
      </p:sp>
    </p:spTree>
  </p:cSld>
  <p:clrMapOvr>
    <a:masterClrMapping/>
  </p:clrMapOvr>
</p:notes>
</file>

<file path=ppt/notesSlides/notesSlide4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Vilken del ingår uttryckligen i Vintersäkrats fasta vinterpris enligt produktunderlaget?</a:t>
            </a:r>
          </a:p>
          <a:p/>
          <a:p>
            <a:r>
              <a:t>FACIT</a:t>
            </a:r>
          </a:p>
          <a:p>
            <a:r>
              <a:t>Rätt alternativ: A. Alla elhandelsdelar inklusive dygnsprofil; nät, skatt och moms hålls separat. Förklaring: Vintersäkrats vinterdel är fast för alla elhandelskomponenter, även dygnsprofil, enligt den avtalade affären. Det innebär varken låst nätkostnad eller ett fast årsbelopp.</a:t>
            </a:r>
          </a:p>
          <a:p/>
          <a:p/>
        </p:txBody>
      </p:sp>
      <p:sp>
        <p:nvSpPr>
          <p:cNvPr id="4" name="Slide Number Placeholder 3"/>
          <p:cNvSpPr>
            <a:spLocks noGrp="1"/>
          </p:cNvSpPr>
          <p:nvPr>
            <p:ph type="sldNum" idx="5" sz="quarter"/>
          </p:nvPr>
        </p:nvSpPr>
        <p:spPr/>
      </p:sp>
    </p:spTree>
  </p:cSld>
  <p:clrMapOvr>
    <a:masterClrMapping/>
  </p:clrMapOvr>
</p:notes>
</file>

<file path=ppt/notesSlides/notesSlide4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I Vintersäkrats standardkalender avser användningen oktober men fakturan skickas i november. Vilken uppgift styr vinter- eller sommarprisdel?</a:t>
            </a:r>
          </a:p>
          <a:p/>
          <a:p>
            <a:r>
              <a:t>FACIT</a:t>
            </a:r>
          </a:p>
          <a:p>
            <a:r>
              <a:t>Rätt alternativ: B. Leveransmånaden och den uttryckligen avtalade kalendern. Förklaring: Standard är fast oktober–mars och kvart april–september. Leveransen styr prisdelen; kundanpassad kalender kräver uttryckligt avtal. Fakturadatum ensamt avgör inte detta.</a:t>
            </a:r>
          </a:p>
          <a:p/>
          <a:p/>
        </p:txBody>
      </p:sp>
      <p:sp>
        <p:nvSpPr>
          <p:cNvPr id="4" name="Slide Number Placeholder 3"/>
          <p:cNvSpPr>
            <a:spLocks noGrp="1"/>
          </p:cNvSpPr>
          <p:nvPr>
            <p:ph type="sldNum" idx="5" sz="quarter"/>
          </p:nvPr>
        </p:nvSpPr>
        <p:spPr/>
      </p:sp>
    </p:spTree>
  </p:cSld>
  <p:clrMapOvr>
    <a:masterClrMapping/>
  </p:clrMapOvr>
</p:notes>
</file>

<file path=ppt/notesSlides/notesSlide4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app visar minuspris på el i en kvart. Vad kan du säkert säga om hela hushållskostnaden?</a:t>
            </a:r>
          </a:p>
          <a:p/>
          <a:p>
            <a:r>
              <a:t>FACIT</a:t>
            </a:r>
          </a:p>
          <a:p>
            <a:r>
              <a:t>Rätt alternativ: C. Det behövs fler uppgifter; andra kvartar, mängd och kostnadsposter kan göra totalen positiv. Förklaring: Negativt spotpris är inte automatiskt negativt slutpris. Priset behöver kopplas till faktisk användning och andra avtalade poster samt separata nät- och skatteposter.</a:t>
            </a:r>
          </a:p>
          <a:p/>
          <a:p/>
        </p:txBody>
      </p:sp>
      <p:sp>
        <p:nvSpPr>
          <p:cNvPr id="4" name="Slide Number Placeholder 3"/>
          <p:cNvSpPr>
            <a:spLocks noGrp="1"/>
          </p:cNvSpPr>
          <p:nvPr>
            <p:ph type="sldNum" idx="5" sz="quarter"/>
          </p:nvPr>
        </p:nvSpPr>
        <p:spPr/>
      </p:sp>
    </p:spTree>
  </p:cSld>
  <p:clrMapOvr>
    <a:masterClrMapping/>
  </p:clrMapOvr>
</p:notes>
</file>

<file path=ppt/notesSlides/notesSlide4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Två erbjudanden visar samma öretal men olika månadsavgift. När spelar avgiften mest roll räknat per kWh?</a:t>
            </a:r>
          </a:p>
          <a:p/>
          <a:p>
            <a:r>
              <a:t>FACIT</a:t>
            </a:r>
          </a:p>
          <a:p>
            <a:r>
              <a:t>Rätt alternativ: A. Vid låg förbrukning, eftersom avgiften fördelas på färre kWh. Förklaring: Fast avgift dividerad med kWh ger dess effektiva kostnad per kWh. Den blir större när mängden är liten. Jämför samma period och prisomfattning.</a:t>
            </a:r>
          </a:p>
          <a:p/>
          <a:p/>
        </p:txBody>
      </p:sp>
      <p:sp>
        <p:nvSpPr>
          <p:cNvPr id="4" name="Slide Number Placeholder 3"/>
          <p:cNvSpPr>
            <a:spLocks noGrp="1"/>
          </p:cNvSpPr>
          <p:nvPr>
            <p:ph type="sldNum" idx="5" sz="quarter"/>
          </p:nvPr>
        </p:nvSpPr>
        <p:spPr/>
      </p:sp>
    </p:spTree>
  </p:cSld>
  <p:clrMapOvr>
    <a:masterClrMapping/>
  </p:clrMapOvr>
</p:notes>
</file>

<file path=ppt/notesSlides/notesSlide4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Ett sommarhus köper nästan all el på sommaren. Kunden får Vintersäkrat rekommenderat enbart för att huset har elvärme. Vilken fråga är mest relevant?</a:t>
            </a:r>
          </a:p>
          <a:p/>
          <a:p>
            <a:r>
              <a:t>FACIT</a:t>
            </a:r>
          </a:p>
          <a:p>
            <a:r>
              <a:t>Rätt alternativ: B. Hur mycket el behöver faktiskt köpas i respektive period och vilken sommarprisrisk accepterar kunden? Förklaring: Produktval ska följa verkligt nätinköp, budget och tidsprofil. Uppvärmningsform ensam avgör inte nyttan när vinterinköpet kan vara litet och sommaren har kvartspris.</a:t>
            </a:r>
          </a:p>
          <a:p/>
          <a:p/>
        </p:txBody>
      </p:sp>
      <p:sp>
        <p:nvSpPr>
          <p:cNvPr id="4" name="Slide Number Placeholder 3"/>
          <p:cNvSpPr>
            <a:spLocks noGrp="1"/>
          </p:cNvSpPr>
          <p:nvPr>
            <p:ph type="sldNum" idx="5" sz="quarter"/>
          </p:nvPr>
        </p:nvSpPr>
        <p:spPr/>
      </p:sp>
    </p:spTree>
  </p:cSld>
  <p:clrMapOvr>
    <a:masterClrMapping/>
  </p:clrMapOvr>
</p:notes>
</file>

<file path=ppt/notesSlides/notesSlide4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Vilket samtal är mest användbart som ett lyckat utbildningsexempel?</a:t>
            </a:r>
          </a:p>
          <a:p/>
          <a:p>
            <a:r>
              <a:t>FACIT</a:t>
            </a:r>
          </a:p>
          <a:p>
            <a:r>
              <a:t>Rätt alternativ: C. Ett exempel där behov, prisomfattning och kvarvarande variation förklaras begripligt och kunden kan återberätta dem. Förklaring: Utbildningsvärde handlar om hur beslutet blir begripligt, inte bara om ett avslut. Exemplet behöver även vara godkänt för sin användning och följa portalens hantering av kunduppgifter.</a:t>
            </a:r>
          </a:p>
          <a:p/>
          <a:p/>
        </p:txBody>
      </p:sp>
      <p:sp>
        <p:nvSpPr>
          <p:cNvPr id="4" name="Slide Number Placeholder 3"/>
          <p:cNvSpPr>
            <a:spLocks noGrp="1"/>
          </p:cNvSpPr>
          <p:nvPr>
            <p:ph type="sldNum" idx="5" sz="quarter"/>
          </p:nvPr>
        </p:nvSpPr>
        <p:spPr/>
      </p:sp>
    </p:spTree>
  </p:cSld>
  <p:clrMapOvr>
    <a:masterClrMapping/>
  </p:clrMapOvr>
</p:notes>
</file>

<file path=ppt/notesSlides/notesSlide4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 energiberäkning: en last håller konstant 6 kW i 2,5 timmar. Hur många kWh används? Ingen kostnad beräknas.</a:t>
            </a:r>
          </a:p>
          <a:p/>
          <a:p>
            <a:r>
              <a:t>FACIT</a:t>
            </a:r>
          </a:p>
          <a:p>
            <a:r>
              <a:t>Svar: 15 kWh. 6 × 2,5 = 15 kWh. En konstant effekt multipliceras med tid för att få energi.</a:t>
            </a:r>
          </a:p>
          <a:p/>
          <a:p/>
        </p:txBody>
      </p:sp>
      <p:sp>
        <p:nvSpPr>
          <p:cNvPr id="4" name="Slide Number Placeholder 3"/>
          <p:cNvSpPr>
            <a:spLocks noGrp="1"/>
          </p:cNvSpPr>
          <p:nvPr>
            <p:ph type="sldNum" idx="5" sz="quarter"/>
          </p:nvPr>
        </p:nvSpPr>
        <p:spPr/>
      </p:sp>
    </p:spTree>
  </p:cSld>
  <p:clrMapOvr>
    <a:masterClrMapping/>
  </p:clrMapOvr>
</p:notes>
</file>

<file path=ppt/notesSlides/notesSlide4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Syntetiskt Kvartspris-fall, enbart spotenergi: 45 kWh används vid 30 öre/kWh och 55 kWh vid 110 öre/kWh. Vad blir förbrukningsvägt energipris? Påslag, avgifter, nät, skatt och moms ingår inte.</a:t>
            </a:r>
          </a:p>
          <a:p/>
          <a:p>
            <a:r>
              <a:t>FACIT</a:t>
            </a:r>
          </a:p>
          <a:p>
            <a:r>
              <a:t>Svar: 74 öre/kWh. 45 × 0,30 + 55 × 1,10 = 13,50 + 60,50 = 74 kr för 100 kWh. 74 ÷ 100 = 0,74 kr/kWh = 74 öre. Egen tidsprofil ingår redan i viktningen.</a:t>
            </a:r>
          </a:p>
          <a:p/>
          <a:p/>
        </p:txBody>
      </p:sp>
      <p:sp>
        <p:nvSpPr>
          <p:cNvPr id="4" name="Slide Number Placeholder 3"/>
          <p:cNvSpPr>
            <a:spLocks noGrp="1"/>
          </p:cNvSpPr>
          <p:nvPr>
            <p:ph type="sldNum" idx="5" sz="quarter"/>
          </p:nvPr>
        </p:nvSpPr>
        <p:spPr/>
      </p:sp>
    </p:spTree>
  </p:cSld>
  <p:clrMapOvr>
    <a:masterClrMapping/>
  </p:clrMapOvr>
</p:notes>
</file>

<file path=ppt/notesSlides/notesSlide4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Syntetiskt månadsfall: 900 kWh till 78 öre/kWh inklusive påslag och antagen fast avgift 45 kr. Inga andra poster ingår; nät, skatt och moms utesluts. Vilket effektivt elhandelspris inklusive avgiften får du?</a:t>
            </a:r>
          </a:p>
          <a:p/>
          <a:p>
            <a:r>
              <a:t>FACIT</a:t>
            </a:r>
          </a:p>
          <a:p>
            <a:r>
              <a:t>Svar: 83 öre/kWh. 900 × 0,78 + 45 = 747 kr. 747 ÷ 900 = 0,83 kr/kWh = 83 öre. Avgiften bidrar med 5 öre/kWh för just denna mängd.</a:t>
            </a:r>
          </a:p>
          <a:p/>
          <a:p/>
        </p:txBody>
      </p:sp>
      <p:sp>
        <p:nvSpPr>
          <p:cNvPr id="4" name="Slide Number Placeholder 3"/>
          <p:cNvSpPr>
            <a:spLocks noGrp="1"/>
          </p:cNvSpPr>
          <p:nvPr>
            <p:ph type="sldNum" idx="5" sz="quarter"/>
          </p:nvPr>
        </p:nvSpPr>
        <p:spPr/>
      </p:sp>
    </p:spTree>
  </p:cSld>
  <p:clrMapOvr>
    <a:masterClrMapping/>
  </p:clrMapOvr>
</p:notes>
</file>

<file path=ppt/notesSlides/notesSlide4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 Opti-månad: faktisk volym 1 500 kWh. Jämförbara hela-månaden-alternativ är kvartsvägt 96 öre/kWh och rörligt 88 öre/kWh. Antagen gemensam avgift 40 kr ligger utanför båda jämförelsepriserna och tillkommer en gång. Vad blir övningens elhandelsbelopp? Nät, skatt och moms ingår inte.</a:t>
            </a:r>
          </a:p>
          <a:p/>
          <a:p>
            <a:r>
              <a:t>FACIT</a:t>
            </a:r>
          </a:p>
          <a:p>
            <a:r>
              <a:t>Svar: 1360 kr. Kvartsalternativ 1 500 × 0,96 = 1 440 kr; månadsalternativ 1 500 × 0,88 = 1 320 kr. Välj 1 320 för hela månaden och lägg till den gemensamma avgiften en gång: 1 360 kr. Ingen kvart-för-kvart-minimering görs.</a:t>
            </a:r>
          </a:p>
          <a:p/>
          <a:p/>
        </p:txBody>
      </p:sp>
      <p:sp>
        <p:nvSpPr>
          <p:cNvPr id="4" name="Slide Number Placeholder 3"/>
          <p:cNvSpPr>
            <a:spLocks noGrp="1"/>
          </p:cNvSpPr>
          <p:nvPr>
            <p:ph type="sldNum" idx="5" sz="quarter"/>
          </p:nvPr>
        </p:nvSpPr>
        <p:spPr/>
      </p:sp>
    </p:spTree>
  </p:cSld>
  <p:clrMapOvr>
    <a:masterClrMapping/>
  </p:clrMapOvr>
</p:notes>
</file>

<file path=ppt/notesSlides/notesSlide4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Syntetiskt Vintersäkrat-år: 9 000 kWh till fast vinterpris 95 öre och 3 000 kWh till sommarens kvartsvägda utfall 55 öre. Anta jämförbara kompletta elhandelsdelar utan separat avgift; vinterprofil ingår. Nät, skatt och moms utesluts. Vad blir årsvolymvägt elhandelspris?</a:t>
            </a:r>
          </a:p>
          <a:p/>
          <a:p>
            <a:r>
              <a:t>FACIT</a:t>
            </a:r>
          </a:p>
          <a:p>
            <a:r>
              <a:t>Svar: 85 öre/kWh. 9 000 × 0,95 + 3 000 × 0,55 = 8 550 + 1 650 = 10 200 kr. 10 200 ÷ 12 000 = 0,85 kr/kWh = 85 öre. Priserna får inte ges lika vikt när mängderna är olika.</a:t>
            </a:r>
          </a:p>
          <a:p/>
          <a:p/>
        </p:txBody>
      </p:sp>
      <p:sp>
        <p:nvSpPr>
          <p:cNvPr id="4" name="Slide Number Placeholder 3"/>
          <p:cNvSpPr>
            <a:spLocks noGrp="1"/>
          </p:cNvSpPr>
          <p:nvPr>
            <p:ph type="sldNum" idx="5" sz="quarter"/>
          </p:nvPr>
        </p:nvSpPr>
        <p:spPr/>
      </p:sp>
    </p:spTree>
  </p:cSld>
  <p:clrMapOvr>
    <a:masterClrMapping/>
  </p:clrMapOvr>
</p:notes>
</file>

<file path=ppt/notesSlides/notesSlide4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En familj kan styra laddbox men behöver samtidigt förutsägbar budget. De ska köpa en värmepump och vet inte hur användningen ändras. Beskriv en behovsanalys innan du väljer mellan Kvartspris, Fastpris, Opti och Vintersäkrat.</a:t>
            </a:r>
          </a:p>
          <a:p/>
          <a:p>
            <a:r>
              <a:t>FACIT</a:t>
            </a:r>
          </a:p>
          <a:p>
            <a:r>
              <a:t>Fråga om framtida nätinköp per månad, laddningens faktiska flexibilitet, värmepumpens tider och familjens budgettålighet. Kontrollera mätdata och nätets effektvillkor. Kvartspris kopplar egen användning till kvartpriser men varierar. Fastpris ger känt pris för avtalade delar med avvägning mot framtida prisfall. Opti väljer lägre av två jämförbara månadsalternativ men är fortsatt rörligt. Vintersäkrat delar året i fast vinter inklusive profil och kvartssommar enligt avtal. Gör ingen automatisk rekommendation enbart från laddboxen.</a:t>
            </a:r>
          </a:p>
          <a:p/>
          <a:p>
            <a:r>
              <a:t>Kartlägger framtida volym, tider och budget.</a:t>
            </a:r>
          </a:p>
          <a:p>
            <a:r>
              <a:t>Skiljer verklig flexibilitet från att bara äga laddbox.</a:t>
            </a:r>
          </a:p>
          <a:p>
            <a:r>
              <a:t>Beskriver relevanta avvägningar utan prisgaranti.</a:t>
            </a:r>
          </a:p>
          <a:p>
            <a:r>
              <a:t>Kontrollerar data, nätvillkor och offertens omfattning.</a:t>
            </a:r>
          </a:p>
        </p:txBody>
      </p:sp>
      <p:sp>
        <p:nvSpPr>
          <p:cNvPr id="4" name="Slide Number Placeholder 3"/>
          <p:cNvSpPr>
            <a:spLocks noGrp="1"/>
          </p:cNvSpPr>
          <p:nvPr>
            <p:ph type="sldNum" idx="5" sz="quarter"/>
          </p:nvPr>
        </p:nvSpPr>
        <p:spPr/>
      </p:sp>
    </p:spTree>
  </p:cSld>
  <p:clrMapOvr>
    <a:masterClrMapping/>
  </p:clrMapOvr>
</p:notes>
</file>

<file path=ppt/notesSlides/notesSlide4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Kunden frågar: Om Opti alltid tar det lägre måste det vara billigast av alla avtal och aldrig bli dyrt? Svara med två tydliga gränser och en fråga som kontrollerar förståelsen.</a:t>
            </a:r>
          </a:p>
          <a:p/>
          <a:p>
            <a:r>
              <a:t>FACIT</a:t>
            </a:r>
          </a:p>
          <a:p>
            <a:r>
              <a:t>Opti väljer det lägre av just avtalets två definierade alternativ för samma hela månad, faktiska volym och prisdelar. Det är inte en jämförelse mot alla leverantörer. Båda alternativen kan stiga och avgifter eller andra poster kan ligga utanför jämförelsen. Fråga exempelvis: Hur skulle ni beskriva vad jämförelsen omfattar och vad som fortfarande kan variera?</a:t>
            </a:r>
          </a:p>
          <a:p/>
          <a:p>
            <a:r>
              <a:t>Avgränsar till avtalets två alternativ och hela månaden.</a:t>
            </a:r>
          </a:p>
          <a:p>
            <a:r>
              <a:t>Förklarar fortsatt pris- och mängdvariation.</a:t>
            </a:r>
          </a:p>
          <a:p>
            <a:r>
              <a:t>Nämner jämförelseomfattning eller separata poster.</a:t>
            </a:r>
          </a:p>
          <a:p>
            <a:r>
              <a:t>Ställer en återberättelsefråga.</a:t>
            </a:r>
          </a:p>
        </p:txBody>
      </p:sp>
      <p:sp>
        <p:nvSpPr>
          <p:cNvPr id="4" name="Slide Number Placeholder 3"/>
          <p:cNvSpPr>
            <a:spLocks noGrp="1"/>
          </p:cNvSpPr>
          <p:nvPr>
            <p:ph type="sldNum" idx="5" sz="quarter"/>
          </p:nvPr>
        </p:nvSpPr>
        <p:spPr/>
      </p:sp>
    </p:spTree>
  </p:cSld>
  <p:clrMapOvr>
    <a:masterClrMapping/>
  </p:clrMapOvr>
</p:notes>
</file>

<file path=ppt/notesSlides/notesSlide4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FRÅGA</a:t>
            </a:r>
          </a:p>
          <a:p>
            <a:r>
              <a:t>Du granskar ett föreslaget lyckat telefonsamtal. Säljaren upprepar 40 öre men säger inte vilka delar som ingår, svarar ja på samma faktura varje månad och avslutar direkt. Hur skulle du använda eller förbättra exemplet i utbildningen?</a:t>
            </a:r>
          </a:p>
          <a:p/>
          <a:p>
            <a:r>
              <a:t>FACIT</a:t>
            </a:r>
          </a:p>
          <a:p>
            <a:r>
              <a:t>Presentera det inte som ett okommenterat föredöme. Identifiera oklar prisomfattning och sammanblandningen mellan enhetspris och faktura. Förklara vad som måste verifieras i aktuell offert, visa separata avgifter och övriga elkostnader och låt kunden återberätta variationen före beslut. Samtalet kan bli ett kommenterat lärfall med tydlig korrigering om det är godkänt för användning och kunduppgifter hanteras enligt portalens rutin. Ett avslut ensamt gör inte förklaringen lyckad.</a:t>
            </a:r>
          </a:p>
          <a:p/>
          <a:p>
            <a:r>
              <a:t>Upptäcker både prisomfattning och felaktigt fakturalöfte.</a:t>
            </a:r>
          </a:p>
          <a:p>
            <a:r>
              <a:t>Kopplar rättning till aktuell offert och mängd.</a:t>
            </a:r>
          </a:p>
          <a:p>
            <a:r>
              <a:t>Föreslår begriplig förklaring och återberättelse.</a:t>
            </a:r>
          </a:p>
          <a:p>
            <a:r>
              <a:t>Skiljer kommenterat lärfall från godkänt föredöme och nämner användningsgodkännande.</a:t>
            </a:r>
          </a:p>
        </p:txBody>
      </p:sp>
      <p:sp>
        <p:nvSpPr>
          <p:cNvPr id="4" name="Slide Number Placeholder 3"/>
          <p:cNvSpPr>
            <a:spLocks noGrp="1"/>
          </p:cNvSpPr>
          <p:nvPr>
            <p:ph type="sldNum" idx="5" sz="quarter"/>
          </p:nvPr>
        </p:nvSpPr>
        <p:spPr/>
      </p:sp>
    </p:spTree>
  </p:cSld>
  <p:clrMapOvr>
    <a:masterClrMapping/>
  </p:clrMapOvr>
</p:notes>
</file>

<file path=ppt/notesSlides/notesSlide4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Bedöm kunskap, beräkning och begriplighet separat. Riktiga inspelade samtal används enligt verksamhetens godkända rutin; utbildningens kundfall och rollspel är fiktiva.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3.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4.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5.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6.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9.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0.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1.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4.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5.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6.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8.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3.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4.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5.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6.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8.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9.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0.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1.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4.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5.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6.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8.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9.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0.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1.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3.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4.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5.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6.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8.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9.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0.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1.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3.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4.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5.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6.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8.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9.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0.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1.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KRAFTRINGEN · ELAKADEMIN</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Din elaffär, begriplig från grunden.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Gemensam grund · Savera / företag · Face2face / privatkunder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18 kapitel med lösta exempel, kundfall och självtest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START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Så använder du utbildningen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Förstå modellen → räkna med samma omfattning → förklara för kunden.</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Svara före facit och kontrollera mellanled och kvarvarande risk.</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Verkliga priser och villkor kommer från aktuell godkänd offert.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01 · Gemensam grund</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Energi, effekt och rätt enheter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effekt i kW från energi i kWh och förklara skillnaden med egna ord.</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Räkna energi från konstant effekt och tid, även under en kvart.</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Omvandla MWh till kWh och öre/kWh till kronor utan faktorhundra- eller</a:t>
            </a:r>
          </a:p>
          <a:p>
            <a:pPr>
              <a:lnSpc>
                <a:spcPts val="2480"/>
              </a:lnSpc>
              <a:spcBef>
                <a:spcPts val="0"/>
              </a:spcBef>
              <a:spcAft>
                <a:spcPts val="0"/>
              </a:spcAft>
              <a:defRPr sz="2000" b="0">
                <a:solidFill>
                  <a:srgbClr val="FFFFFF"/>
                </a:solidFill>
                <a:latin typeface="DejaVu Sans"/>
              </a:defRPr>
            </a:pPr>
            <a:r>
              <a:t>faktortusenfel.</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Ange vilka kostnadsdelar ett beräknat belopp omfattar.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Effekt beskriver takten, energi beskriver</a:t>
            </a:r>
          </a:p>
          <a:p>
            <a:pPr>
              <a:lnSpc>
                <a:spcPts val="3472"/>
              </a:lnSpc>
              <a:spcBef>
                <a:spcPts val="0"/>
              </a:spcBef>
              <a:spcAft>
                <a:spcPts val="0"/>
              </a:spcAft>
              <a:defRPr sz="2800" b="1">
                <a:solidFill>
                  <a:srgbClr val="193540"/>
                </a:solidFill>
                <a:latin typeface="DejaVu Sans"/>
              </a:defRPr>
            </a:pPr>
            <a:r>
              <a:t>mängden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Effekt är hur snabbt utrustningen använder energi just nu. En ugn som tar ut</a:t>
            </a:r>
          </a:p>
          <a:p>
            <a:pPr>
              <a:lnSpc>
                <a:spcPts val="2480"/>
              </a:lnSpc>
              <a:spcBef>
                <a:spcPts val="0"/>
              </a:spcBef>
              <a:spcAft>
                <a:spcPts val="0"/>
              </a:spcAft>
              <a:defRPr sz="2000" b="0">
                <a:solidFill>
                  <a:srgbClr val="193540"/>
                </a:solidFill>
                <a:latin typeface="DejaVu Sans"/>
              </a:defRPr>
            </a:pPr>
            <a:r>
              <a:t>10 kW i två timmar använder 20 kWh om effekten är konstant.</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Formeln är energi i kWh = effekt i kW × tid i timmar. En kvart är 0,25 timmar</a:t>
            </a:r>
          </a:p>
          <a:p>
            <a:pPr>
              <a:lnSpc>
                <a:spcPts val="2480"/>
              </a:lnSpc>
              <a:spcBef>
                <a:spcPts val="0"/>
              </a:spcBef>
              <a:spcAft>
                <a:spcPts val="0"/>
              </a:spcAft>
              <a:defRPr sz="2000" b="0">
                <a:solidFill>
                  <a:srgbClr val="193540"/>
                </a:solidFill>
                <a:latin typeface="DejaVu Sans"/>
              </a:defRPr>
            </a:pPr>
            <a:r>
              <a:t>och en halvtimme 0,5 timmar. Skriv inte kW när du menar årsförbrukning och</a:t>
            </a:r>
          </a:p>
          <a:p>
            <a:pPr>
              <a:lnSpc>
                <a:spcPts val="2480"/>
              </a:lnSpc>
              <a:spcBef>
                <a:spcPts val="0"/>
              </a:spcBef>
              <a:spcAft>
                <a:spcPts val="0"/>
              </a:spcAft>
              <a:defRPr sz="2000" b="0">
                <a:solidFill>
                  <a:srgbClr val="193540"/>
                </a:solidFill>
                <a:latin typeface="DejaVu Sans"/>
              </a:defRPr>
            </a:pPr>
            <a:r>
              <a:t>skriv inte kW per timme när du menar kWh.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Mätvärdet avgör vad du ska multiplicera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mätserie kan visa energi i kWh under varje kvart eller medeleffekt i kW</a:t>
            </a:r>
          </a:p>
          <a:p>
            <a:pPr>
              <a:lnSpc>
                <a:spcPts val="2480"/>
              </a:lnSpc>
              <a:spcBef>
                <a:spcPts val="0"/>
              </a:spcBef>
              <a:spcAft>
                <a:spcPts val="0"/>
              </a:spcAft>
              <a:defRPr sz="2000" b="0">
                <a:solidFill>
                  <a:srgbClr val="193540"/>
                </a:solidFill>
                <a:latin typeface="DejaVu Sans"/>
              </a:defRPr>
            </a:pPr>
            <a:r>
              <a:t>under kvarten. Det är två olika saker. Visar serien 2,5 kWh är energin redan</a:t>
            </a:r>
          </a:p>
          <a:p>
            <a:pPr>
              <a:lnSpc>
                <a:spcPts val="2480"/>
              </a:lnSpc>
              <a:spcBef>
                <a:spcPts val="0"/>
              </a:spcBef>
              <a:spcAft>
                <a:spcPts val="0"/>
              </a:spcAft>
              <a:defRPr sz="2000" b="0">
                <a:solidFill>
                  <a:srgbClr val="193540"/>
                </a:solidFill>
                <a:latin typeface="DejaVu Sans"/>
              </a:defRPr>
            </a:pPr>
            <a:r>
              <a:t>beräknad. Multiplicera då direkt med priset per kWh.</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Kontrollera tidsperioden: en månads mängd kan inte jämföras direkt med ett</a:t>
            </a:r>
          </a:p>
          <a:p>
            <a:pPr>
              <a:lnSpc>
                <a:spcPts val="2480"/>
              </a:lnSpc>
              <a:spcBef>
                <a:spcPts val="0"/>
              </a:spcBef>
              <a:spcAft>
                <a:spcPts val="0"/>
              </a:spcAft>
              <a:defRPr sz="2000" b="0">
                <a:solidFill>
                  <a:srgbClr val="193540"/>
                </a:solidFill>
                <a:latin typeface="DejaVu Sans"/>
              </a:defRPr>
            </a:pPr>
            <a:r>
              <a:t>helt år. Vid egen produktion behöver köpt nätel skiljas från total användning</a:t>
            </a:r>
          </a:p>
          <a:p>
            <a:pPr>
              <a:lnSpc>
                <a:spcPts val="2480"/>
              </a:lnSpc>
              <a:spcBef>
                <a:spcPts val="0"/>
              </a:spcBef>
              <a:spcAft>
                <a:spcPts val="0"/>
              </a:spcAft>
              <a:defRPr sz="2000" b="0">
                <a:solidFill>
                  <a:srgbClr val="193540"/>
                </a:solidFill>
                <a:latin typeface="DejaVu Sans"/>
              </a:defRPr>
            </a:pPr>
            <a:r>
              <a:t>och export. Använd mängden för rätt mätpunkt och period.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Byt enhet innan du räknar pengar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MWh är 1 000 kWh. En GWh är 1 000 MWh, alltså 1 000 000 kWh. MW är</a:t>
            </a:r>
          </a:p>
          <a:p>
            <a:pPr>
              <a:lnSpc>
                <a:spcPts val="2480"/>
              </a:lnSpc>
              <a:spcBef>
                <a:spcPts val="0"/>
              </a:spcBef>
              <a:spcAft>
                <a:spcPts val="0"/>
              </a:spcAft>
              <a:defRPr sz="2000" b="0">
                <a:solidFill>
                  <a:srgbClr val="193540"/>
                </a:solidFill>
                <a:latin typeface="DejaVu Sans"/>
              </a:defRPr>
            </a:pPr>
            <a:r>
              <a:t>däremot effekt: 1 MW är 1 000 kW. B2B-volymer anges ofta i MWh medan</a:t>
            </a:r>
          </a:p>
          <a:p>
            <a:pPr>
              <a:lnSpc>
                <a:spcPts val="2480"/>
              </a:lnSpc>
              <a:spcBef>
                <a:spcPts val="0"/>
              </a:spcBef>
              <a:spcAft>
                <a:spcPts val="0"/>
              </a:spcAft>
              <a:defRPr sz="2000" b="0">
                <a:solidFill>
                  <a:srgbClr val="193540"/>
                </a:solidFill>
                <a:latin typeface="DejaVu Sans"/>
              </a:defRPr>
            </a:pPr>
            <a:r>
              <a:t>priset anges i öre/kWh. Därför måste mängden först omvandlas till kWh.</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Hundra öre är en krona: 80 öre/kWh = 0,80 kr/kWh = 800 kr/MWh. Kostnad i</a:t>
            </a:r>
          </a:p>
          <a:p>
            <a:pPr>
              <a:lnSpc>
                <a:spcPts val="2480"/>
              </a:lnSpc>
              <a:spcBef>
                <a:spcPts val="0"/>
              </a:spcBef>
              <a:spcAft>
                <a:spcPts val="0"/>
              </a:spcAft>
              <a:defRPr sz="2000" b="0">
                <a:solidFill>
                  <a:srgbClr val="193540"/>
                </a:solidFill>
                <a:latin typeface="DejaVu Sans"/>
              </a:defRPr>
            </a:pPr>
            <a:r>
              <a:t>kronor = kWh × öre/kWh ÷ 100. Använder du MWh måste priset vara kr/MWh.</a:t>
            </a:r>
          </a:p>
          <a:p>
            <a:pPr>
              <a:lnSpc>
                <a:spcPts val="2480"/>
              </a:lnSpc>
              <a:spcBef>
                <a:spcPts val="0"/>
              </a:spcBef>
              <a:spcAft>
                <a:spcPts val="0"/>
              </a:spcAft>
              <a:defRPr sz="2000" b="0">
                <a:solidFill>
                  <a:srgbClr val="193540"/>
                </a:solidFill>
                <a:latin typeface="DejaVu Sans"/>
              </a:defRPr>
            </a:pPr>
            <a:r>
              <a:t>Behåll ett konsekvent arbetssätt.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Pris, kostnad och en rimlighetskontroll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80 öre/kWh är ett pris; 96 000 kr är en kostnad vid 120 000 kWh. Ett</a:t>
            </a:r>
          </a:p>
          <a:p>
            <a:pPr>
              <a:lnSpc>
                <a:spcPts val="2480"/>
              </a:lnSpc>
              <a:spcBef>
                <a:spcPts val="0"/>
              </a:spcBef>
              <a:spcAft>
                <a:spcPts val="0"/>
              </a:spcAft>
              <a:defRPr sz="2000" b="0">
                <a:solidFill>
                  <a:srgbClr val="193540"/>
                </a:solidFill>
                <a:latin typeface="DejaVu Sans"/>
              </a:defRPr>
            </a:pPr>
            <a:r>
              <a:t>oförändrat pris kan ge högre kostnad när mängden ökar. Fråga därför om</a:t>
            </a:r>
          </a:p>
          <a:p>
            <a:pPr>
              <a:lnSpc>
                <a:spcPts val="2480"/>
              </a:lnSpc>
              <a:spcBef>
                <a:spcPts val="0"/>
              </a:spcBef>
              <a:spcAft>
                <a:spcPts val="0"/>
              </a:spcAft>
              <a:defRPr sz="2000" b="0">
                <a:solidFill>
                  <a:srgbClr val="193540"/>
                </a:solidFill>
                <a:latin typeface="DejaVu Sans"/>
              </a:defRPr>
            </a:pPr>
            <a:r>
              <a:t>kundens jämförelse gäller enhetspris, köpt mängd eller hela fakturan.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Gör en snabb kontroll: vid 100 000 kWh och ungefär en krona per kWh bör</a:t>
            </a:r>
          </a:p>
          <a:p>
            <a:pPr>
              <a:lnSpc>
                <a:spcPts val="2480"/>
              </a:lnSpc>
              <a:spcBef>
                <a:spcPts val="0"/>
              </a:spcBef>
              <a:spcAft>
                <a:spcPts val="0"/>
              </a:spcAft>
              <a:defRPr sz="2000" b="0">
                <a:solidFill>
                  <a:srgbClr val="193540"/>
                </a:solidFill>
                <a:latin typeface="DejaVu Sans"/>
              </a:defRPr>
            </a:pPr>
            <a:r>
              <a:t>kostnaden ligga nära 100 000 kr. Ett svar på 100 kr eller tio miljoner tyder på</a:t>
            </a:r>
          </a:p>
          <a:p>
            <a:pPr>
              <a:lnSpc>
                <a:spcPts val="2480"/>
              </a:lnSpc>
              <a:spcBef>
                <a:spcPts val="0"/>
              </a:spcBef>
              <a:spcAft>
                <a:spcPts val="0"/>
              </a:spcAft>
              <a:defRPr sz="2000" b="0">
                <a:solidFill>
                  <a:srgbClr val="193540"/>
                </a:solidFill>
                <a:latin typeface="DejaVu Sans"/>
              </a:defRPr>
            </a:pPr>
            <a:r>
              <a:t>ett enhetsfel. Kontrollera sedan vad priset omfattar.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Ugnen under två kvartar och två timmar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undervisningsexempel. Endast energi och en given</a:t>
            </a:r>
          </a:p>
          <a:p>
            <a:pPr>
              <a:lnSpc>
                <a:spcPts val="2480"/>
              </a:lnSpc>
              <a:spcBef>
                <a:spcPts val="0"/>
              </a:spcBef>
              <a:spcAft>
                <a:spcPts val="0"/>
              </a:spcAft>
              <a:defRPr sz="2000" b="0">
                <a:solidFill>
                  <a:srgbClr val="193540"/>
                </a:solidFill>
                <a:latin typeface="DejaVu Sans"/>
              </a:defRPr>
            </a:pPr>
            <a:r>
              <a:t>energipriskomponent; alla andra elhandelskostnader, elnät, energiskatt och</a:t>
            </a:r>
          </a:p>
          <a:p>
            <a:pPr>
              <a:lnSpc>
                <a:spcPts val="2480"/>
              </a:lnSpc>
              <a:spcBef>
                <a:spcPts val="0"/>
              </a:spcBef>
              <a:spcAft>
                <a:spcPts val="0"/>
              </a:spcAft>
              <a:defRPr sz="2000" b="0">
                <a:solidFill>
                  <a:srgbClr val="193540"/>
                </a:solidFill>
                <a:latin typeface="DejaVu Sans"/>
              </a:defRPr>
            </a:pPr>
            <a:r>
              <a:t>moms är utanför.</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Konstant effekt: 12 kW.</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Första perioden: 30 minuter. Andra perioden: 2 timmar.</a:t>
            </a:r>
          </a:p>
        </p:txBody>
      </p:sp>
      <p:sp>
        <p:nvSpPr>
          <p:cNvPr id="9" name="TextBox 8"/>
          <p:cNvSpPr txBox="1"/>
          <p:nvPr/>
        </p:nvSpPr>
        <p:spPr>
          <a:xfrm>
            <a:off x="603504" y="40665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Exempelpris för energidelen: 80 öre/kWh.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Ugnen under två kvartar och två timmar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30 minuter ÷ 60 = 0,5 timmar.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Första energimängden: 12 kW × 0,5 h = 6 kWh.</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Andra energimängden: 12 × 2 = 24 kWh. Totalt 30 kWh.</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Omvandla priset: 80 ÷ 100 = 0,80 kr/kWh.</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5. Kostnad: 30 × 0,80 = 24 kr.</a:t>
            </a:r>
          </a:p>
        </p:txBody>
      </p:sp>
      <p:sp>
        <p:nvSpPr>
          <p:cNvPr id="11" name="TextBox 10"/>
          <p:cNvSpPr txBox="1"/>
          <p:nvPr/>
        </p:nvSpPr>
        <p:spPr>
          <a:xfrm>
            <a:off x="603504" y="42951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30 kWh och 24 kr för den angivna energipriskomponenten.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Årsvolym och betydelsen av två öre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årsfall. Två jämförbara energipriser på samma volym och period;</a:t>
            </a:r>
          </a:p>
          <a:p>
            <a:pPr>
              <a:lnSpc>
                <a:spcPts val="2480"/>
              </a:lnSpc>
              <a:spcBef>
                <a:spcPts val="0"/>
              </a:spcBef>
              <a:spcAft>
                <a:spcPts val="0"/>
              </a:spcAft>
              <a:defRPr sz="2000" b="0">
                <a:solidFill>
                  <a:srgbClr val="193540"/>
                </a:solidFill>
                <a:latin typeface="DejaVu Sans"/>
              </a:defRPr>
            </a:pPr>
            <a:r>
              <a:t>övrig elhandel, nät, skatt och moms ingår inte.</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Årsvolym: 120 MWh.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Pris A: 80 öre/kWh. Pris B: 82 öre/kWh.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Årsvolym och betydelsen av två öre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120 MWh × 1 000 = 120 000 kWh.</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A: 120 000 × 80 ÷ 100 = 96 000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B: 120 000 × 82 ÷ 100 = 98 400 kr.</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Skillnad: 98 400 − 96 000 = 2 400 kr. Kontroll: 120 000 × 2 ÷ 100 =</a:t>
            </a:r>
          </a:p>
          <a:p>
            <a:pPr>
              <a:lnSpc>
                <a:spcPts val="2480"/>
              </a:lnSpc>
              <a:spcBef>
                <a:spcPts val="0"/>
              </a:spcBef>
              <a:spcAft>
                <a:spcPts val="0"/>
              </a:spcAft>
              <a:defRPr sz="2000" b="0">
                <a:solidFill>
                  <a:srgbClr val="193540"/>
                </a:solidFill>
                <a:latin typeface="DejaVu Sans"/>
              </a:defRPr>
            </a:pPr>
            <a:r>
              <a:t>2 400 kr.</a:t>
            </a:r>
          </a:p>
        </p:txBody>
      </p:sp>
      <p:sp>
        <p:nvSpPr>
          <p:cNvPr id="10" name="TextBox 9"/>
          <p:cNvSpPr txBox="1"/>
          <p:nvPr/>
        </p:nvSpPr>
        <p:spPr>
          <a:xfrm>
            <a:off x="603504" y="4180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Två öre/kWh motsvarar 2 400 kr per år vid 120 MWh.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Maskinen är på 10 kW, alltså använder den 10 kWh per dag.</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kW är effekt. Energin beror på hur länge maskinen faktiskt</a:t>
            </a:r>
          </a:p>
          <a:p>
            <a:pPr>
              <a:lnSpc>
                <a:spcPts val="2480"/>
              </a:lnSpc>
              <a:spcBef>
                <a:spcPts val="0"/>
              </a:spcBef>
              <a:spcAft>
                <a:spcPts val="0"/>
              </a:spcAft>
              <a:defRPr sz="2000" b="0">
                <a:solidFill>
                  <a:srgbClr val="193540"/>
                </a:solidFill>
                <a:latin typeface="DejaVu Sans"/>
              </a:defRPr>
            </a:pPr>
            <a:r>
              <a:t>arbetar och hur effekten varierar.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Kvartspriset ska alltid multipliceras med 0,25.</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Tidsfaktorn behövs när kW omvandlas till kWh. Ett mätvärde som</a:t>
            </a:r>
          </a:p>
          <a:p>
            <a:pPr>
              <a:lnSpc>
                <a:spcPts val="2480"/>
              </a:lnSpc>
              <a:spcBef>
                <a:spcPts val="0"/>
              </a:spcBef>
              <a:spcAft>
                <a:spcPts val="0"/>
              </a:spcAft>
              <a:defRPr sz="2000" b="0">
                <a:solidFill>
                  <a:srgbClr val="193540"/>
                </a:solidFill>
                <a:latin typeface="DejaVu Sans"/>
              </a:defRPr>
            </a:pPr>
            <a:r>
              <a:t>redan är kWh multipliceras direkt med kr/kWh.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lägre kWh-pris betyder alltid en lägre faktura.</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Fakturan beror också på volym, avgifter och andra kostnadsdelar.</a:t>
            </a:r>
          </a:p>
          <a:p>
            <a:pPr>
              <a:lnSpc>
                <a:spcPts val="2480"/>
              </a:lnSpc>
              <a:spcBef>
                <a:spcPts val="0"/>
              </a:spcBef>
              <a:spcAft>
                <a:spcPts val="0"/>
              </a:spcAft>
              <a:defRPr sz="2000" b="0">
                <a:solidFill>
                  <a:srgbClr val="193540"/>
                </a:solidFill>
                <a:latin typeface="DejaVu Sans"/>
              </a:defRPr>
            </a:pPr>
            <a:r>
              <a:t>Mer användning kan ge högre kostnad trots lägre enhetspris.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kW visar hur snabbt ni använder el, medan kWh visar mängden ni har använt.</a:t>
            </a:r>
          </a:p>
          <a:p>
            <a:pPr>
              <a:lnSpc>
                <a:spcPts val="2480"/>
              </a:lnSpc>
              <a:spcBef>
                <a:spcPts val="0"/>
              </a:spcBef>
              <a:spcAft>
                <a:spcPts val="0"/>
              </a:spcAft>
              <a:defRPr sz="2000" b="0">
                <a:solidFill>
                  <a:srgbClr val="193540"/>
                </a:solidFill>
                <a:latin typeface="DejaVu Sans"/>
              </a:defRPr>
            </a:pPr>
            <a:r>
              <a:t>Vi multiplicerar den köpta mängden med priset per kWh. Sedan måste vi se</a:t>
            </a:r>
          </a:p>
          <a:p>
            <a:pPr>
              <a:lnSpc>
                <a:spcPts val="2480"/>
              </a:lnSpc>
              <a:spcBef>
                <a:spcPts val="0"/>
              </a:spcBef>
              <a:spcAft>
                <a:spcPts val="0"/>
              </a:spcAft>
              <a:defRPr sz="2000" b="0">
                <a:solidFill>
                  <a:srgbClr val="193540"/>
                </a:solidFill>
                <a:latin typeface="DejaVu Sans"/>
              </a:defRPr>
            </a:pPr>
            <a:r>
              <a:t>vilka avgifter och andra kostnader som ingår innan vi kan tala om hela</a:t>
            </a:r>
          </a:p>
          <a:p>
            <a:pPr>
              <a:lnSpc>
                <a:spcPts val="2480"/>
              </a:lnSpc>
              <a:spcBef>
                <a:spcPts val="0"/>
              </a:spcBef>
              <a:spcAft>
                <a:spcPts val="0"/>
              </a:spcAft>
              <a:defRPr sz="2000" b="0">
                <a:solidFill>
                  <a:srgbClr val="193540"/>
                </a:solidFill>
                <a:latin typeface="DejaVu Sans"/>
              </a:defRPr>
            </a:pPr>
            <a:r>
              <a:t>fakturan.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Ägaren blandar ihop maskin och årsvolym</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Det fiktiva Bageriet Eken anger 120 MWh köpt el per år. Ägaren har sett en</a:t>
            </a:r>
          </a:p>
          <a:p>
            <a:pPr>
              <a:lnSpc>
                <a:spcPts val="2480"/>
              </a:lnSpc>
              <a:spcBef>
                <a:spcPts val="0"/>
              </a:spcBef>
              <a:spcAft>
                <a:spcPts val="0"/>
              </a:spcAft>
              <a:defRPr sz="2000" b="0">
                <a:solidFill>
                  <a:srgbClr val="193540"/>
                </a:solidFill>
                <a:latin typeface="DejaVu Sans"/>
              </a:defRPr>
            </a:pPr>
            <a:r>
              <a:t>ugn märkt 20 kW och säger: 'Då är vår årsförbrukning väl 20 kW, och två öre</a:t>
            </a:r>
          </a:p>
          <a:p>
            <a:pPr>
              <a:lnSpc>
                <a:spcPts val="2480"/>
              </a:lnSpc>
              <a:spcBef>
                <a:spcPts val="0"/>
              </a:spcBef>
              <a:spcAft>
                <a:spcPts val="0"/>
              </a:spcAft>
              <a:defRPr sz="2000" b="0">
                <a:solidFill>
                  <a:srgbClr val="193540"/>
                </a:solidFill>
                <a:latin typeface="DejaVu Sans"/>
              </a:defRPr>
            </a:pPr>
            <a:r>
              <a:t>billigare kan inte spela någon roll.' I en mätfil finns dessutom 5 kWh för en</a:t>
            </a:r>
          </a:p>
          <a:p>
            <a:pPr>
              <a:lnSpc>
                <a:spcPts val="2480"/>
              </a:lnSpc>
              <a:spcBef>
                <a:spcPts val="0"/>
              </a:spcBef>
              <a:spcAft>
                <a:spcPts val="0"/>
              </a:spcAft>
              <a:defRPr sz="2000" b="0">
                <a:solidFill>
                  <a:srgbClr val="193540"/>
                </a:solidFill>
                <a:latin typeface="DejaVu Sans"/>
              </a:defRPr>
            </a:pPr>
            <a:r>
              <a:t>kvart. Ett jämförbart exempelpris för energidelen är 90 öre/kWh.</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varför märkplåten och årsförbrukningen beskriver olika saker.</a:t>
            </a:r>
          </a:p>
        </p:txBody>
      </p:sp>
      <p:sp>
        <p:nvSpPr>
          <p:cNvPr id="8" name="TextBox 7"/>
          <p:cNvSpPr txBox="1"/>
          <p:nvPr/>
        </p:nvSpPr>
        <p:spPr>
          <a:xfrm>
            <a:off x="603504" y="3952239"/>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Beräkna årets kostnad för den givna energidelen samt värdet av två öres</a:t>
            </a:r>
          </a:p>
          <a:p>
            <a:pPr>
              <a:lnSpc>
                <a:spcPts val="2480"/>
              </a:lnSpc>
              <a:spcBef>
                <a:spcPts val="0"/>
              </a:spcBef>
              <a:spcAft>
                <a:spcPts val="0"/>
              </a:spcAft>
              <a:defRPr sz="2000" b="0">
                <a:solidFill>
                  <a:srgbClr val="193540"/>
                </a:solidFill>
                <a:latin typeface="DejaVu Sans"/>
              </a:defRPr>
            </a:pPr>
            <a:r>
              <a:t>skillnad.</a:t>
            </a:r>
          </a:p>
        </p:txBody>
      </p:sp>
      <p:sp>
        <p:nvSpPr>
          <p:cNvPr id="9" name="TextBox 8"/>
          <p:cNvSpPr txBox="1"/>
          <p:nvPr/>
        </p:nvSpPr>
        <p:spPr>
          <a:xfrm>
            <a:off x="603504" y="46964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Beräkna kostnaden för kvartens 5 kWh utan att räkna tidsfaktorn dubbelt.</a:t>
            </a:r>
          </a:p>
        </p:txBody>
      </p:sp>
      <p:sp>
        <p:nvSpPr>
          <p:cNvPr id="10" name="TextBox 9"/>
          <p:cNvSpPr txBox="1"/>
          <p:nvPr/>
        </p:nvSpPr>
        <p:spPr>
          <a:xfrm>
            <a:off x="603504" y="51257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Skriv vad som fortfarande behövs för att bedöma hela elkostnaden.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Effekt och energi skiljs tydligt och förklaras utan fackord som ersätter</a:t>
            </a:r>
          </a:p>
          <a:p>
            <a:pPr>
              <a:lnSpc>
                <a:spcPts val="2480"/>
              </a:lnSpc>
              <a:spcBef>
                <a:spcPts val="0"/>
              </a:spcBef>
              <a:spcAft>
                <a:spcPts val="0"/>
              </a:spcAft>
              <a:defRPr sz="2000" b="0">
                <a:solidFill>
                  <a:srgbClr val="193540"/>
                </a:solidFill>
                <a:latin typeface="DejaVu Sans"/>
              </a:defRPr>
            </a:pPr>
            <a:r>
              <a:t>innebörden.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Omräkningen ger 120 000 kWh, 108 000 kr och 2 400 kr.</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Kvartskostnaden är 4,50 kr och tidsfaktorn används inte igen.</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Svaret säger uttryckligen att beloppen inte är hela elkostnaden.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Mätfilen visar 3 kWh för en kvart. Hur räknar du kostnaden vid 100 öre/kWh?</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3 × 1,00 = 3 kr, eftersom mängden redan är energi.</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3 × 0,25 × 1,00 = 0,75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3 × 100 = 300 kr.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utrustning använder konstant 20 kW under en halvtimme. Hur mycket</a:t>
            </a:r>
          </a:p>
          <a:p>
            <a:pPr>
              <a:lnSpc>
                <a:spcPts val="2480"/>
              </a:lnSpc>
              <a:spcBef>
                <a:spcPts val="0"/>
              </a:spcBef>
              <a:spcAft>
                <a:spcPts val="0"/>
              </a:spcAft>
              <a:defRPr sz="2000" b="0">
                <a:solidFill>
                  <a:srgbClr val="193540"/>
                </a:solidFill>
                <a:latin typeface="DejaVu Sans"/>
              </a:defRPr>
            </a:pPr>
            <a:r>
              <a:t>energi används?</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kWh.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Vad kostar 150 MWh vid 90 öre/kWh för en given energipriskomponent?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kund säger att oförändrat elpris borde ge oförändrad faktura. Förklara</a:t>
            </a:r>
          </a:p>
          <a:p>
            <a:pPr>
              <a:lnSpc>
                <a:spcPts val="2480"/>
              </a:lnSpc>
              <a:spcBef>
                <a:spcPts val="0"/>
              </a:spcBef>
              <a:spcAft>
                <a:spcPts val="0"/>
              </a:spcAft>
              <a:defRPr sz="2000" b="0">
                <a:solidFill>
                  <a:srgbClr val="193540"/>
                </a:solidFill>
                <a:latin typeface="DejaVu Sans"/>
              </a:defRPr>
            </a:pPr>
            <a:r>
              <a:t>minst två saker som behöver kontrolleras.</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01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Läs enhet och period innan du räknar.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Omvandla kW till kWh med tiden endast när mätvärdet är effekt.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1 MWh = 1 000 kWh och 100 öre = 1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Skriv vilka kostnadsdelar beloppet avser.</a:t>
            </a:r>
          </a:p>
        </p:txBody>
      </p:sp>
      <p:sp>
        <p:nvSpPr>
          <p:cNvPr id="10" name="TextBox 9"/>
          <p:cNvSpPr txBox="1"/>
          <p:nvPr/>
        </p:nvSpPr>
        <p:spPr>
          <a:xfrm>
            <a:off x="603504" y="38658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 storleksordningen och förklara skillnaden mellan pris och</a:t>
            </a:r>
          </a:p>
          <a:p>
            <a:pPr>
              <a:lnSpc>
                <a:spcPts val="2480"/>
              </a:lnSpc>
              <a:spcBef>
                <a:spcPts val="0"/>
              </a:spcBef>
              <a:spcAft>
                <a:spcPts val="0"/>
              </a:spcAft>
              <a:defRPr sz="2000" b="0">
                <a:solidFill>
                  <a:srgbClr val="193540"/>
                </a:solidFill>
                <a:latin typeface="DejaVu Sans"/>
              </a:defRPr>
            </a:pPr>
            <a:r>
              <a:t>kostnad.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02 · Gemensam grund</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Elhandel, elnät och hela elräkningen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23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Beskriva producentens, elnätsföretagets och elhandlarens olika uppgifter.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Dela upp elkostnaden i elhandel, elnät, energiskatt och moms.</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Räkna ett effektivt elhandelspris när både kWh-pris och fast avgift finns.</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varför byte av elhandlare inte ändrar nätföretag eller låser hela</a:t>
            </a:r>
          </a:p>
          <a:p>
            <a:pPr>
              <a:lnSpc>
                <a:spcPts val="2480"/>
              </a:lnSpc>
              <a:spcBef>
                <a:spcPts val="0"/>
              </a:spcBef>
              <a:spcAft>
                <a:spcPts val="0"/>
              </a:spcAft>
              <a:defRPr sz="2000" b="0">
                <a:solidFill>
                  <a:srgbClr val="FFFFFF"/>
                </a:solidFill>
                <a:latin typeface="DejaVu Sans"/>
              </a:defRPr>
            </a:pPr>
            <a:r>
              <a:t>elräkningen.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Tre roller som kunden möter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Producenten producerar el. Elnätsföretaget driver nätet som ansluter</a:t>
            </a:r>
          </a:p>
          <a:p>
            <a:pPr>
              <a:lnSpc>
                <a:spcPts val="2480"/>
              </a:lnSpc>
              <a:spcBef>
                <a:spcPts val="0"/>
              </a:spcBef>
              <a:spcAft>
                <a:spcPts val="0"/>
              </a:spcAft>
              <a:defRPr sz="2000" b="0">
                <a:solidFill>
                  <a:srgbClr val="193540"/>
                </a:solidFill>
                <a:latin typeface="DejaVu Sans"/>
              </a:defRPr>
            </a:pPr>
            <a:r>
              <a:t>anläggningen, överför el och ansvarar för mätningen i sin roll.</a:t>
            </a:r>
          </a:p>
          <a:p>
            <a:pPr>
              <a:lnSpc>
                <a:spcPts val="2480"/>
              </a:lnSpc>
              <a:spcBef>
                <a:spcPts val="0"/>
              </a:spcBef>
              <a:spcAft>
                <a:spcPts val="0"/>
              </a:spcAft>
              <a:defRPr sz="2000" b="0">
                <a:solidFill>
                  <a:srgbClr val="193540"/>
                </a:solidFill>
                <a:latin typeface="DejaVu Sans"/>
              </a:defRPr>
            </a:pPr>
            <a:r>
              <a:t>Elhandelsföretaget säljer el och avtalar om hur kundens elhandelspris</a:t>
            </a:r>
          </a:p>
          <a:p>
            <a:pPr>
              <a:lnSpc>
                <a:spcPts val="2480"/>
              </a:lnSpc>
              <a:spcBef>
                <a:spcPts val="0"/>
              </a:spcBef>
              <a:spcAft>
                <a:spcPts val="0"/>
              </a:spcAft>
              <a:defRPr sz="2000" b="0">
                <a:solidFill>
                  <a:srgbClr val="193540"/>
                </a:solidFill>
                <a:latin typeface="DejaVu Sans"/>
              </a:defRPr>
            </a:pPr>
            <a:r>
              <a:t>beräknas.</a:t>
            </a:r>
          </a:p>
        </p:txBody>
      </p:sp>
      <p:sp>
        <p:nvSpPr>
          <p:cNvPr id="7" name="TextBox 6"/>
          <p:cNvSpPr txBox="1"/>
          <p:nvPr/>
        </p:nvSpPr>
        <p:spPr>
          <a:xfrm>
            <a:off x="603504" y="352298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Svenska kraftnät har systemansvar och ansvar för transmissionsnätet;</a:t>
            </a:r>
          </a:p>
          <a:p>
            <a:pPr>
              <a:lnSpc>
                <a:spcPts val="2480"/>
              </a:lnSpc>
              <a:spcBef>
                <a:spcPts val="0"/>
              </a:spcBef>
              <a:spcAft>
                <a:spcPts val="0"/>
              </a:spcAft>
              <a:defRPr sz="2000" b="0">
                <a:solidFill>
                  <a:srgbClr val="193540"/>
                </a:solidFill>
                <a:latin typeface="DejaVu Sans"/>
              </a:defRPr>
            </a:pPr>
            <a:r>
              <a:t>Energimarknadsinspektionen är tillsynsmyndighet. Elbörsen är en</a:t>
            </a:r>
          </a:p>
          <a:p>
            <a:pPr>
              <a:lnSpc>
                <a:spcPts val="2480"/>
              </a:lnSpc>
              <a:spcBef>
                <a:spcPts val="0"/>
              </a:spcBef>
              <a:spcAft>
                <a:spcPts val="0"/>
              </a:spcAft>
              <a:defRPr sz="2000" b="0">
                <a:solidFill>
                  <a:srgbClr val="193540"/>
                </a:solidFill>
                <a:latin typeface="DejaVu Sans"/>
              </a:defRPr>
            </a:pPr>
            <a:r>
              <a:t>handelsplats. Kraftringen kan finnas i flera roller genom olika bolag.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Elens väg och avtalets väg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Elen når uttaget genom det gemensamma elsystemet. Avtalet bestämmer</a:t>
            </a:r>
          </a:p>
          <a:p>
            <a:pPr>
              <a:lnSpc>
                <a:spcPts val="2480"/>
              </a:lnSpc>
              <a:spcBef>
                <a:spcPts val="0"/>
              </a:spcBef>
              <a:spcAft>
                <a:spcPts val="0"/>
              </a:spcAft>
              <a:defRPr sz="2000" b="0">
                <a:solidFill>
                  <a:srgbClr val="193540"/>
                </a:solidFill>
                <a:latin typeface="DejaVu Sans"/>
              </a:defRPr>
            </a:pPr>
            <a:r>
              <a:t>prisberäkning, avgifter, villkor och hur viss ekonomisk risk fördelas. Två</a:t>
            </a:r>
          </a:p>
          <a:p>
            <a:pPr>
              <a:lnSpc>
                <a:spcPts val="2480"/>
              </a:lnSpc>
              <a:spcBef>
                <a:spcPts val="0"/>
              </a:spcBef>
              <a:spcAft>
                <a:spcPts val="0"/>
              </a:spcAft>
              <a:defRPr sz="2000" b="0">
                <a:solidFill>
                  <a:srgbClr val="193540"/>
                </a:solidFill>
                <a:latin typeface="DejaVu Sans"/>
              </a:defRPr>
            </a:pPr>
            <a:r>
              <a:t>grannar i samma nät kan ha olika elhandlare och olika avtalsformer.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Prissäkring reserverar inte särskilda elektroner. En ursprungsgaranti redovisar</a:t>
            </a:r>
          </a:p>
          <a:p>
            <a:pPr>
              <a:lnSpc>
                <a:spcPts val="2480"/>
              </a:lnSpc>
              <a:spcBef>
                <a:spcPts val="0"/>
              </a:spcBef>
              <a:spcAft>
                <a:spcPts val="0"/>
              </a:spcAft>
              <a:defRPr sz="2000" b="0">
                <a:solidFill>
                  <a:srgbClr val="193540"/>
                </a:solidFill>
                <a:latin typeface="DejaVu Sans"/>
              </a:defRPr>
            </a:pPr>
            <a:r>
              <a:t>egenskaper hos en motsvarande producerad mängd, inte en spårbar hög</a:t>
            </a:r>
          </a:p>
          <a:p>
            <a:pPr>
              <a:lnSpc>
                <a:spcPts val="2480"/>
              </a:lnSpc>
              <a:spcBef>
                <a:spcPts val="0"/>
              </a:spcBef>
              <a:spcAft>
                <a:spcPts val="0"/>
              </a:spcAft>
              <a:defRPr sz="2000" b="0">
                <a:solidFill>
                  <a:srgbClr val="193540"/>
                </a:solidFill>
                <a:latin typeface="DejaVu Sans"/>
              </a:defRPr>
            </a:pPr>
            <a:r>
              <a:t>elektroner i uttaget. Fossilfri och förnybar är olika begrepp.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Fyra kostnadsdelar som behöver hållas isär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Elhandel kan omfatta energi, avtalade inköpskostnader, påslag och fasta</a:t>
            </a:r>
          </a:p>
          <a:p>
            <a:pPr>
              <a:lnSpc>
                <a:spcPts val="2480"/>
              </a:lnSpc>
              <a:spcBef>
                <a:spcPts val="0"/>
              </a:spcBef>
              <a:spcAft>
                <a:spcPts val="0"/>
              </a:spcAft>
              <a:defRPr sz="2000" b="0">
                <a:solidFill>
                  <a:srgbClr val="193540"/>
                </a:solidFill>
                <a:latin typeface="DejaVu Sans"/>
              </a:defRPr>
            </a:pPr>
            <a:r>
              <a:t>avgifter. Elnät kan omfatta abonnemang, överföring och i vissa tariffer effekt.</a:t>
            </a:r>
          </a:p>
          <a:p>
            <a:pPr>
              <a:lnSpc>
                <a:spcPts val="2480"/>
              </a:lnSpc>
              <a:spcBef>
                <a:spcPts val="0"/>
              </a:spcBef>
              <a:spcAft>
                <a:spcPts val="0"/>
              </a:spcAft>
              <a:defRPr sz="2000" b="0">
                <a:solidFill>
                  <a:srgbClr val="193540"/>
                </a:solidFill>
                <a:latin typeface="DejaVu Sans"/>
              </a:defRPr>
            </a:pPr>
            <a:r>
              <a:t>Energiskatt är en separat skattedel och tas normalt ut via nätföretaget.</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 elhandel låser inte automatiskt nät, skatt eller moms. Använd aktuella</a:t>
            </a:r>
          </a:p>
          <a:p>
            <a:pPr>
              <a:lnSpc>
                <a:spcPts val="2480"/>
              </a:lnSpc>
              <a:spcBef>
                <a:spcPts val="0"/>
              </a:spcBef>
              <a:spcAft>
                <a:spcPts val="0"/>
              </a:spcAft>
              <a:defRPr sz="2000" b="0">
                <a:solidFill>
                  <a:srgbClr val="193540"/>
                </a:solidFill>
                <a:latin typeface="DejaVu Sans"/>
              </a:defRPr>
            </a:pPr>
            <a:r>
              <a:t>skatteunderlag: verksamhet och undantag kan påverka. Ange jämförelsens</a:t>
            </a:r>
          </a:p>
          <a:p>
            <a:pPr>
              <a:lnSpc>
                <a:spcPts val="2480"/>
              </a:lnSpc>
              <a:spcBef>
                <a:spcPts val="0"/>
              </a:spcBef>
              <a:spcAft>
                <a:spcPts val="0"/>
              </a:spcAft>
              <a:defRPr sz="2000" b="0">
                <a:solidFill>
                  <a:srgbClr val="193540"/>
                </a:solidFill>
                <a:latin typeface="DejaVu Sans"/>
              </a:defRPr>
            </a:pPr>
            <a:r>
              <a:t>momsgrund och anta inte samma avdragsrätt för alla företag eller föreningar.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Läs prisraderna innan du summerar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faktura kan ha separata rader för energi, inköpskostnader och påslag, men</a:t>
            </a:r>
          </a:p>
          <a:p>
            <a:pPr>
              <a:lnSpc>
                <a:spcPts val="2480"/>
              </a:lnSpc>
              <a:spcBef>
                <a:spcPts val="0"/>
              </a:spcBef>
              <a:spcAft>
                <a:spcPts val="0"/>
              </a:spcAft>
              <a:defRPr sz="2000" b="0">
                <a:solidFill>
                  <a:srgbClr val="193540"/>
                </a:solidFill>
                <a:latin typeface="DejaVu Sans"/>
              </a:defRPr>
            </a:pPr>
            <a:r>
              <a:t>samma delar kan också vara samlade i ett kWh-pris. Fråga vad raden</a:t>
            </a:r>
          </a:p>
          <a:p>
            <a:pPr>
              <a:lnSpc>
                <a:spcPts val="2480"/>
              </a:lnSpc>
              <a:spcBef>
                <a:spcPts val="0"/>
              </a:spcBef>
              <a:spcAft>
                <a:spcPts val="0"/>
              </a:spcAft>
              <a:defRPr sz="2000" b="0">
                <a:solidFill>
                  <a:srgbClr val="193540"/>
                </a:solidFill>
                <a:latin typeface="DejaVu Sans"/>
              </a:defRPr>
            </a:pPr>
            <a:r>
              <a:t>innehåller.</a:t>
            </a:r>
          </a:p>
        </p:txBody>
      </p:sp>
      <p:sp>
        <p:nvSpPr>
          <p:cNvPr id="7" name="TextBox 6"/>
          <p:cNvSpPr txBox="1"/>
          <p:nvPr/>
        </p:nvSpPr>
        <p:spPr>
          <a:xfrm>
            <a:off x="603504" y="320802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 avgift påverkar det effektiva priset per kWh. Beräkna först hela</a:t>
            </a:r>
          </a:p>
          <a:p>
            <a:pPr>
              <a:lnSpc>
                <a:spcPts val="2480"/>
              </a:lnSpc>
              <a:spcBef>
                <a:spcPts val="0"/>
              </a:spcBef>
              <a:spcAft>
                <a:spcPts val="0"/>
              </a:spcAft>
              <a:defRPr sz="2000" b="0">
                <a:solidFill>
                  <a:srgbClr val="193540"/>
                </a:solidFill>
                <a:latin typeface="DejaVu Sans"/>
              </a:defRPr>
            </a:pPr>
            <a:r>
              <a:t>jämförbara elhandelsbeloppet och dela sedan med samma periods kWh. En</a:t>
            </a:r>
          </a:p>
          <a:p>
            <a:pPr>
              <a:lnSpc>
                <a:spcPts val="2480"/>
              </a:lnSpc>
              <a:spcBef>
                <a:spcPts val="0"/>
              </a:spcBef>
              <a:spcAft>
                <a:spcPts val="0"/>
              </a:spcAft>
              <a:defRPr sz="2000" b="0">
                <a:solidFill>
                  <a:srgbClr val="193540"/>
                </a:solidFill>
                <a:latin typeface="DejaVu Sans"/>
              </a:defRPr>
            </a:pPr>
            <a:r>
              <a:t>avgift på 100 kr blir 2 öre/kWh vid 5 000 kWh, men 10 öre/kWh vid</a:t>
            </a:r>
          </a:p>
          <a:p>
            <a:pPr>
              <a:lnSpc>
                <a:spcPts val="2480"/>
              </a:lnSpc>
              <a:spcBef>
                <a:spcPts val="0"/>
              </a:spcBef>
              <a:spcAft>
                <a:spcPts val="0"/>
              </a:spcAft>
              <a:defRPr sz="2000" b="0">
                <a:solidFill>
                  <a:srgbClr val="193540"/>
                </a:solidFill>
                <a:latin typeface="DejaVu Sans"/>
              </a:defRPr>
            </a:pPr>
            <a:r>
              <a:t>1 000 kWh.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besparingen med rätt nämnare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10 procent lägre elhandel är inte automatiskt 10 procent lägre total elkostnad.</a:t>
            </a:r>
          </a:p>
          <a:p>
            <a:pPr>
              <a:lnSpc>
                <a:spcPts val="2480"/>
              </a:lnSpc>
              <a:spcBef>
                <a:spcPts val="0"/>
              </a:spcBef>
              <a:spcAft>
                <a:spcPts val="0"/>
              </a:spcAft>
              <a:defRPr sz="2000" b="0">
                <a:solidFill>
                  <a:srgbClr val="193540"/>
                </a:solidFill>
                <a:latin typeface="DejaVu Sans"/>
              </a:defRPr>
            </a:pPr>
            <a:r>
              <a:t>Nät och skatt kan vara oförändrade och användningen ändras. Ange påverkad</a:t>
            </a:r>
          </a:p>
          <a:p>
            <a:pPr>
              <a:lnSpc>
                <a:spcPts val="2480"/>
              </a:lnSpc>
              <a:spcBef>
                <a:spcPts val="0"/>
              </a:spcBef>
              <a:spcAft>
                <a:spcPts val="0"/>
              </a:spcAft>
              <a:defRPr sz="2000" b="0">
                <a:solidFill>
                  <a:srgbClr val="193540"/>
                </a:solidFill>
                <a:latin typeface="DejaVu Sans"/>
              </a:defRPr>
            </a:pPr>
            <a:r>
              <a:t>del, period och antaganden.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En elhandelsfaktura rad för rad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månadsberäkning exklusive elnät, energiskatt och moms. Tal är</a:t>
            </a:r>
          </a:p>
          <a:p>
            <a:pPr>
              <a:lnSpc>
                <a:spcPts val="2480"/>
              </a:lnSpc>
              <a:spcBef>
                <a:spcPts val="0"/>
              </a:spcBef>
              <a:spcAft>
                <a:spcPts val="0"/>
              </a:spcAft>
              <a:defRPr sz="2000" b="0">
                <a:solidFill>
                  <a:srgbClr val="193540"/>
                </a:solidFill>
                <a:latin typeface="DejaVu Sans"/>
              </a:defRPr>
            </a:pPr>
            <a:r>
              <a:t>undervisningsdata, inte Kraftringens prislista.</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Volym 10 000 kWh; energi 70 öre/kWh.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Övrig inköpsdel 4 öre/kWh; påslag 3 öre/kWh.</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Fast månadsavgift 50 kr.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En elhandelsfaktura rad för rad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Energi: 10 000 × 0,70 = 7 000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Inköpsdel: 10 000 × 0,04 = 400 kr. Påslag: 10 000 × 0,03 = 300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Summa: 7 000 + 400 + 300 + 50 = 7 750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Effektivt pris: 7 750 ÷ 10 000 = 0,775 kr/kWh = 77,5 öre/kWh.</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Elhandel 7 750 kr; effektivt elhandelspris 77,5 öre/kWh.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Lägre elhandel är inte samma procent på hela</a:t>
            </a:r>
          </a:p>
          <a:p>
            <a:pPr>
              <a:lnSpc>
                <a:spcPts val="3472"/>
              </a:lnSpc>
              <a:spcBef>
                <a:spcPts val="0"/>
              </a:spcBef>
              <a:spcAft>
                <a:spcPts val="0"/>
              </a:spcAft>
              <a:defRPr sz="2800" b="1">
                <a:solidFill>
                  <a:srgbClr val="193540"/>
                </a:solidFill>
                <a:latin typeface="DejaVu Sans"/>
              </a:defRPr>
            </a:pPr>
            <a:r>
              <a:t>kostnaden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jämförelse före moms. Nät- och skattebeloppen är givna, påhittade</a:t>
            </a:r>
          </a:p>
          <a:p>
            <a:pPr>
              <a:lnSpc>
                <a:spcPts val="2480"/>
              </a:lnSpc>
              <a:spcBef>
                <a:spcPts val="0"/>
              </a:spcBef>
              <a:spcAft>
                <a:spcPts val="0"/>
              </a:spcAft>
              <a:defRPr sz="2000" b="0">
                <a:solidFill>
                  <a:srgbClr val="193540"/>
                </a:solidFill>
                <a:latin typeface="DejaVu Sans"/>
              </a:defRPr>
            </a:pPr>
            <a:r>
              <a:t>belopp utan antagen aktuell tariff eller skattesats. Oförändrad volym och</a:t>
            </a:r>
          </a:p>
          <a:p>
            <a:pPr>
              <a:lnSpc>
                <a:spcPts val="2480"/>
              </a:lnSpc>
              <a:spcBef>
                <a:spcPts val="0"/>
              </a:spcBef>
              <a:spcAft>
                <a:spcPts val="0"/>
              </a:spcAft>
              <a:defRPr sz="2000" b="0">
                <a:solidFill>
                  <a:srgbClr val="193540"/>
                </a:solidFill>
                <a:latin typeface="DejaVu Sans"/>
              </a:defRPr>
            </a:pPr>
            <a:r>
              <a:t>period.</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Elhandel 6 000 kr, nät 3 000 kr och energiskatt 1 000 kr.</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Ny jämförbar elhandel 5 400 kr. Övriga två delar är oförändrade.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Lägre elhandel är inte samma procent på</a:t>
            </a:r>
          </a:p>
          <a:p>
            <a:pPr>
              <a:lnSpc>
                <a:spcPts val="3472"/>
              </a:lnSpc>
              <a:spcBef>
                <a:spcPts val="0"/>
              </a:spcBef>
              <a:spcAft>
                <a:spcPts val="0"/>
              </a:spcAft>
              <a:defRPr sz="2800" b="1">
                <a:solidFill>
                  <a:srgbClr val="193540"/>
                </a:solidFill>
                <a:latin typeface="DejaVu Sans"/>
              </a:defRPr>
            </a:pPr>
            <a:r>
              <a:t>hela kostnaden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Tidigare jämförd summa: 6 000 + 3 000 + 1 000 = 10 000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Ny summa: 5 400 + 3 000 + 1 000 = 9 400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Skillnad: 600 kr. Elhandelsdelen minskar 600 ÷ 6 000 = 10 procent.</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Hela den jämförda summan minskar 600 ÷ 10 000 = 6 procent.</a:t>
            </a:r>
          </a:p>
        </p:txBody>
      </p:sp>
      <p:sp>
        <p:nvSpPr>
          <p:cNvPr id="10" name="TextBox 9"/>
          <p:cNvSpPr txBox="1"/>
          <p:nvPr/>
        </p:nvSpPr>
        <p:spPr>
          <a:xfrm>
            <a:off x="603504" y="38658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600 kr lägre jämförd kostnad: 10 procent av elhandeln men 6</a:t>
            </a:r>
          </a:p>
          <a:p>
            <a:pPr>
              <a:lnSpc>
                <a:spcPts val="2480"/>
              </a:lnSpc>
              <a:spcBef>
                <a:spcPts val="0"/>
              </a:spcBef>
              <a:spcAft>
                <a:spcPts val="0"/>
              </a:spcAft>
              <a:defRPr sz="2000" b="0">
                <a:solidFill>
                  <a:srgbClr val="193540"/>
                </a:solidFill>
                <a:latin typeface="DejaVu Sans"/>
              </a:defRPr>
            </a:pPr>
            <a:r>
              <a:t>procent av summan före moms.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När vi byter elavtal byter vi elnät.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Elhandlare och nätföretag har olika roller. Nätföretaget följer</a:t>
            </a:r>
          </a:p>
          <a:p>
            <a:pPr>
              <a:lnSpc>
                <a:spcPts val="2480"/>
              </a:lnSpc>
              <a:spcBef>
                <a:spcPts val="0"/>
              </a:spcBef>
              <a:spcAft>
                <a:spcPts val="0"/>
              </a:spcAft>
              <a:defRPr sz="2000" b="0">
                <a:solidFill>
                  <a:srgbClr val="193540"/>
                </a:solidFill>
                <a:latin typeface="DejaVu Sans"/>
              </a:defRPr>
            </a:pPr>
            <a:r>
              <a:t>anläggningens plats.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Allt på elräkningen blir fast med fastpris.</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Det fasta elhandelsprisets uttryckliga omfattning ska läsas. Elnät,</a:t>
            </a:r>
          </a:p>
          <a:p>
            <a:pPr>
              <a:lnSpc>
                <a:spcPts val="2480"/>
              </a:lnSpc>
              <a:spcBef>
                <a:spcPts val="0"/>
              </a:spcBef>
              <a:spcAft>
                <a:spcPts val="0"/>
              </a:spcAft>
              <a:defRPr sz="2000" b="0">
                <a:solidFill>
                  <a:srgbClr val="193540"/>
                </a:solidFill>
                <a:latin typeface="DejaVu Sans"/>
              </a:defRPr>
            </a:pPr>
            <a:r>
              <a:t>skatt och moms säkras inte av elhandelsavtalet.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Lägst påslag ger alltid lägst kundkostnad.</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Jämför samma prisdelar, period och volym inklusive fasta avgifter.</a:t>
            </a:r>
          </a:p>
          <a:p>
            <a:pPr>
              <a:lnSpc>
                <a:spcPts val="2480"/>
              </a:lnSpc>
              <a:spcBef>
                <a:spcPts val="0"/>
              </a:spcBef>
              <a:spcAft>
                <a:spcPts val="0"/>
              </a:spcAft>
              <a:defRPr sz="2000" b="0">
                <a:solidFill>
                  <a:srgbClr val="193540"/>
                </a:solidFill>
                <a:latin typeface="DejaVu Sans"/>
              </a:defRPr>
            </a:pPr>
            <a:r>
              <a:t>Ett lågt påslag kan kombineras med andra kostnader.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Ni betalar dels för elen enligt ert elhandelsavtal, dels för nätet som</a:t>
            </a:r>
          </a:p>
          <a:p>
            <a:pPr>
              <a:lnSpc>
                <a:spcPts val="2480"/>
              </a:lnSpc>
              <a:spcBef>
                <a:spcPts val="0"/>
              </a:spcBef>
              <a:spcAft>
                <a:spcPts val="0"/>
              </a:spcAft>
              <a:defRPr sz="2000" b="0">
                <a:solidFill>
                  <a:srgbClr val="193540"/>
                </a:solidFill>
                <a:latin typeface="DejaVu Sans"/>
              </a:defRPr>
            </a:pPr>
            <a:r>
              <a:t>transporterar den. Skatt och moms är ytterligare delar. Vi kan jämföra och</a:t>
            </a:r>
          </a:p>
          <a:p>
            <a:pPr>
              <a:lnSpc>
                <a:spcPts val="2480"/>
              </a:lnSpc>
              <a:spcBef>
                <a:spcPts val="0"/>
              </a:spcBef>
              <a:spcAft>
                <a:spcPts val="0"/>
              </a:spcAft>
              <a:defRPr sz="2000" b="0">
                <a:solidFill>
                  <a:srgbClr val="193540"/>
                </a:solidFill>
                <a:latin typeface="DejaVu Sans"/>
              </a:defRPr>
            </a:pPr>
            <a:r>
              <a:t>förändra elhandelsavtalet, men ska visa nät och skatter separat så att ni</a:t>
            </a:r>
          </a:p>
          <a:p>
            <a:pPr>
              <a:lnSpc>
                <a:spcPts val="2480"/>
              </a:lnSpc>
              <a:spcBef>
                <a:spcPts val="0"/>
              </a:spcBef>
              <a:spcAft>
                <a:spcPts val="0"/>
              </a:spcAft>
              <a:defRPr sz="2000" b="0">
                <a:solidFill>
                  <a:srgbClr val="193540"/>
                </a:solidFill>
                <a:latin typeface="DejaVu Sans"/>
              </a:defRPr>
            </a:pPr>
            <a:r>
              <a:t>förstår hela kostnaden.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Kunden vill ha en enda begriplig totalsiffra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Den fiktiva kunden Trädgården har 1 000 kWh en månad. En jämförbar</a:t>
            </a:r>
          </a:p>
          <a:p>
            <a:pPr>
              <a:lnSpc>
                <a:spcPts val="2480"/>
              </a:lnSpc>
              <a:spcBef>
                <a:spcPts val="0"/>
              </a:spcBef>
              <a:spcAft>
                <a:spcPts val="0"/>
              </a:spcAft>
              <a:defRPr sz="2000" b="0">
                <a:solidFill>
                  <a:srgbClr val="193540"/>
                </a:solidFill>
                <a:latin typeface="DejaVu Sans"/>
              </a:defRPr>
            </a:pPr>
            <a:r>
              <a:t>elhandelsmodell anger 93 öre/kWh och 100 kr fast avgift före moms. Kunden</a:t>
            </a:r>
          </a:p>
          <a:p>
            <a:pPr>
              <a:lnSpc>
                <a:spcPts val="2480"/>
              </a:lnSpc>
              <a:spcBef>
                <a:spcPts val="0"/>
              </a:spcBef>
              <a:spcAft>
                <a:spcPts val="0"/>
              </a:spcAft>
              <a:defRPr sz="2000" b="0">
                <a:solidFill>
                  <a:srgbClr val="193540"/>
                </a:solidFill>
                <a:latin typeface="DejaVu Sans"/>
              </a:defRPr>
            </a:pPr>
            <a:r>
              <a:t>visar samtidigt separata givna belopp: nät 500 kr och energiskatt 400 kr.</a:t>
            </a:r>
          </a:p>
          <a:p>
            <a:pPr>
              <a:lnSpc>
                <a:spcPts val="2480"/>
              </a:lnSpc>
              <a:spcBef>
                <a:spcPts val="0"/>
              </a:spcBef>
              <a:spcAft>
                <a:spcPts val="0"/>
              </a:spcAft>
              <a:defRPr sz="2000" b="0">
                <a:solidFill>
                  <a:srgbClr val="193540"/>
                </a:solidFill>
                <a:latin typeface="DejaVu Sans"/>
              </a:defRPr>
            </a:pPr>
            <a:r>
              <a:t>Kunden säger: '93 öre är ju totalpriset, och om jag byter till er slipper jag väl</a:t>
            </a:r>
          </a:p>
          <a:p>
            <a:pPr>
              <a:lnSpc>
                <a:spcPts val="2480"/>
              </a:lnSpc>
              <a:spcBef>
                <a:spcPts val="0"/>
              </a:spcBef>
              <a:spcAft>
                <a:spcPts val="0"/>
              </a:spcAft>
              <a:defRPr sz="2000" b="0">
                <a:solidFill>
                  <a:srgbClr val="193540"/>
                </a:solidFill>
                <a:latin typeface="DejaVu Sans"/>
              </a:defRPr>
            </a:pPr>
            <a:r>
              <a:t>nätavgiften?'</a:t>
            </a:r>
          </a:p>
        </p:txBody>
      </p:sp>
      <p:sp>
        <p:nvSpPr>
          <p:cNvPr id="7" name="TextBox 6"/>
          <p:cNvSpPr txBox="1"/>
          <p:nvPr/>
        </p:nvSpPr>
        <p:spPr>
          <a:xfrm>
            <a:off x="603504" y="38379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elhandelsbelopp och effektivt elhandelspris.</a:t>
            </a:r>
          </a:p>
        </p:txBody>
      </p:sp>
      <p:sp>
        <p:nvSpPr>
          <p:cNvPr id="8" name="TextBox 7"/>
          <p:cNvSpPr txBox="1"/>
          <p:nvPr/>
        </p:nvSpPr>
        <p:spPr>
          <a:xfrm>
            <a:off x="603504" y="42672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summan av de tre givna kostnadsdelarna före moms.</a:t>
            </a:r>
          </a:p>
        </p:txBody>
      </p:sp>
      <p:sp>
        <p:nvSpPr>
          <p:cNvPr id="9" name="TextBox 8"/>
          <p:cNvSpPr txBox="1"/>
          <p:nvPr/>
        </p:nvSpPr>
        <p:spPr>
          <a:xfrm>
            <a:off x="603504" y="46964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Korrigera båda missförstånden på kundens språk.</a:t>
            </a:r>
          </a:p>
        </p:txBody>
      </p:sp>
      <p:sp>
        <p:nvSpPr>
          <p:cNvPr id="10" name="TextBox 9"/>
          <p:cNvSpPr txBox="1"/>
          <p:nvPr/>
        </p:nvSpPr>
        <p:spPr>
          <a:xfrm>
            <a:off x="603504" y="51257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 vilka underlag som behövs innan beloppet kan beskrivas som slutligt</a:t>
            </a:r>
          </a:p>
          <a:p>
            <a:pPr>
              <a:lnSpc>
                <a:spcPts val="2480"/>
              </a:lnSpc>
              <a:spcBef>
                <a:spcPts val="0"/>
              </a:spcBef>
              <a:spcAft>
                <a:spcPts val="0"/>
              </a:spcAft>
              <a:defRPr sz="2000" b="0">
                <a:solidFill>
                  <a:srgbClr val="193540"/>
                </a:solidFill>
                <a:latin typeface="DejaVu Sans"/>
              </a:defRPr>
            </a:pPr>
            <a:r>
              <a:t>att betala.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1 030 kr och 103 öre/kWh beräknas korrekt.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1 930 kr beskrivs som summa före moms, inte slutlig faktura.</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Rollerna för elhandel och nät skiljs utan att lova bort nätkostnaden.</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Svaret ber om faktiska prisrader och momshantering och undviker</a:t>
            </a:r>
          </a:p>
          <a:p>
            <a:pPr>
              <a:lnSpc>
                <a:spcPts val="2480"/>
              </a:lnSpc>
              <a:spcBef>
                <a:spcPts val="0"/>
              </a:spcBef>
              <a:spcAft>
                <a:spcPts val="0"/>
              </a:spcAft>
              <a:defRPr sz="2000" b="0">
                <a:solidFill>
                  <a:srgbClr val="193540"/>
                </a:solidFill>
                <a:latin typeface="DejaVu Sans"/>
              </a:defRPr>
            </a:pPr>
            <a:r>
              <a:t>dubbelräkning.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Vilket påstående är korrekt när kunden byter elhandlare?</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Elhandelsavtalet ändras, medan det lokala nätföretaget följer</a:t>
            </a:r>
          </a:p>
          <a:p>
            <a:pPr>
              <a:lnSpc>
                <a:spcPts val="2480"/>
              </a:lnSpc>
              <a:spcBef>
                <a:spcPts val="0"/>
              </a:spcBef>
              <a:spcAft>
                <a:spcPts val="0"/>
              </a:spcAft>
              <a:defRPr sz="2000" b="0">
                <a:solidFill>
                  <a:srgbClr val="193540"/>
                </a:solidFill>
                <a:latin typeface="DejaVu Sans"/>
              </a:defRPr>
            </a:pPr>
            <a:r>
              <a:t>anläggningens läge.</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Kunden får automatiskt ett annat nätföretag.</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Energiskatt och nätavgift försvinner.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5 000 kWh kostar 93 öre/kWh plus 100 kr fast avgift. Hur många kronor blir</a:t>
            </a:r>
          </a:p>
          <a:p>
            <a:pPr>
              <a:lnSpc>
                <a:spcPts val="2480"/>
              </a:lnSpc>
              <a:spcBef>
                <a:spcPts val="0"/>
              </a:spcBef>
              <a:spcAft>
                <a:spcPts val="0"/>
              </a:spcAft>
              <a:defRPr sz="2000" b="0">
                <a:solidFill>
                  <a:srgbClr val="193540"/>
                </a:solidFill>
                <a:latin typeface="DejaVu Sans"/>
              </a:defRPr>
            </a:pPr>
            <a:r>
              <a:t>elhandeln före övriga delar?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Vilket effektivt elhandelspris i öre/kWh ger 4 750 kr på 5 000 kWh?</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frågar om 10 procent lägre elhandelspris ger 10 procent lägre total</a:t>
            </a:r>
          </a:p>
          <a:p>
            <a:pPr>
              <a:lnSpc>
                <a:spcPts val="2480"/>
              </a:lnSpc>
              <a:spcBef>
                <a:spcPts val="0"/>
              </a:spcBef>
              <a:spcAft>
                <a:spcPts val="0"/>
              </a:spcAft>
              <a:defRPr sz="2000" b="0">
                <a:solidFill>
                  <a:srgbClr val="193540"/>
                </a:solidFill>
                <a:latin typeface="DejaVu Sans"/>
              </a:defRPr>
            </a:pPr>
            <a:r>
              <a:t>elkostnad. Hur svarar du?</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02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Elhandlare, nätföretag och producent har olika uppgifter.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Ett leverantörsbyte ändrar normalt inte nätanslutningen.</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 elhandel, nät, energiskatt och moms var för sig.</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fasta avgifter i det effektiva priset per kWh.</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Använd rätt prisomfattning och räkna ingen komponent två gånger.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03 · Gemensam grund</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Så fungerar elmarknaden och spotpriset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44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varför utbud, efterfrågan och överföringskapacitet påverkar priset.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Identifiera ett spotpris med rätt elområde, leveransintervall och omfattning.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spotpris från terminspris och färdigt kundpris.</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Beskriva negativa priser utan att lova negativ total elkostnad.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El måste balansera när den används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Tillförd och uttagen effekt måste balansera i varje ögonblick. Produktion,</a:t>
            </a:r>
          </a:p>
          <a:p>
            <a:pPr>
              <a:lnSpc>
                <a:spcPts val="2480"/>
              </a:lnSpc>
              <a:spcBef>
                <a:spcPts val="0"/>
              </a:spcBef>
              <a:spcAft>
                <a:spcPts val="0"/>
              </a:spcAft>
              <a:defRPr sz="2000" b="0">
                <a:solidFill>
                  <a:srgbClr val="193540"/>
                </a:solidFill>
                <a:latin typeface="DejaVu Sans"/>
              </a:defRPr>
            </a:pPr>
            <a:r>
              <a:t>import och urladdning av lager kan bidra till tillförseln. Hushåll, verksamheter,</a:t>
            </a:r>
          </a:p>
          <a:p>
            <a:pPr>
              <a:lnSpc>
                <a:spcPts val="2480"/>
              </a:lnSpc>
              <a:spcBef>
                <a:spcPts val="0"/>
              </a:spcBef>
              <a:spcAft>
                <a:spcPts val="0"/>
              </a:spcAft>
              <a:defRPr sz="2000" b="0">
                <a:solidFill>
                  <a:srgbClr val="193540"/>
                </a:solidFill>
                <a:latin typeface="DejaVu Sans"/>
              </a:defRPr>
            </a:pPr>
            <a:r>
              <a:t>nätförluster och laddning av lager står på användningssidan.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Kyla kan öka efterfrågan. Vind, sol, vattenläge och driftstopp påverkar</a:t>
            </a:r>
          </a:p>
          <a:p>
            <a:pPr>
              <a:lnSpc>
                <a:spcPts val="2480"/>
              </a:lnSpc>
              <a:spcBef>
                <a:spcPts val="0"/>
              </a:spcBef>
              <a:spcAft>
                <a:spcPts val="0"/>
              </a:spcAft>
              <a:defRPr sz="2000" b="0">
                <a:solidFill>
                  <a:srgbClr val="193540"/>
                </a:solidFill>
                <a:latin typeface="DejaVu Sans"/>
              </a:defRPr>
            </a:pPr>
            <a:r>
              <a:t>tillgängligt utbud. Överföring mellan områden och förbindelser till andra</a:t>
            </a:r>
          </a:p>
          <a:p>
            <a:pPr>
              <a:lnSpc>
                <a:spcPts val="2480"/>
              </a:lnSpc>
              <a:spcBef>
                <a:spcPts val="0"/>
              </a:spcBef>
              <a:spcAft>
                <a:spcPts val="0"/>
              </a:spcAft>
              <a:defRPr sz="2000" b="0">
                <a:solidFill>
                  <a:srgbClr val="193540"/>
                </a:solidFill>
                <a:latin typeface="DejaVu Sans"/>
              </a:defRPr>
            </a:pPr>
            <a:r>
              <a:t>marknader spelar också roll.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Spotpriset behöver en adress och en tid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Med spotpris avses här dagen före-marknadens pris i ett elområde för ett</a:t>
            </a:r>
          </a:p>
          <a:p>
            <a:pPr>
              <a:lnSpc>
                <a:spcPts val="2480"/>
              </a:lnSpc>
              <a:spcBef>
                <a:spcPts val="0"/>
              </a:spcBef>
              <a:spcAft>
                <a:spcPts val="0"/>
              </a:spcAft>
              <a:defRPr sz="2000" b="0">
                <a:solidFill>
                  <a:srgbClr val="193540"/>
                </a:solidFill>
                <a:latin typeface="DejaVu Sans"/>
              </a:defRPr>
            </a:pPr>
            <a:r>
              <a:t>leveransintervall. Köp- och säljbud möts för nästa dygn genom</a:t>
            </a:r>
          </a:p>
          <a:p>
            <a:pPr>
              <a:lnSpc>
                <a:spcPts val="2480"/>
              </a:lnSpc>
              <a:spcBef>
                <a:spcPts val="0"/>
              </a:spcBef>
              <a:spcAft>
                <a:spcPts val="0"/>
              </a:spcAft>
              <a:defRPr sz="2000" b="0">
                <a:solidFill>
                  <a:srgbClr val="193540"/>
                </a:solidFill>
                <a:latin typeface="DejaVu Sans"/>
              </a:defRPr>
            </a:pPr>
            <a:r>
              <a:t>marknadskopplingen. Svenska dagen före-priser är kvartspriser.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Fråga: vilket elområde, vilken leveranstid och vilken prisdefinition? Ett</a:t>
            </a:r>
          </a:p>
          <a:p>
            <a:pPr>
              <a:lnSpc>
                <a:spcPts val="2480"/>
              </a:lnSpc>
              <a:spcBef>
                <a:spcPts val="0"/>
              </a:spcBef>
              <a:spcAft>
                <a:spcPts val="0"/>
              </a:spcAft>
              <a:defRPr sz="2000" b="0">
                <a:solidFill>
                  <a:srgbClr val="193540"/>
                </a:solidFill>
                <a:latin typeface="DejaVu Sans"/>
              </a:defRPr>
            </a:pPr>
            <a:r>
              <a:t>områdespris på 50 öre är inte automatiskt kundens färdiga pris.</a:t>
            </a:r>
          </a:p>
          <a:p>
            <a:pPr>
              <a:lnSpc>
                <a:spcPts val="2480"/>
              </a:lnSpc>
              <a:spcBef>
                <a:spcPts val="0"/>
              </a:spcBef>
              <a:spcAft>
                <a:spcPts val="0"/>
              </a:spcAft>
              <a:defRPr sz="2000" b="0">
                <a:solidFill>
                  <a:srgbClr val="193540"/>
                </a:solidFill>
                <a:latin typeface="DejaVu Sans"/>
              </a:defRPr>
            </a:pPr>
            <a:r>
              <a:t>Förbrukningsvägning, påslag och andra avtalade delar kan behöva räknas 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Varför SE1, SE2, SE3 och SE4 kan skilja sig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Sverige är indelat i fyra elområden: SE1, SE2, SE3 och SE4. Vanliga</a:t>
            </a:r>
          </a:p>
          <a:p>
            <a:pPr>
              <a:lnSpc>
                <a:spcPts val="2480"/>
              </a:lnSpc>
              <a:spcBef>
                <a:spcPts val="0"/>
              </a:spcBef>
              <a:spcAft>
                <a:spcPts val="0"/>
              </a:spcAft>
              <a:defRPr sz="2000" b="0">
                <a:solidFill>
                  <a:srgbClr val="193540"/>
                </a:solidFill>
                <a:latin typeface="DejaVu Sans"/>
              </a:defRPr>
            </a:pPr>
            <a:r>
              <a:t>benämningar är Luleå, Sundsvall, Stockholm och Malmö, men områdena</a:t>
            </a:r>
          </a:p>
          <a:p>
            <a:pPr>
              <a:lnSpc>
                <a:spcPts val="2480"/>
              </a:lnSpc>
              <a:spcBef>
                <a:spcPts val="0"/>
              </a:spcBef>
              <a:spcAft>
                <a:spcPts val="0"/>
              </a:spcAft>
              <a:defRPr sz="2000" b="0">
                <a:solidFill>
                  <a:srgbClr val="193540"/>
                </a:solidFill>
                <a:latin typeface="DejaVu Sans"/>
              </a:defRPr>
            </a:pPr>
            <a:r>
              <a:t>omfattar mycket mer än städerna.</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Fastställ området för varje anläggning. Ett företag med huvudkontor i en stad</a:t>
            </a:r>
          </a:p>
          <a:p>
            <a:pPr>
              <a:lnSpc>
                <a:spcPts val="2480"/>
              </a:lnSpc>
              <a:spcBef>
                <a:spcPts val="0"/>
              </a:spcBef>
              <a:spcAft>
                <a:spcPts val="0"/>
              </a:spcAft>
              <a:defRPr sz="2000" b="0">
                <a:solidFill>
                  <a:srgbClr val="193540"/>
                </a:solidFill>
                <a:latin typeface="DejaVu Sans"/>
              </a:defRPr>
            </a:pPr>
            <a:r>
              <a:t>kan ha uttagspunkter i flera områden. Säljaren ska inte välja prisserie efter</a:t>
            </a:r>
          </a:p>
          <a:p>
            <a:pPr>
              <a:lnSpc>
                <a:spcPts val="2480"/>
              </a:lnSpc>
              <a:spcBef>
                <a:spcPts val="0"/>
              </a:spcBef>
              <a:spcAft>
                <a:spcPts val="0"/>
              </a:spcAft>
              <a:defRPr sz="2000" b="0">
                <a:solidFill>
                  <a:srgbClr val="193540"/>
                </a:solidFill>
                <a:latin typeface="DejaVu Sans"/>
              </a:defRPr>
            </a:pPr>
            <a:r>
              <a:t>fakturaadressen.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Bud som behövs påverkar priset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förenklad auktion kan ha billigare och dyrare säljbud. När efterfrågan</a:t>
            </a:r>
          </a:p>
          <a:p>
            <a:pPr>
              <a:lnSpc>
                <a:spcPts val="2480"/>
              </a:lnSpc>
              <a:spcBef>
                <a:spcPts val="0"/>
              </a:spcBef>
              <a:spcAft>
                <a:spcPts val="0"/>
              </a:spcAft>
              <a:defRPr sz="2000" b="0">
                <a:solidFill>
                  <a:srgbClr val="193540"/>
                </a:solidFill>
                <a:latin typeface="DejaVu Sans"/>
              </a:defRPr>
            </a:pPr>
            <a:r>
              <a:t>kräver att dyrare bud accepteras kan marginalen mellan accepterat utbud och</a:t>
            </a:r>
          </a:p>
          <a:p>
            <a:pPr>
              <a:lnSpc>
                <a:spcPts val="2480"/>
              </a:lnSpc>
              <a:spcBef>
                <a:spcPts val="0"/>
              </a:spcBef>
              <a:spcAft>
                <a:spcPts val="0"/>
              </a:spcAft>
              <a:defRPr sz="2000" b="0">
                <a:solidFill>
                  <a:srgbClr val="193540"/>
                </a:solidFill>
                <a:latin typeface="DejaVu Sans"/>
              </a:defRPr>
            </a:pPr>
            <a:r>
              <a:t>efterfrågan sätta priset för hela den accepterade volymen.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Bud och marknadsvillkor kan ibland ge ett negativt spotpris. Det innebär att</a:t>
            </a:r>
          </a:p>
          <a:p>
            <a:pPr>
              <a:lnSpc>
                <a:spcPts val="2480"/>
              </a:lnSpc>
              <a:spcBef>
                <a:spcPts val="0"/>
              </a:spcBef>
              <a:spcAft>
                <a:spcPts val="0"/>
              </a:spcAft>
              <a:defRPr sz="2000" b="0">
                <a:solidFill>
                  <a:srgbClr val="193540"/>
                </a:solidFill>
                <a:latin typeface="DejaVu Sans"/>
              </a:defRPr>
            </a:pPr>
            <a:r>
              <a:t>den aktuella marknadskomponenten ligger under noll. Andra</a:t>
            </a:r>
          </a:p>
          <a:p>
            <a:pPr>
              <a:lnSpc>
                <a:spcPts val="2480"/>
              </a:lnSpc>
              <a:spcBef>
                <a:spcPts val="0"/>
              </a:spcBef>
              <a:spcAft>
                <a:spcPts val="0"/>
              </a:spcAft>
              <a:defRPr sz="2000" b="0">
                <a:solidFill>
                  <a:srgbClr val="193540"/>
                </a:solidFill>
                <a:latin typeface="DejaVu Sans"/>
              </a:defRPr>
            </a:pPr>
            <a:r>
              <a:t>elhandelskostnader, nät och skatter kan ändå ge positiv total kostnad.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Handeln har flera tidshorisonter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Terminsmarknaden prissäkrar framtida referenser månader eller år före</a:t>
            </a:r>
          </a:p>
          <a:p>
            <a:pPr>
              <a:lnSpc>
                <a:spcPts val="2480"/>
              </a:lnSpc>
              <a:spcBef>
                <a:spcPts val="0"/>
              </a:spcBef>
              <a:spcAft>
                <a:spcPts val="0"/>
              </a:spcAft>
              <a:defRPr sz="2000" b="0">
                <a:solidFill>
                  <a:srgbClr val="193540"/>
                </a:solidFill>
                <a:latin typeface="DejaVu Sans"/>
              </a:defRPr>
            </a:pPr>
            <a:r>
              <a:t>leverans. Terminspris är ett handelspris, inte ett facit för framtida spot. Dagen</a:t>
            </a:r>
          </a:p>
          <a:p>
            <a:pPr>
              <a:lnSpc>
                <a:spcPts val="2480"/>
              </a:lnSpc>
              <a:spcBef>
                <a:spcPts val="0"/>
              </a:spcBef>
              <a:spcAft>
                <a:spcPts val="0"/>
              </a:spcAft>
              <a:defRPr sz="2000" b="0">
                <a:solidFill>
                  <a:srgbClr val="193540"/>
                </a:solidFill>
                <a:latin typeface="DejaVu Sans"/>
              </a:defRPr>
            </a:pPr>
            <a:r>
              <a:t>före planeras nära leverans och intradag justerar prognoser.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När det dyrare budet behövs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auktion för ett leveransintervall, utan nätbegränsningar eller</a:t>
            </a:r>
          </a:p>
          <a:p>
            <a:pPr>
              <a:lnSpc>
                <a:spcPts val="2480"/>
              </a:lnSpc>
              <a:spcBef>
                <a:spcPts val="0"/>
              </a:spcBef>
              <a:spcAft>
                <a:spcPts val="0"/>
              </a:spcAft>
              <a:defRPr sz="2000" b="0">
                <a:solidFill>
                  <a:srgbClr val="193540"/>
                </a:solidFill>
                <a:latin typeface="DejaVu Sans"/>
              </a:defRPr>
            </a:pPr>
            <a:r>
              <a:t>komplicerade budvillkor. Endast marknadspris; inga kundavgifter, nät, skatt</a:t>
            </a:r>
          </a:p>
          <a:p>
            <a:pPr>
              <a:lnSpc>
                <a:spcPts val="2480"/>
              </a:lnSpc>
              <a:spcBef>
                <a:spcPts val="0"/>
              </a:spcBef>
              <a:spcAft>
                <a:spcPts val="0"/>
              </a:spcAft>
              <a:defRPr sz="2000" b="0">
                <a:solidFill>
                  <a:srgbClr val="193540"/>
                </a:solidFill>
                <a:latin typeface="DejaVu Sans"/>
              </a:defRPr>
            </a:pPr>
            <a:r>
              <a:t>eller moms.</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Utbud: 80 MWh erbjuds till 20 öre/kWh och ytterligare 20 MWh till</a:t>
            </a:r>
          </a:p>
          <a:p>
            <a:pPr>
              <a:lnSpc>
                <a:spcPts val="2480"/>
              </a:lnSpc>
              <a:spcBef>
                <a:spcPts val="0"/>
              </a:spcBef>
              <a:spcAft>
                <a:spcPts val="0"/>
              </a:spcAft>
              <a:defRPr sz="2000" b="0">
                <a:solidFill>
                  <a:srgbClr val="193540"/>
                </a:solidFill>
                <a:latin typeface="DejaVu Sans"/>
              </a:defRPr>
            </a:pPr>
            <a:r>
              <a:t>70 öre/kWh.</a:t>
            </a:r>
          </a:p>
        </p:txBody>
      </p:sp>
      <p:sp>
        <p:nvSpPr>
          <p:cNvPr id="8" name="TextBox 7"/>
          <p:cNvSpPr txBox="1"/>
          <p:nvPr/>
        </p:nvSpPr>
        <p:spPr>
          <a:xfrm>
            <a:off x="603504" y="39522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Situation A: efterfrågan 100 MWh. Situation B: 70 MWh.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När det dyrare budet behövs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A behöver 80 + 20 = 100 MWh, alltså också det dyrare budet.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I den förenklade auktionen blir priset 70 öre/kWh för accepterad volym.</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B behöver bara 70 av de 80 billigare MWh. Det dyrare budet behövs inte.</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Priset blir då 20 öre/kWh i den förenklade modellen.</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70 respektive 20 öre/kWh i två skilda efterfrågesituationer.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Negativ spotkomponent med positiv jämförd</a:t>
            </a:r>
          </a:p>
          <a:p>
            <a:pPr>
              <a:lnSpc>
                <a:spcPts val="3472"/>
              </a:lnSpc>
              <a:spcBef>
                <a:spcPts val="0"/>
              </a:spcBef>
              <a:spcAft>
                <a:spcPts val="0"/>
              </a:spcAft>
              <a:defRPr sz="2800" b="1">
                <a:solidFill>
                  <a:srgbClr val="193540"/>
                </a:solidFill>
                <a:latin typeface="DejaVu Sans"/>
              </a:defRPr>
            </a:pPr>
            <a:r>
              <a:t>kostnad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kvartsexempel. Angiven spotdel plus en antagen samlad annan</a:t>
            </a:r>
          </a:p>
          <a:p>
            <a:pPr>
              <a:lnSpc>
                <a:spcPts val="2480"/>
              </a:lnSpc>
              <a:spcBef>
                <a:spcPts val="0"/>
              </a:spcBef>
              <a:spcAft>
                <a:spcPts val="0"/>
              </a:spcAft>
              <a:defRPr sz="2000" b="0">
                <a:solidFill>
                  <a:srgbClr val="193540"/>
                </a:solidFill>
                <a:latin typeface="DejaVu Sans"/>
              </a:defRPr>
            </a:pPr>
            <a:r>
              <a:t>elhandelsdel. Elnät, skatt och moms är utanför; ingen verklig tariff.</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Uppmätt energi 10 kWh. Spotpris −10 öre/kWh.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Antagen annan elhandelsdel +25 öre/kWh för samma energi.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Negativ spotkomponent med positiv</a:t>
            </a:r>
          </a:p>
          <a:p>
            <a:pPr>
              <a:lnSpc>
                <a:spcPts val="3472"/>
              </a:lnSpc>
              <a:spcBef>
                <a:spcPts val="0"/>
              </a:spcBef>
              <a:spcAft>
                <a:spcPts val="0"/>
              </a:spcAft>
              <a:defRPr sz="2800" b="1">
                <a:solidFill>
                  <a:srgbClr val="193540"/>
                </a:solidFill>
                <a:latin typeface="DejaVu Sans"/>
              </a:defRPr>
            </a:pPr>
            <a:r>
              <a:t>jämförd kostnad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Spotdel: 10 × (−0,10) = −1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Annan elhandelsdel: 10 × 0,25 = 2,50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Summa av dessa två delar: −1 + 2,50 = 1,50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Effektivt pris för jämförelsen: 1,50 ÷ 10 = 0,15 kr/kWh = 15 öre/kWh.</a:t>
            </a:r>
          </a:p>
        </p:txBody>
      </p:sp>
      <p:sp>
        <p:nvSpPr>
          <p:cNvPr id="10" name="TextBox 9"/>
          <p:cNvSpPr txBox="1"/>
          <p:nvPr/>
        </p:nvSpPr>
        <p:spPr>
          <a:xfrm>
            <a:off x="603504" y="38658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Spotdelen är −1 kr, men de två jämförda elhandelsdelarna kostar</a:t>
            </a:r>
          </a:p>
          <a:p>
            <a:pPr>
              <a:lnSpc>
                <a:spcPts val="2480"/>
              </a:lnSpc>
              <a:spcBef>
                <a:spcPts val="0"/>
              </a:spcBef>
              <a:spcAft>
                <a:spcPts val="0"/>
              </a:spcAft>
              <a:defRPr sz="2000" b="0">
                <a:solidFill>
                  <a:srgbClr val="193540"/>
                </a:solidFill>
                <a:latin typeface="DejaVu Sans"/>
              </a:defRPr>
            </a:pPr>
            <a:r>
              <a:t>+1,50 kr tillsammans.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Spotpriset är samma överallt i Sverige.</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Elområden kan ha olika priser samma kvart på grund av marknad</a:t>
            </a:r>
          </a:p>
          <a:p>
            <a:pPr>
              <a:lnSpc>
                <a:spcPts val="2480"/>
              </a:lnSpc>
              <a:spcBef>
                <a:spcPts val="0"/>
              </a:spcBef>
              <a:spcAft>
                <a:spcPts val="0"/>
              </a:spcAft>
              <a:defRPr sz="2000" b="0">
                <a:solidFill>
                  <a:srgbClr val="193540"/>
                </a:solidFill>
                <a:latin typeface="DejaVu Sans"/>
              </a:defRPr>
            </a:pPr>
            <a:r>
              <a:t>och överföringsbegränsningar.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Dagens höga spotpris visar vad nästa års fasta avtal kommer att kosta.</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Spot och termin avser olika leveransperioder och risker. En</a:t>
            </a:r>
          </a:p>
          <a:p>
            <a:pPr>
              <a:lnSpc>
                <a:spcPts val="2480"/>
              </a:lnSpc>
              <a:spcBef>
                <a:spcPts val="0"/>
              </a:spcBef>
              <a:spcAft>
                <a:spcPts val="0"/>
              </a:spcAft>
              <a:defRPr sz="2000" b="0">
                <a:solidFill>
                  <a:srgbClr val="193540"/>
                </a:solidFill>
                <a:latin typeface="DejaVu Sans"/>
              </a:defRPr>
            </a:pPr>
            <a:r>
              <a:t>notering är inte ett färdigt kundpris.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Negativt spotpris gör all användning lönsam.</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Andra prisdelar och tekniska konsekvenser finns kvar. Räkna</a:t>
            </a:r>
          </a:p>
          <a:p>
            <a:pPr>
              <a:lnSpc>
                <a:spcPts val="2480"/>
              </a:lnSpc>
              <a:spcBef>
                <a:spcPts val="0"/>
              </a:spcBef>
              <a:spcAft>
                <a:spcPts val="0"/>
              </a:spcAft>
              <a:defRPr sz="2000" b="0">
                <a:solidFill>
                  <a:srgbClr val="193540"/>
                </a:solidFill>
                <a:latin typeface="DejaVu Sans"/>
              </a:defRPr>
            </a:pPr>
            <a:r>
              <a:t>nyttan och hela relevanta kostnaden.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57</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Elpriset bestäms av hur mycket el marknaden behöver, vilket utbud som finns</a:t>
            </a:r>
          </a:p>
          <a:p>
            <a:pPr>
              <a:lnSpc>
                <a:spcPts val="2480"/>
              </a:lnSpc>
              <a:spcBef>
                <a:spcPts val="0"/>
              </a:spcBef>
              <a:spcAft>
                <a:spcPts val="0"/>
              </a:spcAft>
              <a:defRPr sz="2000" b="0">
                <a:solidFill>
                  <a:srgbClr val="193540"/>
                </a:solidFill>
                <a:latin typeface="DejaVu Sans"/>
              </a:defRPr>
            </a:pPr>
            <a:r>
              <a:t>och vad som kan överföras mellan områden. Priset gäller en viss kvart i ert</a:t>
            </a:r>
          </a:p>
          <a:p>
            <a:pPr>
              <a:lnSpc>
                <a:spcPts val="2480"/>
              </a:lnSpc>
              <a:spcBef>
                <a:spcPts val="0"/>
              </a:spcBef>
              <a:spcAft>
                <a:spcPts val="0"/>
              </a:spcAft>
              <a:defRPr sz="2000" b="0">
                <a:solidFill>
                  <a:srgbClr val="193540"/>
                </a:solidFill>
                <a:latin typeface="DejaVu Sans"/>
              </a:defRPr>
            </a:pPr>
            <a:r>
              <a:t>elområde. Er egen kostnad beror dessutom på när och hur mycket ni</a:t>
            </a:r>
          </a:p>
          <a:p>
            <a:pPr>
              <a:lnSpc>
                <a:spcPts val="2480"/>
              </a:lnSpc>
              <a:spcBef>
                <a:spcPts val="0"/>
              </a:spcBef>
              <a:spcAft>
                <a:spcPts val="0"/>
              </a:spcAft>
              <a:defRPr sz="2000" b="0">
                <a:solidFill>
                  <a:srgbClr val="193540"/>
                </a:solidFill>
                <a:latin typeface="DejaVu Sans"/>
              </a:defRPr>
            </a:pPr>
            <a:r>
              <a:t>använder samt vad som ingår i ert avtal.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Priset i tidningen passar inte alla anläggningar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58</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Det fiktiva bolaget Nord och Syd har ett huvudkontor i SE3 och två</a:t>
            </a:r>
          </a:p>
          <a:p>
            <a:pPr>
              <a:lnSpc>
                <a:spcPts val="2480"/>
              </a:lnSpc>
              <a:spcBef>
                <a:spcPts val="0"/>
              </a:spcBef>
              <a:spcAft>
                <a:spcPts val="0"/>
              </a:spcAft>
              <a:defRPr sz="2000" b="0">
                <a:solidFill>
                  <a:srgbClr val="193540"/>
                </a:solidFill>
                <a:latin typeface="DejaVu Sans"/>
              </a:defRPr>
            </a:pPr>
            <a:r>
              <a:t>anläggningar i SE2 respektive SE4. Ekonomiansvarig visar en rubrik om</a:t>
            </a:r>
          </a:p>
          <a:p>
            <a:pPr>
              <a:lnSpc>
                <a:spcPts val="2480"/>
              </a:lnSpc>
              <a:spcBef>
                <a:spcPts val="0"/>
              </a:spcBef>
              <a:spcAft>
                <a:spcPts val="0"/>
              </a:spcAft>
              <a:defRPr sz="2000" b="0">
                <a:solidFill>
                  <a:srgbClr val="193540"/>
                </a:solidFill>
                <a:latin typeface="DejaVu Sans"/>
              </a:defRPr>
            </a:pPr>
            <a:r>
              <a:t>negativa elpriser och vill få bekräftat att morgondagens totala elkostnad blir</a:t>
            </a:r>
          </a:p>
          <a:p>
            <a:pPr>
              <a:lnSpc>
                <a:spcPts val="2480"/>
              </a:lnSpc>
              <a:spcBef>
                <a:spcPts val="0"/>
              </a:spcBef>
              <a:spcAft>
                <a:spcPts val="0"/>
              </a:spcAft>
              <a:defRPr sz="2000" b="0">
                <a:solidFill>
                  <a:srgbClr val="193540"/>
                </a:solidFill>
                <a:latin typeface="DejaVu Sans"/>
              </a:defRPr>
            </a:pPr>
            <a:r>
              <a:t>negativ. Ingen har ännu hämtat anläggningarnas mätdata, exakta prisserie</a:t>
            </a:r>
          </a:p>
          <a:p>
            <a:pPr>
              <a:lnSpc>
                <a:spcPts val="2480"/>
              </a:lnSpc>
              <a:spcBef>
                <a:spcPts val="0"/>
              </a:spcBef>
              <a:spcAft>
                <a:spcPts val="0"/>
              </a:spcAft>
              <a:defRPr sz="2000" b="0">
                <a:solidFill>
                  <a:srgbClr val="193540"/>
                </a:solidFill>
                <a:latin typeface="DejaVu Sans"/>
              </a:defRPr>
            </a:pPr>
            <a:r>
              <a:t>eller avtalsrader.</a:t>
            </a:r>
          </a:p>
        </p:txBody>
      </p:sp>
      <p:sp>
        <p:nvSpPr>
          <p:cNvPr id="7" name="TextBox 6"/>
          <p:cNvSpPr txBox="1"/>
          <p:nvPr/>
        </p:nvSpPr>
        <p:spPr>
          <a:xfrm>
            <a:off x="603504" y="38379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vilka uppgifter som saknas för en användbar beräkning.</a:t>
            </a:r>
          </a:p>
        </p:txBody>
      </p:sp>
      <p:sp>
        <p:nvSpPr>
          <p:cNvPr id="8" name="TextBox 7"/>
          <p:cNvSpPr txBox="1"/>
          <p:nvPr/>
        </p:nvSpPr>
        <p:spPr>
          <a:xfrm>
            <a:off x="603504" y="42672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varför huvudkontorets adress inte väljer rätt prisserie.</a:t>
            </a:r>
          </a:p>
        </p:txBody>
      </p:sp>
      <p:sp>
        <p:nvSpPr>
          <p:cNvPr id="9" name="TextBox 8"/>
          <p:cNvSpPr txBox="1"/>
          <p:nvPr/>
        </p:nvSpPr>
        <p:spPr>
          <a:xfrm>
            <a:off x="603504" y="46964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 med lektionens negativa prisexempel hur marknadsdel och</a:t>
            </a:r>
          </a:p>
          <a:p>
            <a:pPr>
              <a:lnSpc>
                <a:spcPts val="2480"/>
              </a:lnSpc>
              <a:spcBef>
                <a:spcPts val="0"/>
              </a:spcBef>
              <a:spcAft>
                <a:spcPts val="0"/>
              </a:spcAft>
              <a:defRPr sz="2000" b="0">
                <a:solidFill>
                  <a:srgbClr val="193540"/>
                </a:solidFill>
                <a:latin typeface="DejaVu Sans"/>
              </a:defRPr>
            </a:pPr>
            <a:r>
              <a:t>kundkostnad kan skilja.</a:t>
            </a:r>
          </a:p>
        </p:txBody>
      </p:sp>
      <p:sp>
        <p:nvSpPr>
          <p:cNvPr id="10" name="TextBox 9"/>
          <p:cNvSpPr txBox="1"/>
          <p:nvPr/>
        </p:nvSpPr>
        <p:spPr>
          <a:xfrm>
            <a:off x="603504" y="54406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Formulera ett tydligt svar utan prisprognos eller besparingslöfte.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59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Begär rätt område per uttagspunkt, inte bara kundens adress.</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Anger intervall, energimängd och avtalets omfattning.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Visar att negativ spotdel inte bestämmer totalen.</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publicerat pris, antagen mängd och osäkert framtidsutfall.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Vilket prisbesked är mest användbart som underlag?</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El kostar 50 öre.</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En daterad spotnotering för angiven kvart och anläggningens elområde,</a:t>
            </a:r>
          </a:p>
          <a:p>
            <a:pPr>
              <a:lnSpc>
                <a:spcPts val="2480"/>
              </a:lnSpc>
              <a:spcBef>
                <a:spcPts val="0"/>
              </a:spcBef>
              <a:spcAft>
                <a:spcPts val="0"/>
              </a:spcAft>
              <a:defRPr sz="2000" b="0">
                <a:solidFill>
                  <a:srgbClr val="193540"/>
                </a:solidFill>
                <a:latin typeface="DejaVu Sans"/>
              </a:defRPr>
            </a:pPr>
            <a:r>
              <a:t>med klargjord omfattning.</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Dagens pris i huvudkontorets stad för alla anläggningar.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Hur många kvartar innehåller ett vanligt dygn med 24 timmar?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kvartar.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10 kWh köps med spotdel −10 öre/kWh och annan angiven del +25 öre/kWh.</a:t>
            </a:r>
          </a:p>
          <a:p>
            <a:pPr>
              <a:lnSpc>
                <a:spcPts val="2480"/>
              </a:lnSpc>
              <a:spcBef>
                <a:spcPts val="0"/>
              </a:spcBef>
              <a:spcAft>
                <a:spcPts val="0"/>
              </a:spcAft>
              <a:defRPr sz="2000" b="0">
                <a:solidFill>
                  <a:srgbClr val="193540"/>
                </a:solidFill>
                <a:latin typeface="DejaVu Sans"/>
              </a:defRPr>
            </a:pPr>
            <a:r>
              <a:t>Vad kostar just dessa två delar tillsammans?</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kund vill låsa nästa års pris enbart eftersom dagens spotpris är högt. Vilka</a:t>
            </a:r>
          </a:p>
          <a:p>
            <a:pPr>
              <a:lnSpc>
                <a:spcPts val="2480"/>
              </a:lnSpc>
              <a:spcBef>
                <a:spcPts val="0"/>
              </a:spcBef>
              <a:spcAft>
                <a:spcPts val="0"/>
              </a:spcAft>
              <a:defRPr sz="2000" b="0">
                <a:solidFill>
                  <a:srgbClr val="193540"/>
                </a:solidFill>
                <a:latin typeface="DejaVu Sans"/>
              </a:defRPr>
            </a:pPr>
            <a:r>
              <a:t>skillnader behöver du förklara?</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03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Spotpris kräver elområde, leveransintervall och prisdefinition.</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Ett vanligt dygn har 96 kvartar; energienheten är fortfarande kWh.</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Utbud, efterfrågan och överföring samverkar.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Terminspris är ett handelspris för framtiden, inte en säker prognos.</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Negativ marknadsdel betyder inte automatiskt negativ total elkostnad.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04 · Gemensam grund</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När elen används: kvart, dygn och månad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65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ett förbrukningsvägt pris från energi och pris för samma intervall.</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månadsprofil från dygnsprofil och förklara varför båda kan påverka</a:t>
            </a:r>
          </a:p>
          <a:p>
            <a:pPr>
              <a:lnSpc>
                <a:spcPts val="2480"/>
              </a:lnSpc>
              <a:spcBef>
                <a:spcPts val="0"/>
              </a:spcBef>
              <a:spcAft>
                <a:spcPts val="0"/>
              </a:spcAft>
              <a:defRPr sz="2000" b="0">
                <a:solidFill>
                  <a:srgbClr val="FFFFFF"/>
                </a:solidFill>
                <a:latin typeface="DejaVu Sans"/>
              </a:defRPr>
            </a:pPr>
            <a:r>
              <a:t>kostnaden.</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Beskriva skillnaden mellan lägre användning och flyttad användning.</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Kontrollera vad ett avtals profil- eller volymkostnad faktiskt betyder.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Varje kWh är en vikt i snittet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vanligt medelvärde av lika långa intervalls priser ger varje intervall samma</a:t>
            </a:r>
          </a:p>
          <a:p>
            <a:pPr>
              <a:lnSpc>
                <a:spcPts val="2480"/>
              </a:lnSpc>
              <a:spcBef>
                <a:spcPts val="0"/>
              </a:spcBef>
              <a:spcAft>
                <a:spcPts val="0"/>
              </a:spcAft>
              <a:defRPr sz="2000" b="0">
                <a:solidFill>
                  <a:srgbClr val="193540"/>
                </a:solidFill>
                <a:latin typeface="DejaVu Sans"/>
              </a:defRPr>
            </a:pPr>
            <a:r>
              <a:t>vikt. Kundens kostnad kräver i stället att varje pris multipliceras med kundens</a:t>
            </a:r>
          </a:p>
          <a:p>
            <a:pPr>
              <a:lnSpc>
                <a:spcPts val="2480"/>
              </a:lnSpc>
              <a:spcBef>
                <a:spcPts val="0"/>
              </a:spcBef>
              <a:spcAft>
                <a:spcPts val="0"/>
              </a:spcAft>
              <a:defRPr sz="2000" b="0">
                <a:solidFill>
                  <a:srgbClr val="193540"/>
                </a:solidFill>
                <a:latin typeface="DejaVu Sans"/>
              </a:defRPr>
            </a:pPr>
            <a:r>
              <a:t>energi i samma intervall.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Formeln är förbrukningsvägt pris = sammanlagd jämförbar kostnad ÷</a:t>
            </a:r>
          </a:p>
          <a:p>
            <a:pPr>
              <a:lnSpc>
                <a:spcPts val="2480"/>
              </a:lnSpc>
              <a:spcBef>
                <a:spcPts val="0"/>
              </a:spcBef>
              <a:spcAft>
                <a:spcPts val="0"/>
              </a:spcAft>
              <a:defRPr sz="2000" b="0">
                <a:solidFill>
                  <a:srgbClr val="193540"/>
                </a:solidFill>
                <a:latin typeface="DejaVu Sans"/>
              </a:defRPr>
            </a:pPr>
            <a:r>
              <a:t>motsvarande kWh. Börja med att göra alla priser till kr/kWh och använd</a:t>
            </a:r>
          </a:p>
          <a:p>
            <a:pPr>
              <a:lnSpc>
                <a:spcPts val="2480"/>
              </a:lnSpc>
              <a:spcBef>
                <a:spcPts val="0"/>
              </a:spcBef>
              <a:spcAft>
                <a:spcPts val="0"/>
              </a:spcAft>
              <a:defRPr sz="2000" b="0">
                <a:solidFill>
                  <a:srgbClr val="193540"/>
                </a:solidFill>
                <a:latin typeface="DejaVu Sans"/>
              </a:defRPr>
            </a:pPr>
            <a:r>
              <a:t>uppmätta kWh. Multiplicera inte energin med kvartens längd igen.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Dygn och månad beskriver olika mönster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Dygnsprofilen beskriver fördelningen inom dygnets timmar och kvartar. Ugnar</a:t>
            </a:r>
          </a:p>
          <a:p>
            <a:pPr>
              <a:lnSpc>
                <a:spcPts val="2480"/>
              </a:lnSpc>
              <a:spcBef>
                <a:spcPts val="0"/>
              </a:spcBef>
              <a:spcAft>
                <a:spcPts val="0"/>
              </a:spcAft>
              <a:defRPr sz="2000" b="0">
                <a:solidFill>
                  <a:srgbClr val="193540"/>
                </a:solidFill>
                <a:latin typeface="DejaVu Sans"/>
              </a:defRPr>
            </a:pPr>
            <a:r>
              <a:t>som startar tidigt, processer mitt på dagen och nattladdning kan skapa olika</a:t>
            </a:r>
          </a:p>
          <a:p>
            <a:pPr>
              <a:lnSpc>
                <a:spcPts val="2480"/>
              </a:lnSpc>
              <a:spcBef>
                <a:spcPts val="0"/>
              </a:spcBef>
              <a:spcAft>
                <a:spcPts val="0"/>
              </a:spcAft>
              <a:defRPr sz="2000" b="0">
                <a:solidFill>
                  <a:srgbClr val="193540"/>
                </a:solidFill>
                <a:latin typeface="DejaVu Sans"/>
              </a:defRPr>
            </a:pPr>
            <a:r>
              <a:t>kurvor. Månadsprofilen beskriver fördelningen mellan årets månader.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avtal som använder kundens månadsprofil omfattar inte automatiskt</a:t>
            </a:r>
          </a:p>
          <a:p>
            <a:pPr>
              <a:lnSpc>
                <a:spcPts val="2480"/>
              </a:lnSpc>
              <a:spcBef>
                <a:spcPts val="0"/>
              </a:spcBef>
              <a:spcAft>
                <a:spcPts val="0"/>
              </a:spcAft>
              <a:defRPr sz="2000" b="0">
                <a:solidFill>
                  <a:srgbClr val="193540"/>
                </a:solidFill>
                <a:latin typeface="DejaVu Sans"/>
              </a:defRPr>
            </a:pPr>
            <a:r>
              <a:t>dygnsprofilen. Kraftringen Stabil räknar in månadsprofilen när det</a:t>
            </a:r>
          </a:p>
          <a:p>
            <a:pPr>
              <a:lnSpc>
                <a:spcPts val="2480"/>
              </a:lnSpc>
              <a:spcBef>
                <a:spcPts val="0"/>
              </a:spcBef>
              <a:spcAft>
                <a:spcPts val="0"/>
              </a:spcAft>
              <a:defRPr sz="2000" b="0">
                <a:solidFill>
                  <a:srgbClr val="193540"/>
                </a:solidFill>
                <a:latin typeface="DejaVu Sans"/>
              </a:defRPr>
            </a:pPr>
            <a:r>
              <a:t>gemensamma priset för den säkrade delen tas fram.</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Profil är inte samma sak som volymrisk eller</a:t>
            </a:r>
          </a:p>
          <a:p>
            <a:pPr>
              <a:lnSpc>
                <a:spcPts val="3472"/>
              </a:lnSpc>
              <a:spcBef>
                <a:spcPts val="0"/>
              </a:spcBef>
              <a:spcAft>
                <a:spcPts val="0"/>
              </a:spcAft>
              <a:defRPr sz="2800" b="1">
                <a:solidFill>
                  <a:srgbClr val="193540"/>
                </a:solidFill>
                <a:latin typeface="DejaVu Sans"/>
              </a:defRPr>
            </a:pPr>
            <a:r>
              <a:t>balans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68</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Profil handlar om när elen används jämfört med en prisreferens. Volymrisk</a:t>
            </a:r>
          </a:p>
          <a:p>
            <a:pPr>
              <a:lnSpc>
                <a:spcPts val="2480"/>
              </a:lnSpc>
              <a:spcBef>
                <a:spcPts val="0"/>
              </a:spcBef>
              <a:spcAft>
                <a:spcPts val="0"/>
              </a:spcAft>
              <a:defRPr sz="2000" b="0">
                <a:solidFill>
                  <a:srgbClr val="193540"/>
                </a:solidFill>
                <a:latin typeface="DejaVu Sans"/>
              </a:defRPr>
            </a:pPr>
            <a:r>
              <a:t>handlar om att mängden avviker från underlaget. Balanskostnad handlar om</a:t>
            </a:r>
          </a:p>
          <a:p>
            <a:pPr>
              <a:lnSpc>
                <a:spcPts val="2480"/>
              </a:lnSpc>
              <a:spcBef>
                <a:spcPts val="0"/>
              </a:spcBef>
              <a:spcAft>
                <a:spcPts val="0"/>
              </a:spcAft>
              <a:defRPr sz="2000" b="0">
                <a:solidFill>
                  <a:srgbClr val="193540"/>
                </a:solidFill>
                <a:latin typeface="DejaVu Sans"/>
              </a:defRPr>
            </a:pPr>
            <a:r>
              <a:t>avvikelser som hanteras i balansavräkningen. De kan ha samband men är</a:t>
            </a:r>
          </a:p>
          <a:p>
            <a:pPr>
              <a:lnSpc>
                <a:spcPts val="2480"/>
              </a:lnSpc>
              <a:spcBef>
                <a:spcPts val="0"/>
              </a:spcBef>
              <a:spcAft>
                <a:spcPts val="0"/>
              </a:spcAft>
              <a:defRPr sz="2000" b="0">
                <a:solidFill>
                  <a:srgbClr val="193540"/>
                </a:solidFill>
                <a:latin typeface="DejaVu Sans"/>
              </a:defRPr>
            </a:pPr>
            <a:r>
              <a:t>olika begrepp.</a:t>
            </a:r>
          </a:p>
        </p:txBody>
      </p:sp>
      <p:sp>
        <p:nvSpPr>
          <p:cNvPr id="7" name="TextBox 6"/>
          <p:cNvSpPr txBox="1"/>
          <p:nvPr/>
        </p:nvSpPr>
        <p:spPr>
          <a:xfrm>
            <a:off x="603504" y="352298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Vissa avtalsmodeller använder ordet volymkostnad för kollektivets</a:t>
            </a:r>
          </a:p>
          <a:p>
            <a:pPr>
              <a:lnSpc>
                <a:spcPts val="2480"/>
              </a:lnSpc>
              <a:spcBef>
                <a:spcPts val="0"/>
              </a:spcBef>
              <a:spcAft>
                <a:spcPts val="0"/>
              </a:spcAft>
              <a:defRPr sz="2000" b="0">
                <a:solidFill>
                  <a:srgbClr val="193540"/>
                </a:solidFill>
                <a:latin typeface="DejaVu Sans"/>
              </a:defRPr>
            </a:pPr>
            <a:r>
              <a:t>förbrukningsvägning. Ordet betyder därför inte alltid en avgift för</a:t>
            </a:r>
          </a:p>
          <a:p>
            <a:pPr>
              <a:lnSpc>
                <a:spcPts val="2480"/>
              </a:lnSpc>
              <a:spcBef>
                <a:spcPts val="0"/>
              </a:spcBef>
              <a:spcAft>
                <a:spcPts val="0"/>
              </a:spcAft>
              <a:defRPr sz="2000" b="0">
                <a:solidFill>
                  <a:srgbClr val="193540"/>
                </a:solidFill>
                <a:latin typeface="DejaVu Sans"/>
              </a:defRPr>
            </a:pPr>
            <a:r>
              <a:t>felprognostiserad mängd. Be om avtalets definition.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Lastflytt ändrar tiden; effektivisering ändrar</a:t>
            </a:r>
          </a:p>
          <a:p>
            <a:pPr>
              <a:lnSpc>
                <a:spcPts val="3472"/>
              </a:lnSpc>
              <a:spcBef>
                <a:spcPts val="0"/>
              </a:spcBef>
              <a:spcAft>
                <a:spcPts val="0"/>
              </a:spcAft>
              <a:defRPr sz="2800" b="1">
                <a:solidFill>
                  <a:srgbClr val="193540"/>
                </a:solidFill>
                <a:latin typeface="DejaVu Sans"/>
              </a:defRPr>
            </a:pPr>
            <a:r>
              <a:t>mängden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69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Att minska användningen med 10 kWh är en annan åtgärd än att flytta</a:t>
            </a:r>
          </a:p>
          <a:p>
            <a:pPr>
              <a:lnSpc>
                <a:spcPts val="2480"/>
              </a:lnSpc>
              <a:spcBef>
                <a:spcPts val="0"/>
              </a:spcBef>
              <a:spcAft>
                <a:spcPts val="0"/>
              </a:spcAft>
              <a:defRPr sz="2000" b="0">
                <a:solidFill>
                  <a:srgbClr val="193540"/>
                </a:solidFill>
                <a:latin typeface="DejaVu Sans"/>
              </a:defRPr>
            </a:pPr>
            <a:r>
              <a:t>10 kWh till en annan tid. Vid kvartspris kan flytt till billigare kvartar påverka</a:t>
            </a:r>
          </a:p>
          <a:p>
            <a:pPr>
              <a:lnSpc>
                <a:spcPts val="2480"/>
              </a:lnSpc>
              <a:spcBef>
                <a:spcPts val="0"/>
              </a:spcBef>
              <a:spcAft>
                <a:spcPts val="0"/>
              </a:spcAft>
              <a:defRPr sz="2000" b="0">
                <a:solidFill>
                  <a:srgbClr val="193540"/>
                </a:solidFill>
                <a:latin typeface="DejaVu Sans"/>
              </a:defRPr>
            </a:pPr>
            <a:r>
              <a:t>kundens energikostnad direkt.</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flytt måste fungera i verkligheten. Fråga vilka laster som kan flyttas, hur</a:t>
            </a:r>
          </a:p>
          <a:p>
            <a:pPr>
              <a:lnSpc>
                <a:spcPts val="2480"/>
              </a:lnSpc>
              <a:spcBef>
                <a:spcPts val="0"/>
              </a:spcBef>
              <a:spcAft>
                <a:spcPts val="0"/>
              </a:spcAft>
              <a:defRPr sz="2000" b="0">
                <a:solidFill>
                  <a:srgbClr val="193540"/>
                </a:solidFill>
                <a:latin typeface="DejaVu Sans"/>
              </a:defRPr>
            </a:pPr>
            <a:r>
              <a:t>mycket, vem som styr och vilka driftkrav som gäller. Samtidig laddning kan</a:t>
            </a:r>
          </a:p>
          <a:p>
            <a:pPr>
              <a:lnSpc>
                <a:spcPts val="2480"/>
              </a:lnSpc>
              <a:spcBef>
                <a:spcPts val="0"/>
              </a:spcBef>
              <a:spcAft>
                <a:spcPts val="0"/>
              </a:spcAft>
              <a:defRPr sz="2000" b="0">
                <a:solidFill>
                  <a:srgbClr val="193540"/>
                </a:solidFill>
                <a:latin typeface="DejaVu Sans"/>
              </a:defRPr>
            </a:pPr>
            <a:r>
              <a:t>exempelvis höja en effekttopp i nätet.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Fyra kvartar i bageriet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exempel med enbart spotenergidelen före övrig elhandel, nät, skatt</a:t>
            </a:r>
          </a:p>
          <a:p>
            <a:pPr>
              <a:lnSpc>
                <a:spcPts val="2480"/>
              </a:lnSpc>
              <a:spcBef>
                <a:spcPts val="0"/>
              </a:spcBef>
              <a:spcAft>
                <a:spcPts val="0"/>
              </a:spcAft>
              <a:defRPr sz="2000" b="0">
                <a:solidFill>
                  <a:srgbClr val="193540"/>
                </a:solidFill>
                <a:latin typeface="DejaVu Sans"/>
              </a:defRPr>
            </a:pPr>
            <a:r>
              <a:t>och moms. Mätvärden är redan kWh.</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Priser: 0,50; 1,00; 2,00; 0,50 kr/kWh.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Energi i samma ordning: 2; 2; 4; 2 kWh.</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Fyra kvartar i bageriet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Kvartskostnader: 2 × 0,50 = 1 kr; 2 × 1 = 2 kr; 4 × 2 = 8 kr; 2 × 0,50 =</a:t>
            </a:r>
          </a:p>
          <a:p>
            <a:pPr>
              <a:lnSpc>
                <a:spcPts val="2480"/>
              </a:lnSpc>
              <a:spcBef>
                <a:spcPts val="0"/>
              </a:spcBef>
              <a:spcAft>
                <a:spcPts val="0"/>
              </a:spcAft>
              <a:defRPr sz="2000" b="0">
                <a:solidFill>
                  <a:srgbClr val="193540"/>
                </a:solidFill>
                <a:latin typeface="DejaVu Sans"/>
              </a:defRPr>
            </a:pPr>
            <a:r>
              <a:t>1 kr.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Total kostnad: 1 + 2 + 8 + 1 = 12 kr. Total energi: 10 kWh.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Förbrukningsvägt pris: 12 ÷ 10 = 1,20 kr/kWh = 120 öre/kWh.</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Vanligt medelpris: (0,50 + 1 + 2 + 0,50) ÷ 4 = 1,00 kr/kWh.</a:t>
            </a:r>
          </a:p>
        </p:txBody>
      </p:sp>
      <p:sp>
        <p:nvSpPr>
          <p:cNvPr id="10" name="TextBox 9"/>
          <p:cNvSpPr txBox="1"/>
          <p:nvPr/>
        </p:nvSpPr>
        <p:spPr>
          <a:xfrm>
            <a:off x="603504" y="41808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Kundens snitt är 120 öre/kWh, trots ett oviktat prissnitt på 100 öre.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Samma metod mellan två månader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energiprisjämförelse för två månader; inte en hel årsberäkning eller</a:t>
            </a:r>
          </a:p>
          <a:p>
            <a:pPr>
              <a:lnSpc>
                <a:spcPts val="2480"/>
              </a:lnSpc>
              <a:spcBef>
                <a:spcPts val="0"/>
              </a:spcBef>
              <a:spcAft>
                <a:spcPts val="0"/>
              </a:spcAft>
              <a:defRPr sz="2000" b="0">
                <a:solidFill>
                  <a:srgbClr val="193540"/>
                </a:solidFill>
                <a:latin typeface="DejaVu Sans"/>
              </a:defRPr>
            </a:pPr>
            <a:r>
              <a:t>offert. Övriga delar är utanför.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Januari: 20 000 kWh vid 1,00 kr/kWh.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Juli: 5 000 kWh vid 0,40 kr/kWh.</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Samma metod mellan två månader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Januari kostar 20 000 kr och juli 2 000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Sammanlagd kostnad är 22 000 kr för 25 000 kWh.</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Kundens snitt: 22 000 ÷ 25 000 = 0,88 kr/kWh = 88 öre/kWh.</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Det oviktade snittet (1,00 + 0,40) ÷ 2 = 0,70 kr/kWh underskattar kundens</a:t>
            </a:r>
          </a:p>
          <a:p>
            <a:pPr>
              <a:lnSpc>
                <a:spcPts val="2480"/>
              </a:lnSpc>
              <a:spcBef>
                <a:spcPts val="0"/>
              </a:spcBef>
              <a:spcAft>
                <a:spcPts val="0"/>
              </a:spcAft>
              <a:defRPr sz="2000" b="0">
                <a:solidFill>
                  <a:srgbClr val="193540"/>
                </a:solidFill>
                <a:latin typeface="DejaVu Sans"/>
              </a:defRPr>
            </a:pPr>
            <a:r>
              <a:t>kostnad.</a:t>
            </a:r>
          </a:p>
        </p:txBody>
      </p:sp>
      <p:sp>
        <p:nvSpPr>
          <p:cNvPr id="10" name="TextBox 9"/>
          <p:cNvSpPr txBox="1"/>
          <p:nvPr/>
        </p:nvSpPr>
        <p:spPr>
          <a:xfrm>
            <a:off x="603504" y="4180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88 öre/kWh för de två månadernas jämförda energidel.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Alla kunder i samma elområde får samma snittpris.</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Med individuell kvartsviktning kan tidsprofilen ge olika snitt.</a:t>
            </a:r>
          </a:p>
          <a:p>
            <a:pPr>
              <a:lnSpc>
                <a:spcPts val="2480"/>
              </a:lnSpc>
              <a:spcBef>
                <a:spcPts val="0"/>
              </a:spcBef>
              <a:spcAft>
                <a:spcPts val="0"/>
              </a:spcAft>
              <a:defRPr sz="2000" b="0">
                <a:solidFill>
                  <a:srgbClr val="193540"/>
                </a:solidFill>
                <a:latin typeface="DejaVu Sans"/>
              </a:defRPr>
            </a:pPr>
            <a:r>
              <a:t>Avtalsmodell och avgifter kan också skilja.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Månadsprofil och dygnsprofil är samma sak.</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Månadsprofil är säsongsfördelningen; dygnsprofil är fördelningen</a:t>
            </a:r>
          </a:p>
          <a:p>
            <a:pPr>
              <a:lnSpc>
                <a:spcPts val="2480"/>
              </a:lnSpc>
              <a:spcBef>
                <a:spcPts val="0"/>
              </a:spcBef>
              <a:spcAft>
                <a:spcPts val="0"/>
              </a:spcAft>
              <a:defRPr sz="2000" b="0">
                <a:solidFill>
                  <a:srgbClr val="193540"/>
                </a:solidFill>
                <a:latin typeface="DejaVu Sans"/>
              </a:defRPr>
            </a:pPr>
            <a:r>
              <a:t>inom dygnets intervall.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lastflytt är alltid en besparing.</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Avtal, faktiska prisrelationer, drift, nätkostnader och styrkostnad</a:t>
            </a:r>
          </a:p>
          <a:p>
            <a:pPr>
              <a:lnSpc>
                <a:spcPts val="2480"/>
              </a:lnSpc>
              <a:spcBef>
                <a:spcPts val="0"/>
              </a:spcBef>
              <a:spcAft>
                <a:spcPts val="0"/>
              </a:spcAft>
              <a:defRPr sz="2000" b="0">
                <a:solidFill>
                  <a:srgbClr val="193540"/>
                </a:solidFill>
                <a:latin typeface="DejaVu Sans"/>
              </a:defRPr>
            </a:pPr>
            <a:r>
              <a:t>behöver prövas.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77</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Det räcker inte att veta hur mycket el ni använder på ett år. Vi behöver också</a:t>
            </a:r>
          </a:p>
          <a:p>
            <a:pPr>
              <a:lnSpc>
                <a:spcPts val="2480"/>
              </a:lnSpc>
              <a:spcBef>
                <a:spcPts val="0"/>
              </a:spcBef>
              <a:spcAft>
                <a:spcPts val="0"/>
              </a:spcAft>
              <a:defRPr sz="2000" b="0">
                <a:solidFill>
                  <a:srgbClr val="193540"/>
                </a:solidFill>
                <a:latin typeface="DejaVu Sans"/>
              </a:defRPr>
            </a:pPr>
            <a:r>
              <a:t>veta när. Mycket användning under dyra intervall höjer ert snitt, och mycket</a:t>
            </a:r>
          </a:p>
          <a:p>
            <a:pPr>
              <a:lnSpc>
                <a:spcPts val="2480"/>
              </a:lnSpc>
              <a:spcBef>
                <a:spcPts val="0"/>
              </a:spcBef>
              <a:spcAft>
                <a:spcPts val="0"/>
              </a:spcAft>
              <a:defRPr sz="2000" b="0">
                <a:solidFill>
                  <a:srgbClr val="193540"/>
                </a:solidFill>
                <a:latin typeface="DejaVu Sans"/>
              </a:defRPr>
            </a:pPr>
            <a:r>
              <a:t>under billiga sänker det. Vi räknar därför pris gånger mängd för varje relevant</a:t>
            </a:r>
          </a:p>
          <a:p>
            <a:pPr>
              <a:lnSpc>
                <a:spcPts val="2480"/>
              </a:lnSpc>
              <a:spcBef>
                <a:spcPts val="0"/>
              </a:spcBef>
              <a:spcAft>
                <a:spcPts val="0"/>
              </a:spcAft>
              <a:defRPr sz="2000" b="0">
                <a:solidFill>
                  <a:srgbClr val="193540"/>
                </a:solidFill>
                <a:latin typeface="DejaVu Sans"/>
              </a:defRPr>
            </a:pPr>
            <a:r>
              <a:t>period.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Verkstaden vill flytta all laddning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78</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Den fiktiva Verkstaden överväger kvartspris. Under två prisnivåer använder</a:t>
            </a:r>
          </a:p>
          <a:p>
            <a:pPr>
              <a:lnSpc>
                <a:spcPts val="2480"/>
              </a:lnSpc>
              <a:spcBef>
                <a:spcPts val="0"/>
              </a:spcBef>
              <a:spcAft>
                <a:spcPts val="0"/>
              </a:spcAft>
              <a:defRPr sz="2000" b="0">
                <a:solidFill>
                  <a:srgbClr val="193540"/>
                </a:solidFill>
                <a:latin typeface="DejaVu Sans"/>
              </a:defRPr>
            </a:pPr>
            <a:r>
              <a:t>den 20 kWh vid 40 öre och 80 kWh vid 120 öre. Driftchefen tror att 30 kWh</a:t>
            </a:r>
          </a:p>
          <a:p>
            <a:pPr>
              <a:lnSpc>
                <a:spcPts val="2480"/>
              </a:lnSpc>
              <a:spcBef>
                <a:spcPts val="0"/>
              </a:spcBef>
              <a:spcAft>
                <a:spcPts val="0"/>
              </a:spcAft>
              <a:defRPr sz="2000" b="0">
                <a:solidFill>
                  <a:srgbClr val="193540"/>
                </a:solidFill>
                <a:latin typeface="DejaVu Sans"/>
              </a:defRPr>
            </a:pPr>
            <a:r>
              <a:t>kan flyttas till den billigare nivån, men ingen har kontrollerat laddarnas</a:t>
            </a:r>
          </a:p>
          <a:p>
            <a:pPr>
              <a:lnSpc>
                <a:spcPts val="2480"/>
              </a:lnSpc>
              <a:spcBef>
                <a:spcPts val="0"/>
              </a:spcBef>
              <a:spcAft>
                <a:spcPts val="0"/>
              </a:spcAft>
              <a:defRPr sz="2000" b="0">
                <a:solidFill>
                  <a:srgbClr val="193540"/>
                </a:solidFill>
                <a:latin typeface="DejaVu Sans"/>
              </a:defRPr>
            </a:pPr>
            <a:r>
              <a:t>kapacitet, nästa dags behov eller nätets effektvillkor.</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nuvarande energikostnad och förbrukningsvägt snitt.</a:t>
            </a:r>
          </a:p>
        </p:txBody>
      </p:sp>
      <p:sp>
        <p:nvSpPr>
          <p:cNvPr id="8" name="TextBox 7"/>
          <p:cNvSpPr txBox="1"/>
          <p:nvPr/>
        </p:nvSpPr>
        <p:spPr>
          <a:xfrm>
            <a:off x="603504" y="39522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energikostnaden efter en genomförbar flytt av 30 kWh.</a:t>
            </a:r>
          </a:p>
        </p:txBody>
      </p:sp>
      <p:sp>
        <p:nvSpPr>
          <p:cNvPr id="9" name="TextBox 8"/>
          <p:cNvSpPr txBox="1"/>
          <p:nvPr/>
        </p:nvSpPr>
        <p:spPr>
          <a:xfrm>
            <a:off x="603504" y="438149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varför den räknade energinyttan inte ännu är total besparing.</a:t>
            </a:r>
          </a:p>
        </p:txBody>
      </p:sp>
      <p:sp>
        <p:nvSpPr>
          <p:cNvPr id="10" name="TextBox 9"/>
          <p:cNvSpPr txBox="1"/>
          <p:nvPr/>
        </p:nvSpPr>
        <p:spPr>
          <a:xfrm>
            <a:off x="603504" y="481075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 vad som behöver kontrolleras innan en rekommendation.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79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104 kr, 104 öre/kWh, 80 kr och 24 kr räknas korrekt.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Flytten beskrivs som samma energimängd vid annan tid.</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Energinytta avgränsas från total framtida besparing.</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Drift, teknik, nät och avtalsmodell kontrolleras.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Varför kan inte medelvärdet av kvartpriserna ensamt ge kundens</a:t>
            </a:r>
          </a:p>
          <a:p>
            <a:pPr>
              <a:lnSpc>
                <a:spcPts val="2480"/>
              </a:lnSpc>
              <a:spcBef>
                <a:spcPts val="0"/>
              </a:spcBef>
              <a:spcAft>
                <a:spcPts val="0"/>
              </a:spcAft>
              <a:defRPr sz="2000" b="0">
                <a:solidFill>
                  <a:srgbClr val="193540"/>
                </a:solidFill>
                <a:latin typeface="DejaVu Sans"/>
              </a:defRPr>
            </a:pPr>
            <a:r>
              <a:t>energikostnad?</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Kundens kWh är olika stora vikter i de olika kvartarna.</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Kvartpriser är alltid felaktiga.</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Månadsfakturering tar bort tidsprofilen.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8 kWh används vid 1 kr/kWh och 2 kWh vid 3 kr/kWh. Vad blir</a:t>
            </a:r>
          </a:p>
          <a:p>
            <a:pPr>
              <a:lnSpc>
                <a:spcPts val="2480"/>
              </a:lnSpc>
              <a:spcBef>
                <a:spcPts val="0"/>
              </a:spcBef>
              <a:spcAft>
                <a:spcPts val="0"/>
              </a:spcAft>
              <a:defRPr sz="2000" b="0">
                <a:solidFill>
                  <a:srgbClr val="193540"/>
                </a:solidFill>
                <a:latin typeface="DejaVu Sans"/>
              </a:defRPr>
            </a:pPr>
            <a:r>
              <a:t>förbrukningsvägt pris i öre/kWh?</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30 kWh flyttas från 120 till 40 öre/kWh. Hur mycket minskar just</a:t>
            </a:r>
          </a:p>
          <a:p>
            <a:pPr>
              <a:lnSpc>
                <a:spcPts val="2480"/>
              </a:lnSpc>
              <a:spcBef>
                <a:spcPts val="0"/>
              </a:spcBef>
              <a:spcAft>
                <a:spcPts val="0"/>
              </a:spcAft>
              <a:defRPr sz="2000" b="0">
                <a:solidFill>
                  <a:srgbClr val="193540"/>
                </a:solidFill>
                <a:latin typeface="DejaVu Sans"/>
              </a:defRPr>
            </a:pPr>
            <a:r>
              <a:t>energikostnaden vid dessa givna priser?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säljare säger att ett månadsutjämnat pris också säkrar kundens</a:t>
            </a:r>
          </a:p>
          <a:p>
            <a:pPr>
              <a:lnSpc>
                <a:spcPts val="2480"/>
              </a:lnSpc>
              <a:spcBef>
                <a:spcPts val="0"/>
              </a:spcBef>
              <a:spcAft>
                <a:spcPts val="0"/>
              </a:spcAft>
              <a:defRPr sz="2000" b="0">
                <a:solidFill>
                  <a:srgbClr val="193540"/>
                </a:solidFill>
                <a:latin typeface="DejaVu Sans"/>
              </a:defRPr>
            </a:pPr>
            <a:r>
              <a:t>dygnsprofil. Hur korrigerar du det?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04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Matcha energi och pris för samma intervall.</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Summera kostnader och dela med samma mängd för kundens snitt.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Månadsprofil och dygnsprofil behöver analyseras var för sig.</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 avtalets betydelse av profil- och volymkostnad.</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Pröva lastflytt mot verklig drift och hela berörda kostnaden.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05 · Gemensam grund</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Pris, prissäkring och risken som finns kvar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85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skillnaden mellan fast kundpris och säkring av vissa prisreferenser.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Beskriva SYS och EPAD utan att dubbelräkna områdesskillnaden.</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Räkna både prisuppgång och prisfall i en tydligt förenklad säkringsmodell.</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prognostiserad säkringsandel från faktisk täckning och fakturabelopp.</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Fast pris och fast belopp är olika saker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avtalat fast elhandelspris gäller de uttryckligt definierade delarna och</a:t>
            </a:r>
          </a:p>
          <a:p>
            <a:pPr>
              <a:lnSpc>
                <a:spcPts val="2480"/>
              </a:lnSpc>
              <a:spcBef>
                <a:spcPts val="0"/>
              </a:spcBef>
              <a:spcAft>
                <a:spcPts val="0"/>
              </a:spcAft>
              <a:defRPr sz="2000" b="0">
                <a:solidFill>
                  <a:srgbClr val="193540"/>
                </a:solidFill>
                <a:latin typeface="DejaVu Sans"/>
              </a:defRPr>
            </a:pPr>
            <a:r>
              <a:t>perioden inom kundens villkor. Ett känt pris per kWh betyder ändå inte samma</a:t>
            </a:r>
          </a:p>
          <a:p>
            <a:pPr>
              <a:lnSpc>
                <a:spcPts val="2480"/>
              </a:lnSpc>
              <a:spcBef>
                <a:spcPts val="0"/>
              </a:spcBef>
              <a:spcAft>
                <a:spcPts val="0"/>
              </a:spcAft>
              <a:defRPr sz="2000" b="0">
                <a:solidFill>
                  <a:srgbClr val="193540"/>
                </a:solidFill>
                <a:latin typeface="DejaVu Sans"/>
              </a:defRPr>
            </a:pPr>
            <a:r>
              <a:t>fakturabelopp: 10 000 kWh kostar mer än 5 000 kWh vid samma enhetspris.</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Rörligt pris följer i stället avtalets marknadsberoende modell. Kunden får</a:t>
            </a:r>
          </a:p>
          <a:p>
            <a:pPr>
              <a:lnSpc>
                <a:spcPts val="2480"/>
              </a:lnSpc>
              <a:spcBef>
                <a:spcPts val="0"/>
              </a:spcBef>
              <a:spcAft>
                <a:spcPts val="0"/>
              </a:spcAft>
              <a:defRPr sz="2000" b="0">
                <a:solidFill>
                  <a:srgbClr val="193540"/>
                </a:solidFill>
                <a:latin typeface="DejaVu Sans"/>
              </a:defRPr>
            </a:pPr>
            <a:r>
              <a:t>möjlighet att följa ett lägre marknadsutfall, men påverkas också av högre.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Vad är SYS och EPAD?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SYS är ett nordiskt systempris som används som referens för finansiell</a:t>
            </a:r>
          </a:p>
          <a:p>
            <a:pPr>
              <a:lnSpc>
                <a:spcPts val="2480"/>
              </a:lnSpc>
              <a:spcBef>
                <a:spcPts val="0"/>
              </a:spcBef>
              <a:spcAft>
                <a:spcPts val="0"/>
              </a:spcAft>
              <a:defRPr sz="2000" b="0">
                <a:solidFill>
                  <a:srgbClr val="193540"/>
                </a:solidFill>
                <a:latin typeface="DejaVu Sans"/>
              </a:defRPr>
            </a:pPr>
            <a:r>
              <a:t>prissäkring. Det beräknas utan de interna överföringsbegränsningarna i den</a:t>
            </a:r>
          </a:p>
          <a:p>
            <a:pPr>
              <a:lnSpc>
                <a:spcPts val="2480"/>
              </a:lnSpc>
              <a:spcBef>
                <a:spcPts val="0"/>
              </a:spcBef>
              <a:spcAft>
                <a:spcPts val="0"/>
              </a:spcAft>
              <a:defRPr sz="2000" b="0">
                <a:solidFill>
                  <a:srgbClr val="193540"/>
                </a:solidFill>
                <a:latin typeface="DejaVu Sans"/>
              </a:defRPr>
            </a:pPr>
            <a:r>
              <a:t>referensberäkningen och är inte kundens lokala elpris.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Om SYS är 50 öre och områdesskillnaden 20 öre blir den motsvarande</a:t>
            </a:r>
          </a:p>
          <a:p>
            <a:pPr>
              <a:lnSpc>
                <a:spcPts val="2480"/>
              </a:lnSpc>
              <a:spcBef>
                <a:spcPts val="0"/>
              </a:spcBef>
              <a:spcAft>
                <a:spcPts val="0"/>
              </a:spcAft>
              <a:defRPr sz="2000" b="0">
                <a:solidFill>
                  <a:srgbClr val="193540"/>
                </a:solidFill>
                <a:latin typeface="DejaVu Sans"/>
              </a:defRPr>
            </a:pPr>
            <a:r>
              <a:t>områdesreferensen 70 öre. Det är en uppdelning av samma områdesnivå.</a:t>
            </a:r>
          </a:p>
          <a:p>
            <a:pPr>
              <a:lnSpc>
                <a:spcPts val="2480"/>
              </a:lnSpc>
              <a:spcBef>
                <a:spcPts val="0"/>
              </a:spcBef>
              <a:spcAft>
                <a:spcPts val="0"/>
              </a:spcAft>
              <a:defRPr sz="2000" b="0">
                <a:solidFill>
                  <a:srgbClr val="193540"/>
                </a:solidFill>
                <a:latin typeface="DejaVu Sans"/>
              </a:defRPr>
            </a:pPr>
            <a:r>
              <a:t>Lägg inte 20 öre ovanpå ett områdespris som redan är 70.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En säkring verkar åt båda håll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förenklad finansiell modell visar faktisk kostnad mot spot tillsammans med</a:t>
            </a:r>
          </a:p>
          <a:p>
            <a:pPr>
              <a:lnSpc>
                <a:spcPts val="2480"/>
              </a:lnSpc>
              <a:spcBef>
                <a:spcPts val="0"/>
              </a:spcBef>
              <a:spcAft>
                <a:spcPts val="0"/>
              </a:spcAft>
              <a:defRPr sz="2000" b="0">
                <a:solidFill>
                  <a:srgbClr val="193540"/>
                </a:solidFill>
                <a:latin typeface="DejaVu Sans"/>
              </a:defRPr>
            </a:pPr>
            <a:r>
              <a:t>ekonomiskt säkringsresultat. En högre referens kan ge positivt resultat som</a:t>
            </a:r>
          </a:p>
          <a:p>
            <a:pPr>
              <a:lnSpc>
                <a:spcPts val="2480"/>
              </a:lnSpc>
              <a:spcBef>
                <a:spcPts val="0"/>
              </a:spcBef>
              <a:spcAft>
                <a:spcPts val="0"/>
              </a:spcAft>
              <a:defRPr sz="2000" b="0">
                <a:solidFill>
                  <a:srgbClr val="193540"/>
                </a:solidFill>
                <a:latin typeface="DejaVu Sans"/>
              </a:defRPr>
            </a:pPr>
            <a:r>
              <a:t>minskar kostnaden.</a:t>
            </a:r>
          </a:p>
        </p:txBody>
      </p:sp>
      <p:sp>
        <p:nvSpPr>
          <p:cNvPr id="7" name="TextBox 6"/>
          <p:cNvSpPr txBox="1"/>
          <p:nvPr/>
        </p:nvSpPr>
        <p:spPr>
          <a:xfrm>
            <a:off x="603504" y="320802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Övningsmodellen nedan antar perfekt matchning mellan profil,</a:t>
            </a:r>
          </a:p>
          <a:p>
            <a:pPr>
              <a:lnSpc>
                <a:spcPts val="2480"/>
              </a:lnSpc>
              <a:spcBef>
                <a:spcPts val="0"/>
              </a:spcBef>
              <a:spcAft>
                <a:spcPts val="0"/>
              </a:spcAft>
              <a:defRPr sz="2000" b="0">
                <a:solidFill>
                  <a:srgbClr val="193540"/>
                </a:solidFill>
                <a:latin typeface="DejaVu Sans"/>
              </a:defRPr>
            </a:pPr>
            <a:r>
              <a:t>marknadsreferens och säkring. Den är inte Direkt eller Stabils fullständiga</a:t>
            </a:r>
          </a:p>
          <a:p>
            <a:pPr>
              <a:lnSpc>
                <a:spcPts val="2480"/>
              </a:lnSpc>
              <a:spcBef>
                <a:spcPts val="0"/>
              </a:spcBef>
              <a:spcAft>
                <a:spcPts val="0"/>
              </a:spcAft>
              <a:defRPr sz="2000" b="0">
                <a:solidFill>
                  <a:srgbClr val="193540"/>
                </a:solidFill>
                <a:latin typeface="DejaVu Sans"/>
              </a:defRPr>
            </a:pPr>
            <a:r>
              <a:t>fakturaformel. I verkligheten behöver offertens komponenter och avräkning</a:t>
            </a:r>
          </a:p>
          <a:p>
            <a:pPr>
              <a:lnSpc>
                <a:spcPts val="2480"/>
              </a:lnSpc>
              <a:spcBef>
                <a:spcPts val="0"/>
              </a:spcBef>
              <a:spcAft>
                <a:spcPts val="0"/>
              </a:spcAft>
              <a:defRPr sz="2000" b="0">
                <a:solidFill>
                  <a:srgbClr val="193540"/>
                </a:solidFill>
                <a:latin typeface="DejaVu Sans"/>
              </a:defRPr>
            </a:pPr>
            <a:r>
              <a:t>användas.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80 procent av vad?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89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säkringsgrad utgår från ett definierat volymunderlag. Om underlaget är</a:t>
            </a:r>
          </a:p>
          <a:p>
            <a:pPr>
              <a:lnSpc>
                <a:spcPts val="2480"/>
              </a:lnSpc>
              <a:spcBef>
                <a:spcPts val="0"/>
              </a:spcBef>
              <a:spcAft>
                <a:spcPts val="0"/>
              </a:spcAft>
              <a:defRPr sz="2000" b="0">
                <a:solidFill>
                  <a:srgbClr val="193540"/>
                </a:solidFill>
                <a:latin typeface="DejaVu Sans"/>
              </a:defRPr>
            </a:pPr>
            <a:r>
              <a:t>100 MWh och 80 MWh säkras är prognosandelen 80 procent. Använder</a:t>
            </a:r>
          </a:p>
          <a:p>
            <a:pPr>
              <a:lnSpc>
                <a:spcPts val="2480"/>
              </a:lnSpc>
              <a:spcBef>
                <a:spcPts val="0"/>
              </a:spcBef>
              <a:spcAft>
                <a:spcPts val="0"/>
              </a:spcAft>
              <a:defRPr sz="2000" b="0">
                <a:solidFill>
                  <a:srgbClr val="193540"/>
                </a:solidFill>
                <a:latin typeface="DejaVu Sans"/>
              </a:defRPr>
            </a:pPr>
            <a:r>
              <a:t>kunden 125 MWh är samma säkrade mängd bara 64 procent av faktiskt uttag.</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Direkt och Stabil har det beskrivna standardupplägget på 80 procent av</a:t>
            </a:r>
          </a:p>
          <a:p>
            <a:pPr>
              <a:lnSpc>
                <a:spcPts val="2480"/>
              </a:lnSpc>
              <a:spcBef>
                <a:spcPts val="0"/>
              </a:spcBef>
              <a:spcAft>
                <a:spcPts val="0"/>
              </a:spcAft>
              <a:defRPr sz="2000" b="0">
                <a:solidFill>
                  <a:srgbClr val="193540"/>
                </a:solidFill>
                <a:latin typeface="DejaVu Sans"/>
              </a:defRPr>
            </a:pPr>
            <a:r>
              <a:t>underlaget. Det är ingen allmän standard för alla produkter.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Så beskriver du kvarvarande risk</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Kontrollera osäkrad del, tidsprofil, ändrad mängd och övriga avtalskostnader.</a:t>
            </a:r>
          </a:p>
          <a:p>
            <a:pPr>
              <a:lnSpc>
                <a:spcPts val="2480"/>
              </a:lnSpc>
              <a:spcBef>
                <a:spcPts val="0"/>
              </a:spcBef>
              <a:spcAft>
                <a:spcPts val="0"/>
              </a:spcAft>
              <a:defRPr sz="2000" b="0">
                <a:solidFill>
                  <a:srgbClr val="193540"/>
                </a:solidFill>
                <a:latin typeface="DejaVu Sans"/>
              </a:defRPr>
            </a:pPr>
            <a:r>
              <a:t>Signerat avtal och genomförd handel är olika händelser. Stabils gemensamma</a:t>
            </a:r>
          </a:p>
          <a:p>
            <a:pPr>
              <a:lnSpc>
                <a:spcPts val="2480"/>
              </a:lnSpc>
              <a:spcBef>
                <a:spcPts val="0"/>
              </a:spcBef>
              <a:spcAft>
                <a:spcPts val="0"/>
              </a:spcAft>
              <a:defRPr sz="2000" b="0">
                <a:solidFill>
                  <a:srgbClr val="193540"/>
                </a:solidFill>
                <a:latin typeface="DejaVu Sans"/>
              </a:defRPr>
            </a:pPr>
            <a:r>
              <a:t>pris gäller bara den säkrade, månadsutjämnade delen.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VISUELL FÖRKLARING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Samma säkrade mängd – olika faktisk täckning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91</a:t>
            </a:r>
          </a:p>
        </p:txBody>
      </p:sp>
      <p:sp>
        <p:nvSpPr>
          <p:cNvPr id="6" name="TextBox 5"/>
          <p:cNvSpPr txBox="1"/>
          <p:nvPr/>
        </p:nvSpPr>
        <p:spPr>
          <a:xfrm>
            <a:off x="731520" y="2121408"/>
            <a:ext cx="10058400" cy="346456"/>
          </a:xfrm>
          <a:prstGeom prst="rect">
            <a:avLst/>
          </a:prstGeom>
          <a:noFill/>
        </p:spPr>
        <p:txBody>
          <a:bodyPr wrap="none" lIns="27432" rIns="27432" tIns="0" bIns="0">
            <a:spAutoFit/>
          </a:bodyPr>
          <a:lstStyle/>
          <a:p>
            <a:pPr>
              <a:lnSpc>
                <a:spcPts val="2728"/>
              </a:lnSpc>
              <a:spcBef>
                <a:spcPts val="0"/>
              </a:spcBef>
              <a:spcAft>
                <a:spcPts val="0"/>
              </a:spcAft>
              <a:defRPr sz="2200" b="1">
                <a:solidFill>
                  <a:srgbClr val="193540"/>
                </a:solidFill>
                <a:latin typeface="DejaVu Sans"/>
              </a:defRPr>
            </a:pPr>
            <a:r>
              <a:t>Underlag: 100 MWh</a:t>
            </a:r>
          </a:p>
        </p:txBody>
      </p:sp>
      <p:sp>
        <p:nvSpPr>
          <p:cNvPr id="7" name="Rectangle 6"/>
          <p:cNvSpPr/>
          <p:nvPr/>
        </p:nvSpPr>
        <p:spPr>
          <a:xfrm>
            <a:off x="731520" y="2514600"/>
            <a:ext cx="6437375" cy="475488"/>
          </a:xfrm>
          <a:prstGeom prst="rect">
            <a:avLst/>
          </a:prstGeom>
          <a:solidFill>
            <a:srgbClr val="136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68895" y="2514600"/>
            <a:ext cx="1609343" cy="475488"/>
          </a:xfrm>
          <a:prstGeom prst="rect">
            <a:avLst/>
          </a:prstGeom>
          <a:solidFill>
            <a:srgbClr val="C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587752"/>
            <a:ext cx="6254495"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FFFFFF"/>
                </a:solidFill>
                <a:latin typeface="DejaVu Sans"/>
              </a:defRPr>
            </a:pPr>
            <a:r>
              <a:t>80 MWh säkrat</a:t>
            </a:r>
          </a:p>
        </p:txBody>
      </p:sp>
      <p:sp>
        <p:nvSpPr>
          <p:cNvPr id="10" name="TextBox 9"/>
          <p:cNvSpPr txBox="1"/>
          <p:nvPr/>
        </p:nvSpPr>
        <p:spPr>
          <a:xfrm>
            <a:off x="7306055" y="2596896"/>
            <a:ext cx="1517903"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193540"/>
                </a:solidFill>
                <a:latin typeface="DejaVu Sans"/>
              </a:defRPr>
            </a:pPr>
            <a:r>
              <a:t>20 MWh</a:t>
            </a:r>
          </a:p>
        </p:txBody>
      </p:sp>
      <p:sp>
        <p:nvSpPr>
          <p:cNvPr id="11" name="TextBox 10"/>
          <p:cNvSpPr txBox="1"/>
          <p:nvPr/>
        </p:nvSpPr>
        <p:spPr>
          <a:xfrm>
            <a:off x="731520" y="3172968"/>
            <a:ext cx="10058400" cy="362204"/>
          </a:xfrm>
          <a:prstGeom prst="rect">
            <a:avLst/>
          </a:prstGeom>
          <a:noFill/>
        </p:spPr>
        <p:txBody>
          <a:bodyPr wrap="none" lIns="27432" rIns="27432" tIns="0" bIns="0">
            <a:spAutoFit/>
          </a:bodyPr>
          <a:lstStyle/>
          <a:p>
            <a:pPr>
              <a:lnSpc>
                <a:spcPts val="2852"/>
              </a:lnSpc>
              <a:spcBef>
                <a:spcPts val="0"/>
              </a:spcBef>
              <a:spcAft>
                <a:spcPts val="0"/>
              </a:spcAft>
              <a:defRPr sz="2300" b="1">
                <a:solidFill>
                  <a:srgbClr val="193540"/>
                </a:solidFill>
                <a:latin typeface="DejaVu Sans"/>
              </a:defRPr>
            </a:pPr>
            <a:r>
              <a:t>80 / 100 × 100 = 80 %</a:t>
            </a:r>
          </a:p>
        </p:txBody>
      </p:sp>
      <p:sp>
        <p:nvSpPr>
          <p:cNvPr id="12" name="TextBox 11"/>
          <p:cNvSpPr txBox="1"/>
          <p:nvPr/>
        </p:nvSpPr>
        <p:spPr>
          <a:xfrm>
            <a:off x="731520" y="3858768"/>
            <a:ext cx="10058400" cy="346456"/>
          </a:xfrm>
          <a:prstGeom prst="rect">
            <a:avLst/>
          </a:prstGeom>
          <a:noFill/>
        </p:spPr>
        <p:txBody>
          <a:bodyPr wrap="none" lIns="27432" rIns="27432" tIns="0" bIns="0">
            <a:spAutoFit/>
          </a:bodyPr>
          <a:lstStyle/>
          <a:p>
            <a:pPr>
              <a:lnSpc>
                <a:spcPts val="2728"/>
              </a:lnSpc>
              <a:spcBef>
                <a:spcPts val="0"/>
              </a:spcBef>
              <a:spcAft>
                <a:spcPts val="0"/>
              </a:spcAft>
              <a:defRPr sz="2200" b="1">
                <a:solidFill>
                  <a:srgbClr val="193540"/>
                </a:solidFill>
                <a:latin typeface="DejaVu Sans"/>
              </a:defRPr>
            </a:pPr>
            <a:r>
              <a:t>Faktiskt uttag: 125 MWh</a:t>
            </a:r>
          </a:p>
        </p:txBody>
      </p:sp>
      <p:sp>
        <p:nvSpPr>
          <p:cNvPr id="13" name="Rectangle 12"/>
          <p:cNvSpPr/>
          <p:nvPr/>
        </p:nvSpPr>
        <p:spPr>
          <a:xfrm>
            <a:off x="731520" y="4251960"/>
            <a:ext cx="6437375" cy="475488"/>
          </a:xfrm>
          <a:prstGeom prst="rect">
            <a:avLst/>
          </a:prstGeom>
          <a:solidFill>
            <a:srgbClr val="136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68895" y="4251960"/>
            <a:ext cx="3621024" cy="475488"/>
          </a:xfrm>
          <a:prstGeom prst="rect">
            <a:avLst/>
          </a:prstGeom>
          <a:solidFill>
            <a:srgbClr val="CAD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325112"/>
            <a:ext cx="6254495"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FFFFFF"/>
                </a:solidFill>
                <a:latin typeface="DejaVu Sans"/>
              </a:defRPr>
            </a:pPr>
            <a:r>
              <a:t>80 MWh säkrat</a:t>
            </a:r>
          </a:p>
        </p:txBody>
      </p:sp>
      <p:sp>
        <p:nvSpPr>
          <p:cNvPr id="16" name="TextBox 15"/>
          <p:cNvSpPr txBox="1"/>
          <p:nvPr/>
        </p:nvSpPr>
        <p:spPr>
          <a:xfrm>
            <a:off x="7306055" y="4334256"/>
            <a:ext cx="3529584"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193540"/>
                </a:solidFill>
                <a:latin typeface="DejaVu Sans"/>
              </a:defRPr>
            </a:pPr>
            <a:r>
              <a:t>45 MWh</a:t>
            </a:r>
          </a:p>
        </p:txBody>
      </p:sp>
      <p:sp>
        <p:nvSpPr>
          <p:cNvPr id="17" name="TextBox 16"/>
          <p:cNvSpPr txBox="1"/>
          <p:nvPr/>
        </p:nvSpPr>
        <p:spPr>
          <a:xfrm>
            <a:off x="731520" y="4910328"/>
            <a:ext cx="10058400" cy="362204"/>
          </a:xfrm>
          <a:prstGeom prst="rect">
            <a:avLst/>
          </a:prstGeom>
          <a:noFill/>
        </p:spPr>
        <p:txBody>
          <a:bodyPr wrap="none" lIns="27432" rIns="27432" tIns="0" bIns="0">
            <a:spAutoFit/>
          </a:bodyPr>
          <a:lstStyle/>
          <a:p>
            <a:pPr>
              <a:lnSpc>
                <a:spcPts val="2852"/>
              </a:lnSpc>
              <a:spcBef>
                <a:spcPts val="0"/>
              </a:spcBef>
              <a:spcAft>
                <a:spcPts val="0"/>
              </a:spcAft>
              <a:defRPr sz="2300" b="1">
                <a:solidFill>
                  <a:srgbClr val="193540"/>
                </a:solidFill>
                <a:latin typeface="DejaVu Sans"/>
              </a:defRPr>
            </a:pPr>
            <a:r>
              <a:t>80 / 125 × 100 = 64 %</a:t>
            </a:r>
          </a:p>
        </p:txBody>
      </p:sp>
      <p:sp>
        <p:nvSpPr>
          <p:cNvPr id="18" name="TextBox 17"/>
          <p:cNvSpPr txBox="1"/>
          <p:nvPr/>
        </p:nvSpPr>
        <p:spPr>
          <a:xfrm>
            <a:off x="731520" y="6035040"/>
            <a:ext cx="10789920" cy="220472"/>
          </a:xfrm>
          <a:prstGeom prst="rect">
            <a:avLst/>
          </a:prstGeom>
          <a:noFill/>
        </p:spPr>
        <p:txBody>
          <a:bodyPr wrap="none" lIns="27432" rIns="27432" tIns="0" bIns="0">
            <a:spAutoFit/>
          </a:bodyPr>
          <a:lstStyle/>
          <a:p>
            <a:pPr>
              <a:lnSpc>
                <a:spcPts val="1736"/>
              </a:lnSpc>
              <a:spcBef>
                <a:spcPts val="0"/>
              </a:spcBef>
              <a:spcAft>
                <a:spcPts val="0"/>
              </a:spcAft>
              <a:defRPr sz="1400" b="0">
                <a:solidFill>
                  <a:srgbClr val="193540"/>
                </a:solidFill>
                <a:latin typeface="DejaVu Sans"/>
              </a:defRPr>
            </a:pPr>
            <a:r>
              <a:t>Ljus del: öppen volym. Syntetisk kontroll av samma period/prisdel; ingen fakturamodell.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Både högre och lägre marknad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säkringsmekanik med perfekt matchad volym, profil och referens.</a:t>
            </a:r>
          </a:p>
          <a:p>
            <a:pPr>
              <a:lnSpc>
                <a:spcPts val="2480"/>
              </a:lnSpc>
              <a:spcBef>
                <a:spcPts val="0"/>
              </a:spcBef>
              <a:spcAft>
                <a:spcPts val="0"/>
              </a:spcAft>
              <a:defRPr sz="2000" b="0">
                <a:solidFill>
                  <a:srgbClr val="193540"/>
                </a:solidFill>
                <a:latin typeface="DejaVu Sans"/>
              </a:defRPr>
            </a:pPr>
            <a:r>
              <a:t>En prisreferens, inga andra elhandelsdelar, nät, skatt eller moms. Ingen</a:t>
            </a:r>
          </a:p>
          <a:p>
            <a:pPr>
              <a:lnSpc>
                <a:spcPts val="2480"/>
              </a:lnSpc>
              <a:spcBef>
                <a:spcPts val="0"/>
              </a:spcBef>
              <a:spcAft>
                <a:spcPts val="0"/>
              </a:spcAft>
              <a:defRPr sz="2000" b="0">
                <a:solidFill>
                  <a:srgbClr val="193540"/>
                </a:solidFill>
                <a:latin typeface="DejaVu Sans"/>
              </a:defRPr>
            </a:pPr>
            <a:r>
              <a:t>faktisk produktfaktura.</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100 MWh faktisk energi, varav 80 MWh säkrade på 70 öre/kWh.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Scenario A: marknadsreferens 100 öre. B: 40 öre.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Både högre och lägre marknad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Omvandla: faktisk mängd 100 000 kWh; säkrad mängd 80 000 kWh.</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A: fysisk kostnad 100 000 kr. Säkringsresultat 80 000 × (1,00 − 0,70) =</a:t>
            </a:r>
          </a:p>
          <a:p>
            <a:pPr>
              <a:lnSpc>
                <a:spcPts val="2480"/>
              </a:lnSpc>
              <a:spcBef>
                <a:spcPts val="0"/>
              </a:spcBef>
              <a:spcAft>
                <a:spcPts val="0"/>
              </a:spcAft>
              <a:defRPr sz="2000" b="0">
                <a:solidFill>
                  <a:srgbClr val="193540"/>
                </a:solidFill>
                <a:latin typeface="DejaVu Sans"/>
              </a:defRPr>
            </a:pPr>
            <a:r>
              <a:t>+24 000 kr. Nettokostnad 76 000 kr.</a:t>
            </a:r>
          </a:p>
        </p:txBody>
      </p:sp>
      <p:sp>
        <p:nvSpPr>
          <p:cNvPr id="8" name="TextBox 7"/>
          <p:cNvSpPr txBox="1"/>
          <p:nvPr/>
        </p:nvSpPr>
        <p:spPr>
          <a:xfrm>
            <a:off x="603504" y="33223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B: fysisk kostnad 40 000 kr. Säkringsresultat 80 000 × (0,40 − 0,70) =</a:t>
            </a:r>
          </a:p>
          <a:p>
            <a:pPr>
              <a:lnSpc>
                <a:spcPts val="2480"/>
              </a:lnSpc>
              <a:spcBef>
                <a:spcPts val="0"/>
              </a:spcBef>
              <a:spcAft>
                <a:spcPts val="0"/>
              </a:spcAft>
              <a:defRPr sz="2000" b="0">
                <a:solidFill>
                  <a:srgbClr val="193540"/>
                </a:solidFill>
                <a:latin typeface="DejaVu Sans"/>
              </a:defRPr>
            </a:pPr>
            <a:r>
              <a:t>−24 000 kr. Nettokostnad 40 000 − (−24 000) = 64 000 kr.</a:t>
            </a:r>
          </a:p>
        </p:txBody>
      </p:sp>
      <p:sp>
        <p:nvSpPr>
          <p:cNvPr id="9" name="TextBox 8"/>
          <p:cNvSpPr txBox="1"/>
          <p:nvPr/>
        </p:nvSpPr>
        <p:spPr>
          <a:xfrm>
            <a:off x="603504" y="40665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Nettopris: 76 000 ÷ 100 000 = 0,76 kr/kWh = 76 öre/kWh; i B blir 64 000 ÷</a:t>
            </a:r>
          </a:p>
          <a:p>
            <a:pPr>
              <a:lnSpc>
                <a:spcPts val="2480"/>
              </a:lnSpc>
              <a:spcBef>
                <a:spcPts val="0"/>
              </a:spcBef>
              <a:spcAft>
                <a:spcPts val="0"/>
              </a:spcAft>
              <a:defRPr sz="2000" b="0">
                <a:solidFill>
                  <a:srgbClr val="193540"/>
                </a:solidFill>
                <a:latin typeface="DejaVu Sans"/>
              </a:defRPr>
            </a:pPr>
            <a:r>
              <a:t>100 000 = 0,64 kr/kWh = 64 öre/kWh.</a:t>
            </a:r>
          </a:p>
        </p:txBody>
      </p:sp>
      <p:sp>
        <p:nvSpPr>
          <p:cNvPr id="10" name="TextBox 9"/>
          <p:cNvSpPr txBox="1"/>
          <p:nvPr/>
        </p:nvSpPr>
        <p:spPr>
          <a:xfrm>
            <a:off x="603504" y="48107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76 öre vid uppscenario och 64 öre vid nedscenario i den förenklade</a:t>
            </a:r>
          </a:p>
          <a:p>
            <a:pPr>
              <a:lnSpc>
                <a:spcPts val="2480"/>
              </a:lnSpc>
              <a:spcBef>
                <a:spcPts val="0"/>
              </a:spcBef>
              <a:spcAft>
                <a:spcPts val="0"/>
              </a:spcAft>
              <a:defRPr sz="2000" b="0">
                <a:solidFill>
                  <a:srgbClr val="193540"/>
                </a:solidFill>
                <a:latin typeface="DejaVu Sans"/>
              </a:defRPr>
            </a:pPr>
            <a:r>
              <a:t>prisreferensen.</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Samma säkring, olika faktisk täckning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volymkontroll, ingen faktura- eller avvikelsekostnadsmodell. Samma</a:t>
            </a:r>
          </a:p>
          <a:p>
            <a:pPr>
              <a:lnSpc>
                <a:spcPts val="2480"/>
              </a:lnSpc>
              <a:spcBef>
                <a:spcPts val="0"/>
              </a:spcBef>
              <a:spcAft>
                <a:spcPts val="0"/>
              </a:spcAft>
              <a:defRPr sz="2000" b="0">
                <a:solidFill>
                  <a:srgbClr val="193540"/>
                </a:solidFill>
                <a:latin typeface="DejaVu Sans"/>
              </a:defRPr>
            </a:pPr>
            <a:r>
              <a:t>definierade period och prisdel antas.</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Underlag 100 MWh; säkrat 80 MWh.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Faktiskt uttag i två olika scenarier: 125 respektive 60 MWh.</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Samma säkring, olika faktisk täckning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Prognosandel: 80 ÷ 100 × 100 = 80 procent.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Vid 125 MWh: 80 ÷ 125 × 100 = 64 procent.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Vid 60 MWh: 80 ÷ 60 × 100 ≈ 133,33 procent.</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Andelen över 100 visar översäkring i denna förenklade period, inte en extra</a:t>
            </a:r>
          </a:p>
          <a:p>
            <a:pPr>
              <a:lnSpc>
                <a:spcPts val="2480"/>
              </a:lnSpc>
              <a:spcBef>
                <a:spcPts val="0"/>
              </a:spcBef>
              <a:spcAft>
                <a:spcPts val="0"/>
              </a:spcAft>
              <a:defRPr sz="2000" b="0">
                <a:solidFill>
                  <a:srgbClr val="193540"/>
                </a:solidFill>
                <a:latin typeface="DejaVu Sans"/>
              </a:defRPr>
            </a:pPr>
            <a:r>
              <a:t>energileverans.</a:t>
            </a:r>
          </a:p>
        </p:txBody>
      </p:sp>
      <p:sp>
        <p:nvSpPr>
          <p:cNvPr id="10" name="TextBox 9"/>
          <p:cNvSpPr txBox="1"/>
          <p:nvPr/>
        </p:nvSpPr>
        <p:spPr>
          <a:xfrm>
            <a:off x="603504" y="4180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Faktisk täckning är 64 procent respektive cirka 133 procent.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80 procent säkrat betyder 80 procent fast faktura.</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Andelen gäller definierad volym och prisdel, inte elnät, skatt eller</a:t>
            </a:r>
          </a:p>
          <a:p>
            <a:pPr>
              <a:lnSpc>
                <a:spcPts val="2480"/>
              </a:lnSpc>
              <a:spcBef>
                <a:spcPts val="0"/>
              </a:spcBef>
              <a:spcAft>
                <a:spcPts val="0"/>
              </a:spcAft>
              <a:defRPr sz="2000" b="0">
                <a:solidFill>
                  <a:srgbClr val="193540"/>
                </a:solidFill>
                <a:latin typeface="DejaVu Sans"/>
              </a:defRPr>
            </a:pPr>
            <a:r>
              <a:t>alla kostnader.</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Prissäkring kan bara ge kunden en fördel.</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Marknadsfall kan göra säkrad del dyrare än marknaden. Det är en</a:t>
            </a:r>
          </a:p>
          <a:p>
            <a:pPr>
              <a:lnSpc>
                <a:spcPts val="2480"/>
              </a:lnSpc>
              <a:spcBef>
                <a:spcPts val="0"/>
              </a:spcBef>
              <a:spcAft>
                <a:spcPts val="0"/>
              </a:spcAft>
              <a:defRPr sz="2000" b="0">
                <a:solidFill>
                  <a:srgbClr val="193540"/>
                </a:solidFill>
                <a:latin typeface="DejaVu Sans"/>
              </a:defRPr>
            </a:pPr>
            <a:r>
              <a:t>avvägning, inte en lägstaprisgaranti.</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SYS och EPAD gör alla produkter till fastpris.</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Dessa referenser täcker inte automatiskt profil, öppen volym eller</a:t>
            </a:r>
          </a:p>
          <a:p>
            <a:pPr>
              <a:lnSpc>
                <a:spcPts val="2480"/>
              </a:lnSpc>
              <a:spcBef>
                <a:spcPts val="0"/>
              </a:spcBef>
              <a:spcAft>
                <a:spcPts val="0"/>
              </a:spcAft>
              <a:defRPr sz="2000" b="0">
                <a:solidFill>
                  <a:srgbClr val="193540"/>
                </a:solidFill>
                <a:latin typeface="DejaVu Sans"/>
              </a:defRPr>
            </a:pPr>
            <a:r>
              <a:t>andra avtalsdelar.</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99</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Prissäkring bestämmer vissa prisdelar för en avtalad mängd och period. Det</a:t>
            </a:r>
          </a:p>
          <a:p>
            <a:pPr>
              <a:lnSpc>
                <a:spcPts val="2480"/>
              </a:lnSpc>
              <a:spcBef>
                <a:spcPts val="0"/>
              </a:spcBef>
              <a:spcAft>
                <a:spcPts val="0"/>
              </a:spcAft>
              <a:defRPr sz="2000" b="0">
                <a:solidFill>
                  <a:srgbClr val="193540"/>
                </a:solidFill>
                <a:latin typeface="DejaVu Sans"/>
              </a:defRPr>
            </a:pPr>
            <a:r>
              <a:t>minskar exponeringen mot högre marknad i de delarna, men de följer inte</a:t>
            </a:r>
          </a:p>
          <a:p>
            <a:pPr>
              <a:lnSpc>
                <a:spcPts val="2480"/>
              </a:lnSpc>
              <a:spcBef>
                <a:spcPts val="0"/>
              </a:spcBef>
              <a:spcAft>
                <a:spcPts val="0"/>
              </a:spcAft>
              <a:defRPr sz="2000" b="0">
                <a:solidFill>
                  <a:srgbClr val="193540"/>
                </a:solidFill>
                <a:latin typeface="DejaVu Sans"/>
              </a:defRPr>
            </a:pPr>
            <a:r>
              <a:t>med ned vid prisfall. Andra delar och mängden ni faktiskt använder kan</a:t>
            </a:r>
          </a:p>
          <a:p>
            <a:pPr>
              <a:lnSpc>
                <a:spcPts val="2480"/>
              </a:lnSpc>
              <a:spcBef>
                <a:spcPts val="0"/>
              </a:spcBef>
              <a:spcAft>
                <a:spcPts val="0"/>
              </a:spcAft>
              <a:defRPr sz="2000" b="0">
                <a:solidFill>
                  <a:srgbClr val="193540"/>
                </a:solidFill>
                <a:latin typeface="DejaVu Sans"/>
              </a:defRPr>
            </a:pPr>
            <a:r>
              <a:t>fortfarande ändra slutkostnaden.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Ekonomichefen vill kunna lova en fast budget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100</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Fastigheten har ett underlag på 100 MWh och genomförd säkring på</a:t>
            </a:r>
          </a:p>
          <a:p>
            <a:pPr>
              <a:lnSpc>
                <a:spcPts val="2480"/>
              </a:lnSpc>
              <a:spcBef>
                <a:spcPts val="0"/>
              </a:spcBef>
              <a:spcAft>
                <a:spcPts val="0"/>
              </a:spcAft>
              <a:defRPr sz="2000" b="0">
                <a:solidFill>
                  <a:srgbClr val="193540"/>
                </a:solidFill>
                <a:latin typeface="DejaVu Sans"/>
              </a:defRPr>
            </a:pPr>
            <a:r>
              <a:t>80 MWh för definierade SYS/EPAD-komponenter. Med nya laddare blir det</a:t>
            </a:r>
          </a:p>
          <a:p>
            <a:pPr>
              <a:lnSpc>
                <a:spcPts val="2480"/>
              </a:lnSpc>
              <a:spcBef>
                <a:spcPts val="0"/>
              </a:spcBef>
              <a:spcAft>
                <a:spcPts val="0"/>
              </a:spcAft>
              <a:defRPr sz="2000" b="0">
                <a:solidFill>
                  <a:srgbClr val="193540"/>
                </a:solidFill>
                <a:latin typeface="DejaVu Sans"/>
              </a:defRPr>
            </a:pPr>
            <a:r>
              <a:t>faktiska uttaget för perioden 125 MWh. Ekonomichefen säger: 'Vi är</a:t>
            </a:r>
          </a:p>
          <a:p>
            <a:pPr>
              <a:lnSpc>
                <a:spcPts val="2480"/>
              </a:lnSpc>
              <a:spcBef>
                <a:spcPts val="0"/>
              </a:spcBef>
              <a:spcAft>
                <a:spcPts val="0"/>
              </a:spcAft>
              <a:defRPr sz="2000" b="0">
                <a:solidFill>
                  <a:srgbClr val="193540"/>
                </a:solidFill>
                <a:latin typeface="DejaVu Sans"/>
              </a:defRPr>
            </a:pPr>
            <a:r>
              <a:t>fortfarande 80 procent fasta, så styrelsen kan räkna med samma faktura.'</a:t>
            </a:r>
          </a:p>
          <a:p>
            <a:pPr>
              <a:lnSpc>
                <a:spcPts val="2480"/>
              </a:lnSpc>
              <a:spcBef>
                <a:spcPts val="0"/>
              </a:spcBef>
              <a:spcAft>
                <a:spcPts val="0"/>
              </a:spcAft>
              <a:defRPr sz="2000" b="0">
                <a:solidFill>
                  <a:srgbClr val="193540"/>
                </a:solidFill>
                <a:latin typeface="DejaVu Sans"/>
              </a:defRPr>
            </a:pPr>
            <a:r>
              <a:t>Kunden vill minska uppgångsrisken men följa hela marknaden ned.</a:t>
            </a:r>
          </a:p>
        </p:txBody>
      </p:sp>
      <p:sp>
        <p:nvSpPr>
          <p:cNvPr id="7" name="TextBox 6"/>
          <p:cNvSpPr txBox="1"/>
          <p:nvPr/>
        </p:nvSpPr>
        <p:spPr>
          <a:xfrm>
            <a:off x="603504" y="38379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den nya faktiska täckningen.</a:t>
            </a:r>
          </a:p>
        </p:txBody>
      </p:sp>
      <p:sp>
        <p:nvSpPr>
          <p:cNvPr id="8" name="TextBox 7"/>
          <p:cNvSpPr txBox="1"/>
          <p:nvPr/>
        </p:nvSpPr>
        <p:spPr>
          <a:xfrm>
            <a:off x="603504" y="42672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Korrigera påståendena om andel och faktura.</a:t>
            </a:r>
          </a:p>
        </p:txBody>
      </p:sp>
      <p:sp>
        <p:nvSpPr>
          <p:cNvPr id="9" name="TextBox 8"/>
          <p:cNvSpPr txBox="1"/>
          <p:nvPr/>
        </p:nvSpPr>
        <p:spPr>
          <a:xfrm>
            <a:off x="603504" y="46964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avvägningen vid marknadsfall.</a:t>
            </a:r>
          </a:p>
        </p:txBody>
      </p:sp>
      <p:sp>
        <p:nvSpPr>
          <p:cNvPr id="10" name="TextBox 9"/>
          <p:cNvSpPr txBox="1"/>
          <p:nvPr/>
        </p:nvSpPr>
        <p:spPr>
          <a:xfrm>
            <a:off x="603504" y="51257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vilka uppgifter som måste granskas innan budgetunderlag lämnas.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Ny faktisk täckning anges som 64 procent i korrekt scope.</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Prisdel, mängd och fakturabelopp hålls isär.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Prisfall och uppgång förklaras symmetriskt utan garanti.</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Uppdaterade data, genomförd handel och avtalsvillkor efterfrågas.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Vad behöver du veta när en kund hör '80 procent säkrat'?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Volymunderlag, period och prisdelar samt hur faktisk mängd kan avvika.</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Bara hela förra årets fakturabelopp.</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Att alla produkter alltid använder 80 procent.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80 MWh är säkrade och kunden använder 125 MWh i samma förenklade</a:t>
            </a:r>
          </a:p>
          <a:p>
            <a:pPr>
              <a:lnSpc>
                <a:spcPts val="2480"/>
              </a:lnSpc>
              <a:spcBef>
                <a:spcPts val="0"/>
              </a:spcBef>
              <a:spcAft>
                <a:spcPts val="0"/>
              </a:spcAft>
              <a:defRPr sz="2000" b="0">
                <a:solidFill>
                  <a:srgbClr val="193540"/>
                </a:solidFill>
                <a:latin typeface="DejaVu Sans"/>
              </a:defRPr>
            </a:pPr>
            <a:r>
              <a:t>period. Hur stor är faktisk täckning?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 perfekt matchad modell är 80 procent säkrat på 70 öre och 20 procent</a:t>
            </a:r>
          </a:p>
          <a:p>
            <a:pPr>
              <a:lnSpc>
                <a:spcPts val="2480"/>
              </a:lnSpc>
              <a:spcBef>
                <a:spcPts val="0"/>
              </a:spcBef>
              <a:spcAft>
                <a:spcPts val="0"/>
              </a:spcAft>
              <a:defRPr sz="2000" b="0">
                <a:solidFill>
                  <a:srgbClr val="193540"/>
                </a:solidFill>
                <a:latin typeface="DejaVu Sans"/>
              </a:defRPr>
            </a:pPr>
            <a:r>
              <a:t>osäkrat på 40 öre. Vad blir nettopriset för referensen?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säger att SYS och EPAD ger helt fast slutpris. Vad behöver ditt svar</a:t>
            </a:r>
          </a:p>
          <a:p>
            <a:pPr>
              <a:lnSpc>
                <a:spcPts val="2480"/>
              </a:lnSpc>
              <a:spcBef>
                <a:spcPts val="0"/>
              </a:spcBef>
              <a:spcAft>
                <a:spcPts val="0"/>
              </a:spcAft>
              <a:defRPr sz="2000" b="0">
                <a:solidFill>
                  <a:srgbClr val="193540"/>
                </a:solidFill>
                <a:latin typeface="DejaVu Sans"/>
              </a:defRPr>
            </a:pPr>
            <a:r>
              <a:t>förklara?</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05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Säg vilken prisdel, volym och period som säkras.</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SYS är inte kundens lokala spotpris; dubbelräkna inte EPAD.</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 både upp- och nedscenario.</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 prognosandel från faktisk täckning och genomförda positioner.</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Fast enhetspris är inte fast fakturabelopp.</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06 · Gemensam grund</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Från kundens behov till en rättvis</a:t>
            </a:r>
          </a:p>
          <a:p>
            <a:pPr>
              <a:lnSpc>
                <a:spcPts val="3472"/>
              </a:lnSpc>
              <a:spcBef>
                <a:spcPts val="0"/>
              </a:spcBef>
              <a:spcAft>
                <a:spcPts val="0"/>
              </a:spcAft>
              <a:defRPr sz="2800" b="1">
                <a:solidFill>
                  <a:srgbClr val="FFFFFF"/>
                </a:solidFill>
                <a:latin typeface="DejaVu Sans"/>
              </a:defRPr>
            </a:pPr>
            <a:r>
              <a:t>avtalsjämförelse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107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Ställa frågor om budget, drift, förändringar och beslut före produktförslag.</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Skapa en jämförelse med samma anläggningar, volym, period och</a:t>
            </a:r>
          </a:p>
          <a:p>
            <a:pPr>
              <a:lnSpc>
                <a:spcPts val="2480"/>
              </a:lnSpc>
              <a:spcBef>
                <a:spcPts val="0"/>
              </a:spcBef>
              <a:spcAft>
                <a:spcPts val="0"/>
              </a:spcAft>
              <a:defRPr sz="2000" b="0">
                <a:solidFill>
                  <a:srgbClr val="FFFFFF"/>
                </a:solidFill>
                <a:latin typeface="DejaVu Sans"/>
              </a:defRPr>
            </a:pPr>
            <a:r>
              <a:t>prisomfattning.</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historiskt utfall från framtidsscenario och löfte.</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Motivera en rekommendation och ange när den behöver ändras.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Gör önskemålet konkret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'Billigast' kan betyda lägst förväntad kostnad, lägst påslag eller att slippa</a:t>
            </a:r>
          </a:p>
          <a:p>
            <a:pPr>
              <a:lnSpc>
                <a:spcPts val="2480"/>
              </a:lnSpc>
              <a:spcBef>
                <a:spcPts val="0"/>
              </a:spcBef>
              <a:spcAft>
                <a:spcPts val="0"/>
              </a:spcAft>
              <a:defRPr sz="2000" b="0">
                <a:solidFill>
                  <a:srgbClr val="193540"/>
                </a:solidFill>
                <a:latin typeface="DejaVu Sans"/>
              </a:defRPr>
            </a:pPr>
            <a:r>
              <a:t>obehagliga överraskningar. 'Tryggt' kan betyda känt enhetspris eller mindre</a:t>
            </a:r>
          </a:p>
          <a:p>
            <a:pPr>
              <a:lnSpc>
                <a:spcPts val="2480"/>
              </a:lnSpc>
              <a:spcBef>
                <a:spcPts val="0"/>
              </a:spcBef>
              <a:spcAft>
                <a:spcPts val="0"/>
              </a:spcAft>
              <a:defRPr sz="2000" b="0">
                <a:solidFill>
                  <a:srgbClr val="193540"/>
                </a:solidFill>
                <a:latin typeface="DejaVu Sans"/>
              </a:defRPr>
            </a:pPr>
            <a:r>
              <a:t>variation i en viss del.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Undersök driften: när används elen och vilka delar kan faktiskt flyttas? Fråga</a:t>
            </a:r>
          </a:p>
          <a:p>
            <a:pPr>
              <a:lnSpc>
                <a:spcPts val="2480"/>
              </a:lnSpc>
              <a:spcBef>
                <a:spcPts val="0"/>
              </a:spcBef>
              <a:spcAft>
                <a:spcPts val="0"/>
              </a:spcAft>
              <a:defRPr sz="2000" b="0">
                <a:solidFill>
                  <a:srgbClr val="193540"/>
                </a:solidFill>
                <a:latin typeface="DejaVu Sans"/>
              </a:defRPr>
            </a:pPr>
            <a:r>
              <a:t>om nya maskiner, laddning, solceller, lokaler och ändrade öppettider. Ett</a:t>
            </a:r>
          </a:p>
          <a:p>
            <a:pPr>
              <a:lnSpc>
                <a:spcPts val="2480"/>
              </a:lnSpc>
              <a:spcBef>
                <a:spcPts val="0"/>
              </a:spcBef>
              <a:spcAft>
                <a:spcPts val="0"/>
              </a:spcAft>
              <a:defRPr sz="2000" b="0">
                <a:solidFill>
                  <a:srgbClr val="193540"/>
                </a:solidFill>
                <a:latin typeface="DejaVu Sans"/>
              </a:defRPr>
            </a:pPr>
            <a:r>
              <a:t>gammalt årstal kan vara relevant historik men en dålig framtidsprognos.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Samla rätt underlag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109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Du behöver rätt anläggningar och elområden, relevanta månadsvolymer och</a:t>
            </a:r>
          </a:p>
          <a:p>
            <a:pPr>
              <a:lnSpc>
                <a:spcPts val="2480"/>
              </a:lnSpc>
              <a:spcBef>
                <a:spcPts val="0"/>
              </a:spcBef>
              <a:spcAft>
                <a:spcPts val="0"/>
              </a:spcAft>
              <a:defRPr sz="2000" b="0">
                <a:solidFill>
                  <a:srgbClr val="193540"/>
                </a:solidFill>
                <a:latin typeface="DejaVu Sans"/>
              </a:defRPr>
            </a:pPr>
            <a:r>
              <a:t>intervallmätdata när tidsprofil ska bedömas. Nuvarande avtal och fakturor</a:t>
            </a:r>
          </a:p>
          <a:p>
            <a:pPr>
              <a:lnSpc>
                <a:spcPts val="2480"/>
              </a:lnSpc>
              <a:spcBef>
                <a:spcPts val="0"/>
              </a:spcBef>
              <a:spcAft>
                <a:spcPts val="0"/>
              </a:spcAft>
              <a:defRPr sz="2000" b="0">
                <a:solidFill>
                  <a:srgbClr val="193540"/>
                </a:solidFill>
                <a:latin typeface="DejaVu Sans"/>
              </a:defRPr>
            </a:pPr>
            <a:r>
              <a:t>visar omfattning, avgifter och villkor.</a:t>
            </a:r>
          </a:p>
        </p:txBody>
      </p:sp>
      <p:sp>
        <p:nvSpPr>
          <p:cNvPr id="7" name="TextBox 6"/>
          <p:cNvSpPr txBox="1"/>
          <p:nvPr/>
        </p:nvSpPr>
        <p:spPr>
          <a:xfrm>
            <a:off x="603504" y="320802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Årsproduktion från solceller ska inte dras av slentrianmässigt från</a:t>
            </a:r>
          </a:p>
          <a:p>
            <a:pPr>
              <a:lnSpc>
                <a:spcPts val="2480"/>
              </a:lnSpc>
              <a:spcBef>
                <a:spcPts val="0"/>
              </a:spcBef>
              <a:spcAft>
                <a:spcPts val="0"/>
              </a:spcAft>
              <a:defRPr sz="2000" b="0">
                <a:solidFill>
                  <a:srgbClr val="193540"/>
                </a:solidFill>
                <a:latin typeface="DejaVu Sans"/>
              </a:defRPr>
            </a:pPr>
            <a:r>
              <a:t>årsanvändning: samtidig egenanvändning och export gör att faktiskt nätinköp</a:t>
            </a:r>
          </a:p>
          <a:p>
            <a:pPr>
              <a:lnSpc>
                <a:spcPts val="2480"/>
              </a:lnSpc>
              <a:spcBef>
                <a:spcPts val="0"/>
              </a:spcBef>
              <a:spcAft>
                <a:spcPts val="0"/>
              </a:spcAft>
              <a:defRPr sz="2000" b="0">
                <a:solidFill>
                  <a:srgbClr val="193540"/>
                </a:solidFill>
                <a:latin typeface="DejaVu Sans"/>
              </a:defRPr>
            </a:pPr>
            <a:r>
              <a:t>behöver följas över tid. En fullmakt ger bara de befogenheter som framgår av</a:t>
            </a:r>
          </a:p>
          <a:p>
            <a:pPr>
              <a:lnSpc>
                <a:spcPts val="2480"/>
              </a:lnSpc>
              <a:spcBef>
                <a:spcPts val="0"/>
              </a:spcBef>
              <a:spcAft>
                <a:spcPts val="0"/>
              </a:spcAft>
              <a:defRPr sz="2000" b="0">
                <a:solidFill>
                  <a:srgbClr val="193540"/>
                </a:solidFill>
                <a:latin typeface="DejaVu Sans"/>
              </a:defRPr>
            </a:pPr>
            <a:r>
              <a:t>den.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Jämför samma sak på båda sidor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Använd samma mätpunkter, elområden, period och energimängder för</a:t>
            </a:r>
          </a:p>
          <a:p>
            <a:pPr>
              <a:lnSpc>
                <a:spcPts val="2480"/>
              </a:lnSpc>
              <a:spcBef>
                <a:spcPts val="0"/>
              </a:spcBef>
              <a:spcAft>
                <a:spcPts val="0"/>
              </a:spcAft>
              <a:defRPr sz="2000" b="0">
                <a:solidFill>
                  <a:srgbClr val="193540"/>
                </a:solidFill>
                <a:latin typeface="DejaVu Sans"/>
              </a:defRPr>
            </a:pPr>
            <a:r>
              <a:t>alternativen. Definiera vilka elhandelsdelar och fasta avgifter som ingår och</a:t>
            </a:r>
          </a:p>
          <a:p>
            <a:pPr>
              <a:lnSpc>
                <a:spcPts val="2480"/>
              </a:lnSpc>
              <a:spcBef>
                <a:spcPts val="0"/>
              </a:spcBef>
              <a:spcAft>
                <a:spcPts val="0"/>
              </a:spcAft>
              <a:defRPr sz="2000" b="0">
                <a:solidFill>
                  <a:srgbClr val="193540"/>
                </a:solidFill>
                <a:latin typeface="DejaVu Sans"/>
              </a:defRPr>
            </a:pPr>
            <a:r>
              <a:t>hur moms hanteras.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jämförelse av historik säger vad som hände under den periodens</a:t>
            </a:r>
          </a:p>
          <a:p>
            <a:pPr>
              <a:lnSpc>
                <a:spcPts val="2480"/>
              </a:lnSpc>
              <a:spcBef>
                <a:spcPts val="0"/>
              </a:spcBef>
              <a:spcAft>
                <a:spcPts val="0"/>
              </a:spcAft>
              <a:defRPr sz="2000" b="0">
                <a:solidFill>
                  <a:srgbClr val="193540"/>
                </a:solidFill>
                <a:latin typeface="DejaVu Sans"/>
              </a:defRPr>
            </a:pPr>
            <a:r>
              <a:t>förutsättningar. Ett framtidsscenario säger vad som händer om antagandena</a:t>
            </a:r>
          </a:p>
          <a:p>
            <a:pPr>
              <a:lnSpc>
                <a:spcPts val="2480"/>
              </a:lnSpc>
              <a:spcBef>
                <a:spcPts val="0"/>
              </a:spcBef>
              <a:spcAft>
                <a:spcPts val="0"/>
              </a:spcAft>
              <a:defRPr sz="2000" b="0">
                <a:solidFill>
                  <a:srgbClr val="193540"/>
                </a:solidFill>
                <a:latin typeface="DejaVu Sans"/>
              </a:defRPr>
            </a:pPr>
            <a:r>
              <a:t>blir verklighet. Märk dem tydligt.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Motivera förslag och villkor för omprövning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Koppla rekommendationen till behovet: ett känt enhetspris, direkt koppling till</a:t>
            </a:r>
          </a:p>
          <a:p>
            <a:pPr>
              <a:lnSpc>
                <a:spcPts val="2480"/>
              </a:lnSpc>
              <a:spcBef>
                <a:spcPts val="0"/>
              </a:spcBef>
              <a:spcAft>
                <a:spcPts val="0"/>
              </a:spcAft>
              <a:defRPr sz="2000" b="0">
                <a:solidFill>
                  <a:srgbClr val="193540"/>
                </a:solidFill>
                <a:latin typeface="DejaVu Sans"/>
              </a:defRPr>
            </a:pPr>
            <a:r>
              <a:t>användningstid eller planerade inköp över tid. Årsvolym och bransch räcker</a:t>
            </a:r>
          </a:p>
          <a:p>
            <a:pPr>
              <a:lnSpc>
                <a:spcPts val="2480"/>
              </a:lnSpc>
              <a:spcBef>
                <a:spcPts val="0"/>
              </a:spcBef>
              <a:spcAft>
                <a:spcPts val="0"/>
              </a:spcAft>
              <a:defRPr sz="2000" b="0">
                <a:solidFill>
                  <a:srgbClr val="193540"/>
                </a:solidFill>
                <a:latin typeface="DejaVu Sans"/>
              </a:defRPr>
            </a:pPr>
            <a:r>
              <a:t>inte som enda skäl.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Låt kunden återberätta vad som är bestämt och vad som kan ändras. Om</a:t>
            </a:r>
          </a:p>
          <a:p>
            <a:pPr>
              <a:lnSpc>
                <a:spcPts val="2480"/>
              </a:lnSpc>
              <a:spcBef>
                <a:spcPts val="0"/>
              </a:spcBef>
              <a:spcAft>
                <a:spcPts val="0"/>
              </a:spcAft>
              <a:defRPr sz="2000" b="0">
                <a:solidFill>
                  <a:srgbClr val="193540"/>
                </a:solidFill>
                <a:latin typeface="DejaVu Sans"/>
              </a:defRPr>
            </a:pPr>
            <a:r>
              <a:t>svaret blir 'hela fakturan är fast' när endast en prisdel är säkrad behöver</a:t>
            </a:r>
          </a:p>
          <a:p>
            <a:pPr>
              <a:lnSpc>
                <a:spcPts val="2480"/>
              </a:lnSpc>
              <a:spcBef>
                <a:spcPts val="0"/>
              </a:spcBef>
              <a:spcAft>
                <a:spcPts val="0"/>
              </a:spcAft>
              <a:defRPr sz="2000" b="0">
                <a:solidFill>
                  <a:srgbClr val="193540"/>
                </a:solidFill>
                <a:latin typeface="DejaVu Sans"/>
              </a:defRPr>
            </a:pPr>
            <a:r>
              <a:t>förklaringen korrigeras före beslut.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Ett tydligt samtal kan ändå vara enkelt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Börja med kundens mål, visa relevant exempel och säg begränsningen direkt.</a:t>
            </a:r>
          </a:p>
          <a:p>
            <a:pPr>
              <a:lnSpc>
                <a:spcPts val="2480"/>
              </a:lnSpc>
              <a:spcBef>
                <a:spcPts val="0"/>
              </a:spcBef>
              <a:spcAft>
                <a:spcPts val="0"/>
              </a:spcAft>
              <a:defRPr sz="2000" b="0">
                <a:solidFill>
                  <a:srgbClr val="193540"/>
                </a:solidFill>
                <a:latin typeface="DejaVu Sans"/>
              </a:defRPr>
            </a:pPr>
            <a:r>
              <a:t>Använd kundens ord. Saknade uppgifter ska verifieras.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Risk i kronor för bageriet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framtidsscenario med oförändrad årsvolym och en jämförbar</a:t>
            </a:r>
          </a:p>
          <a:p>
            <a:pPr>
              <a:lnSpc>
                <a:spcPts val="2480"/>
              </a:lnSpc>
              <a:spcBef>
                <a:spcPts val="0"/>
              </a:spcBef>
              <a:spcAft>
                <a:spcPts val="0"/>
              </a:spcAft>
              <a:defRPr sz="2000" b="0">
                <a:solidFill>
                  <a:srgbClr val="193540"/>
                </a:solidFill>
                <a:latin typeface="DejaVu Sans"/>
              </a:defRPr>
            </a:pPr>
            <a:r>
              <a:t>energipriskomponent. Övrig elhandel, nät, skatt och moms är utanför.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Förväntad köpt mängd 120 MWh per år.</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Ett antaget högre snitt: +20 öre/kWh.</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Risk i kronor för bageriet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120 MWh = 120 000 kWh.</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20 öre = 0,20 kr/kWh.</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Ökad kostnad: 120 000 × 0,20 = 24 000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Använd 24 000 kr som en konkret budgetfråga, inte som prognos.</a:t>
            </a:r>
          </a:p>
        </p:txBody>
      </p:sp>
      <p:sp>
        <p:nvSpPr>
          <p:cNvPr id="10" name="TextBox 9"/>
          <p:cNvSpPr txBox="1"/>
          <p:nvPr/>
        </p:nvSpPr>
        <p:spPr>
          <a:xfrm>
            <a:off x="603504" y="38658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24 000 kr högre årsbelopp för den angivna prisdelen om antagandet</a:t>
            </a:r>
          </a:p>
          <a:p>
            <a:pPr>
              <a:lnSpc>
                <a:spcPts val="2480"/>
              </a:lnSpc>
              <a:spcBef>
                <a:spcPts val="0"/>
              </a:spcBef>
              <a:spcAft>
                <a:spcPts val="0"/>
              </a:spcAft>
              <a:defRPr sz="2000" b="0">
                <a:solidFill>
                  <a:srgbClr val="193540"/>
                </a:solidFill>
                <a:latin typeface="DejaVu Sans"/>
              </a:defRPr>
            </a:pPr>
            <a:r>
              <a:t>inträffar.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Två månader kan peka åt olika håll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jämförelse av samma elhandelsdelar före nät, skatt och moms.</a:t>
            </a:r>
          </a:p>
          <a:p>
            <a:pPr>
              <a:lnSpc>
                <a:spcPts val="2480"/>
              </a:lnSpc>
              <a:spcBef>
                <a:spcPts val="0"/>
              </a:spcBef>
              <a:spcAft>
                <a:spcPts val="0"/>
              </a:spcAft>
              <a:defRPr sz="2000" b="0">
                <a:solidFill>
                  <a:srgbClr val="193540"/>
                </a:solidFill>
                <a:latin typeface="DejaVu Sans"/>
              </a:defRPr>
            </a:pPr>
            <a:r>
              <a:t>Endast januari och juli, inte hela året eller en offert.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Januari 20 000 kWh: nuvarande jämförpris 100 öre, alternativ 90 öre.</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Juli 5 000 kWh: nuvarande 40 öre, alternativ 70 öre.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Två månader kan peka åt olika håll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Nuvarande kostnad: 20 000 × 1,00 + 5 000 × 0,40 = 22 000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Alternativ: 20 000 × 0,90 + 5 000 × 0,70 = 21 500 kr.</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Januaris skillnad är +2 000 kr; julis −1 500 kr när nuvarande minus</a:t>
            </a:r>
          </a:p>
          <a:p>
            <a:pPr>
              <a:lnSpc>
                <a:spcPts val="2480"/>
              </a:lnSpc>
              <a:spcBef>
                <a:spcPts val="0"/>
              </a:spcBef>
              <a:spcAft>
                <a:spcPts val="0"/>
              </a:spcAft>
              <a:defRPr sz="2000" b="0">
                <a:solidFill>
                  <a:srgbClr val="193540"/>
                </a:solidFill>
                <a:latin typeface="DejaVu Sans"/>
              </a:defRPr>
            </a:pPr>
            <a:r>
              <a:t>alternativ räknas.</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Total skillnad: 500 kr, eller 500 ÷ 22 000 × 100 ≈ 2,27 procent.</a:t>
            </a:r>
          </a:p>
        </p:txBody>
      </p:sp>
      <p:sp>
        <p:nvSpPr>
          <p:cNvPr id="10" name="TextBox 9"/>
          <p:cNvSpPr txBox="1"/>
          <p:nvPr/>
        </p:nvSpPr>
        <p:spPr>
          <a:xfrm>
            <a:off x="603504" y="4180839"/>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Alternativet är 500 kr billigare för just de två månaderna och</a:t>
            </a:r>
          </a:p>
          <a:p>
            <a:pPr>
              <a:lnSpc>
                <a:spcPts val="2480"/>
              </a:lnSpc>
              <a:spcBef>
                <a:spcPts val="0"/>
              </a:spcBef>
              <a:spcAft>
                <a:spcPts val="0"/>
              </a:spcAft>
              <a:defRPr sz="2000" b="0">
                <a:solidFill>
                  <a:srgbClr val="193540"/>
                </a:solidFill>
                <a:latin typeface="DejaVu Sans"/>
              </a:defRPr>
            </a:pPr>
            <a:r>
              <a:t>jämförda delarna.</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viss årsvolym avgör automatiskt rätt produkt.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Volym är ett underlag. Budgetmål, profil, framtida förändringar</a:t>
            </a:r>
          </a:p>
          <a:p>
            <a:pPr>
              <a:lnSpc>
                <a:spcPts val="2480"/>
              </a:lnSpc>
              <a:spcBef>
                <a:spcPts val="0"/>
              </a:spcBef>
              <a:spcAft>
                <a:spcPts val="0"/>
              </a:spcAft>
              <a:defRPr sz="2000" b="0">
                <a:solidFill>
                  <a:srgbClr val="193540"/>
                </a:solidFill>
                <a:latin typeface="DejaVu Sans"/>
              </a:defRPr>
            </a:pPr>
            <a:r>
              <a:t>och aktuella villkor avgör vad som behöver prövas.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annan kund sparade 15 procent, alltså gör alla det.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Det resultatet gäller den kundens data, period och modell. Det är</a:t>
            </a:r>
          </a:p>
          <a:p>
            <a:pPr>
              <a:lnSpc>
                <a:spcPts val="2480"/>
              </a:lnSpc>
              <a:spcBef>
                <a:spcPts val="0"/>
              </a:spcBef>
              <a:spcAft>
                <a:spcPts val="0"/>
              </a:spcAft>
              <a:defRPr sz="2000" b="0">
                <a:solidFill>
                  <a:srgbClr val="193540"/>
                </a:solidFill>
                <a:latin typeface="DejaVu Sans"/>
              </a:defRPr>
            </a:pPr>
            <a:r>
              <a:t>inget generellt framtidslöfte.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119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billig januarimånad visar att avtalet är bäst över året.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Beräkna hela relevanta perioden med kundens volymvikter och</a:t>
            </a:r>
          </a:p>
          <a:p>
            <a:pPr>
              <a:lnSpc>
                <a:spcPts val="2480"/>
              </a:lnSpc>
              <a:spcBef>
                <a:spcPts val="0"/>
              </a:spcBef>
              <a:spcAft>
                <a:spcPts val="0"/>
              </a:spcAft>
              <a:defRPr sz="2000" b="0">
                <a:solidFill>
                  <a:srgbClr val="193540"/>
                </a:solidFill>
                <a:latin typeface="DejaVu Sans"/>
              </a:defRPr>
            </a:pPr>
            <a:r>
              <a:t>samma kostnadsdelar.</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120</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 börjar med er budget och hur ni använder el, sedan jämför vi alternativen</a:t>
            </a:r>
          </a:p>
          <a:p>
            <a:pPr>
              <a:lnSpc>
                <a:spcPts val="2480"/>
              </a:lnSpc>
              <a:spcBef>
                <a:spcPts val="0"/>
              </a:spcBef>
              <a:spcAft>
                <a:spcPts val="0"/>
              </a:spcAft>
              <a:defRPr sz="2000" b="0">
                <a:solidFill>
                  <a:srgbClr val="193540"/>
                </a:solidFill>
                <a:latin typeface="DejaVu Sans"/>
              </a:defRPr>
            </a:pPr>
            <a:r>
              <a:t>på samma mängd och kostnadsdelar. Jag visar vad som kan förändras och vad</a:t>
            </a:r>
          </a:p>
          <a:p>
            <a:pPr>
              <a:lnSpc>
                <a:spcPts val="2480"/>
              </a:lnSpc>
              <a:spcBef>
                <a:spcPts val="0"/>
              </a:spcBef>
              <a:spcAft>
                <a:spcPts val="0"/>
              </a:spcAft>
              <a:defRPr sz="2000" b="0">
                <a:solidFill>
                  <a:srgbClr val="193540"/>
                </a:solidFill>
                <a:latin typeface="DejaVu Sans"/>
              </a:defRPr>
            </a:pPr>
            <a:r>
              <a:t>som blir mer förutsägbart. Målet är ett val ni förstår och som passar era</a:t>
            </a:r>
          </a:p>
          <a:p>
            <a:pPr>
              <a:lnSpc>
                <a:spcPts val="2480"/>
              </a:lnSpc>
              <a:spcBef>
                <a:spcPts val="0"/>
              </a:spcBef>
              <a:spcAft>
                <a:spcPts val="0"/>
              </a:spcAft>
              <a:defRPr sz="2000" b="0">
                <a:solidFill>
                  <a:srgbClr val="193540"/>
                </a:solidFill>
                <a:latin typeface="DejaVu Sans"/>
              </a:defRPr>
            </a:pPr>
            <a:r>
              <a:t>förutsättningar.</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Styrelsen vill ha både billigast och oförändrad</a:t>
            </a:r>
          </a:p>
          <a:p>
            <a:pPr>
              <a:lnSpc>
                <a:spcPts val="3472"/>
              </a:lnSpc>
              <a:spcBef>
                <a:spcPts val="0"/>
              </a:spcBef>
              <a:spcAft>
                <a:spcPts val="0"/>
              </a:spcAft>
              <a:defRPr sz="2800" b="1">
                <a:solidFill>
                  <a:srgbClr val="193540"/>
                </a:solidFill>
                <a:latin typeface="DejaVu Sans"/>
              </a:defRPr>
            </a:pPr>
            <a:r>
              <a:t>budget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121</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Den fiktiva föreningen Björken använder 100 MWh per år. Styrelsen vill slippa</a:t>
            </a:r>
          </a:p>
          <a:p>
            <a:pPr>
              <a:lnSpc>
                <a:spcPts val="2480"/>
              </a:lnSpc>
              <a:spcBef>
                <a:spcPts val="0"/>
              </a:spcBef>
              <a:spcAft>
                <a:spcPts val="0"/>
              </a:spcAft>
              <a:defRPr sz="2000" b="0">
                <a:solidFill>
                  <a:srgbClr val="193540"/>
                </a:solidFill>
                <a:latin typeface="DejaVu Sans"/>
              </a:defRPr>
            </a:pPr>
            <a:r>
              <a:t>välja inköpsdag men säger också 'vi vill alltid ha billigast och samma faktura'.</a:t>
            </a:r>
          </a:p>
          <a:p>
            <a:pPr>
              <a:lnSpc>
                <a:spcPts val="2480"/>
              </a:lnSpc>
              <a:spcBef>
                <a:spcPts val="0"/>
              </a:spcBef>
              <a:spcAft>
                <a:spcPts val="0"/>
              </a:spcAft>
              <a:defRPr sz="2000" b="0">
                <a:solidFill>
                  <a:srgbClr val="193540"/>
                </a:solidFill>
                <a:latin typeface="DejaVu Sans"/>
              </a:defRPr>
            </a:pPr>
            <a:r>
              <a:t>Nya laddplatser planeras. En ledamot har sett att en annan förening sparat</a:t>
            </a:r>
          </a:p>
          <a:p>
            <a:pPr>
              <a:lnSpc>
                <a:spcPts val="2480"/>
              </a:lnSpc>
              <a:spcBef>
                <a:spcPts val="0"/>
              </a:spcBef>
              <a:spcAft>
                <a:spcPts val="0"/>
              </a:spcAft>
              <a:defRPr sz="2000" b="0">
                <a:solidFill>
                  <a:srgbClr val="193540"/>
                </a:solidFill>
                <a:latin typeface="DejaVu Sans"/>
              </a:defRPr>
            </a:pPr>
            <a:r>
              <a:t>pengar i en pool. Tolv månaders egen historik finns, men laddningen ingår inte</a:t>
            </a:r>
          </a:p>
          <a:p>
            <a:pPr>
              <a:lnSpc>
                <a:spcPts val="2480"/>
              </a:lnSpc>
              <a:spcBef>
                <a:spcPts val="0"/>
              </a:spcBef>
              <a:spcAft>
                <a:spcPts val="0"/>
              </a:spcAft>
              <a:defRPr sz="2000" b="0">
                <a:solidFill>
                  <a:srgbClr val="193540"/>
                </a:solidFill>
                <a:latin typeface="DejaVu Sans"/>
              </a:defRPr>
            </a:pPr>
            <a:r>
              <a:t>i prognosen.</a:t>
            </a:r>
          </a:p>
        </p:txBody>
      </p:sp>
      <p:sp>
        <p:nvSpPr>
          <p:cNvPr id="7" name="TextBox 6"/>
          <p:cNvSpPr txBox="1"/>
          <p:nvPr/>
        </p:nvSpPr>
        <p:spPr>
          <a:xfrm>
            <a:off x="603504" y="38379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Skriv fyra behovsfrågor innan ett produktförslag.</a:t>
            </a:r>
          </a:p>
        </p:txBody>
      </p:sp>
      <p:sp>
        <p:nvSpPr>
          <p:cNvPr id="8" name="TextBox 7"/>
          <p:cNvSpPr txBox="1"/>
          <p:nvPr/>
        </p:nvSpPr>
        <p:spPr>
          <a:xfrm>
            <a:off x="603504" y="42672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relevant underlag och hur laddning påverkar det.</a:t>
            </a:r>
          </a:p>
        </p:txBody>
      </p:sp>
      <p:sp>
        <p:nvSpPr>
          <p:cNvPr id="9" name="TextBox 8"/>
          <p:cNvSpPr txBox="1"/>
          <p:nvPr/>
        </p:nvSpPr>
        <p:spPr>
          <a:xfrm>
            <a:off x="603504" y="46964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Pröva möjliga produktprinciper och ange vad som inte kan lovas.</a:t>
            </a:r>
          </a:p>
        </p:txBody>
      </p:sp>
      <p:sp>
        <p:nvSpPr>
          <p:cNvPr id="10" name="TextBox 9"/>
          <p:cNvSpPr txBox="1"/>
          <p:nvPr/>
        </p:nvSpPr>
        <p:spPr>
          <a:xfrm>
            <a:off x="603504" y="51257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Formulera ett rekommendationsresonemang med villkor för omprövning.</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Fyra relevanta frågor täcker budget, drift/förändring och beslut.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Egen historik uppdateras i stället för att kopiera en referenskund.</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Produktprincip motiveras utan automatiska kundgränser eller lägstaprislöfte.</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Kvarvarande variation och villkor för omprövning beskrivs begripligt.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jämförelse är rättvisast?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Samma anläggningar, volym, period, kostnadsdelar och momsgrund, med</a:t>
            </a:r>
          </a:p>
          <a:p>
            <a:pPr>
              <a:lnSpc>
                <a:spcPts val="2480"/>
              </a:lnSpc>
              <a:spcBef>
                <a:spcPts val="0"/>
              </a:spcBef>
              <a:spcAft>
                <a:spcPts val="0"/>
              </a:spcAft>
              <a:defRPr sz="2000" b="0">
                <a:solidFill>
                  <a:srgbClr val="193540"/>
                </a:solidFill>
                <a:latin typeface="DejaVu Sans"/>
              </a:defRPr>
            </a:pPr>
            <a:r>
              <a:t>tydligt märkt historik eller scenario.</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Förra årets spotmedel mot nästa års säkring utan avgifter.</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En referenskunds besparing kopierad till alla kunder.</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120 MWh får ett antaget 20 öre/kWh högre snitt för samma prisdel. Hur</a:t>
            </a:r>
          </a:p>
          <a:p>
            <a:pPr>
              <a:lnSpc>
                <a:spcPts val="2480"/>
              </a:lnSpc>
              <a:spcBef>
                <a:spcPts val="0"/>
              </a:spcBef>
              <a:spcAft>
                <a:spcPts val="0"/>
              </a:spcAft>
              <a:defRPr sz="2000" b="0">
                <a:solidFill>
                  <a:srgbClr val="193540"/>
                </a:solidFill>
                <a:latin typeface="DejaVu Sans"/>
              </a:defRPr>
            </a:pPr>
            <a:r>
              <a:t>många kronor motsvarar ökningen?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Nuvarande jämförbara kostnad är 22 000 kr och alternativet 21 500 kr. Vad är</a:t>
            </a:r>
          </a:p>
          <a:p>
            <a:pPr>
              <a:lnSpc>
                <a:spcPts val="2480"/>
              </a:lnSpc>
              <a:spcBef>
                <a:spcPts val="0"/>
              </a:spcBef>
              <a:spcAft>
                <a:spcPts val="0"/>
              </a:spcAft>
              <a:defRPr sz="2000" b="0">
                <a:solidFill>
                  <a:srgbClr val="193540"/>
                </a:solidFill>
                <a:latin typeface="DejaVu Sans"/>
              </a:defRPr>
            </a:pPr>
            <a:r>
              <a:t>nuvarande minus alternativ i kronor?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126</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Ge ett exempel på ett motiverat produktförslag och en förändring som skulle</a:t>
            </a:r>
          </a:p>
          <a:p>
            <a:pPr>
              <a:lnSpc>
                <a:spcPts val="2480"/>
              </a:lnSpc>
              <a:spcBef>
                <a:spcPts val="0"/>
              </a:spcBef>
              <a:spcAft>
                <a:spcPts val="0"/>
              </a:spcAft>
              <a:defRPr sz="2000" b="0">
                <a:solidFill>
                  <a:srgbClr val="193540"/>
                </a:solidFill>
                <a:latin typeface="DejaVu Sans"/>
              </a:defRPr>
            </a:pPr>
            <a:r>
              <a:t>få dig att ompröva det.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06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Behov kommer före produktnamn.</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Gör budgetrisk konkret i kronor med tydligt märkt scenario.</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Använd samma anläggningar, period, mängd och prisomfattning.</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Historiskt utfall är inte en garanti för framtiden.</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 kunden återberätta nyttan och begränsningen.</a:t>
            </a:r>
          </a:p>
        </p:txBody>
      </p:sp>
      <p:sp>
        <p:nvSpPr>
          <p:cNvPr id="11" name="TextBox 10"/>
          <p:cNvSpPr txBox="1"/>
          <p:nvPr/>
        </p:nvSpPr>
        <p:spPr>
          <a:xfrm>
            <a:off x="603504" y="42951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Motivera förslaget och när det skulle ändras.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07 · Gemensam grund</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Kvartspris – när användningstiden påverkar priset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128</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ett förbrukningsvägt energipris från volym och pris för varje</a:t>
            </a:r>
          </a:p>
          <a:p>
            <a:pPr>
              <a:lnSpc>
                <a:spcPts val="2480"/>
              </a:lnSpc>
              <a:spcBef>
                <a:spcPts val="0"/>
              </a:spcBef>
              <a:spcAft>
                <a:spcPts val="0"/>
              </a:spcAft>
              <a:defRPr sz="2000" b="0">
                <a:solidFill>
                  <a:srgbClr val="FFFFFF"/>
                </a:solidFill>
                <a:latin typeface="DejaVu Sans"/>
              </a:defRPr>
            </a:pPr>
            <a:r>
              <a:t>tidsintervall.</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varför månadsfakturering kan innehålla kvartspris.</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en möjlig energibesparing från effekter på hela elkostnaden.</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Bedöma verklig flexibilitet och vilka uppgifter en rättvis jämförelse kräver.</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Varje kvart har en egen kostnad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129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Kvartspris kopplar faktisk förbrukning under varje femtonminutersintervall till</a:t>
            </a:r>
          </a:p>
          <a:p>
            <a:pPr>
              <a:lnSpc>
                <a:spcPts val="2480"/>
              </a:lnSpc>
              <a:spcBef>
                <a:spcPts val="0"/>
              </a:spcBef>
              <a:spcAft>
                <a:spcPts val="0"/>
              </a:spcAft>
              <a:defRPr sz="2000" b="0">
                <a:solidFill>
                  <a:srgbClr val="193540"/>
                </a:solidFill>
                <a:latin typeface="DejaVu Sans"/>
              </a:defRPr>
            </a:pPr>
            <a:r>
              <a:t>priset för samma kvart i kundens elområde. Två kWh till 50 öre/kWh ger en</a:t>
            </a:r>
          </a:p>
          <a:p>
            <a:pPr>
              <a:lnSpc>
                <a:spcPts val="2480"/>
              </a:lnSpc>
              <a:spcBef>
                <a:spcPts val="0"/>
              </a:spcBef>
              <a:spcAft>
                <a:spcPts val="0"/>
              </a:spcAft>
              <a:defRPr sz="2000" b="0">
                <a:solidFill>
                  <a:srgbClr val="193540"/>
                </a:solidFill>
                <a:latin typeface="DejaVu Sans"/>
              </a:defRPr>
            </a:pPr>
            <a:r>
              <a:t>krona i energikostnad.</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Avräkningen anger hur kostnaden beräknas; faktureringen anger när den</a:t>
            </a:r>
          </a:p>
          <a:p>
            <a:pPr>
              <a:lnSpc>
                <a:spcPts val="2480"/>
              </a:lnSpc>
              <a:spcBef>
                <a:spcPts val="0"/>
              </a:spcBef>
              <a:spcAft>
                <a:spcPts val="0"/>
              </a:spcAft>
              <a:defRPr sz="2000" b="0">
                <a:solidFill>
                  <a:srgbClr val="193540"/>
                </a:solidFill>
                <a:latin typeface="DejaVu Sans"/>
              </a:defRPr>
            </a:pPr>
            <a:r>
              <a:t>redovisas. En månadsfaktura kan därför bygga på individuella kvartsvärden.</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Ditt snitt är förbrukningsvägt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Dividera kundens energikostnad med den förbrukning kostnaden gäller.</a:t>
            </a:r>
          </a:p>
          <a:p>
            <a:pPr>
              <a:lnSpc>
                <a:spcPts val="2480"/>
              </a:lnSpc>
              <a:spcBef>
                <a:spcPts val="0"/>
              </a:spcBef>
              <a:spcAft>
                <a:spcPts val="0"/>
              </a:spcAft>
              <a:defRPr sz="2000" b="0">
                <a:solidFill>
                  <a:srgbClr val="193540"/>
                </a:solidFill>
                <a:latin typeface="DejaVu Sans"/>
              </a:defRPr>
            </a:pPr>
            <a:r>
              <a:t>Kvartar med stor användning väger mer än kvartar med liten användning.</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Den egna tidsprofilen ingår redan när varje kvartpris multipliceras med faktisk</a:t>
            </a:r>
          </a:p>
          <a:p>
            <a:pPr>
              <a:lnSpc>
                <a:spcPts val="2480"/>
              </a:lnSpc>
              <a:spcBef>
                <a:spcPts val="0"/>
              </a:spcBef>
              <a:spcAft>
                <a:spcPts val="0"/>
              </a:spcAft>
              <a:defRPr sz="2000" b="0">
                <a:solidFill>
                  <a:srgbClr val="193540"/>
                </a:solidFill>
                <a:latin typeface="DejaVu Sans"/>
              </a:defRPr>
            </a:pPr>
            <a:r>
              <a:t>kvartförbrukning. Lägg inte på samma profilskillnad igen. Identifiera övriga</a:t>
            </a:r>
          </a:p>
          <a:p>
            <a:pPr>
              <a:lnSpc>
                <a:spcPts val="2480"/>
              </a:lnSpc>
              <a:spcBef>
                <a:spcPts val="0"/>
              </a:spcBef>
              <a:spcAft>
                <a:spcPts val="0"/>
              </a:spcAft>
              <a:defRPr sz="2000" b="0">
                <a:solidFill>
                  <a:srgbClr val="193540"/>
                </a:solidFill>
                <a:latin typeface="DejaVu Sans"/>
              </a:defRPr>
            </a:pPr>
            <a:r>
              <a:t>inköpsdelar, påslag och avgifter enligt offerten.</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Påverkan kräver verklig flexibilitet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Lastflytt kan påverka energikostnaden, men komfort, säkerhet och drift</a:t>
            </a:r>
          </a:p>
          <a:p>
            <a:pPr>
              <a:lnSpc>
                <a:spcPts val="2480"/>
              </a:lnSpc>
              <a:spcBef>
                <a:spcPts val="0"/>
              </a:spcBef>
              <a:spcAft>
                <a:spcPts val="0"/>
              </a:spcAft>
              <a:defRPr sz="2000" b="0">
                <a:solidFill>
                  <a:srgbClr val="193540"/>
                </a:solidFill>
                <a:latin typeface="DejaVu Sans"/>
              </a:defRPr>
            </a:pPr>
            <a:r>
              <a:t>begränsar vad som är möjligt.</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Kontrollera nätets effektvillkor innan många laster startas samtidigt. Ett lägre</a:t>
            </a:r>
          </a:p>
          <a:p>
            <a:pPr>
              <a:lnSpc>
                <a:spcPts val="2480"/>
              </a:lnSpc>
              <a:spcBef>
                <a:spcPts val="0"/>
              </a:spcBef>
              <a:spcAft>
                <a:spcPts val="0"/>
              </a:spcAft>
              <a:defRPr sz="2000" b="0">
                <a:solidFill>
                  <a:srgbClr val="193540"/>
                </a:solidFill>
                <a:latin typeface="DejaVu Sans"/>
              </a:defRPr>
            </a:pPr>
            <a:r>
              <a:t>energipris kan sammanfalla med en ny effekttopp och förändrad nätkostnad.</a:t>
            </a:r>
          </a:p>
          <a:p>
            <a:pPr>
              <a:lnSpc>
                <a:spcPts val="2480"/>
              </a:lnSpc>
              <a:spcBef>
                <a:spcPts val="0"/>
              </a:spcBef>
              <a:spcAft>
                <a:spcPts val="0"/>
              </a:spcAft>
              <a:defRPr sz="2000" b="0">
                <a:solidFill>
                  <a:srgbClr val="193540"/>
                </a:solidFill>
                <a:latin typeface="DejaVu Sans"/>
              </a:defRPr>
            </a:pPr>
            <a:r>
              <a:t>Energibesparing är därför inte automatiskt lägre total elkostnad.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Vad kunden fortfarande tar risk för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Kvartspris innehåller ingen prissäkring genom modellen. Framtida priser,</a:t>
            </a:r>
          </a:p>
          <a:p>
            <a:pPr>
              <a:lnSpc>
                <a:spcPts val="2480"/>
              </a:lnSpc>
              <a:spcBef>
                <a:spcPts val="0"/>
              </a:spcBef>
              <a:spcAft>
                <a:spcPts val="0"/>
              </a:spcAft>
              <a:defRPr sz="2000" b="0">
                <a:solidFill>
                  <a:srgbClr val="193540"/>
                </a:solidFill>
                <a:latin typeface="DejaVu Sans"/>
              </a:defRPr>
            </a:pPr>
            <a:r>
              <a:t>faktisk volym och användningstid avgör utfallet. Nödvändig drift kan</a:t>
            </a:r>
          </a:p>
          <a:p>
            <a:pPr>
              <a:lnSpc>
                <a:spcPts val="2480"/>
              </a:lnSpc>
              <a:spcBef>
                <a:spcPts val="0"/>
              </a:spcBef>
              <a:spcAft>
                <a:spcPts val="0"/>
              </a:spcAft>
              <a:defRPr sz="2000" b="0">
                <a:solidFill>
                  <a:srgbClr val="193540"/>
                </a:solidFill>
                <a:latin typeface="DejaVu Sans"/>
              </a:defRPr>
            </a:pPr>
            <a:r>
              <a:t>sammanfalla med dyra kvartar.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Negativt spotpris kan ge en negativ spotkomponent i en kvart. Andra</a:t>
            </a:r>
          </a:p>
          <a:p>
            <a:pPr>
              <a:lnSpc>
                <a:spcPts val="2480"/>
              </a:lnSpc>
              <a:spcBef>
                <a:spcPts val="0"/>
              </a:spcBef>
              <a:spcAft>
                <a:spcPts val="0"/>
              </a:spcAft>
              <a:defRPr sz="2000" b="0">
                <a:solidFill>
                  <a:srgbClr val="193540"/>
                </a:solidFill>
                <a:latin typeface="DejaVu Sans"/>
              </a:defRPr>
            </a:pPr>
            <a:r>
              <a:t>avtalsdelar, elnät, skatt och moms följer sina egna regler. Det innebär inte</a:t>
            </a:r>
          </a:p>
          <a:p>
            <a:pPr>
              <a:lnSpc>
                <a:spcPts val="2480"/>
              </a:lnSpc>
              <a:spcBef>
                <a:spcPts val="0"/>
              </a:spcBef>
              <a:spcAft>
                <a:spcPts val="0"/>
              </a:spcAft>
              <a:defRPr sz="2000" b="0">
                <a:solidFill>
                  <a:srgbClr val="193540"/>
                </a:solidFill>
                <a:latin typeface="DejaVu Sans"/>
              </a:defRPr>
            </a:pPr>
            <a:r>
              <a:t>automatiskt en negativ faktura.</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Så gör du en hållbar kundjämförelse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133</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Be om rätt anläggning, elområde, period och kompletta kvartsmätvärden.</a:t>
            </a:r>
          </a:p>
          <a:p>
            <a:pPr>
              <a:lnSpc>
                <a:spcPts val="2480"/>
              </a:lnSpc>
              <a:spcBef>
                <a:spcPts val="0"/>
              </a:spcBef>
              <a:spcAft>
                <a:spcPts val="0"/>
              </a:spcAft>
              <a:defRPr sz="2000" b="0">
                <a:solidFill>
                  <a:srgbClr val="193540"/>
                </a:solidFill>
                <a:latin typeface="DejaVu Sans"/>
              </a:defRPr>
            </a:pPr>
            <a:r>
              <a:t>Kontrollera dagens prisomfattning och avgifter. Jämför först samma period och</a:t>
            </a:r>
          </a:p>
          <a:p>
            <a:pPr>
              <a:lnSpc>
                <a:spcPts val="2480"/>
              </a:lnSpc>
              <a:spcBef>
                <a:spcPts val="0"/>
              </a:spcBef>
              <a:spcAft>
                <a:spcPts val="0"/>
              </a:spcAft>
              <a:defRPr sz="2000" b="0">
                <a:solidFill>
                  <a:srgbClr val="193540"/>
                </a:solidFill>
                <a:latin typeface="DejaVu Sans"/>
              </a:defRPr>
            </a:pPr>
            <a:r>
              <a:t>volym.</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Väg kundens möjlighet till påverkan mot behovet av förutsägbarhet.</a:t>
            </a:r>
          </a:p>
          <a:p>
            <a:pPr>
              <a:lnSpc>
                <a:spcPts val="2480"/>
              </a:lnSpc>
              <a:spcBef>
                <a:spcPts val="0"/>
              </a:spcBef>
              <a:spcAft>
                <a:spcPts val="0"/>
              </a:spcAft>
              <a:defRPr sz="2000" b="0">
                <a:solidFill>
                  <a:srgbClr val="193540"/>
                </a:solidFill>
                <a:latin typeface="DejaVu Sans"/>
              </a:defRPr>
            </a:pPr>
            <a:r>
              <a:t>Kontrollera aktuell offert, start, mätförutsättningar och kundvillkor. Låt kunden</a:t>
            </a:r>
          </a:p>
          <a:p>
            <a:pPr>
              <a:lnSpc>
                <a:spcPts val="2480"/>
              </a:lnSpc>
              <a:spcBef>
                <a:spcPts val="0"/>
              </a:spcBef>
              <a:spcAft>
                <a:spcPts val="0"/>
              </a:spcAft>
              <a:defRPr sz="2000" b="0">
                <a:solidFill>
                  <a:srgbClr val="193540"/>
                </a:solidFill>
                <a:latin typeface="DejaVu Sans"/>
              </a:defRPr>
            </a:pPr>
            <a:r>
              <a:t>återberätta vad som varierar: marknadspris, mängd och användningstid.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Samma energimängd, olika viktning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exempel för enbart spotenergidelen. Andra elhandelsdelar, avgifter,</a:t>
            </a:r>
          </a:p>
          <a:p>
            <a:pPr>
              <a:lnSpc>
                <a:spcPts val="2480"/>
              </a:lnSpc>
              <a:spcBef>
                <a:spcPts val="0"/>
              </a:spcBef>
              <a:spcAft>
                <a:spcPts val="0"/>
              </a:spcAft>
              <a:defRPr sz="2000" b="0">
                <a:solidFill>
                  <a:srgbClr val="193540"/>
                </a:solidFill>
                <a:latin typeface="DejaVu Sans"/>
              </a:defRPr>
            </a:pPr>
            <a:r>
              <a:t>elnät, skatt och moms ingår inte. Två prisgrupper förenklar många kvartar.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20 kWh används vid 40 öre/kWh.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80 kWh används vid 120 öre/kWh.</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Total användning är 100 kWh.</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Samma energimängd, olika viktning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Omvandla priserna till kronor: 40 öre = 0,40 kr; 120 öre = 1,20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Billigare grupp: 20 × 0,40 = 8 kr. Dyrare grupp: 80 × 1,20 = 96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Total energikostnad: 8 + 96 = 104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Förbrukningsvägt snitt: 104 / 100 = 1,04 kr/kWh = 104 öre/kWh.</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104 kr i energikostnad och 104 öre/kWh i förbrukningsvägt snitt.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Flytta energi utan att ändra total volym</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fortsättning på första exemplet. Priserna antas oförändrade och</a:t>
            </a:r>
          </a:p>
          <a:p>
            <a:pPr>
              <a:lnSpc>
                <a:spcPts val="2480"/>
              </a:lnSpc>
              <a:spcBef>
                <a:spcPts val="0"/>
              </a:spcBef>
              <a:spcAft>
                <a:spcPts val="0"/>
              </a:spcAft>
              <a:defRPr sz="2000" b="0">
                <a:solidFill>
                  <a:srgbClr val="193540"/>
                </a:solidFill>
                <a:latin typeface="DejaVu Sans"/>
              </a:defRPr>
            </a:pPr>
            <a:r>
              <a:t>30 kWh kan faktiskt flyttas. Beräkningen omfattar endast spotenergi, före</a:t>
            </a:r>
          </a:p>
          <a:p>
            <a:pPr>
              <a:lnSpc>
                <a:spcPts val="2480"/>
              </a:lnSpc>
              <a:spcBef>
                <a:spcPts val="0"/>
              </a:spcBef>
              <a:spcAft>
                <a:spcPts val="0"/>
              </a:spcAft>
              <a:defRPr sz="2000" b="0">
                <a:solidFill>
                  <a:srgbClr val="193540"/>
                </a:solidFill>
                <a:latin typeface="DejaVu Sans"/>
              </a:defRPr>
            </a:pPr>
            <a:r>
              <a:t>styrkostnad och eventuell näteffekt.</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Flytta 30 kWh från 120 öre till 40 öre/kWh.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Ny fördelning: 50 kWh billigare och 50 kWh dyrare.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Flytta energi utan att ändra total volym</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Ny billigare kostnad: 50 × 0,40 = 20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Ny dyrare kostnad: 50 × 1,20 = 60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Ny total: 20 + 60 = 80 kr; nytt snitt: 80 / 100 = 0,80 kr/kWh.</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Skillnad: 104 − 80 = 24 kr. Kontroll: 30 × (1,20 − 0,40) = 24 kr.</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24 kr lägre energikostnad; snittet går från 104 till 80 öre/kWh.</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Jag får en månadsfaktura, alltså har jag ett gemensamt månadspris.</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Fakturatiden beskriver redovisningen. Läs avräkningsmodellen för</a:t>
            </a:r>
          </a:p>
          <a:p>
            <a:pPr>
              <a:lnSpc>
                <a:spcPts val="2480"/>
              </a:lnSpc>
              <a:spcBef>
                <a:spcPts val="0"/>
              </a:spcBef>
              <a:spcAft>
                <a:spcPts val="0"/>
              </a:spcAft>
              <a:defRPr sz="2000" b="0">
                <a:solidFill>
                  <a:srgbClr val="193540"/>
                </a:solidFill>
                <a:latin typeface="DejaVu Sans"/>
              </a:defRPr>
            </a:pPr>
            <a:r>
              <a:t>att se om varje kvart vägs med kundens egen användning.</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139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Billigare kvartar garanterar lägre total elkostnad.</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Kontrollera möjlig flytt, styrkostnad och nätets effektvillkor.</a:t>
            </a:r>
          </a:p>
          <a:p>
            <a:pPr>
              <a:lnSpc>
                <a:spcPts val="2480"/>
              </a:lnSpc>
              <a:spcBef>
                <a:spcPts val="0"/>
              </a:spcBef>
              <a:spcAft>
                <a:spcPts val="0"/>
              </a:spcAft>
              <a:defRPr sz="2000" b="0">
                <a:solidFill>
                  <a:srgbClr val="193540"/>
                </a:solidFill>
                <a:latin typeface="DejaVu Sans"/>
              </a:defRPr>
            </a:pPr>
            <a:r>
              <a:t>Energiberäkningen ensam täcker inte hela kostnaden.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negativt spotpris gör hela elen gratis.</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Spotkomponenten är en del av kostnaden. Övriga avtalsdelar,</a:t>
            </a:r>
          </a:p>
          <a:p>
            <a:pPr>
              <a:lnSpc>
                <a:spcPts val="2480"/>
              </a:lnSpc>
              <a:spcBef>
                <a:spcPts val="0"/>
              </a:spcBef>
              <a:spcAft>
                <a:spcPts val="0"/>
              </a:spcAft>
              <a:defRPr sz="2000" b="0">
                <a:solidFill>
                  <a:srgbClr val="193540"/>
                </a:solidFill>
                <a:latin typeface="DejaVu Sans"/>
              </a:defRPr>
            </a:pPr>
            <a:r>
              <a:t>elnät, skatt och moms måste behandlas separat.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141</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Med Kvartspris följer energikostnaden priset och din användning i varje kvart.</a:t>
            </a:r>
          </a:p>
          <a:p>
            <a:pPr>
              <a:lnSpc>
                <a:spcPts val="2480"/>
              </a:lnSpc>
              <a:spcBef>
                <a:spcPts val="0"/>
              </a:spcBef>
              <a:spcAft>
                <a:spcPts val="0"/>
              </a:spcAft>
              <a:defRPr sz="2000" b="0">
                <a:solidFill>
                  <a:srgbClr val="193540"/>
                </a:solidFill>
                <a:latin typeface="DejaVu Sans"/>
              </a:defRPr>
            </a:pPr>
            <a:r>
              <a:t>Använder du mer när priset är högt blir ditt energisnitt högre. Du kan ibland</a:t>
            </a:r>
          </a:p>
          <a:p>
            <a:pPr>
              <a:lnSpc>
                <a:spcPts val="2480"/>
              </a:lnSpc>
              <a:spcBef>
                <a:spcPts val="0"/>
              </a:spcBef>
              <a:spcAft>
                <a:spcPts val="0"/>
              </a:spcAft>
              <a:defRPr sz="2000" b="0">
                <a:solidFill>
                  <a:srgbClr val="193540"/>
                </a:solidFill>
                <a:latin typeface="DejaVu Sans"/>
              </a:defRPr>
            </a:pPr>
            <a:r>
              <a:t>påverka kostnaden genom att flytta användning, men marknadspriset varierar</a:t>
            </a:r>
          </a:p>
          <a:p>
            <a:pPr>
              <a:lnSpc>
                <a:spcPts val="2480"/>
              </a:lnSpc>
              <a:spcBef>
                <a:spcPts val="0"/>
              </a:spcBef>
              <a:spcAft>
                <a:spcPts val="0"/>
              </a:spcAft>
              <a:defRPr sz="2000" b="0">
                <a:solidFill>
                  <a:srgbClr val="193540"/>
                </a:solidFill>
                <a:latin typeface="DejaVu Sans"/>
              </a:defRPr>
            </a:pPr>
            <a:r>
              <a:t>och andra elkostnader tillkommer enligt dina villkor.</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Elbilen och den tidiga produktionen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142</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kunden Samira laddar sin elbil och driver samtidigt en liten verkstad.</a:t>
            </a:r>
          </a:p>
          <a:p>
            <a:pPr>
              <a:lnSpc>
                <a:spcPts val="2480"/>
              </a:lnSpc>
              <a:spcBef>
                <a:spcPts val="0"/>
              </a:spcBef>
              <a:spcAft>
                <a:spcPts val="0"/>
              </a:spcAft>
              <a:defRPr sz="2000" b="0">
                <a:solidFill>
                  <a:srgbClr val="193540"/>
                </a:solidFill>
                <a:latin typeface="DejaVu Sans"/>
              </a:defRPr>
            </a:pPr>
            <a:r>
              <a:t>Bilens laddning kan senareläggas, men verkstadens ugn måste gå före</a:t>
            </a:r>
          </a:p>
          <a:p>
            <a:pPr>
              <a:lnSpc>
                <a:spcPts val="2480"/>
              </a:lnSpc>
              <a:spcBef>
                <a:spcPts val="0"/>
              </a:spcBef>
              <a:spcAft>
                <a:spcPts val="0"/>
              </a:spcAft>
              <a:defRPr sz="2000" b="0">
                <a:solidFill>
                  <a:srgbClr val="193540"/>
                </a:solidFill>
                <a:latin typeface="DejaVu Sans"/>
              </a:defRPr>
            </a:pPr>
            <a:r>
              <a:t>leverans klockan åtta. Samira har sett en app med nattpriser och vill att du</a:t>
            </a:r>
          </a:p>
          <a:p>
            <a:pPr>
              <a:lnSpc>
                <a:spcPts val="2480"/>
              </a:lnSpc>
              <a:spcBef>
                <a:spcPts val="0"/>
              </a:spcBef>
              <a:spcAft>
                <a:spcPts val="0"/>
              </a:spcAft>
              <a:defRPr sz="2000" b="0">
                <a:solidFill>
                  <a:srgbClr val="193540"/>
                </a:solidFill>
                <a:latin typeface="DejaVu Sans"/>
              </a:defRPr>
            </a:pPr>
            <a:r>
              <a:t>lovar att hela månadskostnaden blir lägre. Mätdata saknas ännu, och flera</a:t>
            </a:r>
          </a:p>
          <a:p>
            <a:pPr>
              <a:lnSpc>
                <a:spcPts val="2480"/>
              </a:lnSpc>
              <a:spcBef>
                <a:spcPts val="0"/>
              </a:spcBef>
              <a:spcAft>
                <a:spcPts val="0"/>
              </a:spcAft>
              <a:defRPr sz="2000" b="0">
                <a:solidFill>
                  <a:srgbClr val="193540"/>
                </a:solidFill>
                <a:latin typeface="DejaVu Sans"/>
              </a:defRPr>
            </a:pPr>
            <a:r>
              <a:t>maskiner kan starta samtidigt med laddningen.</a:t>
            </a:r>
          </a:p>
        </p:txBody>
      </p:sp>
      <p:sp>
        <p:nvSpPr>
          <p:cNvPr id="7" name="TextBox 6"/>
          <p:cNvSpPr txBox="1"/>
          <p:nvPr/>
        </p:nvSpPr>
        <p:spPr>
          <a:xfrm>
            <a:off x="603504" y="38379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Vilka uppgifter behöver du innan du jämför avtal?</a:t>
            </a:r>
          </a:p>
        </p:txBody>
      </p:sp>
      <p:sp>
        <p:nvSpPr>
          <p:cNvPr id="8" name="TextBox 7"/>
          <p:cNvSpPr txBox="1"/>
          <p:nvPr/>
        </p:nvSpPr>
        <p:spPr>
          <a:xfrm>
            <a:off x="603504" y="42672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Vilken användning kan du undersöka för lastflytt, och vilken bör du inte anta</a:t>
            </a:r>
          </a:p>
          <a:p>
            <a:pPr>
              <a:lnSpc>
                <a:spcPts val="2480"/>
              </a:lnSpc>
              <a:spcBef>
                <a:spcPts val="0"/>
              </a:spcBef>
              <a:spcAft>
                <a:spcPts val="0"/>
              </a:spcAft>
              <a:defRPr sz="2000" b="0">
                <a:solidFill>
                  <a:srgbClr val="193540"/>
                </a:solidFill>
                <a:latin typeface="DejaVu Sans"/>
              </a:defRPr>
            </a:pPr>
            <a:r>
              <a:t>är flyttbar?</a:t>
            </a:r>
          </a:p>
        </p:txBody>
      </p:sp>
      <p:sp>
        <p:nvSpPr>
          <p:cNvPr id="9" name="TextBox 8"/>
          <p:cNvSpPr txBox="1"/>
          <p:nvPr/>
        </p:nvSpPr>
        <p:spPr>
          <a:xfrm>
            <a:off x="603504" y="50114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Formulera ett tydligt svar på önskemålet om garanterad besparing.</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Efterfrågar rätt kvartsmätdata och jämförbar kostnadsomfattning.</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flexibel laddning från obligatorisk produktion.</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Tar upp möjlig näteffekt och fortsatt prisrisk.</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Ger ett precist kundlöfte utan garanterad besparing.</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Två kunder använder lika många kWh under månaden. Varför kan deras</a:t>
            </a:r>
          </a:p>
          <a:p>
            <a:pPr>
              <a:lnSpc>
                <a:spcPts val="2480"/>
              </a:lnSpc>
              <a:spcBef>
                <a:spcPts val="0"/>
              </a:spcBef>
              <a:spcAft>
                <a:spcPts val="0"/>
              </a:spcAft>
              <a:defRPr sz="2000" b="0">
                <a:solidFill>
                  <a:srgbClr val="193540"/>
                </a:solidFill>
                <a:latin typeface="DejaVu Sans"/>
              </a:defRPr>
            </a:pPr>
            <a:r>
              <a:t>energisnitt skilja sig?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De får alltid samma snitt eftersom månadsvolymen är lika.</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Deras användning ligger vid olika kvartpriser.</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Den ena får sin faktura senare.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Enbart spotenergi: 10 kWh vid 30 öre och 30 kWh vid 90 öre. Vad blir det</a:t>
            </a:r>
          </a:p>
          <a:p>
            <a:pPr>
              <a:lnSpc>
                <a:spcPts val="2480"/>
              </a:lnSpc>
              <a:spcBef>
                <a:spcPts val="0"/>
              </a:spcBef>
              <a:spcAft>
                <a:spcPts val="0"/>
              </a:spcAft>
              <a:defRPr sz="2000" b="0">
                <a:solidFill>
                  <a:srgbClr val="193540"/>
                </a:solidFill>
                <a:latin typeface="DejaVu Sans"/>
              </a:defRPr>
            </a:pPr>
            <a:r>
              <a:t>förbrukningsvägda snittet? Övriga kostnader är uteslutna.</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146</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kan flytta laddning till billigare kvartar. Vad behöver du kontrollera</a:t>
            </a:r>
          </a:p>
          <a:p>
            <a:pPr>
              <a:lnSpc>
                <a:spcPts val="2480"/>
              </a:lnSpc>
              <a:spcBef>
                <a:spcPts val="0"/>
              </a:spcBef>
              <a:spcAft>
                <a:spcPts val="0"/>
              </a:spcAft>
              <a:defRPr sz="2000" b="0">
                <a:solidFill>
                  <a:srgbClr val="193540"/>
                </a:solidFill>
                <a:latin typeface="DejaVu Sans"/>
              </a:defRPr>
            </a:pPr>
            <a:r>
              <a:t>innan du uttalar dig om hela elkostnaden?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formulering beskriver kundnyttan korrekt?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Kvartspris säkrar årets pris.</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Negativt spotpris gör alltid hela fakturan negativ.</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Kvartspris gör att den egna användningstiden påverkar energikostnaden.</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07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148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Väg varje pris med den energi som faktiskt används vid priset.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Månadsfaktura och månadspris är olika begrepp.</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 flyttbar användning från nödvändig drift.</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Jämför samma period, volym, elområde och kostnadsdelar.</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Bedöm nätets effektvillkor separat.</a:t>
            </a:r>
          </a:p>
        </p:txBody>
      </p:sp>
      <p:sp>
        <p:nvSpPr>
          <p:cNvPr id="11" name="TextBox 10"/>
          <p:cNvSpPr txBox="1"/>
          <p:nvPr/>
        </p:nvSpPr>
        <p:spPr>
          <a:xfrm>
            <a:off x="603504" y="42951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Lova tidskoppling och en tydlig modell, inte en bestämd framtida besparing.</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08 · Gemensam grund</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Rörligt pris – ett gemensamt pris som varierar</a:t>
            </a:r>
          </a:p>
          <a:p>
            <a:pPr>
              <a:lnSpc>
                <a:spcPts val="3472"/>
              </a:lnSpc>
              <a:spcBef>
                <a:spcPts val="0"/>
              </a:spcBef>
              <a:spcAft>
                <a:spcPts val="0"/>
              </a:spcAft>
              <a:defRPr sz="2800" b="1">
                <a:solidFill>
                  <a:srgbClr val="FFFFFF"/>
                </a:solidFill>
                <a:latin typeface="DejaVu Sans"/>
              </a:defRPr>
            </a:pPr>
            <a:r>
              <a:t>mellan månader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149</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ett gemensamt månadspris och skilja det från individuellt</a:t>
            </a:r>
          </a:p>
          <a:p>
            <a:pPr>
              <a:lnSpc>
                <a:spcPts val="2480"/>
              </a:lnSpc>
              <a:spcBef>
                <a:spcPts val="0"/>
              </a:spcBef>
              <a:spcAft>
                <a:spcPts val="0"/>
              </a:spcAft>
              <a:defRPr sz="2000" b="0">
                <a:solidFill>
                  <a:srgbClr val="FFFFFF"/>
                </a:solidFill>
                <a:latin typeface="DejaVu Sans"/>
              </a:defRPr>
            </a:pPr>
            <a:r>
              <a:t>kvartsvägt pris.</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kostnad och effektivt enhetspris med en uttryckligt antagen fast</a:t>
            </a:r>
          </a:p>
          <a:p>
            <a:pPr>
              <a:lnSpc>
                <a:spcPts val="2480"/>
              </a:lnSpc>
              <a:spcBef>
                <a:spcPts val="0"/>
              </a:spcBef>
              <a:spcAft>
                <a:spcPts val="0"/>
              </a:spcAft>
              <a:defRPr sz="2000" b="0">
                <a:solidFill>
                  <a:srgbClr val="FFFFFF"/>
                </a:solidFill>
                <a:latin typeface="DejaVu Sans"/>
              </a:defRPr>
            </a:pPr>
            <a:r>
              <a:t>avgift.</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Volymväga månadspriser när en längre period jämförs.</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Bedöma budgetvariation och identifiera vad offertens pris faktiskt omfattar.</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Gemensam månadsmodell betyder en bestämd</a:t>
            </a:r>
          </a:p>
          <a:p>
            <a:pPr>
              <a:lnSpc>
                <a:spcPts val="3472"/>
              </a:lnSpc>
              <a:spcBef>
                <a:spcPts val="0"/>
              </a:spcBef>
              <a:spcAft>
                <a:spcPts val="0"/>
              </a:spcAft>
              <a:defRPr sz="2800" b="1">
                <a:solidFill>
                  <a:srgbClr val="193540"/>
                </a:solidFill>
                <a:latin typeface="DejaVu Sans"/>
              </a:defRPr>
            </a:pPr>
            <a:r>
              <a:t>beräkningsregel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Rörligt pris är ett gemensamt månadspris enligt avtalet, fastställt när</a:t>
            </a:r>
          </a:p>
          <a:p>
            <a:pPr>
              <a:lnSpc>
                <a:spcPts val="2480"/>
              </a:lnSpc>
              <a:spcBef>
                <a:spcPts val="0"/>
              </a:spcBef>
              <a:spcAft>
                <a:spcPts val="0"/>
              </a:spcAft>
              <a:defRPr sz="2000" b="0">
                <a:solidFill>
                  <a:srgbClr val="193540"/>
                </a:solidFill>
                <a:latin typeface="DejaVu Sans"/>
              </a:defRPr>
            </a:pPr>
            <a:r>
              <a:t>månadens underlag är känt. Kunden känner modellen i förväg, men inte</a:t>
            </a:r>
          </a:p>
          <a:p>
            <a:pPr>
              <a:lnSpc>
                <a:spcPts val="2480"/>
              </a:lnSpc>
              <a:spcBef>
                <a:spcPts val="0"/>
              </a:spcBef>
              <a:spcAft>
                <a:spcPts val="0"/>
              </a:spcAft>
              <a:defRPr sz="2000" b="0">
                <a:solidFill>
                  <a:srgbClr val="193540"/>
                </a:solidFill>
                <a:latin typeface="DejaVu Sans"/>
              </a:defRPr>
            </a:pPr>
            <a:r>
              <a:t>automatiskt slutnivån.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Underlaget beskriver månadsmedel, rörliga kostnader, påslag och</a:t>
            </a:r>
          </a:p>
          <a:p>
            <a:pPr>
              <a:lnSpc>
                <a:spcPts val="2480"/>
              </a:lnSpc>
              <a:spcBef>
                <a:spcPts val="0"/>
              </a:spcBef>
              <a:spcAft>
                <a:spcPts val="0"/>
              </a:spcAft>
              <a:defRPr sz="2000" b="0">
                <a:solidFill>
                  <a:srgbClr val="193540"/>
                </a:solidFill>
                <a:latin typeface="DejaVu Sans"/>
              </a:defRPr>
            </a:pPr>
            <a:r>
              <a:t>månadsavgift, men är ingen generell prislista. Aktuell offert anger omfattning,</a:t>
            </a:r>
          </a:p>
          <a:p>
            <a:pPr>
              <a:lnSpc>
                <a:spcPts val="2480"/>
              </a:lnSpc>
              <a:spcBef>
                <a:spcPts val="0"/>
              </a:spcBef>
              <a:spcAft>
                <a:spcPts val="0"/>
              </a:spcAft>
              <a:defRPr sz="2000" b="0">
                <a:solidFill>
                  <a:srgbClr val="193540"/>
                </a:solidFill>
                <a:latin typeface="DejaVu Sans"/>
              </a:defRPr>
            </a:pPr>
            <a:r>
              <a:t>elområde, kollektiv och kundvillkor.</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Egen tidsprofil och kollektivets profil är olika</a:t>
            </a:r>
          </a:p>
          <a:p>
            <a:pPr>
              <a:lnSpc>
                <a:spcPts val="3472"/>
              </a:lnSpc>
              <a:spcBef>
                <a:spcPts val="0"/>
              </a:spcBef>
              <a:spcAft>
                <a:spcPts val="0"/>
              </a:spcAft>
              <a:defRPr sz="2800" b="1">
                <a:solidFill>
                  <a:srgbClr val="193540"/>
                </a:solidFill>
                <a:latin typeface="DejaVu Sans"/>
              </a:defRPr>
            </a:pPr>
            <a:r>
              <a:t>saker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Kvartspris följer direkt den egna kvartförbrukningen. Rörligt pris använder</a:t>
            </a:r>
          </a:p>
          <a:p>
            <a:pPr>
              <a:lnSpc>
                <a:spcPts val="2480"/>
              </a:lnSpc>
              <a:spcBef>
                <a:spcPts val="0"/>
              </a:spcBef>
              <a:spcAft>
                <a:spcPts val="0"/>
              </a:spcAft>
              <a:defRPr sz="2000" b="0">
                <a:solidFill>
                  <a:srgbClr val="193540"/>
                </a:solidFill>
                <a:latin typeface="DejaVu Sans"/>
              </a:defRPr>
            </a:pPr>
            <a:r>
              <a:t>avtalets månadsberäkning, där kollektivets profil kan ingå. Egen lastflytt ger</a:t>
            </a:r>
          </a:p>
          <a:p>
            <a:pPr>
              <a:lnSpc>
                <a:spcPts val="2480"/>
              </a:lnSpc>
              <a:spcBef>
                <a:spcPts val="0"/>
              </a:spcBef>
              <a:spcAft>
                <a:spcPts val="0"/>
              </a:spcAft>
              <a:defRPr sz="2000" b="0">
                <a:solidFill>
                  <a:srgbClr val="193540"/>
                </a:solidFill>
                <a:latin typeface="DejaVu Sans"/>
              </a:defRPr>
            </a:pPr>
            <a:r>
              <a:t>därför inte samma direkta individuella spotvinst.</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app kan visa rent områdespris medan offerten omfattar fler elhandelsdelar.</a:t>
            </a:r>
          </a:p>
          <a:p>
            <a:pPr>
              <a:lnSpc>
                <a:spcPts val="2480"/>
              </a:lnSpc>
              <a:spcBef>
                <a:spcPts val="0"/>
              </a:spcBef>
              <a:spcAft>
                <a:spcPts val="0"/>
              </a:spcAft>
              <a:defRPr sz="2000" b="0">
                <a:solidFill>
                  <a:srgbClr val="193540"/>
                </a:solidFill>
                <a:latin typeface="DejaVu Sans"/>
              </a:defRPr>
            </a:pPr>
            <a:r>
              <a:t>Förklara skillnaden genom prisomfattningen, inte som en extra avgift utan</a:t>
            </a:r>
          </a:p>
          <a:p>
            <a:pPr>
              <a:lnSpc>
                <a:spcPts val="2480"/>
              </a:lnSpc>
              <a:spcBef>
                <a:spcPts val="0"/>
              </a:spcBef>
              <a:spcAft>
                <a:spcPts val="0"/>
              </a:spcAft>
              <a:defRPr sz="2000" b="0">
                <a:solidFill>
                  <a:srgbClr val="193540"/>
                </a:solidFill>
                <a:latin typeface="DejaVu Sans"/>
              </a:defRPr>
            </a:pPr>
            <a:r>
              <a:t>kontroll.</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Pris per kWh och effektiv kostnad per kWh</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Multiplicera kWh med kronor per kWh och lägg eventuella fasta avgifter till</a:t>
            </a:r>
          </a:p>
          <a:p>
            <a:pPr>
              <a:lnSpc>
                <a:spcPts val="2480"/>
              </a:lnSpc>
              <a:spcBef>
                <a:spcPts val="0"/>
              </a:spcBef>
              <a:spcAft>
                <a:spcPts val="0"/>
              </a:spcAft>
              <a:defRPr sz="2000" b="0">
                <a:solidFill>
                  <a:srgbClr val="193540"/>
                </a:solidFill>
                <a:latin typeface="DejaVu Sans"/>
              </a:defRPr>
            </a:pPr>
            <a:r>
              <a:t>kostnaden. Dividerar du total elhandelskostnad med samma volym får du ett</a:t>
            </a:r>
          </a:p>
          <a:p>
            <a:pPr>
              <a:lnSpc>
                <a:spcPts val="2480"/>
              </a:lnSpc>
              <a:spcBef>
                <a:spcPts val="0"/>
              </a:spcBef>
              <a:spcAft>
                <a:spcPts val="0"/>
              </a:spcAft>
              <a:defRPr sz="2000" b="0">
                <a:solidFill>
                  <a:srgbClr val="193540"/>
                </a:solidFill>
                <a:latin typeface="DejaVu Sans"/>
              </a:defRPr>
            </a:pPr>
            <a:r>
              <a:t>effektivt enhetspris.</a:t>
            </a:r>
          </a:p>
        </p:txBody>
      </p:sp>
      <p:sp>
        <p:nvSpPr>
          <p:cNvPr id="7" name="TextBox 6"/>
          <p:cNvSpPr txBox="1"/>
          <p:nvPr/>
        </p:nvSpPr>
        <p:spPr>
          <a:xfrm>
            <a:off x="603504" y="320802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Det effektiva priset är ett jämförelsemått, inte ett nytt avtalat pris. Ange</a:t>
            </a:r>
          </a:p>
          <a:p>
            <a:pPr>
              <a:lnSpc>
                <a:spcPts val="2480"/>
              </a:lnSpc>
              <a:spcBef>
                <a:spcPts val="0"/>
              </a:spcBef>
              <a:spcAft>
                <a:spcPts val="0"/>
              </a:spcAft>
              <a:defRPr sz="2000" b="0">
                <a:solidFill>
                  <a:srgbClr val="193540"/>
                </a:solidFill>
                <a:latin typeface="DejaVu Sans"/>
              </a:defRPr>
            </a:pPr>
            <a:r>
              <a:t>kostnadsomfattning och volym. Samma fasta avgift kan ha olika betydelse för</a:t>
            </a:r>
          </a:p>
          <a:p>
            <a:pPr>
              <a:lnSpc>
                <a:spcPts val="2480"/>
              </a:lnSpc>
              <a:spcBef>
                <a:spcPts val="0"/>
              </a:spcBef>
              <a:spcAft>
                <a:spcPts val="0"/>
              </a:spcAft>
              <a:defRPr sz="2000" b="0">
                <a:solidFill>
                  <a:srgbClr val="193540"/>
                </a:solidFill>
                <a:latin typeface="DejaVu Sans"/>
              </a:defRPr>
            </a:pPr>
            <a:r>
              <a:t>ett hushåll med låg sommarvolym och en verksamhet med jämn hög</a:t>
            </a:r>
          </a:p>
          <a:p>
            <a:pPr>
              <a:lnSpc>
                <a:spcPts val="2480"/>
              </a:lnSpc>
              <a:spcBef>
                <a:spcPts val="0"/>
              </a:spcBef>
              <a:spcAft>
                <a:spcPts val="0"/>
              </a:spcAft>
              <a:defRPr sz="2000" b="0">
                <a:solidFill>
                  <a:srgbClr val="193540"/>
                </a:solidFill>
                <a:latin typeface="DejaVu Sans"/>
              </a:defRPr>
            </a:pPr>
            <a:r>
              <a:t>användning.</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Årsbilden måste väga in när kunden använder el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153</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Årssnittet är årets jämförbara kostnad dividerad med motsvarande volym. Ett</a:t>
            </a:r>
          </a:p>
          <a:p>
            <a:pPr>
              <a:lnSpc>
                <a:spcPts val="2480"/>
              </a:lnSpc>
              <a:spcBef>
                <a:spcPts val="0"/>
              </a:spcBef>
              <a:spcAft>
                <a:spcPts val="0"/>
              </a:spcAft>
              <a:defRPr sz="2000" b="0">
                <a:solidFill>
                  <a:srgbClr val="193540"/>
                </a:solidFill>
                <a:latin typeface="DejaVu Sans"/>
              </a:defRPr>
            </a:pPr>
            <a:r>
              <a:t>enkelt genomsnitt av månadspriser kan bli missvisande vid säsongsvariation.</a:t>
            </a:r>
          </a:p>
          <a:p>
            <a:pPr>
              <a:lnSpc>
                <a:spcPts val="2480"/>
              </a:lnSpc>
              <a:spcBef>
                <a:spcPts val="0"/>
              </a:spcBef>
              <a:spcAft>
                <a:spcPts val="0"/>
              </a:spcAft>
              <a:defRPr sz="2000" b="0">
                <a:solidFill>
                  <a:srgbClr val="193540"/>
                </a:solidFill>
                <a:latin typeface="DejaVu Sans"/>
              </a:defRPr>
            </a:pPr>
            <a:r>
              <a:t>En elvärmd villa och en säsongsverksamhet kan ha olika mönster.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Använd samma månader och kostnadsdelar i jämförelsen. Lägg avgifter för</a:t>
            </a:r>
          </a:p>
          <a:p>
            <a:pPr>
              <a:lnSpc>
                <a:spcPts val="2480"/>
              </a:lnSpc>
              <a:spcBef>
                <a:spcPts val="0"/>
              </a:spcBef>
              <a:spcAft>
                <a:spcPts val="0"/>
              </a:spcAft>
              <a:defRPr sz="2000" b="0">
                <a:solidFill>
                  <a:srgbClr val="193540"/>
                </a:solidFill>
                <a:latin typeface="DejaVu Sans"/>
              </a:defRPr>
            </a:pPr>
            <a:r>
              <a:t>rätt period till kostnaden om de ska ingå i snittet. Skilj historiskt utfall från</a:t>
            </a:r>
          </a:p>
          <a:p>
            <a:pPr>
              <a:lnSpc>
                <a:spcPts val="2480"/>
              </a:lnSpc>
              <a:spcBef>
                <a:spcPts val="0"/>
              </a:spcBef>
              <a:spcAft>
                <a:spcPts val="0"/>
              </a:spcAft>
              <a:defRPr sz="2000" b="0">
                <a:solidFill>
                  <a:srgbClr val="193540"/>
                </a:solidFill>
                <a:latin typeface="DejaVu Sans"/>
              </a:defRPr>
            </a:pPr>
            <a:r>
              <a:t>framtidsscenario.</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Hitta kundens gräns för variation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Undersök Rörligt pris när kunden vill följa marknaden med gemensam</a:t>
            </a:r>
          </a:p>
          <a:p>
            <a:pPr>
              <a:lnSpc>
                <a:spcPts val="2480"/>
              </a:lnSpc>
              <a:spcBef>
                <a:spcPts val="0"/>
              </a:spcBef>
              <a:spcAft>
                <a:spcPts val="0"/>
              </a:spcAft>
              <a:defRPr sz="2000" b="0">
                <a:solidFill>
                  <a:srgbClr val="193540"/>
                </a:solidFill>
                <a:latin typeface="DejaVu Sans"/>
              </a:defRPr>
            </a:pPr>
            <a:r>
              <a:t>månadsberäkning och accepterar variation.</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Produkten garanterar varken lägsta framtida pris eller fast årspris. Nyttan är</a:t>
            </a:r>
          </a:p>
          <a:p>
            <a:pPr>
              <a:lnSpc>
                <a:spcPts val="2480"/>
              </a:lnSpc>
              <a:spcBef>
                <a:spcPts val="0"/>
              </a:spcBef>
              <a:spcAft>
                <a:spcPts val="0"/>
              </a:spcAft>
              <a:defRPr sz="2000" b="0">
                <a:solidFill>
                  <a:srgbClr val="193540"/>
                </a:solidFill>
                <a:latin typeface="DejaVu Sans"/>
              </a:defRPr>
            </a:pPr>
            <a:r>
              <a:t>den avtalade månadsmodellen med tydliga kostnadsposter. Kontrollera</a:t>
            </a:r>
          </a:p>
          <a:p>
            <a:pPr>
              <a:lnSpc>
                <a:spcPts val="2480"/>
              </a:lnSpc>
              <a:spcBef>
                <a:spcPts val="0"/>
              </a:spcBef>
              <a:spcAft>
                <a:spcPts val="0"/>
              </a:spcAft>
              <a:defRPr sz="2000" b="0">
                <a:solidFill>
                  <a:srgbClr val="193540"/>
                </a:solidFill>
                <a:latin typeface="DejaVu Sans"/>
              </a:defRPr>
            </a:pPr>
            <a:r>
              <a:t>referens, kollektiv, område, avgifter, start och kundvillkor.</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Fast avgift får olika betydelse vid olika volym</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exempel med antaget jämförbart elhandelspris 93 öre/kWh</a:t>
            </a:r>
          </a:p>
          <a:p>
            <a:pPr>
              <a:lnSpc>
                <a:spcPts val="2480"/>
              </a:lnSpc>
              <a:spcBef>
                <a:spcPts val="0"/>
              </a:spcBef>
              <a:spcAft>
                <a:spcPts val="0"/>
              </a:spcAft>
              <a:defRPr sz="2000" b="0">
                <a:solidFill>
                  <a:srgbClr val="193540"/>
                </a:solidFill>
                <a:latin typeface="DejaVu Sans"/>
              </a:defRPr>
            </a:pPr>
            <a:r>
              <a:t>inklusive påslag och antagen fast månadsavgift 100 kr. Dessa är</a:t>
            </a:r>
          </a:p>
          <a:p>
            <a:pPr>
              <a:lnSpc>
                <a:spcPts val="2480"/>
              </a:lnSpc>
              <a:spcBef>
                <a:spcPts val="0"/>
              </a:spcBef>
              <a:spcAft>
                <a:spcPts val="0"/>
              </a:spcAft>
              <a:defRPr sz="2000" b="0">
                <a:solidFill>
                  <a:srgbClr val="193540"/>
                </a:solidFill>
                <a:latin typeface="DejaVu Sans"/>
              </a:defRPr>
            </a:pPr>
            <a:r>
              <a:t>undervisningstal, inte faktiska avgifter. Elnät, skatt och moms utesluts.</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 A: 5 000 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 B: 1 000 kWh.</a:t>
            </a:r>
          </a:p>
        </p:txBody>
      </p:sp>
      <p:sp>
        <p:nvSpPr>
          <p:cNvPr id="9" name="TextBox 8"/>
          <p:cNvSpPr txBox="1"/>
          <p:nvPr/>
        </p:nvSpPr>
        <p:spPr>
          <a:xfrm>
            <a:off x="603504" y="40665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Samma antagna kWh-pris och fasta avgift i båda fallen.</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Fast avgift får olika betydelse vid olika</a:t>
            </a:r>
          </a:p>
          <a:p>
            <a:pPr>
              <a:lnSpc>
                <a:spcPts val="3472"/>
              </a:lnSpc>
              <a:spcBef>
                <a:spcPts val="0"/>
              </a:spcBef>
              <a:spcAft>
                <a:spcPts val="0"/>
              </a:spcAft>
              <a:defRPr sz="2800" b="1">
                <a:solidFill>
                  <a:srgbClr val="193540"/>
                </a:solidFill>
                <a:latin typeface="DejaVu Sans"/>
              </a:defRPr>
            </a:pPr>
            <a:r>
              <a:t>volym</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Månad A: 5 000 × 0,93 + 100 = 4 750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Effektivt pris A: 4 750 / 5 000 = 0,95 kr/kWh = 95 öre/kWh.</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Månad B: 1 000 × 0,93 + 100 = 1 030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Effektivt pris B: 1 030 / 1 000 = 1,03 kr/kWh = 103 öre/kWh.</a:t>
            </a:r>
          </a:p>
        </p:txBody>
      </p:sp>
      <p:sp>
        <p:nvSpPr>
          <p:cNvPr id="10" name="TextBox 9"/>
          <p:cNvSpPr txBox="1"/>
          <p:nvPr/>
        </p:nvSpPr>
        <p:spPr>
          <a:xfrm>
            <a:off x="603504" y="38658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Det antagna avtalspriset är 93 öre i båda fallen, men kostnad</a:t>
            </a:r>
          </a:p>
          <a:p>
            <a:pPr>
              <a:lnSpc>
                <a:spcPts val="2480"/>
              </a:lnSpc>
              <a:spcBef>
                <a:spcPts val="0"/>
              </a:spcBef>
              <a:spcAft>
                <a:spcPts val="0"/>
              </a:spcAft>
              <a:defRPr sz="2000" b="0">
                <a:solidFill>
                  <a:srgbClr val="193540"/>
                </a:solidFill>
                <a:latin typeface="DejaVu Sans"/>
              </a:defRPr>
            </a:pPr>
            <a:r>
              <a:t>inklusive avgift motsvarar 95 respektive 103 öre/kWh.</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Volymväg två månader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exempel för jämförbara volymbaserade elhandelsdelar. Fasta</a:t>
            </a:r>
          </a:p>
          <a:p>
            <a:pPr>
              <a:lnSpc>
                <a:spcPts val="2480"/>
              </a:lnSpc>
              <a:spcBef>
                <a:spcPts val="0"/>
              </a:spcBef>
              <a:spcAft>
                <a:spcPts val="0"/>
              </a:spcAft>
              <a:defRPr sz="2000" b="0">
                <a:solidFill>
                  <a:srgbClr val="193540"/>
                </a:solidFill>
                <a:latin typeface="DejaVu Sans"/>
              </a:defRPr>
            </a:pPr>
            <a:r>
              <a:t>avgifter, elnät, skatt och moms ingår inte. Två månader illustrerar metoden,</a:t>
            </a:r>
          </a:p>
          <a:p>
            <a:pPr>
              <a:lnSpc>
                <a:spcPts val="2480"/>
              </a:lnSpc>
              <a:spcBef>
                <a:spcPts val="0"/>
              </a:spcBef>
              <a:spcAft>
                <a:spcPts val="0"/>
              </a:spcAft>
              <a:defRPr sz="2000" b="0">
                <a:solidFill>
                  <a:srgbClr val="193540"/>
                </a:solidFill>
                <a:latin typeface="DejaVu Sans"/>
              </a:defRPr>
            </a:pPr>
            <a:r>
              <a:t>inte ett helt års faktiska utfall.</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 1: 2 000 kWh till 100 öre/kWh.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 2: 1 000 kWh till 60 öre/kWh.</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Volymväg två månader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Månad 1 kostar 2 000 × 1,00 = 2 000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Månad 2 kostar 1 000 × 0,60 = 600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Total kostnad är 2 600 kr och total volym 3 000 kWh.</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Vägt snitt: 2 600 / 3 000 × 100 = 86,666… öre/kWh, avrundat 86,67.</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2 600 kr för perioden och cirka 86,67 öre/kWh i vägt snitt.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159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Rörligt betyder att min egen kvartförbrukning bestämmer priset.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Den gemensamma månadsmodellen skiljer sig från individuellt</a:t>
            </a:r>
          </a:p>
          <a:p>
            <a:pPr>
              <a:lnSpc>
                <a:spcPts val="2480"/>
              </a:lnSpc>
              <a:spcBef>
                <a:spcPts val="0"/>
              </a:spcBef>
              <a:spcAft>
                <a:spcPts val="0"/>
              </a:spcAft>
              <a:defRPr sz="2000" b="0">
                <a:solidFill>
                  <a:srgbClr val="193540"/>
                </a:solidFill>
                <a:latin typeface="DejaVu Sans"/>
              </a:defRPr>
            </a:pPr>
            <a:r>
              <a:t>kvartsvägt pris. Avtalets definition styr.</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Årssnittet är medelvärdet av månadssiffrorna.</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Väg varje månadspris med motsvarande förbrukning. Lägg</a:t>
            </a:r>
          </a:p>
          <a:p>
            <a:pPr>
              <a:lnSpc>
                <a:spcPts val="2480"/>
              </a:lnSpc>
              <a:spcBef>
                <a:spcPts val="0"/>
              </a:spcBef>
              <a:spcAft>
                <a:spcPts val="0"/>
              </a:spcAft>
              <a:defRPr sz="2000" b="0">
                <a:solidFill>
                  <a:srgbClr val="193540"/>
                </a:solidFill>
                <a:latin typeface="DejaVu Sans"/>
              </a:defRPr>
            </a:pPr>
            <a:r>
              <a:t>relevanta avgifter till kostnaden om de ska ingå i jämförelsen.</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Samma öretal betyder samma faktura.</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Faktisk volym, fasta avgifter och övriga elkostnader påverkar</a:t>
            </a:r>
          </a:p>
          <a:p>
            <a:pPr>
              <a:lnSpc>
                <a:spcPts val="2480"/>
              </a:lnSpc>
              <a:spcBef>
                <a:spcPts val="0"/>
              </a:spcBef>
              <a:spcAft>
                <a:spcPts val="0"/>
              </a:spcAft>
              <a:defRPr sz="2000" b="0">
                <a:solidFill>
                  <a:srgbClr val="193540"/>
                </a:solidFill>
                <a:latin typeface="DejaVu Sans"/>
              </a:defRPr>
            </a:pPr>
            <a:r>
              <a:t>beloppet. Samma kWh-pris räcker inte för att bestämma totalen.</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162</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Med Rörligt pris får du det gemensamma månadspriset enligt avtalet. Det</a:t>
            </a:r>
          </a:p>
          <a:p>
            <a:pPr>
              <a:lnSpc>
                <a:spcPts val="2480"/>
              </a:lnSpc>
              <a:spcBef>
                <a:spcPts val="0"/>
              </a:spcBef>
              <a:spcAft>
                <a:spcPts val="0"/>
              </a:spcAft>
              <a:defRPr sz="2000" b="0">
                <a:solidFill>
                  <a:srgbClr val="193540"/>
                </a:solidFill>
                <a:latin typeface="DejaVu Sans"/>
              </a:defRPr>
            </a:pPr>
            <a:r>
              <a:t>fastställs i efterhand och kan ändras mellan månader. Din mängd el och</a:t>
            </a:r>
          </a:p>
          <a:p>
            <a:pPr>
              <a:lnSpc>
                <a:spcPts val="2480"/>
              </a:lnSpc>
              <a:spcBef>
                <a:spcPts val="0"/>
              </a:spcBef>
              <a:spcAft>
                <a:spcPts val="0"/>
              </a:spcAft>
              <a:defRPr sz="2000" b="0">
                <a:solidFill>
                  <a:srgbClr val="193540"/>
                </a:solidFill>
                <a:latin typeface="DejaVu Sans"/>
              </a:defRPr>
            </a:pPr>
            <a:r>
              <a:t>avtalade avgifter påverkar beloppet. Modellen skiljer sig från ett pris som</a:t>
            </a:r>
          </a:p>
          <a:p>
            <a:pPr>
              <a:lnSpc>
                <a:spcPts val="2480"/>
              </a:lnSpc>
              <a:spcBef>
                <a:spcPts val="0"/>
              </a:spcBef>
              <a:spcAft>
                <a:spcPts val="0"/>
              </a:spcAft>
              <a:defRPr sz="2000" b="0">
                <a:solidFill>
                  <a:srgbClr val="193540"/>
                </a:solidFill>
                <a:latin typeface="DejaVu Sans"/>
              </a:defRPr>
            </a:pPr>
            <a:r>
              <a:t>räknas direkt från din egen användning i varje kvart.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Villan som använder mest el på vintern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163</a:t>
            </a:r>
          </a:p>
        </p:txBody>
      </p:sp>
      <p:sp>
        <p:nvSpPr>
          <p:cNvPr id="6" name="TextBox 5"/>
          <p:cNvSpPr txBox="1"/>
          <p:nvPr/>
        </p:nvSpPr>
        <p:spPr>
          <a:xfrm>
            <a:off x="603504" y="2148840"/>
            <a:ext cx="10972800" cy="18897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kunden Erik visar ett snitt av två månadspriser och säger att avtalet</a:t>
            </a:r>
          </a:p>
          <a:p>
            <a:pPr>
              <a:lnSpc>
                <a:spcPts val="2480"/>
              </a:lnSpc>
              <a:spcBef>
                <a:spcPts val="0"/>
              </a:spcBef>
              <a:spcAft>
                <a:spcPts val="0"/>
              </a:spcAft>
              <a:defRPr sz="2000" b="0">
                <a:solidFill>
                  <a:srgbClr val="193540"/>
                </a:solidFill>
                <a:latin typeface="DejaVu Sans"/>
              </a:defRPr>
            </a:pPr>
            <a:r>
              <a:t>borde kosta 80 öre per kWh. Under den första månaden använde villan</a:t>
            </a:r>
          </a:p>
          <a:p>
            <a:pPr>
              <a:lnSpc>
                <a:spcPts val="2480"/>
              </a:lnSpc>
              <a:spcBef>
                <a:spcPts val="0"/>
              </a:spcBef>
              <a:spcAft>
                <a:spcPts val="0"/>
              </a:spcAft>
              <a:defRPr sz="2000" b="0">
                <a:solidFill>
                  <a:srgbClr val="193540"/>
                </a:solidFill>
                <a:latin typeface="DejaVu Sans"/>
              </a:defRPr>
            </a:pPr>
            <a:r>
              <a:t>2 000 kWh till ett jämförbart volympris på 100 öre. Under den andra användes</a:t>
            </a:r>
          </a:p>
          <a:p>
            <a:pPr>
              <a:lnSpc>
                <a:spcPts val="2480"/>
              </a:lnSpc>
              <a:spcBef>
                <a:spcPts val="0"/>
              </a:spcBef>
              <a:spcAft>
                <a:spcPts val="0"/>
              </a:spcAft>
              <a:defRPr sz="2000" b="0">
                <a:solidFill>
                  <a:srgbClr val="193540"/>
                </a:solidFill>
                <a:latin typeface="DejaVu Sans"/>
              </a:defRPr>
            </a:pPr>
            <a:r>
              <a:t>1 000 kWh till 60 öre. Han planerar en ny värmepump och tror att nattlig tvätt</a:t>
            </a:r>
          </a:p>
          <a:p>
            <a:pPr>
              <a:lnSpc>
                <a:spcPts val="2480"/>
              </a:lnSpc>
              <a:spcBef>
                <a:spcPts val="0"/>
              </a:spcBef>
              <a:spcAft>
                <a:spcPts val="0"/>
              </a:spcAft>
              <a:defRPr sz="2000" b="0">
                <a:solidFill>
                  <a:srgbClr val="193540"/>
                </a:solidFill>
                <a:latin typeface="DejaVu Sans"/>
              </a:defRPr>
            </a:pPr>
            <a:r>
              <a:t>direkt sänker det egna priset i en gemensam månadsmodell. Avgifter och</a:t>
            </a:r>
          </a:p>
          <a:p>
            <a:pPr>
              <a:lnSpc>
                <a:spcPts val="2480"/>
              </a:lnSpc>
              <a:spcBef>
                <a:spcPts val="0"/>
              </a:spcBef>
              <a:spcAft>
                <a:spcPts val="0"/>
              </a:spcAft>
              <a:defRPr sz="2000" b="0">
                <a:solidFill>
                  <a:srgbClr val="193540"/>
                </a:solidFill>
                <a:latin typeface="DejaVu Sans"/>
              </a:defRPr>
            </a:pPr>
            <a:r>
              <a:t>övriga elkostnader är ännu inte med i hans kalkyl.</a:t>
            </a:r>
          </a:p>
        </p:txBody>
      </p:sp>
      <p:sp>
        <p:nvSpPr>
          <p:cNvPr id="7" name="TextBox 6"/>
          <p:cNvSpPr txBox="1"/>
          <p:nvPr/>
        </p:nvSpPr>
        <p:spPr>
          <a:xfrm>
            <a:off x="603504" y="41529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Korrigera snittberäkningen och förklara varför viktningen behövs.</a:t>
            </a:r>
          </a:p>
        </p:txBody>
      </p:sp>
      <p:sp>
        <p:nvSpPr>
          <p:cNvPr id="8" name="TextBox 7"/>
          <p:cNvSpPr txBox="1"/>
          <p:nvPr/>
        </p:nvSpPr>
        <p:spPr>
          <a:xfrm>
            <a:off x="603504" y="45821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skillnaden mellan lägre användning och flytt till en annan kvart.</a:t>
            </a:r>
          </a:p>
        </p:txBody>
      </p:sp>
      <p:sp>
        <p:nvSpPr>
          <p:cNvPr id="9" name="TextBox 8"/>
          <p:cNvSpPr txBox="1"/>
          <p:nvPr/>
        </p:nvSpPr>
        <p:spPr>
          <a:xfrm>
            <a:off x="603504" y="50114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 vad du behöver kontrollera innan du rekommenderar ett nytt avtal.</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Räknar 2 600 / 3 000 och skiljer från oviktat 80.</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Förklarar volymminskning respektive tidsflytt.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Kontrollerar framtida förändring, avgifter och prisomfattning.</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historiskt utfall från prognos och kundlöfte.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Vad känner kunden normalt i förväg i den beskrivna Rörligt pris-modellen?</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Avtalets månadsmodell, men inte automatiskt den slutliga månadsnivån.</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Ett fast pris för hela året.</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Ett individuellt pris för varje kvart oberoende av avtalet.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elhandelsexempel före nät, skatt och moms: 2 000 kWh till</a:t>
            </a:r>
          </a:p>
          <a:p>
            <a:pPr>
              <a:lnSpc>
                <a:spcPts val="2480"/>
              </a:lnSpc>
              <a:spcBef>
                <a:spcPts val="0"/>
              </a:spcBef>
              <a:spcAft>
                <a:spcPts val="0"/>
              </a:spcAft>
              <a:defRPr sz="2000" b="0">
                <a:solidFill>
                  <a:srgbClr val="193540"/>
                </a:solidFill>
                <a:latin typeface="DejaVu Sans"/>
              </a:defRPr>
            </a:pPr>
            <a:r>
              <a:t>80 öre/kWh plus en antagen fast avgift 100 kr. Vad är det effektiva priset</a:t>
            </a:r>
          </a:p>
          <a:p>
            <a:pPr>
              <a:lnSpc>
                <a:spcPts val="2480"/>
              </a:lnSpc>
              <a:spcBef>
                <a:spcPts val="0"/>
              </a:spcBef>
              <a:spcAft>
                <a:spcPts val="0"/>
              </a:spcAft>
              <a:defRPr sz="2000" b="0">
                <a:solidFill>
                  <a:srgbClr val="193540"/>
                </a:solidFill>
                <a:latin typeface="DejaVu Sans"/>
              </a:defRPr>
            </a:pPr>
            <a:r>
              <a:t>inklusive avgiften?</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säger att två offerter är likvärdiga eftersom de visar samma öretal.</a:t>
            </a:r>
          </a:p>
          <a:p>
            <a:pPr>
              <a:lnSpc>
                <a:spcPts val="2480"/>
              </a:lnSpc>
              <a:spcBef>
                <a:spcPts val="0"/>
              </a:spcBef>
              <a:spcAft>
                <a:spcPts val="0"/>
              </a:spcAft>
              <a:defRPr sz="2000" b="0">
                <a:solidFill>
                  <a:srgbClr val="193540"/>
                </a:solidFill>
                <a:latin typeface="DejaVu Sans"/>
              </a:defRPr>
            </a:pPr>
            <a:r>
              <a:t>Vad undersöker du?</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Vilket påstående om nattlig lastflytt är korrekt?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Lastflytt ger alltid exakt samma individuella vinst som i Kvartspris.</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Gemensamt Rörligt pris ger inte samma direkta individuella spotvinst av</a:t>
            </a:r>
          </a:p>
          <a:p>
            <a:pPr>
              <a:lnSpc>
                <a:spcPts val="2480"/>
              </a:lnSpc>
              <a:spcBef>
                <a:spcPts val="0"/>
              </a:spcBef>
              <a:spcAft>
                <a:spcPts val="0"/>
              </a:spcAft>
              <a:defRPr sz="2000" b="0">
                <a:solidFill>
                  <a:srgbClr val="193540"/>
                </a:solidFill>
                <a:latin typeface="DejaVu Sans"/>
              </a:defRPr>
            </a:pPr>
            <a:r>
              <a:t>flytten som Kvartspris.</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All minskning av förbrukning saknar betydelse.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08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169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beräkningsmodell före prisnivå.</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 gemensamt månadspris från egen kvartsviktning.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fasta avgifter med rätt period och volym.</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Volymväg priser för en längre period.</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 vad som redan ingår i priset.</a:t>
            </a:r>
          </a:p>
        </p:txBody>
      </p:sp>
      <p:sp>
        <p:nvSpPr>
          <p:cNvPr id="11" name="TextBox 10"/>
          <p:cNvSpPr txBox="1"/>
          <p:nvPr/>
        </p:nvSpPr>
        <p:spPr>
          <a:xfrm>
            <a:off x="603504" y="42951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Bedöm budgetens tålighet för variation och undvik framtida prisgarantier.</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09 · Gemensam grund</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Fastpris – ett känt enhetspris med tydlig</a:t>
            </a:r>
          </a:p>
          <a:p>
            <a:pPr>
              <a:lnSpc>
                <a:spcPts val="3472"/>
              </a:lnSpc>
              <a:spcBef>
                <a:spcPts val="0"/>
              </a:spcBef>
              <a:spcAft>
                <a:spcPts val="0"/>
              </a:spcAft>
              <a:defRPr sz="2800" b="1">
                <a:solidFill>
                  <a:srgbClr val="FFFFFF"/>
                </a:solidFill>
                <a:latin typeface="DejaVu Sans"/>
              </a:defRPr>
            </a:pPr>
            <a:r>
              <a:t>omfattning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170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ett fast elhandelspris per kWh från ett fast fakturabelopp.</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avvägningen mellan förutsägbarhet och möjligheten att följa</a:t>
            </a:r>
          </a:p>
          <a:p>
            <a:pPr>
              <a:lnSpc>
                <a:spcPts val="2480"/>
              </a:lnSpc>
              <a:spcBef>
                <a:spcPts val="0"/>
              </a:spcBef>
              <a:spcAft>
                <a:spcPts val="0"/>
              </a:spcAft>
              <a:defRPr sz="2000" b="0">
                <a:solidFill>
                  <a:srgbClr val="FFFFFF"/>
                </a:solidFill>
                <a:latin typeface="DejaVu Sans"/>
              </a:defRPr>
            </a:pPr>
            <a:r>
              <a:t>marknaden nedåt.</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Jämföra samma volym, period och kostnadsdelar i två prisscenarier.</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Identifiera de pris-, profil- och volymvillkor som behöver kontrolleras i</a:t>
            </a:r>
          </a:p>
          <a:p>
            <a:pPr>
              <a:lnSpc>
                <a:spcPts val="2480"/>
              </a:lnSpc>
              <a:spcBef>
                <a:spcPts val="0"/>
              </a:spcBef>
              <a:spcAft>
                <a:spcPts val="0"/>
              </a:spcAft>
              <a:defRPr sz="2000" b="0">
                <a:solidFill>
                  <a:srgbClr val="FFFFFF"/>
                </a:solidFill>
                <a:latin typeface="DejaVu Sans"/>
              </a:defRPr>
            </a:pPr>
            <a:r>
              <a:t>offerten.</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Det fasta måste beskrivas med en omfattning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Fastpris anger ett elhandelspris per kWh för uttryckligt avtalade delar och</a:t>
            </a:r>
          </a:p>
          <a:p>
            <a:pPr>
              <a:lnSpc>
                <a:spcPts val="2480"/>
              </a:lnSpc>
              <a:spcBef>
                <a:spcPts val="0"/>
              </a:spcBef>
              <a:spcAft>
                <a:spcPts val="0"/>
              </a:spcAft>
              <a:defRPr sz="2000" b="0">
                <a:solidFill>
                  <a:srgbClr val="193540"/>
                </a:solidFill>
                <a:latin typeface="DejaVu Sans"/>
              </a:defRPr>
            </a:pPr>
            <a:r>
              <a:t>leveransperiod. Börja med frågorna vad är fast och när gäller det?</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fullständigt fastpris omfattar mer prisrisk än en ensam SYS/EPAD-säkring.</a:t>
            </a:r>
          </a:p>
          <a:p>
            <a:pPr>
              <a:lnSpc>
                <a:spcPts val="2480"/>
              </a:lnSpc>
              <a:spcBef>
                <a:spcPts val="0"/>
              </a:spcBef>
              <a:spcAft>
                <a:spcPts val="0"/>
              </a:spcAft>
              <a:defRPr sz="2000" b="0">
                <a:solidFill>
                  <a:srgbClr val="193540"/>
                </a:solidFill>
                <a:latin typeface="DejaVu Sans"/>
              </a:defRPr>
            </a:pPr>
            <a:r>
              <a:t>Kalla därför inte en sådan komponentprissäkring helt Fastpris utan kontroll av</a:t>
            </a:r>
          </a:p>
          <a:p>
            <a:pPr>
              <a:lnSpc>
                <a:spcPts val="2480"/>
              </a:lnSpc>
              <a:spcBef>
                <a:spcPts val="0"/>
              </a:spcBef>
              <a:spcAft>
                <a:spcPts val="0"/>
              </a:spcAft>
              <a:defRPr sz="2000" b="0">
                <a:solidFill>
                  <a:srgbClr val="193540"/>
                </a:solidFill>
                <a:latin typeface="DejaVu Sans"/>
              </a:defRPr>
            </a:pPr>
            <a:r>
              <a:t>profil och volym.</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Ett fast pris ger fortfarande rörligt belopp</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Den fasta volymbaserade kostnaden är köpta kWh multiplicerade med avtalat</a:t>
            </a:r>
          </a:p>
          <a:p>
            <a:pPr>
              <a:lnSpc>
                <a:spcPts val="2480"/>
              </a:lnSpc>
              <a:spcBef>
                <a:spcPts val="0"/>
              </a:spcBef>
              <a:spcAft>
                <a:spcPts val="0"/>
              </a:spcAft>
              <a:defRPr sz="2000" b="0">
                <a:solidFill>
                  <a:srgbClr val="193540"/>
                </a:solidFill>
                <a:latin typeface="DejaVu Sans"/>
              </a:defRPr>
            </a:pPr>
            <a:r>
              <a:t>pris. Dubbelt så mycket el ger dubbelt så stor kostnad för denna del.</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 pris och jämn betalning är olika lösningar. Fråga hur användningen</a:t>
            </a:r>
          </a:p>
          <a:p>
            <a:pPr>
              <a:lnSpc>
                <a:spcPts val="2480"/>
              </a:lnSpc>
              <a:spcBef>
                <a:spcPts val="0"/>
              </a:spcBef>
              <a:spcAft>
                <a:spcPts val="0"/>
              </a:spcAft>
              <a:defRPr sz="2000" b="0">
                <a:solidFill>
                  <a:srgbClr val="193540"/>
                </a:solidFill>
                <a:latin typeface="DejaVu Sans"/>
              </a:defRPr>
            </a:pPr>
            <a:r>
              <a:t>fördelas över året och vilka förändringar som planeras. Utgå från köpt nätel</a:t>
            </a:r>
          </a:p>
          <a:p>
            <a:pPr>
              <a:lnSpc>
                <a:spcPts val="2480"/>
              </a:lnSpc>
              <a:spcBef>
                <a:spcPts val="0"/>
              </a:spcBef>
              <a:spcAft>
                <a:spcPts val="0"/>
              </a:spcAft>
              <a:defRPr sz="2000" b="0">
                <a:solidFill>
                  <a:srgbClr val="193540"/>
                </a:solidFill>
                <a:latin typeface="DejaVu Sans"/>
              </a:defRPr>
            </a:pPr>
            <a:r>
              <a:t>om det är avtalets volym. Håll egenanvänd solel och export isär.</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Förutsägbarhet har en avvägning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173</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Fastpris minskar osäkerheten kring de avtalade prisdelarna under</a:t>
            </a:r>
          </a:p>
          <a:p>
            <a:pPr>
              <a:lnSpc>
                <a:spcPts val="2480"/>
              </a:lnSpc>
              <a:spcBef>
                <a:spcPts val="0"/>
              </a:spcBef>
              <a:spcAft>
                <a:spcPts val="0"/>
              </a:spcAft>
              <a:defRPr sz="2000" b="0">
                <a:solidFill>
                  <a:srgbClr val="193540"/>
                </a:solidFill>
                <a:latin typeface="DejaVu Sans"/>
              </a:defRPr>
            </a:pPr>
            <a:r>
              <a:t>leveransperioden. Priset följer däremot inte automatiskt med ned när</a:t>
            </a:r>
          </a:p>
          <a:p>
            <a:pPr>
              <a:lnSpc>
                <a:spcPts val="2480"/>
              </a:lnSpc>
              <a:spcBef>
                <a:spcPts val="0"/>
              </a:spcBef>
              <a:spcAft>
                <a:spcPts val="0"/>
              </a:spcAft>
              <a:defRPr sz="2000" b="0">
                <a:solidFill>
                  <a:srgbClr val="193540"/>
                </a:solidFill>
                <a:latin typeface="DejaVu Sans"/>
              </a:defRPr>
            </a:pPr>
            <a:r>
              <a:t>marknaden faller.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Marknaden kan röra sig åt båda håll. Leverantören prissätter den omfattade</a:t>
            </a:r>
          </a:p>
          <a:p>
            <a:pPr>
              <a:lnSpc>
                <a:spcPts val="2480"/>
              </a:lnSpc>
              <a:spcBef>
                <a:spcPts val="0"/>
              </a:spcBef>
              <a:spcAft>
                <a:spcPts val="0"/>
              </a:spcAft>
              <a:defRPr sz="2000" b="0">
                <a:solidFill>
                  <a:srgbClr val="193540"/>
                </a:solidFill>
                <a:latin typeface="DejaVu Sans"/>
              </a:defRPr>
            </a:pPr>
            <a:r>
              <a:t>risken, men utbildningen anger inga generella riskpremier eller aktuella</a:t>
            </a:r>
          </a:p>
          <a:p>
            <a:pPr>
              <a:lnSpc>
                <a:spcPts val="2480"/>
              </a:lnSpc>
              <a:spcBef>
                <a:spcPts val="0"/>
              </a:spcBef>
              <a:spcAft>
                <a:spcPts val="0"/>
              </a:spcAft>
              <a:defRPr sz="2000" b="0">
                <a:solidFill>
                  <a:srgbClr val="193540"/>
                </a:solidFill>
                <a:latin typeface="DejaVu Sans"/>
              </a:defRPr>
            </a:pPr>
            <a:r>
              <a:t>offertnivåer.</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Gör en jämförelse som går att försvara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174</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Jämför samma leveransperiod, volym och kostnadsomfattning. Ett fast pris</a:t>
            </a:r>
          </a:p>
          <a:p>
            <a:pPr>
              <a:lnSpc>
                <a:spcPts val="2480"/>
              </a:lnSpc>
              <a:spcBef>
                <a:spcPts val="0"/>
              </a:spcBef>
              <a:spcAft>
                <a:spcPts val="0"/>
              </a:spcAft>
              <a:defRPr sz="2000" b="0">
                <a:solidFill>
                  <a:srgbClr val="193540"/>
                </a:solidFill>
                <a:latin typeface="DejaVu Sans"/>
              </a:defRPr>
            </a:pPr>
            <a:r>
              <a:t>med fler elhandelsdelar är inte direkt jämförbart med rent spotpris. Avgifter</a:t>
            </a:r>
          </a:p>
          <a:p>
            <a:pPr>
              <a:lnSpc>
                <a:spcPts val="2480"/>
              </a:lnSpc>
              <a:spcBef>
                <a:spcPts val="0"/>
              </a:spcBef>
              <a:spcAft>
                <a:spcPts val="0"/>
              </a:spcAft>
              <a:defRPr sz="2000" b="0">
                <a:solidFill>
                  <a:srgbClr val="193540"/>
                </a:solidFill>
                <a:latin typeface="DejaVu Sans"/>
              </a:defRPr>
            </a:pPr>
            <a:r>
              <a:t>behöver behandlas lika.</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Visa minst två alternativa marknadsutfall. Ligger rörligt högre blir Fastpris</a:t>
            </a:r>
          </a:p>
          <a:p>
            <a:pPr>
              <a:lnSpc>
                <a:spcPts val="2480"/>
              </a:lnSpc>
              <a:spcBef>
                <a:spcPts val="0"/>
              </a:spcBef>
              <a:spcAft>
                <a:spcPts val="0"/>
              </a:spcAft>
              <a:defRPr sz="2000" b="0">
                <a:solidFill>
                  <a:srgbClr val="193540"/>
                </a:solidFill>
                <a:latin typeface="DejaVu Sans"/>
              </a:defRPr>
            </a:pPr>
            <a:r>
              <a:t>billigare i den avgränsade kalkylen; ligger rörligt lägre blir det tvärtom. Märk</a:t>
            </a:r>
          </a:p>
          <a:p>
            <a:pPr>
              <a:lnSpc>
                <a:spcPts val="2480"/>
              </a:lnSpc>
              <a:spcBef>
                <a:spcPts val="0"/>
              </a:spcBef>
              <a:spcAft>
                <a:spcPts val="0"/>
              </a:spcAft>
              <a:defRPr sz="2000" b="0">
                <a:solidFill>
                  <a:srgbClr val="193540"/>
                </a:solidFill>
                <a:latin typeface="DejaVu Sans"/>
              </a:defRPr>
            </a:pPr>
            <a:r>
              <a:t>fiktiva nivåer som scenarier, inte prognoser.</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Rekommendationen börjar med kundens</a:t>
            </a:r>
          </a:p>
          <a:p>
            <a:pPr>
              <a:lnSpc>
                <a:spcPts val="3472"/>
              </a:lnSpc>
              <a:spcBef>
                <a:spcPts val="0"/>
              </a:spcBef>
              <a:spcAft>
                <a:spcPts val="0"/>
              </a:spcAft>
              <a:defRPr sz="2800" b="1">
                <a:solidFill>
                  <a:srgbClr val="193540"/>
                </a:solidFill>
                <a:latin typeface="DejaVu Sans"/>
              </a:defRPr>
            </a:pPr>
            <a:r>
              <a:t>prioriteringar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Fråga hur viktigt känt pris är, hur mycket variation kunden klarar och om ett</a:t>
            </a:r>
          </a:p>
          <a:p>
            <a:pPr>
              <a:lnSpc>
                <a:spcPts val="2480"/>
              </a:lnSpc>
              <a:spcBef>
                <a:spcPts val="0"/>
              </a:spcBef>
              <a:spcAft>
                <a:spcPts val="0"/>
              </a:spcAft>
              <a:defRPr sz="2000" b="0">
                <a:solidFill>
                  <a:srgbClr val="193540"/>
                </a:solidFill>
                <a:latin typeface="DejaVu Sans"/>
              </a:defRPr>
            </a:pPr>
            <a:r>
              <a:t>senare billigare rörligt alternativ accepteras. Fånga upp planerad ändrad drift,</a:t>
            </a:r>
          </a:p>
          <a:p>
            <a:pPr>
              <a:lnSpc>
                <a:spcPts val="2480"/>
              </a:lnSpc>
              <a:spcBef>
                <a:spcPts val="0"/>
              </a:spcBef>
              <a:spcAft>
                <a:spcPts val="0"/>
              </a:spcAft>
              <a:defRPr sz="2000" b="0">
                <a:solidFill>
                  <a:srgbClr val="193540"/>
                </a:solidFill>
                <a:latin typeface="DejaVu Sans"/>
              </a:defRPr>
            </a:pPr>
            <a:r>
              <a:t>solceller, flytt och nya maskiner.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Kontrollera offertens giltighet, omfattning och aktuella kundvillkor. Anta inga</a:t>
            </a:r>
          </a:p>
          <a:p>
            <a:pPr>
              <a:lnSpc>
                <a:spcPts val="2480"/>
              </a:lnSpc>
              <a:spcBef>
                <a:spcPts val="0"/>
              </a:spcBef>
              <a:spcAft>
                <a:spcPts val="0"/>
              </a:spcAft>
              <a:defRPr sz="2000" b="0">
                <a:solidFill>
                  <a:srgbClr val="193540"/>
                </a:solidFill>
                <a:latin typeface="DejaVu Sans"/>
              </a:defRPr>
            </a:pPr>
            <a:r>
              <a:t>generella volymtoleranser, brytavgifter eller avslutsregler. Låt kunden</a:t>
            </a:r>
          </a:p>
          <a:p>
            <a:pPr>
              <a:lnSpc>
                <a:spcPts val="2480"/>
              </a:lnSpc>
              <a:spcBef>
                <a:spcPts val="0"/>
              </a:spcBef>
              <a:spcAft>
                <a:spcPts val="0"/>
              </a:spcAft>
              <a:defRPr sz="2000" b="0">
                <a:solidFill>
                  <a:srgbClr val="193540"/>
                </a:solidFill>
                <a:latin typeface="DejaVu Sans"/>
              </a:defRPr>
            </a:pPr>
            <a:r>
              <a:t>återberätta vilka prisdelar som är fasta och varför beloppet ändå kan ändras.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Två marknadsutfall mot samma fasta pris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Syntetiska jämförbara elhandelspriser för samma leveransperiod och</a:t>
            </a:r>
          </a:p>
          <a:p>
            <a:pPr>
              <a:lnSpc>
                <a:spcPts val="2480"/>
              </a:lnSpc>
              <a:spcBef>
                <a:spcPts val="0"/>
              </a:spcBef>
              <a:spcAft>
                <a:spcPts val="0"/>
              </a:spcAft>
              <a:defRPr sz="2000" b="0">
                <a:solidFill>
                  <a:srgbClr val="193540"/>
                </a:solidFill>
                <a:latin typeface="DejaVu Sans"/>
              </a:defRPr>
            </a:pPr>
            <a:r>
              <a:t>100 000 kWh. Samma kostnadsdelar antas ingå i alla priser. Separata avgifter,</a:t>
            </a:r>
          </a:p>
          <a:p>
            <a:pPr>
              <a:lnSpc>
                <a:spcPts val="2480"/>
              </a:lnSpc>
              <a:spcBef>
                <a:spcPts val="0"/>
              </a:spcBef>
              <a:spcAft>
                <a:spcPts val="0"/>
              </a:spcAft>
              <a:defRPr sz="2000" b="0">
                <a:solidFill>
                  <a:srgbClr val="193540"/>
                </a:solidFill>
                <a:latin typeface="DejaVu Sans"/>
              </a:defRPr>
            </a:pPr>
            <a:r>
              <a:t>elnät, skatt och moms utesluts. Detta är scenarier, inte prognoser.</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Fastpris: 90 öre/kWh.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Rörligt scenario A: 120 öre/kWh.</a:t>
            </a:r>
          </a:p>
        </p:txBody>
      </p:sp>
      <p:sp>
        <p:nvSpPr>
          <p:cNvPr id="9" name="TextBox 8"/>
          <p:cNvSpPr txBox="1"/>
          <p:nvPr/>
        </p:nvSpPr>
        <p:spPr>
          <a:xfrm>
            <a:off x="603504" y="40665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Rörligt scenario B: 60 öre/kWh.</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Två marknadsutfall mot samma fasta</a:t>
            </a:r>
          </a:p>
          <a:p>
            <a:pPr>
              <a:lnSpc>
                <a:spcPts val="3472"/>
              </a:lnSpc>
              <a:spcBef>
                <a:spcPts val="0"/>
              </a:spcBef>
              <a:spcAft>
                <a:spcPts val="0"/>
              </a:spcAft>
              <a:defRPr sz="2800" b="1">
                <a:solidFill>
                  <a:srgbClr val="193540"/>
                </a:solidFill>
                <a:latin typeface="DejaVu Sans"/>
              </a:defRPr>
            </a:pPr>
            <a:r>
              <a:t>pris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Fast alternativ: 100 000 × 0,90 = 90 000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Scenario A: 100 000 × 1,20 = 120 000 kr, vilket är 30 000 kr mer.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Scenario B: 100 000 × 0,60 = 60 000 kr, vilket är 30 000 kr mindre.</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Fastpris kostar 90 000 kr; rörligt kostar 120 000 eller 60 000 kr i de</a:t>
            </a:r>
          </a:p>
          <a:p>
            <a:pPr>
              <a:lnSpc>
                <a:spcPts val="2480"/>
              </a:lnSpc>
              <a:spcBef>
                <a:spcPts val="0"/>
              </a:spcBef>
              <a:spcAft>
                <a:spcPts val="0"/>
              </a:spcAft>
              <a:defRPr sz="2000" b="0">
                <a:solidFill>
                  <a:srgbClr val="193540"/>
                </a:solidFill>
                <a:latin typeface="DejaVu Sans"/>
              </a:defRPr>
            </a:pPr>
            <a:r>
              <a:t>två fiktiva scenarierna.</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Känd nivå, olika månadsvolymer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exempel för den fasta elhandelsdelen vid 90 öre/kWh. Separata</a:t>
            </a:r>
          </a:p>
          <a:p>
            <a:pPr>
              <a:lnSpc>
                <a:spcPts val="2480"/>
              </a:lnSpc>
              <a:spcBef>
                <a:spcPts val="0"/>
              </a:spcBef>
              <a:spcAft>
                <a:spcPts val="0"/>
              </a:spcAft>
              <a:defRPr sz="2000" b="0">
                <a:solidFill>
                  <a:srgbClr val="193540"/>
                </a:solidFill>
                <a:latin typeface="DejaVu Sans"/>
              </a:defRPr>
            </a:pPr>
            <a:r>
              <a:t>avgifter, elnät, skatt och moms ingår inte. Volymerna antas ligga inom det</a:t>
            </a:r>
          </a:p>
          <a:p>
            <a:pPr>
              <a:lnSpc>
                <a:spcPts val="2480"/>
              </a:lnSpc>
              <a:spcBef>
                <a:spcPts val="0"/>
              </a:spcBef>
              <a:spcAft>
                <a:spcPts val="0"/>
              </a:spcAft>
              <a:defRPr sz="2000" b="0">
                <a:solidFill>
                  <a:srgbClr val="193540"/>
                </a:solidFill>
                <a:latin typeface="DejaVu Sans"/>
              </a:defRPr>
            </a:pPr>
            <a:r>
              <a:t>avtal som exemplet beskriver; inga generella volymvillkor härleds.</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 1: 1 000 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 2: 2 500 kWh.</a:t>
            </a:r>
          </a:p>
        </p:txBody>
      </p:sp>
      <p:sp>
        <p:nvSpPr>
          <p:cNvPr id="9" name="TextBox 8"/>
          <p:cNvSpPr txBox="1"/>
          <p:nvPr/>
        </p:nvSpPr>
        <p:spPr>
          <a:xfrm>
            <a:off x="603504" y="40665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Samma fasta enhetspris i båda månaderna.</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Känd nivå, olika månadsvolymer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179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Månad 1: 1 000 × 0,90 = 900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Månad 2: 2 500 × 0,90 = 2 250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Skillnad i belopp: 2 250 − 900 = 1 350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Kontrollera enhetsnivån: 900 / 1 000 = 2 250 / 2 500 = 0,90 kr/kWh.</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Beloppen är 900 respektive 2 250 kr trots samma 90 öre/kWh.</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Fastpris betyder att fakturan är lika stor varje månad.</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Den volymbaserade kostnaden ändras när köpta kWh ändras.</a:t>
            </a:r>
          </a:p>
          <a:p>
            <a:pPr>
              <a:lnSpc>
                <a:spcPts val="2480"/>
              </a:lnSpc>
              <a:spcBef>
                <a:spcPts val="0"/>
              </a:spcBef>
              <a:spcAft>
                <a:spcPts val="0"/>
              </a:spcAft>
              <a:defRPr sz="2000" b="0">
                <a:solidFill>
                  <a:srgbClr val="193540"/>
                </a:solidFill>
                <a:latin typeface="DejaVu Sans"/>
              </a:defRPr>
            </a:pPr>
            <a:r>
              <a:t>Samma pris per kWh är inte samma belopp.</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Fastpris följer med ned om spotpriset sjunker.</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Det avtalade fasta priset ändras inte automatiskt av ett</a:t>
            </a:r>
          </a:p>
          <a:p>
            <a:pPr>
              <a:lnSpc>
                <a:spcPts val="2480"/>
              </a:lnSpc>
              <a:spcBef>
                <a:spcPts val="0"/>
              </a:spcBef>
              <a:spcAft>
                <a:spcPts val="0"/>
              </a:spcAft>
              <a:defRPr sz="2000" b="0">
                <a:solidFill>
                  <a:srgbClr val="193540"/>
                </a:solidFill>
                <a:latin typeface="DejaVu Sans"/>
              </a:defRPr>
            </a:pPr>
            <a:r>
              <a:t>marknadsfall. Kunden väljer förutsägbarhet med denna avvägning.</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Om SYS och EPAD är säkrade är hela avtalet Fastpris.</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En begränsad komponentprissäkring kan lämna exempelvis profil</a:t>
            </a:r>
          </a:p>
          <a:p>
            <a:pPr>
              <a:lnSpc>
                <a:spcPts val="2480"/>
              </a:lnSpc>
              <a:spcBef>
                <a:spcPts val="0"/>
              </a:spcBef>
              <a:spcAft>
                <a:spcPts val="0"/>
              </a:spcAft>
              <a:defRPr sz="2000" b="0">
                <a:solidFill>
                  <a:srgbClr val="193540"/>
                </a:solidFill>
                <a:latin typeface="DejaVu Sans"/>
              </a:defRPr>
            </a:pPr>
            <a:r>
              <a:t>eller annan volym utanför. Läs den faktiska prisomfattningen.</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183</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Fastpris gör priset på de avtalade elhandelsdelarna känt för den avtalade</a:t>
            </a:r>
          </a:p>
          <a:p>
            <a:pPr>
              <a:lnSpc>
                <a:spcPts val="2480"/>
              </a:lnSpc>
              <a:spcBef>
                <a:spcPts val="0"/>
              </a:spcBef>
              <a:spcAft>
                <a:spcPts val="0"/>
              </a:spcAft>
              <a:defRPr sz="2000" b="0">
                <a:solidFill>
                  <a:srgbClr val="193540"/>
                </a:solidFill>
                <a:latin typeface="DejaVu Sans"/>
              </a:defRPr>
            </a:pPr>
            <a:r>
              <a:t>perioden. Det gör budgeteringen enklare, men beloppet beror fortfarande på</a:t>
            </a:r>
          </a:p>
          <a:p>
            <a:pPr>
              <a:lnSpc>
                <a:spcPts val="2480"/>
              </a:lnSpc>
              <a:spcBef>
                <a:spcPts val="0"/>
              </a:spcBef>
              <a:spcAft>
                <a:spcPts val="0"/>
              </a:spcAft>
              <a:defRPr sz="2000" b="0">
                <a:solidFill>
                  <a:srgbClr val="193540"/>
                </a:solidFill>
                <a:latin typeface="DejaVu Sans"/>
              </a:defRPr>
            </a:pPr>
            <a:r>
              <a:t>hur mycket el du använder. Om marknaden sjunker följer det fasta priset inte</a:t>
            </a:r>
          </a:p>
          <a:p>
            <a:pPr>
              <a:lnSpc>
                <a:spcPts val="2480"/>
              </a:lnSpc>
              <a:spcBef>
                <a:spcPts val="0"/>
              </a:spcBef>
              <a:spcAft>
                <a:spcPts val="0"/>
              </a:spcAft>
              <a:defRPr sz="2000" b="0">
                <a:solidFill>
                  <a:srgbClr val="193540"/>
                </a:solidFill>
                <a:latin typeface="DejaVu Sans"/>
              </a:defRPr>
            </a:pPr>
            <a:r>
              <a:t>automatiskt med ned. Elnät, skatt och moms hanteras separat.</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Ett fast pris inför en ny värmepump</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184</a:t>
            </a:r>
          </a:p>
        </p:txBody>
      </p:sp>
      <p:sp>
        <p:nvSpPr>
          <p:cNvPr id="6" name="TextBox 5"/>
          <p:cNvSpPr txBox="1"/>
          <p:nvPr/>
        </p:nvSpPr>
        <p:spPr>
          <a:xfrm>
            <a:off x="603504" y="2148840"/>
            <a:ext cx="10972800" cy="18897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kunden Lena vill undvika osäkerhet inför vintern och planerar att</a:t>
            </a:r>
          </a:p>
          <a:p>
            <a:pPr>
              <a:lnSpc>
                <a:spcPts val="2480"/>
              </a:lnSpc>
              <a:spcBef>
                <a:spcPts val="0"/>
              </a:spcBef>
              <a:spcAft>
                <a:spcPts val="0"/>
              </a:spcAft>
              <a:defRPr sz="2000" b="0">
                <a:solidFill>
                  <a:srgbClr val="193540"/>
                </a:solidFill>
                <a:latin typeface="DejaVu Sans"/>
              </a:defRPr>
            </a:pPr>
            <a:r>
              <a:t>installera värmepump. Hon säger: om jag väljer Fastpris borde räkningen vara</a:t>
            </a:r>
          </a:p>
          <a:p>
            <a:pPr>
              <a:lnSpc>
                <a:spcPts val="2480"/>
              </a:lnSpc>
              <a:spcBef>
                <a:spcPts val="0"/>
              </a:spcBef>
              <a:spcAft>
                <a:spcPts val="0"/>
              </a:spcAft>
              <a:defRPr sz="2000" b="0">
                <a:solidFill>
                  <a:srgbClr val="193540"/>
                </a:solidFill>
                <a:latin typeface="DejaVu Sans"/>
              </a:defRPr>
            </a:pPr>
            <a:r>
              <a:t>densamma varje månad, och om priserna sjunker kan ni väl sänka mitt pris?</a:t>
            </a:r>
          </a:p>
          <a:p>
            <a:pPr>
              <a:lnSpc>
                <a:spcPts val="2480"/>
              </a:lnSpc>
              <a:spcBef>
                <a:spcPts val="0"/>
              </a:spcBef>
              <a:spcAft>
                <a:spcPts val="0"/>
              </a:spcAft>
              <a:defRPr sz="2000" b="0">
                <a:solidFill>
                  <a:srgbClr val="193540"/>
                </a:solidFill>
                <a:latin typeface="DejaVu Sans"/>
              </a:defRPr>
            </a:pPr>
            <a:r>
              <a:t>Du har ännu inte sett kundens nya förbrukningsprognos eller den aktuella</a:t>
            </a:r>
          </a:p>
          <a:p>
            <a:pPr>
              <a:lnSpc>
                <a:spcPts val="2480"/>
              </a:lnSpc>
              <a:spcBef>
                <a:spcPts val="0"/>
              </a:spcBef>
              <a:spcAft>
                <a:spcPts val="0"/>
              </a:spcAft>
              <a:defRPr sz="2000" b="0">
                <a:solidFill>
                  <a:srgbClr val="193540"/>
                </a:solidFill>
                <a:latin typeface="DejaVu Sans"/>
              </a:defRPr>
            </a:pPr>
            <a:r>
              <a:t>offertens regler för ändringar. Hon ber dig också jämföra ett fast elhandelspris</a:t>
            </a:r>
          </a:p>
          <a:p>
            <a:pPr>
              <a:lnSpc>
                <a:spcPts val="2480"/>
              </a:lnSpc>
              <a:spcBef>
                <a:spcPts val="0"/>
              </a:spcBef>
              <a:spcAft>
                <a:spcPts val="0"/>
              </a:spcAft>
              <a:defRPr sz="2000" b="0">
                <a:solidFill>
                  <a:srgbClr val="193540"/>
                </a:solidFill>
                <a:latin typeface="DejaVu Sans"/>
              </a:defRPr>
            </a:pPr>
            <a:r>
              <a:t>med en app som visar rent spotpris.</a:t>
            </a:r>
          </a:p>
        </p:txBody>
      </p:sp>
      <p:sp>
        <p:nvSpPr>
          <p:cNvPr id="7" name="TextBox 6"/>
          <p:cNvSpPr txBox="1"/>
          <p:nvPr/>
        </p:nvSpPr>
        <p:spPr>
          <a:xfrm>
            <a:off x="603504" y="41529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Korrigera de två missförstånden i ett respektfullt kundsvar.</a:t>
            </a:r>
          </a:p>
        </p:txBody>
      </p:sp>
      <p:sp>
        <p:nvSpPr>
          <p:cNvPr id="8" name="TextBox 7"/>
          <p:cNvSpPr txBox="1"/>
          <p:nvPr/>
        </p:nvSpPr>
        <p:spPr>
          <a:xfrm>
            <a:off x="603504" y="45821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varför appens spotpris inte automatiskt är jämförbart.</a:t>
            </a:r>
          </a:p>
        </p:txBody>
      </p:sp>
      <p:sp>
        <p:nvSpPr>
          <p:cNvPr id="9" name="TextBox 8"/>
          <p:cNvSpPr txBox="1"/>
          <p:nvPr/>
        </p:nvSpPr>
        <p:spPr>
          <a:xfrm>
            <a:off x="603504" y="50114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 vilket underlag och vilka villkor du behöver kontrollera före</a:t>
            </a:r>
          </a:p>
          <a:p>
            <a:pPr>
              <a:lnSpc>
                <a:spcPts val="2480"/>
              </a:lnSpc>
              <a:spcBef>
                <a:spcPts val="0"/>
              </a:spcBef>
              <a:spcAft>
                <a:spcPts val="0"/>
              </a:spcAft>
              <a:defRPr sz="2000" b="0">
                <a:solidFill>
                  <a:srgbClr val="193540"/>
                </a:solidFill>
                <a:latin typeface="DejaVu Sans"/>
              </a:defRPr>
            </a:pPr>
            <a:r>
              <a:t>rekommendation.</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enhetspris från månadsbelopp.</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Förklarar utebliven automatisk nedgång utan prisprognos.</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Kräver jämförbara komponenter för appjämförelsen.</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Kontrollerar planerad ändring och aktuella avtalsvillkor utan påhittade</a:t>
            </a:r>
          </a:p>
          <a:p>
            <a:pPr>
              <a:lnSpc>
                <a:spcPts val="2480"/>
              </a:lnSpc>
              <a:spcBef>
                <a:spcPts val="0"/>
              </a:spcBef>
              <a:spcAft>
                <a:spcPts val="0"/>
              </a:spcAft>
              <a:defRPr sz="2000" b="0">
                <a:solidFill>
                  <a:srgbClr val="193540"/>
                </a:solidFill>
                <a:latin typeface="DejaVu Sans"/>
              </a:defRPr>
            </a:pPr>
            <a:r>
              <a:t>toleranser.</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Vad är den centrala avvägningen i Fastpris?</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Kunden får känd prisnivå för avtalade delar men följer inte automatiskt</a:t>
            </a:r>
          </a:p>
          <a:p>
            <a:pPr>
              <a:lnSpc>
                <a:spcPts val="2480"/>
              </a:lnSpc>
              <a:spcBef>
                <a:spcPts val="0"/>
              </a:spcBef>
              <a:spcAft>
                <a:spcPts val="0"/>
              </a:spcAft>
              <a:defRPr sz="2000" b="0">
                <a:solidFill>
                  <a:srgbClr val="193540"/>
                </a:solidFill>
                <a:latin typeface="DejaVu Sans"/>
              </a:defRPr>
            </a:pPr>
            <a:r>
              <a:t>marknaden nedåt.</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Alla framtida elkostnader blir samma belopp.</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Kunden garanteras lägst pris på marknaden.</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exempel: 1 800 kWh till fast elhandelspris 90 öre/kWh. Inga andra</a:t>
            </a:r>
          </a:p>
          <a:p>
            <a:pPr>
              <a:lnSpc>
                <a:spcPts val="2480"/>
              </a:lnSpc>
              <a:spcBef>
                <a:spcPts val="0"/>
              </a:spcBef>
              <a:spcAft>
                <a:spcPts val="0"/>
              </a:spcAft>
              <a:defRPr sz="2000" b="0">
                <a:solidFill>
                  <a:srgbClr val="193540"/>
                </a:solidFill>
                <a:latin typeface="DejaVu Sans"/>
              </a:defRPr>
            </a:pPr>
            <a:r>
              <a:t>kostnader ingår. Vad kostar denna del?</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188</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kund visar en SYS/EPAD-säkring och kallar den helt Fastpris. Hur</a:t>
            </a:r>
          </a:p>
          <a:p>
            <a:pPr>
              <a:lnSpc>
                <a:spcPts val="2480"/>
              </a:lnSpc>
              <a:spcBef>
                <a:spcPts val="0"/>
              </a:spcBef>
              <a:spcAft>
                <a:spcPts val="0"/>
              </a:spcAft>
              <a:defRPr sz="2000" b="0">
                <a:solidFill>
                  <a:srgbClr val="193540"/>
                </a:solidFill>
                <a:latin typeface="DejaVu Sans"/>
              </a:defRPr>
            </a:pPr>
            <a:r>
              <a:t>kontrollerar och förklarar du omfattningen?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189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jämförelse ger ett användbart scenario?</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Fast elhandelspris mot rent spotpris utan justering.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Samma period, volym och kostnadsdelar i fast och rörligt alternativ.</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Ett fast pris för ett år mot en särskilt billig spotkvart.</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09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exakt vilka delar och vilken period som är fasta.</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belopp från volym och enhetspris.</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 både uppgångs- och nedgångsscenario utan att förutse utfallet.</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Likställ inte en SYS/EPAD-säkring med fullständigt Fastpris.</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 planerade förändringar och aktuella villkor.</a:t>
            </a:r>
          </a:p>
        </p:txBody>
      </p:sp>
      <p:sp>
        <p:nvSpPr>
          <p:cNvPr id="11" name="TextBox 10"/>
          <p:cNvSpPr txBox="1"/>
          <p:nvPr/>
        </p:nvSpPr>
        <p:spPr>
          <a:xfrm>
            <a:off x="603504" y="42951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Låt kunden återberätta skillnaden mellan känt pris och varierande belopp.</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10 · Privatkund / Face2face</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Opti – det lägre av två jämförbara månadsutfall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191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kvartsvägt utfall för hela månaden och jämföra med avtalets</a:t>
            </a:r>
          </a:p>
          <a:p>
            <a:pPr>
              <a:lnSpc>
                <a:spcPts val="2480"/>
              </a:lnSpc>
              <a:spcBef>
                <a:spcPts val="0"/>
              </a:spcBef>
              <a:spcAft>
                <a:spcPts val="0"/>
              </a:spcAft>
              <a:defRPr sz="2000" b="0">
                <a:solidFill>
                  <a:srgbClr val="FFFFFF"/>
                </a:solidFill>
                <a:latin typeface="DejaVu Sans"/>
              </a:defRPr>
            </a:pPr>
            <a:r>
              <a:t>månadsalternativ.</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varför modellen inte väljer lägsta pris i varje kvart.</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Identifiera samma volym, period och kostnadsdelar i jämförelsen.</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Beskriva fortsatt marknadsrisk utan att lova ett absolut pristak eller</a:t>
            </a:r>
          </a:p>
          <a:p>
            <a:pPr>
              <a:lnSpc>
                <a:spcPts val="2480"/>
              </a:lnSpc>
              <a:spcBef>
                <a:spcPts val="0"/>
              </a:spcBef>
              <a:spcAft>
                <a:spcPts val="0"/>
              </a:spcAft>
              <a:defRPr sz="2000" b="0">
                <a:solidFill>
                  <a:srgbClr val="FFFFFF"/>
                </a:solidFill>
                <a:latin typeface="DejaVu Sans"/>
              </a:defRPr>
            </a:pPr>
            <a:r>
              <a:t>marknadens lägsta pris.</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Två hela månadsalternativ</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Kvartsalternativet räknas från faktisk kvartförbrukning och avtalade priser,</a:t>
            </a:r>
          </a:p>
          <a:p>
            <a:pPr>
              <a:lnSpc>
                <a:spcPts val="2480"/>
              </a:lnSpc>
              <a:spcBef>
                <a:spcPts val="0"/>
              </a:spcBef>
              <a:spcAft>
                <a:spcPts val="0"/>
              </a:spcAft>
              <a:defRPr sz="2000" b="0">
                <a:solidFill>
                  <a:srgbClr val="193540"/>
                </a:solidFill>
                <a:latin typeface="DejaVu Sans"/>
              </a:defRPr>
            </a:pPr>
            <a:r>
              <a:t>summerat för hela månaden. Månadsalternativet använder avtalets vanliga</a:t>
            </a:r>
          </a:p>
          <a:p>
            <a:pPr>
              <a:lnSpc>
                <a:spcPts val="2480"/>
              </a:lnSpc>
              <a:spcBef>
                <a:spcPts val="0"/>
              </a:spcBef>
              <a:spcAft>
                <a:spcPts val="0"/>
              </a:spcAft>
              <a:defRPr sz="2000" b="0">
                <a:solidFill>
                  <a:srgbClr val="193540"/>
                </a:solidFill>
                <a:latin typeface="DejaVu Sans"/>
              </a:defRPr>
            </a:pPr>
            <a:r>
              <a:t>rörliga månadspris på exakt samma faktiska månadsvolym.</a:t>
            </a:r>
          </a:p>
        </p:txBody>
      </p:sp>
      <p:sp>
        <p:nvSpPr>
          <p:cNvPr id="7" name="TextBox 6"/>
          <p:cNvSpPr txBox="1"/>
          <p:nvPr/>
        </p:nvSpPr>
        <p:spPr>
          <a:xfrm>
            <a:off x="603504" y="320802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behöver inte välja vinnaren i förväg, men känner heller ingen fast</a:t>
            </a:r>
          </a:p>
          <a:p>
            <a:pPr>
              <a:lnSpc>
                <a:spcPts val="2480"/>
              </a:lnSpc>
              <a:spcBef>
                <a:spcPts val="0"/>
              </a:spcBef>
              <a:spcAft>
                <a:spcPts val="0"/>
              </a:spcAft>
              <a:defRPr sz="2000" b="0">
                <a:solidFill>
                  <a:srgbClr val="193540"/>
                </a:solidFill>
                <a:latin typeface="DejaVu Sans"/>
              </a:defRPr>
            </a:pPr>
            <a:r>
              <a:t>framtida nivå. Båda alternativen är marknadsberoende. Rita två kompletta</a:t>
            </a:r>
          </a:p>
          <a:p>
            <a:pPr>
              <a:lnSpc>
                <a:spcPts val="2480"/>
              </a:lnSpc>
              <a:spcBef>
                <a:spcPts val="0"/>
              </a:spcBef>
              <a:spcAft>
                <a:spcPts val="0"/>
              </a:spcAft>
              <a:defRPr sz="2000" b="0">
                <a:solidFill>
                  <a:srgbClr val="193540"/>
                </a:solidFill>
                <a:latin typeface="DejaVu Sans"/>
              </a:defRPr>
            </a:pPr>
            <a:r>
              <a:t>månadsrutor med ett enda val mellan dem. Rita inte växelvisa val inne i varje</a:t>
            </a:r>
          </a:p>
          <a:p>
            <a:pPr>
              <a:lnSpc>
                <a:spcPts val="2480"/>
              </a:lnSpc>
              <a:spcBef>
                <a:spcPts val="0"/>
              </a:spcBef>
              <a:spcAft>
                <a:spcPts val="0"/>
              </a:spcAft>
              <a:defRPr sz="2000" b="0">
                <a:solidFill>
                  <a:srgbClr val="193540"/>
                </a:solidFill>
                <a:latin typeface="DejaVu Sans"/>
              </a:defRPr>
            </a:pPr>
            <a:r>
              <a:t>kvart.</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Samma volym, samma period och samma</a:t>
            </a:r>
          </a:p>
          <a:p>
            <a:pPr>
              <a:lnSpc>
                <a:spcPts val="3472"/>
              </a:lnSpc>
              <a:spcBef>
                <a:spcPts val="0"/>
              </a:spcBef>
              <a:spcAft>
                <a:spcPts val="0"/>
              </a:spcAft>
              <a:defRPr sz="2800" b="1">
                <a:solidFill>
                  <a:srgbClr val="193540"/>
                </a:solidFill>
                <a:latin typeface="DejaVu Sans"/>
              </a:defRPr>
            </a:pPr>
            <a:r>
              <a:t>komponenter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193</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Använder kunden 1 000 kWh ska båda alternativen avse dessa 1 000 kWh.</a:t>
            </a:r>
          </a:p>
          <a:p>
            <a:pPr>
              <a:lnSpc>
                <a:spcPts val="2480"/>
              </a:lnSpc>
              <a:spcBef>
                <a:spcPts val="0"/>
              </a:spcBef>
              <a:spcAft>
                <a:spcPts val="0"/>
              </a:spcAft>
              <a:defRPr sz="2000" b="0">
                <a:solidFill>
                  <a:srgbClr val="193540"/>
                </a:solidFill>
                <a:latin typeface="DejaVu Sans"/>
              </a:defRPr>
            </a:pPr>
            <a:r>
              <a:t>Kvartsalternativet vägs med användningstiden; månadsalternativet använder</a:t>
            </a:r>
          </a:p>
          <a:p>
            <a:pPr>
              <a:lnSpc>
                <a:spcPts val="2480"/>
              </a:lnSpc>
              <a:spcBef>
                <a:spcPts val="0"/>
              </a:spcBef>
              <a:spcAft>
                <a:spcPts val="0"/>
              </a:spcAft>
              <a:defRPr sz="2000" b="0">
                <a:solidFill>
                  <a:srgbClr val="193540"/>
                </a:solidFill>
                <a:latin typeface="DejaVu Sans"/>
              </a:defRPr>
            </a:pPr>
            <a:r>
              <a:t>sin nivå på hela volymen.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Kostnadsdelarna måste motsvara varandra. Kontrollera inköpsdelar, påslag,</a:t>
            </a:r>
          </a:p>
          <a:p>
            <a:pPr>
              <a:lnSpc>
                <a:spcPts val="2480"/>
              </a:lnSpc>
              <a:spcBef>
                <a:spcPts val="0"/>
              </a:spcBef>
              <a:spcAft>
                <a:spcPts val="0"/>
              </a:spcAft>
              <a:defRPr sz="2000" b="0">
                <a:solidFill>
                  <a:srgbClr val="193540"/>
                </a:solidFill>
                <a:latin typeface="DejaVu Sans"/>
              </a:defRPr>
            </a:pPr>
            <a:r>
              <a:t>avgifter och poster utanför jämförelsen i avtalet. Rent spotutfall är inte direkt</a:t>
            </a:r>
          </a:p>
          <a:p>
            <a:pPr>
              <a:lnSpc>
                <a:spcPts val="2480"/>
              </a:lnSpc>
              <a:spcBef>
                <a:spcPts val="0"/>
              </a:spcBef>
              <a:spcAft>
                <a:spcPts val="0"/>
              </a:spcAft>
              <a:defRPr sz="2000" b="0">
                <a:solidFill>
                  <a:srgbClr val="193540"/>
                </a:solidFill>
                <a:latin typeface="DejaVu Sans"/>
              </a:defRPr>
            </a:pPr>
            <a:r>
              <a:t>jämförbart med ett pris som innehåller fler delar.</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Varför kvartvis minimum är en annan modell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194</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Vissa kvartar kan vara lägre i kvartsalternativet och andra lägre om</a:t>
            </a:r>
          </a:p>
          <a:p>
            <a:pPr>
              <a:lnSpc>
                <a:spcPts val="2480"/>
              </a:lnSpc>
              <a:spcBef>
                <a:spcPts val="0"/>
              </a:spcBef>
              <a:spcAft>
                <a:spcPts val="0"/>
              </a:spcAft>
              <a:defRPr sz="2000" b="0">
                <a:solidFill>
                  <a:srgbClr val="193540"/>
                </a:solidFill>
                <a:latin typeface="DejaVu Sans"/>
              </a:defRPr>
            </a:pPr>
            <a:r>
              <a:t>månadspriset lades på dem. Opti plockar inte ihop de billigaste delarna.</a:t>
            </a:r>
          </a:p>
          <a:p>
            <a:pPr>
              <a:lnSpc>
                <a:spcPts val="2480"/>
              </a:lnSpc>
              <a:spcBef>
                <a:spcPts val="0"/>
              </a:spcBef>
              <a:spcAft>
                <a:spcPts val="0"/>
              </a:spcAft>
              <a:defRPr sz="2000" b="0">
                <a:solidFill>
                  <a:srgbClr val="193540"/>
                </a:solidFill>
                <a:latin typeface="DejaVu Sans"/>
              </a:defRPr>
            </a:pPr>
            <a:r>
              <a:t>Beräkna först varje alternativ för hela månaden.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illustration som alltid väljer den lägsta linjen ger därför fel förväntningar.</a:t>
            </a:r>
          </a:p>
          <a:p>
            <a:pPr>
              <a:lnSpc>
                <a:spcPts val="2480"/>
              </a:lnSpc>
              <a:spcBef>
                <a:spcPts val="0"/>
              </a:spcBef>
              <a:spcAft>
                <a:spcPts val="0"/>
              </a:spcAft>
              <a:defRPr sz="2000" b="0">
                <a:solidFill>
                  <a:srgbClr val="193540"/>
                </a:solidFill>
                <a:latin typeface="DejaVu Sans"/>
              </a:defRPr>
            </a:pPr>
            <a:r>
              <a:t>Visa faktisk kvartvägning till en total, månadspris gånger samma volym till en</a:t>
            </a:r>
          </a:p>
          <a:p>
            <a:pPr>
              <a:lnSpc>
                <a:spcPts val="2480"/>
              </a:lnSpc>
              <a:spcBef>
                <a:spcPts val="0"/>
              </a:spcBef>
              <a:spcAft>
                <a:spcPts val="0"/>
              </a:spcAft>
              <a:defRPr sz="2000" b="0">
                <a:solidFill>
                  <a:srgbClr val="193540"/>
                </a:solidFill>
                <a:latin typeface="DejaVu Sans"/>
              </a:defRPr>
            </a:pPr>
            <a:r>
              <a:t>annan total och därefter månadsvalet.</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Möjlig nytta och kvarvarande risk</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gynnsam egen profil kan göra kvartsalternativet lägre. Om kvartutfallet blir</a:t>
            </a:r>
          </a:p>
          <a:p>
            <a:pPr>
              <a:lnSpc>
                <a:spcPts val="2480"/>
              </a:lnSpc>
              <a:spcBef>
                <a:spcPts val="0"/>
              </a:spcBef>
              <a:spcAft>
                <a:spcPts val="0"/>
              </a:spcAft>
              <a:defRPr sz="2000" b="0">
                <a:solidFill>
                  <a:srgbClr val="193540"/>
                </a:solidFill>
                <a:latin typeface="DejaVu Sans"/>
              </a:defRPr>
            </a:pPr>
            <a:r>
              <a:t>högre används det jämförbara månadsalternativet. Löftet gäller två avtalade</a:t>
            </a:r>
          </a:p>
          <a:p>
            <a:pPr>
              <a:lnSpc>
                <a:spcPts val="2480"/>
              </a:lnSpc>
              <a:spcBef>
                <a:spcPts val="0"/>
              </a:spcBef>
              <a:spcAft>
                <a:spcPts val="0"/>
              </a:spcAft>
              <a:defRPr sz="2000" b="0">
                <a:solidFill>
                  <a:srgbClr val="193540"/>
                </a:solidFill>
                <a:latin typeface="DejaVu Sans"/>
              </a:defRPr>
            </a:pPr>
            <a:r>
              <a:t>alternativ, inte alla konkurrenterbjudanden eller marknadens lägsta pris.</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Båda alternativen kan stiga. Volym och kostnader utanför jämförelsen</a:t>
            </a:r>
          </a:p>
          <a:p>
            <a:pPr>
              <a:lnSpc>
                <a:spcPts val="2480"/>
              </a:lnSpc>
              <a:spcBef>
                <a:spcPts val="0"/>
              </a:spcBef>
              <a:spcAft>
                <a:spcPts val="0"/>
              </a:spcAft>
              <a:defRPr sz="2000" b="0">
                <a:solidFill>
                  <a:srgbClr val="193540"/>
                </a:solidFill>
                <a:latin typeface="DejaVu Sans"/>
              </a:defRPr>
            </a:pPr>
            <a:r>
              <a:t>påverkar beloppet.</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resultatet så att kunden kan kontrollera</a:t>
            </a:r>
          </a:p>
          <a:p>
            <a:pPr>
              <a:lnSpc>
                <a:spcPts val="3472"/>
              </a:lnSpc>
              <a:spcBef>
                <a:spcPts val="0"/>
              </a:spcBef>
              <a:spcAft>
                <a:spcPts val="0"/>
              </a:spcAft>
              <a:defRPr sz="2800" b="1">
                <a:solidFill>
                  <a:srgbClr val="193540"/>
                </a:solidFill>
                <a:latin typeface="DejaVu Sans"/>
              </a:defRPr>
            </a:pPr>
            <a:r>
              <a:t>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Visa månadsvolymen, kvartalternativets beräkning och avtalets</a:t>
            </a:r>
          </a:p>
          <a:p>
            <a:pPr>
              <a:lnSpc>
                <a:spcPts val="2480"/>
              </a:lnSpc>
              <a:spcBef>
                <a:spcPts val="0"/>
              </a:spcBef>
              <a:spcAft>
                <a:spcPts val="0"/>
              </a:spcAft>
              <a:defRPr sz="2000" b="0">
                <a:solidFill>
                  <a:srgbClr val="193540"/>
                </a:solidFill>
                <a:latin typeface="DejaVu Sans"/>
              </a:defRPr>
            </a:pPr>
            <a:r>
              <a:t>månadsreferens på samma volym. Ange gemensamma kostnadsposter och</a:t>
            </a:r>
          </a:p>
          <a:p>
            <a:pPr>
              <a:lnSpc>
                <a:spcPts val="2480"/>
              </a:lnSpc>
              <a:spcBef>
                <a:spcPts val="0"/>
              </a:spcBef>
              <a:spcAft>
                <a:spcPts val="0"/>
              </a:spcAft>
              <a:defRPr sz="2000" b="0">
                <a:solidFill>
                  <a:srgbClr val="193540"/>
                </a:solidFill>
                <a:latin typeface="DejaVu Sans"/>
              </a:defRPr>
            </a:pPr>
            <a:r>
              <a:t>separata poster tydligt.</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Kontrollera kvartsmätvärden, aktuell offert, referens, omfattning, start och</a:t>
            </a:r>
          </a:p>
          <a:p>
            <a:pPr>
              <a:lnSpc>
                <a:spcPts val="2480"/>
              </a:lnSpc>
              <a:spcBef>
                <a:spcPts val="0"/>
              </a:spcBef>
              <a:spcAft>
                <a:spcPts val="0"/>
              </a:spcAft>
              <a:defRPr sz="2000" b="0">
                <a:solidFill>
                  <a:srgbClr val="193540"/>
                </a:solidFill>
                <a:latin typeface="DejaVu Sans"/>
              </a:defRPr>
            </a:pPr>
            <a:r>
              <a:t>kundvillkor. Fråga om användningstider och framtida förändringar. Låt kunden</a:t>
            </a:r>
          </a:p>
          <a:p>
            <a:pPr>
              <a:lnSpc>
                <a:spcPts val="2480"/>
              </a:lnSpc>
              <a:spcBef>
                <a:spcPts val="0"/>
              </a:spcBef>
              <a:spcAft>
                <a:spcPts val="0"/>
              </a:spcAft>
              <a:defRPr sz="2000" b="0">
                <a:solidFill>
                  <a:srgbClr val="193540"/>
                </a:solidFill>
                <a:latin typeface="DejaVu Sans"/>
              </a:defRPr>
            </a:pPr>
            <a:r>
              <a:t>återberätta att valet sker efter hela månaden och att priset kan variera.</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VISUELL FÖRKLARING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Opti jämför två hela månadsutfall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197</a:t>
            </a:r>
          </a:p>
        </p:txBody>
      </p:sp>
      <p:sp>
        <p:nvSpPr>
          <p:cNvPr id="6" name="TextBox 5"/>
          <p:cNvSpPr txBox="1"/>
          <p:nvPr/>
        </p:nvSpPr>
        <p:spPr>
          <a:xfrm>
            <a:off x="731520" y="2057400"/>
            <a:ext cx="10789920" cy="661416"/>
          </a:xfrm>
          <a:prstGeom prst="rect">
            <a:avLst/>
          </a:prstGeom>
          <a:noFill/>
        </p:spPr>
        <p:txBody>
          <a:bodyPr wrap="none" lIns="27432" rIns="27432" tIns="0" bIns="0">
            <a:spAutoFit/>
          </a:bodyPr>
          <a:lstStyle/>
          <a:p>
            <a:pPr>
              <a:lnSpc>
                <a:spcPts val="2604"/>
              </a:lnSpc>
              <a:spcBef>
                <a:spcPts val="0"/>
              </a:spcBef>
              <a:spcAft>
                <a:spcPts val="0"/>
              </a:spcAft>
              <a:defRPr sz="2100" b="1">
                <a:solidFill>
                  <a:srgbClr val="193540"/>
                </a:solidFill>
                <a:latin typeface="DejaVu Sans"/>
              </a:defRPr>
            </a:pPr>
            <a:r>
              <a:t>Hela månaden · samma faktiska 10 000 kWh · jämförbar</a:t>
            </a:r>
          </a:p>
          <a:p>
            <a:pPr>
              <a:lnSpc>
                <a:spcPts val="2604"/>
              </a:lnSpc>
              <a:spcBef>
                <a:spcPts val="0"/>
              </a:spcBef>
              <a:spcAft>
                <a:spcPts val="0"/>
              </a:spcAft>
              <a:defRPr sz="2100" b="1">
                <a:solidFill>
                  <a:srgbClr val="193540"/>
                </a:solidFill>
                <a:latin typeface="DejaVu Sans"/>
              </a:defRPr>
            </a:pPr>
            <a:r>
              <a:t>omfattning</a:t>
            </a:r>
          </a:p>
        </p:txBody>
      </p:sp>
      <p:sp>
        <p:nvSpPr>
          <p:cNvPr id="7" name="TextBox 6"/>
          <p:cNvSpPr txBox="1"/>
          <p:nvPr/>
        </p:nvSpPr>
        <p:spPr>
          <a:xfrm>
            <a:off x="731520" y="2926080"/>
            <a:ext cx="914400"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193540"/>
                </a:solidFill>
                <a:latin typeface="DejaVu Sans"/>
              </a:defRPr>
            </a:pPr>
            <a:r>
              <a:t>Fall A</a:t>
            </a:r>
          </a:p>
        </p:txBody>
      </p:sp>
      <p:sp>
        <p:nvSpPr>
          <p:cNvPr id="8" name="Rectangle 7"/>
          <p:cNvSpPr/>
          <p:nvPr/>
        </p:nvSpPr>
        <p:spPr>
          <a:xfrm>
            <a:off x="1828800" y="2852928"/>
            <a:ext cx="3520440" cy="1216152"/>
          </a:xfrm>
          <a:prstGeom prst="rect">
            <a:avLst/>
          </a:prstGeom>
          <a:solidFill>
            <a:srgbClr val="EA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47672" y="2971800"/>
            <a:ext cx="3246120"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193540"/>
                </a:solidFill>
                <a:latin typeface="DejaVu Sans"/>
              </a:defRPr>
            </a:pPr>
            <a:r>
              <a:t>Kvartsvägt</a:t>
            </a:r>
          </a:p>
        </p:txBody>
      </p:sp>
      <p:sp>
        <p:nvSpPr>
          <p:cNvPr id="10" name="TextBox 9"/>
          <p:cNvSpPr txBox="1"/>
          <p:nvPr/>
        </p:nvSpPr>
        <p:spPr>
          <a:xfrm>
            <a:off x="1947672" y="3447288"/>
            <a:ext cx="3246120" cy="299212"/>
          </a:xfrm>
          <a:prstGeom prst="rect">
            <a:avLst/>
          </a:prstGeom>
          <a:noFill/>
        </p:spPr>
        <p:txBody>
          <a:bodyPr wrap="none" lIns="27432" rIns="27432" tIns="0" bIns="0">
            <a:spAutoFit/>
          </a:bodyPr>
          <a:lstStyle/>
          <a:p>
            <a:pPr>
              <a:lnSpc>
                <a:spcPts val="2356"/>
              </a:lnSpc>
              <a:spcBef>
                <a:spcPts val="0"/>
              </a:spcBef>
              <a:spcAft>
                <a:spcPts val="0"/>
              </a:spcAft>
              <a:defRPr sz="1900" b="0">
                <a:solidFill>
                  <a:srgbClr val="193540"/>
                </a:solidFill>
                <a:latin typeface="DejaVu Sans"/>
              </a:defRPr>
            </a:pPr>
            <a:r>
              <a:t>68 öre → 6 800 kr</a:t>
            </a:r>
          </a:p>
        </p:txBody>
      </p:sp>
      <p:sp>
        <p:nvSpPr>
          <p:cNvPr id="11" name="Rectangle 10"/>
          <p:cNvSpPr/>
          <p:nvPr/>
        </p:nvSpPr>
        <p:spPr>
          <a:xfrm>
            <a:off x="5577840" y="2852928"/>
            <a:ext cx="3520440" cy="1216152"/>
          </a:xfrm>
          <a:prstGeom prst="rect">
            <a:avLst/>
          </a:prstGeom>
          <a:solidFill>
            <a:srgbClr val="EA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96712" y="2971800"/>
            <a:ext cx="3246120"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193540"/>
                </a:solidFill>
                <a:latin typeface="DejaVu Sans"/>
              </a:defRPr>
            </a:pPr>
            <a:r>
              <a:t>Månadsmodell</a:t>
            </a:r>
          </a:p>
        </p:txBody>
      </p:sp>
      <p:sp>
        <p:nvSpPr>
          <p:cNvPr id="13" name="TextBox 12"/>
          <p:cNvSpPr txBox="1"/>
          <p:nvPr/>
        </p:nvSpPr>
        <p:spPr>
          <a:xfrm>
            <a:off x="5696712" y="3447288"/>
            <a:ext cx="3246120" cy="299212"/>
          </a:xfrm>
          <a:prstGeom prst="rect">
            <a:avLst/>
          </a:prstGeom>
          <a:noFill/>
        </p:spPr>
        <p:txBody>
          <a:bodyPr wrap="none" lIns="27432" rIns="27432" tIns="0" bIns="0">
            <a:spAutoFit/>
          </a:bodyPr>
          <a:lstStyle/>
          <a:p>
            <a:pPr>
              <a:lnSpc>
                <a:spcPts val="2356"/>
              </a:lnSpc>
              <a:spcBef>
                <a:spcPts val="0"/>
              </a:spcBef>
              <a:spcAft>
                <a:spcPts val="0"/>
              </a:spcAft>
              <a:defRPr sz="1900" b="0">
                <a:solidFill>
                  <a:srgbClr val="193540"/>
                </a:solidFill>
                <a:latin typeface="DejaVu Sans"/>
              </a:defRPr>
            </a:pPr>
            <a:r>
              <a:t>80 öre → 8 000 kr</a:t>
            </a:r>
          </a:p>
        </p:txBody>
      </p:sp>
      <p:sp>
        <p:nvSpPr>
          <p:cNvPr id="14" name="TextBox 13"/>
          <p:cNvSpPr txBox="1"/>
          <p:nvPr/>
        </p:nvSpPr>
        <p:spPr>
          <a:xfrm>
            <a:off x="9235440" y="2944368"/>
            <a:ext cx="2286000" cy="283464"/>
          </a:xfrm>
          <a:prstGeom prst="rect">
            <a:avLst/>
          </a:prstGeom>
          <a:noFill/>
        </p:spPr>
        <p:txBody>
          <a:bodyPr wrap="none" lIns="27432" rIns="27432" tIns="0" bIns="0">
            <a:spAutoFit/>
          </a:bodyPr>
          <a:lstStyle/>
          <a:p>
            <a:pPr>
              <a:lnSpc>
                <a:spcPts val="2232"/>
              </a:lnSpc>
              <a:spcBef>
                <a:spcPts val="0"/>
              </a:spcBef>
              <a:spcAft>
                <a:spcPts val="0"/>
              </a:spcAft>
              <a:defRPr sz="1800" b="0">
                <a:solidFill>
                  <a:srgbClr val="193540"/>
                </a:solidFill>
                <a:latin typeface="DejaVu Sans"/>
              </a:defRPr>
            </a:pPr>
            <a:r>
              <a:t>Väljs:</a:t>
            </a:r>
          </a:p>
        </p:txBody>
      </p:sp>
      <p:sp>
        <p:nvSpPr>
          <p:cNvPr id="15" name="TextBox 14"/>
          <p:cNvSpPr txBox="1"/>
          <p:nvPr/>
        </p:nvSpPr>
        <p:spPr>
          <a:xfrm>
            <a:off x="9235440" y="3392424"/>
            <a:ext cx="2286000"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136F70"/>
                </a:solidFill>
                <a:latin typeface="DejaVu Sans"/>
              </a:defRPr>
            </a:pPr>
            <a:r>
              <a:t>68 öre/kWh</a:t>
            </a:r>
          </a:p>
        </p:txBody>
      </p:sp>
      <p:sp>
        <p:nvSpPr>
          <p:cNvPr id="16" name="TextBox 15"/>
          <p:cNvSpPr txBox="1"/>
          <p:nvPr/>
        </p:nvSpPr>
        <p:spPr>
          <a:xfrm>
            <a:off x="731520" y="4526280"/>
            <a:ext cx="914400"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193540"/>
                </a:solidFill>
                <a:latin typeface="DejaVu Sans"/>
              </a:defRPr>
            </a:pPr>
            <a:r>
              <a:t>Fall B</a:t>
            </a:r>
          </a:p>
        </p:txBody>
      </p:sp>
      <p:sp>
        <p:nvSpPr>
          <p:cNvPr id="17" name="Rectangle 16"/>
          <p:cNvSpPr/>
          <p:nvPr/>
        </p:nvSpPr>
        <p:spPr>
          <a:xfrm>
            <a:off x="1828800" y="4453128"/>
            <a:ext cx="3520440" cy="1216152"/>
          </a:xfrm>
          <a:prstGeom prst="rect">
            <a:avLst/>
          </a:prstGeom>
          <a:solidFill>
            <a:srgbClr val="EA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47672" y="4572000"/>
            <a:ext cx="3246120"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193540"/>
                </a:solidFill>
                <a:latin typeface="DejaVu Sans"/>
              </a:defRPr>
            </a:pPr>
            <a:r>
              <a:t>Kvartsvägt</a:t>
            </a:r>
          </a:p>
        </p:txBody>
      </p:sp>
      <p:sp>
        <p:nvSpPr>
          <p:cNvPr id="19" name="TextBox 18"/>
          <p:cNvSpPr txBox="1"/>
          <p:nvPr/>
        </p:nvSpPr>
        <p:spPr>
          <a:xfrm>
            <a:off x="1947672" y="5047488"/>
            <a:ext cx="3246120" cy="299212"/>
          </a:xfrm>
          <a:prstGeom prst="rect">
            <a:avLst/>
          </a:prstGeom>
          <a:noFill/>
        </p:spPr>
        <p:txBody>
          <a:bodyPr wrap="none" lIns="27432" rIns="27432" tIns="0" bIns="0">
            <a:spAutoFit/>
          </a:bodyPr>
          <a:lstStyle/>
          <a:p>
            <a:pPr>
              <a:lnSpc>
                <a:spcPts val="2356"/>
              </a:lnSpc>
              <a:spcBef>
                <a:spcPts val="0"/>
              </a:spcBef>
              <a:spcAft>
                <a:spcPts val="0"/>
              </a:spcAft>
              <a:defRPr sz="1900" b="0">
                <a:solidFill>
                  <a:srgbClr val="193540"/>
                </a:solidFill>
                <a:latin typeface="DejaVu Sans"/>
              </a:defRPr>
            </a:pPr>
            <a:r>
              <a:t>110 öre → 11 000 kr</a:t>
            </a:r>
          </a:p>
        </p:txBody>
      </p:sp>
      <p:sp>
        <p:nvSpPr>
          <p:cNvPr id="20" name="Rectangle 19"/>
          <p:cNvSpPr/>
          <p:nvPr/>
        </p:nvSpPr>
        <p:spPr>
          <a:xfrm>
            <a:off x="5577840" y="4453128"/>
            <a:ext cx="3520440" cy="1216152"/>
          </a:xfrm>
          <a:prstGeom prst="rect">
            <a:avLst/>
          </a:prstGeom>
          <a:solidFill>
            <a:srgbClr val="EA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96712" y="4572000"/>
            <a:ext cx="3246120"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193540"/>
                </a:solidFill>
                <a:latin typeface="DejaVu Sans"/>
              </a:defRPr>
            </a:pPr>
            <a:r>
              <a:t>Månadsmodell</a:t>
            </a:r>
          </a:p>
        </p:txBody>
      </p:sp>
      <p:sp>
        <p:nvSpPr>
          <p:cNvPr id="22" name="TextBox 21"/>
          <p:cNvSpPr txBox="1"/>
          <p:nvPr/>
        </p:nvSpPr>
        <p:spPr>
          <a:xfrm>
            <a:off x="5696712" y="5047488"/>
            <a:ext cx="3246120" cy="299212"/>
          </a:xfrm>
          <a:prstGeom prst="rect">
            <a:avLst/>
          </a:prstGeom>
          <a:noFill/>
        </p:spPr>
        <p:txBody>
          <a:bodyPr wrap="none" lIns="27432" rIns="27432" tIns="0" bIns="0">
            <a:spAutoFit/>
          </a:bodyPr>
          <a:lstStyle/>
          <a:p>
            <a:pPr>
              <a:lnSpc>
                <a:spcPts val="2356"/>
              </a:lnSpc>
              <a:spcBef>
                <a:spcPts val="0"/>
              </a:spcBef>
              <a:spcAft>
                <a:spcPts val="0"/>
              </a:spcAft>
              <a:defRPr sz="1900" b="0">
                <a:solidFill>
                  <a:srgbClr val="193540"/>
                </a:solidFill>
                <a:latin typeface="DejaVu Sans"/>
              </a:defRPr>
            </a:pPr>
            <a:r>
              <a:t>90 öre → 9 000 kr</a:t>
            </a:r>
          </a:p>
        </p:txBody>
      </p:sp>
      <p:sp>
        <p:nvSpPr>
          <p:cNvPr id="23" name="TextBox 22"/>
          <p:cNvSpPr txBox="1"/>
          <p:nvPr/>
        </p:nvSpPr>
        <p:spPr>
          <a:xfrm>
            <a:off x="9235440" y="4544568"/>
            <a:ext cx="2286000" cy="283464"/>
          </a:xfrm>
          <a:prstGeom prst="rect">
            <a:avLst/>
          </a:prstGeom>
          <a:noFill/>
        </p:spPr>
        <p:txBody>
          <a:bodyPr wrap="none" lIns="27432" rIns="27432" tIns="0" bIns="0">
            <a:spAutoFit/>
          </a:bodyPr>
          <a:lstStyle/>
          <a:p>
            <a:pPr>
              <a:lnSpc>
                <a:spcPts val="2232"/>
              </a:lnSpc>
              <a:spcBef>
                <a:spcPts val="0"/>
              </a:spcBef>
              <a:spcAft>
                <a:spcPts val="0"/>
              </a:spcAft>
              <a:defRPr sz="1800" b="0">
                <a:solidFill>
                  <a:srgbClr val="193540"/>
                </a:solidFill>
                <a:latin typeface="DejaVu Sans"/>
              </a:defRPr>
            </a:pPr>
            <a:r>
              <a:t>Väljs:</a:t>
            </a:r>
          </a:p>
        </p:txBody>
      </p:sp>
      <p:sp>
        <p:nvSpPr>
          <p:cNvPr id="24" name="TextBox 23"/>
          <p:cNvSpPr txBox="1"/>
          <p:nvPr/>
        </p:nvSpPr>
        <p:spPr>
          <a:xfrm>
            <a:off x="9235440" y="4992624"/>
            <a:ext cx="2286000" cy="314960"/>
          </a:xfrm>
          <a:prstGeom prst="rect">
            <a:avLst/>
          </a:prstGeom>
          <a:noFill/>
        </p:spPr>
        <p:txBody>
          <a:bodyPr wrap="none" lIns="27432" rIns="27432" tIns="0" bIns="0">
            <a:spAutoFit/>
          </a:bodyPr>
          <a:lstStyle/>
          <a:p>
            <a:pPr>
              <a:lnSpc>
                <a:spcPts val="2480"/>
              </a:lnSpc>
              <a:spcBef>
                <a:spcPts val="0"/>
              </a:spcBef>
              <a:spcAft>
                <a:spcPts val="0"/>
              </a:spcAft>
              <a:defRPr sz="2000" b="1">
                <a:solidFill>
                  <a:srgbClr val="136F70"/>
                </a:solidFill>
                <a:latin typeface="DejaVu Sans"/>
              </a:defRPr>
            </a:pPr>
            <a:r>
              <a:t>90 öre/kWh</a:t>
            </a:r>
          </a:p>
        </p:txBody>
      </p:sp>
      <p:sp>
        <p:nvSpPr>
          <p:cNvPr id="25" name="TextBox 24"/>
          <p:cNvSpPr txBox="1"/>
          <p:nvPr/>
        </p:nvSpPr>
        <p:spPr>
          <a:xfrm>
            <a:off x="731520" y="6089904"/>
            <a:ext cx="10789920" cy="220472"/>
          </a:xfrm>
          <a:prstGeom prst="rect">
            <a:avLst/>
          </a:prstGeom>
          <a:noFill/>
        </p:spPr>
        <p:txBody>
          <a:bodyPr wrap="none" lIns="27432" rIns="27432" tIns="0" bIns="0">
            <a:spAutoFit/>
          </a:bodyPr>
          <a:lstStyle/>
          <a:p>
            <a:pPr>
              <a:lnSpc>
                <a:spcPts val="1736"/>
              </a:lnSpc>
              <a:spcBef>
                <a:spcPts val="0"/>
              </a:spcBef>
              <a:spcAft>
                <a:spcPts val="0"/>
              </a:spcAft>
              <a:defRPr sz="1400" b="0">
                <a:solidFill>
                  <a:srgbClr val="193540"/>
                </a:solidFill>
                <a:latin typeface="DejaVu Sans"/>
              </a:defRPr>
            </a:pPr>
            <a:r>
              <a:t>Syntetiska månadsfall – inget minimum i varje kvart och ingen marknadsgaranti.</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Kvartsalternativet blir lägre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hel månadsmodell med två aggregerade prisgrupper. Jämförbara</a:t>
            </a:r>
          </a:p>
          <a:p>
            <a:pPr>
              <a:lnSpc>
                <a:spcPts val="2480"/>
              </a:lnSpc>
              <a:spcBef>
                <a:spcPts val="0"/>
              </a:spcBef>
              <a:spcAft>
                <a:spcPts val="0"/>
              </a:spcAft>
              <a:defRPr sz="2000" b="0">
                <a:solidFill>
                  <a:srgbClr val="193540"/>
                </a:solidFill>
                <a:latin typeface="DejaVu Sans"/>
              </a:defRPr>
            </a:pPr>
            <a:r>
              <a:t>kostnadsdelar antas i samtliga priser. Avgifter utanför jämförelsen, elnät, skatt</a:t>
            </a:r>
          </a:p>
          <a:p>
            <a:pPr>
              <a:lnSpc>
                <a:spcPts val="2480"/>
              </a:lnSpc>
              <a:spcBef>
                <a:spcPts val="0"/>
              </a:spcBef>
              <a:spcAft>
                <a:spcPts val="0"/>
              </a:spcAft>
              <a:defRPr sz="2000" b="0">
                <a:solidFill>
                  <a:srgbClr val="193540"/>
                </a:solidFill>
                <a:latin typeface="DejaVu Sans"/>
              </a:defRPr>
            </a:pPr>
            <a:r>
              <a:t>och moms utesluts. Ingen offert eller besparingsprognos.</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600 kWh används vid 40 öre/kWh.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400 kWh används vid 110 öre/kWh.</a:t>
            </a:r>
          </a:p>
        </p:txBody>
      </p:sp>
      <p:sp>
        <p:nvSpPr>
          <p:cNvPr id="9" name="TextBox 8"/>
          <p:cNvSpPr txBox="1"/>
          <p:nvPr/>
        </p:nvSpPr>
        <p:spPr>
          <a:xfrm>
            <a:off x="603504" y="40665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Avtalets antagna jämförbara månadsalternativ är 80 öre/kWh för alla</a:t>
            </a:r>
          </a:p>
          <a:p>
            <a:pPr>
              <a:lnSpc>
                <a:spcPts val="2480"/>
              </a:lnSpc>
              <a:spcBef>
                <a:spcPts val="0"/>
              </a:spcBef>
              <a:spcAft>
                <a:spcPts val="0"/>
              </a:spcAft>
              <a:defRPr sz="2000" b="0">
                <a:solidFill>
                  <a:srgbClr val="193540"/>
                </a:solidFill>
                <a:latin typeface="DejaVu Sans"/>
              </a:defRPr>
            </a:pPr>
            <a:r>
              <a:t>1 000 kWh.</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Kvartsalternativet blir lägre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199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Kvartsalternativets första del: 600 × 0,40 = 240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Andra delen: 400 × 1,10 = 440 kr. Total kvartkostnad: 680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Eget kvartsvägt snitt: 680 / 1 000 = 0,68 kr/kWh = 68 öre/kWh.</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Månadsalternativ: 1 000 × 0,80 = 800 kr. Välj min(680; 800) = 680 kr.</a:t>
            </a:r>
          </a:p>
        </p:txBody>
      </p:sp>
      <p:sp>
        <p:nvSpPr>
          <p:cNvPr id="10" name="TextBox 9"/>
          <p:cNvSpPr txBox="1"/>
          <p:nvPr/>
        </p:nvSpPr>
        <p:spPr>
          <a:xfrm>
            <a:off x="603504" y="38658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Kvartsalternativet väljs för hela månaden: 680 kr inom jämförelsens</a:t>
            </a:r>
          </a:p>
          <a:p>
            <a:pPr>
              <a:lnSpc>
                <a:spcPts val="2480"/>
              </a:lnSpc>
              <a:spcBef>
                <a:spcPts val="0"/>
              </a:spcBef>
              <a:spcAft>
                <a:spcPts val="0"/>
              </a:spcAft>
              <a:defRPr sz="2000" b="0">
                <a:solidFill>
                  <a:srgbClr val="193540"/>
                </a:solidFill>
                <a:latin typeface="DejaVu Sans"/>
              </a:defRPr>
            </a:pPr>
            <a:r>
              <a:t>omfattning.</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Varför du inte ska välja minimum i varje grupp</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hel månad med samma volym och komponenter i båda alternativen.</a:t>
            </a:r>
          </a:p>
          <a:p>
            <a:pPr>
              <a:lnSpc>
                <a:spcPts val="2480"/>
              </a:lnSpc>
              <a:spcBef>
                <a:spcPts val="0"/>
              </a:spcBef>
              <a:spcAft>
                <a:spcPts val="0"/>
              </a:spcAft>
              <a:defRPr sz="2000" b="0">
                <a:solidFill>
                  <a:srgbClr val="193540"/>
                </a:solidFill>
                <a:latin typeface="DejaVu Sans"/>
              </a:defRPr>
            </a:pPr>
            <a:r>
              <a:t>Två prisgrupper representerar kvartförbrukning. Övriga kostnader och avgifter</a:t>
            </a:r>
          </a:p>
          <a:p>
            <a:pPr>
              <a:lnSpc>
                <a:spcPts val="2480"/>
              </a:lnSpc>
              <a:spcBef>
                <a:spcPts val="0"/>
              </a:spcBef>
              <a:spcAft>
                <a:spcPts val="0"/>
              </a:spcAft>
              <a:defRPr sz="2000" b="0">
                <a:solidFill>
                  <a:srgbClr val="193540"/>
                </a:solidFill>
                <a:latin typeface="DejaVu Sans"/>
              </a:defRPr>
            </a:pPr>
            <a:r>
              <a:t>är uteslutna.</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500 kWh används vid 40 öre/kWh och 500 kWh vid 120 öre/kWh.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Antaget månadsalternativ är 70 öre/kWh på alla 1 000 kWh.</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Varför du inte ska välja minimum i varje</a:t>
            </a:r>
          </a:p>
          <a:p>
            <a:pPr>
              <a:lnSpc>
                <a:spcPts val="3472"/>
              </a:lnSpc>
              <a:spcBef>
                <a:spcPts val="0"/>
              </a:spcBef>
              <a:spcAft>
                <a:spcPts val="0"/>
              </a:spcAft>
              <a:defRPr sz="2800" b="1">
                <a:solidFill>
                  <a:srgbClr val="193540"/>
                </a:solidFill>
                <a:latin typeface="DejaVu Sans"/>
              </a:defRPr>
            </a:pPr>
            <a:r>
              <a:t>grupp</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Hela kvartsalternativet: 500 × 0,40 + 500 × 1,20 = 200 + 600 = 800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Hela månadsalternativet: 1 000 × 0,70 = 700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Opti väljer månadsalternativet: min(800; 700) = 700 kr.</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Felaktigt kvartvis val skulle bli 500 × 0,40 + 500 × 0,70 = 550 kr. Det är</a:t>
            </a:r>
          </a:p>
          <a:p>
            <a:pPr>
              <a:lnSpc>
                <a:spcPts val="2480"/>
              </a:lnSpc>
              <a:spcBef>
                <a:spcPts val="0"/>
              </a:spcBef>
              <a:spcAft>
                <a:spcPts val="0"/>
              </a:spcAft>
              <a:defRPr sz="2000" b="0">
                <a:solidFill>
                  <a:srgbClr val="193540"/>
                </a:solidFill>
                <a:latin typeface="DejaVu Sans"/>
              </a:defRPr>
            </a:pPr>
            <a:r>
              <a:t>inte Optis beräkningsregel.</a:t>
            </a:r>
          </a:p>
        </p:txBody>
      </p:sp>
      <p:sp>
        <p:nvSpPr>
          <p:cNvPr id="10" name="TextBox 9"/>
          <p:cNvSpPr txBox="1"/>
          <p:nvPr/>
        </p:nvSpPr>
        <p:spPr>
          <a:xfrm>
            <a:off x="603504" y="4180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Korrekt jämförelseresultat är 700 kr, inte 550 kr.</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Opti väljer det billigaste priset i varje kvart.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Båda alternativen beräknas för hela månaden. Det lägre</a:t>
            </a:r>
          </a:p>
          <a:p>
            <a:pPr>
              <a:lnSpc>
                <a:spcPts val="2480"/>
              </a:lnSpc>
              <a:spcBef>
                <a:spcPts val="0"/>
              </a:spcBef>
              <a:spcAft>
                <a:spcPts val="0"/>
              </a:spcAft>
              <a:defRPr sz="2000" b="0">
                <a:solidFill>
                  <a:srgbClr val="193540"/>
                </a:solidFill>
                <a:latin typeface="DejaVu Sans"/>
              </a:defRPr>
            </a:pPr>
            <a:r>
              <a:t>månadsutfallet väljs efter månadens slut.</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Opti ger ett fast pristak i kronor eller öre.</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Båda jämförda marknadsalternativen kan stiga. Modellen ger</a:t>
            </a:r>
          </a:p>
          <a:p>
            <a:pPr>
              <a:lnSpc>
                <a:spcPts val="2480"/>
              </a:lnSpc>
              <a:spcBef>
                <a:spcPts val="0"/>
              </a:spcBef>
              <a:spcAft>
                <a:spcPts val="0"/>
              </a:spcAft>
              <a:defRPr sz="2000" b="0">
                <a:solidFill>
                  <a:srgbClr val="193540"/>
                </a:solidFill>
                <a:latin typeface="DejaVu Sans"/>
              </a:defRPr>
            </a:pPr>
            <a:r>
              <a:t>ingen absolut fast nivå.</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Opti är alltid billigast på hela marknaden.</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Löftet gäller avtalets två jämförbara alternativ. Andra</a:t>
            </a:r>
          </a:p>
          <a:p>
            <a:pPr>
              <a:lnSpc>
                <a:spcPts val="2480"/>
              </a:lnSpc>
              <a:spcBef>
                <a:spcPts val="0"/>
              </a:spcBef>
              <a:spcAft>
                <a:spcPts val="0"/>
              </a:spcAft>
              <a:defRPr sz="2000" b="0">
                <a:solidFill>
                  <a:srgbClr val="193540"/>
                </a:solidFill>
                <a:latin typeface="DejaVu Sans"/>
              </a:defRPr>
            </a:pPr>
            <a:r>
              <a:t>erbjudanden eller komponenter omfattas inte automatiskt.</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205</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Med Opti räknar vi efter månaden både ditt eget kvartsvägda utfall och</a:t>
            </a:r>
          </a:p>
          <a:p>
            <a:pPr>
              <a:lnSpc>
                <a:spcPts val="2480"/>
              </a:lnSpc>
              <a:spcBef>
                <a:spcPts val="0"/>
              </a:spcBef>
              <a:spcAft>
                <a:spcPts val="0"/>
              </a:spcAft>
              <a:defRPr sz="2000" b="0">
                <a:solidFill>
                  <a:srgbClr val="193540"/>
                </a:solidFill>
                <a:latin typeface="DejaVu Sans"/>
              </a:defRPr>
            </a:pPr>
            <a:r>
              <a:t>avtalets vanliga rörliga månadsalternativ för samma användning och</a:t>
            </a:r>
          </a:p>
          <a:p>
            <a:pPr>
              <a:lnSpc>
                <a:spcPts val="2480"/>
              </a:lnSpc>
              <a:spcBef>
                <a:spcPts val="0"/>
              </a:spcBef>
              <a:spcAft>
                <a:spcPts val="0"/>
              </a:spcAft>
              <a:defRPr sz="2000" b="0">
                <a:solidFill>
                  <a:srgbClr val="193540"/>
                </a:solidFill>
                <a:latin typeface="DejaVu Sans"/>
              </a:defRPr>
            </a:pPr>
            <a:r>
              <a:t>kostnadsdelar. Du får det lägre av de två för hela månaden. Priset kan</a:t>
            </a:r>
          </a:p>
          <a:p>
            <a:pPr>
              <a:lnSpc>
                <a:spcPts val="2480"/>
              </a:lnSpc>
              <a:spcBef>
                <a:spcPts val="0"/>
              </a:spcBef>
              <a:spcAft>
                <a:spcPts val="0"/>
              </a:spcAft>
              <a:defRPr sz="2000" b="0">
                <a:solidFill>
                  <a:srgbClr val="193540"/>
                </a:solidFill>
                <a:latin typeface="DejaVu Sans"/>
              </a:defRPr>
            </a:pPr>
            <a:r>
              <a:t>fortfarande variera; vi väljer inte minimum i varje kvart och lovar inte ett fast</a:t>
            </a:r>
          </a:p>
          <a:p>
            <a:pPr>
              <a:lnSpc>
                <a:spcPts val="2480"/>
              </a:lnSpc>
              <a:spcBef>
                <a:spcPts val="0"/>
              </a:spcBef>
              <a:spcAft>
                <a:spcPts val="0"/>
              </a:spcAft>
              <a:defRPr sz="2000" b="0">
                <a:solidFill>
                  <a:srgbClr val="193540"/>
                </a:solidFill>
                <a:latin typeface="DejaVu Sans"/>
              </a:defRPr>
            </a:pPr>
            <a:r>
              <a:t>pristak.</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Kunden som vill ha de billigaste kvartarna från</a:t>
            </a:r>
          </a:p>
          <a:p>
            <a:pPr>
              <a:lnSpc>
                <a:spcPts val="3472"/>
              </a:lnSpc>
              <a:spcBef>
                <a:spcPts val="0"/>
              </a:spcBef>
              <a:spcAft>
                <a:spcPts val="0"/>
              </a:spcAft>
              <a:defRPr sz="2800" b="1">
                <a:solidFill>
                  <a:srgbClr val="193540"/>
                </a:solidFill>
                <a:latin typeface="DejaVu Sans"/>
              </a:defRPr>
            </a:pPr>
            <a:r>
              <a:t>båda modellerna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206</a:t>
            </a:r>
          </a:p>
        </p:txBody>
      </p:sp>
      <p:sp>
        <p:nvSpPr>
          <p:cNvPr id="6" name="TextBox 5"/>
          <p:cNvSpPr txBox="1"/>
          <p:nvPr/>
        </p:nvSpPr>
        <p:spPr>
          <a:xfrm>
            <a:off x="603504" y="2148840"/>
            <a:ext cx="10972800" cy="18897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kunden Noor har 1 000 kWh i månadsvolym: 500 kWh vid 40 öre och</a:t>
            </a:r>
          </a:p>
          <a:p>
            <a:pPr>
              <a:lnSpc>
                <a:spcPts val="2480"/>
              </a:lnSpc>
              <a:spcBef>
                <a:spcPts val="0"/>
              </a:spcBef>
              <a:spcAft>
                <a:spcPts val="0"/>
              </a:spcAft>
              <a:defRPr sz="2000" b="0">
                <a:solidFill>
                  <a:srgbClr val="193540"/>
                </a:solidFill>
                <a:latin typeface="DejaVu Sans"/>
              </a:defRPr>
            </a:pPr>
            <a:r>
              <a:t>500 vid 120 öre. Det jämförbara månadsalternativet är 70 öre. Alla priser i</a:t>
            </a:r>
          </a:p>
          <a:p>
            <a:pPr>
              <a:lnSpc>
                <a:spcPts val="2480"/>
              </a:lnSpc>
              <a:spcBef>
                <a:spcPts val="0"/>
              </a:spcBef>
              <a:spcAft>
                <a:spcPts val="0"/>
              </a:spcAft>
              <a:defRPr sz="2000" b="0">
                <a:solidFill>
                  <a:srgbClr val="193540"/>
                </a:solidFill>
                <a:latin typeface="DejaVu Sans"/>
              </a:defRPr>
            </a:pPr>
            <a:r>
              <a:t>fallet omfattar samma avgränsade delar och inga andra kostnader ingår. Noor</a:t>
            </a:r>
          </a:p>
          <a:p>
            <a:pPr>
              <a:lnSpc>
                <a:spcPts val="2480"/>
              </a:lnSpc>
              <a:spcBef>
                <a:spcPts val="0"/>
              </a:spcBef>
              <a:spcAft>
                <a:spcPts val="0"/>
              </a:spcAft>
              <a:defRPr sz="2000" b="0">
                <a:solidFill>
                  <a:srgbClr val="193540"/>
                </a:solidFill>
                <a:latin typeface="DejaVu Sans"/>
              </a:defRPr>
            </a:pPr>
            <a:r>
              <a:t>har räknat 550 kr genom att välja kvartpris för första gruppen och månadspris</a:t>
            </a:r>
          </a:p>
          <a:p>
            <a:pPr>
              <a:lnSpc>
                <a:spcPts val="2480"/>
              </a:lnSpc>
              <a:spcBef>
                <a:spcPts val="0"/>
              </a:spcBef>
              <a:spcAft>
                <a:spcPts val="0"/>
              </a:spcAft>
              <a:defRPr sz="2000" b="0">
                <a:solidFill>
                  <a:srgbClr val="193540"/>
                </a:solidFill>
                <a:latin typeface="DejaVu Sans"/>
              </a:defRPr>
            </a:pPr>
            <a:r>
              <a:t>för andra. Hon säger dessutom att Opti därför måste skydda henne mot alla</a:t>
            </a:r>
          </a:p>
          <a:p>
            <a:pPr>
              <a:lnSpc>
                <a:spcPts val="2480"/>
              </a:lnSpc>
              <a:spcBef>
                <a:spcPts val="0"/>
              </a:spcBef>
              <a:spcAft>
                <a:spcPts val="0"/>
              </a:spcAft>
              <a:defRPr sz="2000" b="0">
                <a:solidFill>
                  <a:srgbClr val="193540"/>
                </a:solidFill>
                <a:latin typeface="DejaVu Sans"/>
              </a:defRPr>
            </a:pPr>
            <a:r>
              <a:t>höga elpriser.</a:t>
            </a:r>
          </a:p>
        </p:txBody>
      </p:sp>
      <p:sp>
        <p:nvSpPr>
          <p:cNvPr id="7" name="TextBox 6"/>
          <p:cNvSpPr txBox="1"/>
          <p:nvPr/>
        </p:nvSpPr>
        <p:spPr>
          <a:xfrm>
            <a:off x="603504" y="41529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Beräkna de två korrekta hela månadsalternativen.</a:t>
            </a:r>
          </a:p>
        </p:txBody>
      </p:sp>
      <p:sp>
        <p:nvSpPr>
          <p:cNvPr id="8" name="TextBox 7"/>
          <p:cNvSpPr txBox="1"/>
          <p:nvPr/>
        </p:nvSpPr>
        <p:spPr>
          <a:xfrm>
            <a:off x="603504" y="45821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skillnaden mot Noors 550 kr utan att bara säga att hennes svar är</a:t>
            </a:r>
          </a:p>
          <a:p>
            <a:pPr>
              <a:lnSpc>
                <a:spcPts val="2480"/>
              </a:lnSpc>
              <a:spcBef>
                <a:spcPts val="0"/>
              </a:spcBef>
              <a:spcAft>
                <a:spcPts val="0"/>
              </a:spcAft>
              <a:defRPr sz="2000" b="0">
                <a:solidFill>
                  <a:srgbClr val="193540"/>
                </a:solidFill>
                <a:latin typeface="DejaVu Sans"/>
              </a:defRPr>
            </a:pPr>
            <a:r>
              <a:t>fel.</a:t>
            </a:r>
          </a:p>
        </p:txBody>
      </p:sp>
      <p:sp>
        <p:nvSpPr>
          <p:cNvPr id="9" name="TextBox 8"/>
          <p:cNvSpPr txBox="1"/>
          <p:nvPr/>
        </p:nvSpPr>
        <p:spPr>
          <a:xfrm>
            <a:off x="603504" y="53263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Skriv ett korrekt kundlöfte och ange fortsatt risk.</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Räknar hela alternativen till 800 och 700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Förklarar varför 550 kr är en annan beräkningsmodell.</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Nämner samma volym, månad och komponenter.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Beskriver fortsatt marknadsrisk och avstår från universellt billigast-löfte.</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När gör Opti valet mellan alternativen i den beskrivna modellen?</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Före månaden med ett garanterat fast pris.</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Efter varje kvart, genom att plocka minsta möjliga pris.</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Efter hela månaden, mellan två jämförbara månadsutfall.</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209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exempel med samma komponenter och 2 000 kWh: kvartsvägt</a:t>
            </a:r>
          </a:p>
          <a:p>
            <a:pPr>
              <a:lnSpc>
                <a:spcPts val="2480"/>
              </a:lnSpc>
              <a:spcBef>
                <a:spcPts val="0"/>
              </a:spcBef>
              <a:spcAft>
                <a:spcPts val="0"/>
              </a:spcAft>
              <a:defRPr sz="2000" b="0">
                <a:solidFill>
                  <a:srgbClr val="193540"/>
                </a:solidFill>
                <a:latin typeface="DejaVu Sans"/>
              </a:defRPr>
            </a:pPr>
            <a:r>
              <a:t>utfall 110 öre/kWh och månadsalternativ 90 öre/kWh. Övriga kostnader</a:t>
            </a:r>
          </a:p>
          <a:p>
            <a:pPr>
              <a:lnSpc>
                <a:spcPts val="2480"/>
              </a:lnSpc>
              <a:spcBef>
                <a:spcPts val="0"/>
              </a:spcBef>
              <a:spcAft>
                <a:spcPts val="0"/>
              </a:spcAft>
              <a:defRPr sz="2000" b="0">
                <a:solidFill>
                  <a:srgbClr val="193540"/>
                </a:solidFill>
                <a:latin typeface="DejaVu Sans"/>
              </a:defRPr>
            </a:pPr>
            <a:r>
              <a:t>utesluts. Vad väljs i kronor?</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säger att Opti alltid är billigast på marknaden och aldrig kan bli dyrt.</a:t>
            </a:r>
          </a:p>
          <a:p>
            <a:pPr>
              <a:lnSpc>
                <a:spcPts val="2480"/>
              </a:lnSpc>
              <a:spcBef>
                <a:spcPts val="0"/>
              </a:spcBef>
              <a:spcAft>
                <a:spcPts val="0"/>
              </a:spcAft>
              <a:defRPr sz="2000" b="0">
                <a:solidFill>
                  <a:srgbClr val="193540"/>
                </a:solidFill>
                <a:latin typeface="DejaVu Sans"/>
              </a:defRPr>
            </a:pPr>
            <a:r>
              <a:t>Formulera en korrekt förklaring.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kontroll är nödvändig innan de två beloppen jämförs?</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Samma faktiska volym, hela månad och kostnadsdelar.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Att priserna kommer från vilken månad som helst.</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Att ena alternativet saknar avgifter även om dessa ingår i det andra.</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10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två kompletta månadsalternativ innan du väljer.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Använd samma faktiska volym, månad och komponenter.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 egen kvartvägning och avtalad månadsreferens öppet.</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Välj aldrig en blandning av lägsta pris i varje kvart.</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fortsatt marknadsvariation och andra kostnader.</a:t>
            </a:r>
          </a:p>
        </p:txBody>
      </p:sp>
      <p:sp>
        <p:nvSpPr>
          <p:cNvPr id="11" name="TextBox 10"/>
          <p:cNvSpPr txBox="1"/>
          <p:nvPr/>
        </p:nvSpPr>
        <p:spPr>
          <a:xfrm>
            <a:off x="603504" y="42951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Lova det lägre av två definierade alternativ, inte marknadens lägsta pris.</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11 · Privatkund / Face2face</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Vintersäkrat – fast vinterdel och kvartsvägd</a:t>
            </a:r>
          </a:p>
          <a:p>
            <a:pPr>
              <a:lnSpc>
                <a:spcPts val="3472"/>
              </a:lnSpc>
              <a:spcBef>
                <a:spcPts val="0"/>
              </a:spcBef>
              <a:spcAft>
                <a:spcPts val="0"/>
              </a:spcAft>
              <a:defRPr sz="2800" b="1">
                <a:solidFill>
                  <a:srgbClr val="FFFFFF"/>
                </a:solidFill>
                <a:latin typeface="DejaVu Sans"/>
              </a:defRPr>
            </a:pPr>
            <a:r>
              <a:t>sommardel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213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Beskriva standardkalendern och skilja leveransperiod från fakturadatum.</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att hela vinterdelens elhandelspris, även dygnsprofilen, är fast</a:t>
            </a:r>
          </a:p>
          <a:p>
            <a:pPr>
              <a:lnSpc>
                <a:spcPts val="2480"/>
              </a:lnSpc>
              <a:spcBef>
                <a:spcPts val="0"/>
              </a:spcBef>
              <a:spcAft>
                <a:spcPts val="0"/>
              </a:spcAft>
              <a:defRPr sz="2000" b="0">
                <a:solidFill>
                  <a:srgbClr val="FFFFFF"/>
                </a:solidFill>
                <a:latin typeface="DejaVu Sans"/>
              </a:defRPr>
            </a:pPr>
            <a:r>
              <a:t>enligt produktdefinitionen.</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en volymvägd årskostnad med två olika sommarutfall.</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Bedöma kundens köpta årsprofil och kvarvarande risk utan att lova ett fast</a:t>
            </a:r>
          </a:p>
          <a:p>
            <a:pPr>
              <a:lnSpc>
                <a:spcPts val="2480"/>
              </a:lnSpc>
              <a:spcBef>
                <a:spcPts val="0"/>
              </a:spcBef>
              <a:spcAft>
                <a:spcPts val="0"/>
              </a:spcAft>
              <a:defRPr sz="2000" b="0">
                <a:solidFill>
                  <a:srgbClr val="FFFFFF"/>
                </a:solidFill>
                <a:latin typeface="DejaVu Sans"/>
              </a:defRPr>
            </a:pPr>
            <a:r>
              <a:t>årsbelopp.</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Kalendern avgör vilken modell som gäller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214</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Standard är fast elhandelspris oktober–mars och Kvartspris april–september.</a:t>
            </a:r>
          </a:p>
          <a:p>
            <a:pPr>
              <a:lnSpc>
                <a:spcPts val="2480"/>
              </a:lnSpc>
              <a:spcBef>
                <a:spcPts val="0"/>
              </a:spcBef>
              <a:spcAft>
                <a:spcPts val="0"/>
              </a:spcAft>
              <a:defRPr sz="2000" b="0">
                <a:solidFill>
                  <a:srgbClr val="193540"/>
                </a:solidFill>
                <a:latin typeface="DejaVu Sans"/>
              </a:defRPr>
            </a:pPr>
            <a:r>
              <a:t>Leveransperioden styr, inte fakturans datum. En aprilfaktura kan avse</a:t>
            </a:r>
          </a:p>
          <a:p>
            <a:pPr>
              <a:lnSpc>
                <a:spcPts val="2480"/>
              </a:lnSpc>
              <a:spcBef>
                <a:spcPts val="0"/>
              </a:spcBef>
              <a:spcAft>
                <a:spcPts val="0"/>
              </a:spcAft>
              <a:defRPr sz="2000" b="0">
                <a:solidFill>
                  <a:srgbClr val="193540"/>
                </a:solidFill>
                <a:latin typeface="DejaVu Sans"/>
              </a:defRPr>
            </a:pPr>
            <a:r>
              <a:t>marsleverans med den avtalade fasta vintermodellen.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Andra perioder kräver uttryckligt avtal. Standarden ger inte rätt att ändra</a:t>
            </a:r>
          </a:p>
          <a:p>
            <a:pPr>
              <a:lnSpc>
                <a:spcPts val="2480"/>
              </a:lnSpc>
              <a:spcBef>
                <a:spcPts val="0"/>
              </a:spcBef>
              <a:spcAft>
                <a:spcPts val="0"/>
              </a:spcAft>
              <a:defRPr sz="2000" b="0">
                <a:solidFill>
                  <a:srgbClr val="193540"/>
                </a:solidFill>
                <a:latin typeface="DejaVu Sans"/>
              </a:defRPr>
            </a:pPr>
            <a:r>
              <a:t>månader på eget initiativ. Visa kalendern tydligt för kunden, gärna som tolv</a:t>
            </a:r>
          </a:p>
          <a:p>
            <a:pPr>
              <a:lnSpc>
                <a:spcPts val="2480"/>
              </a:lnSpc>
              <a:spcBef>
                <a:spcPts val="0"/>
              </a:spcBef>
              <a:spcAft>
                <a:spcPts val="0"/>
              </a:spcAft>
              <a:defRPr sz="2000" b="0">
                <a:solidFill>
                  <a:srgbClr val="193540"/>
                </a:solidFill>
                <a:latin typeface="DejaVu Sans"/>
              </a:defRPr>
            </a:pPr>
            <a:r>
              <a:t>månader med två prisdelar.</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Vinterdelen är mer än en komponentprissäkring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Alla vinterdelens elhandelsdelar är fasta enligt produktpreciseringen, även</a:t>
            </a:r>
          </a:p>
          <a:p>
            <a:pPr>
              <a:lnSpc>
                <a:spcPts val="2480"/>
              </a:lnSpc>
              <a:spcBef>
                <a:spcPts val="0"/>
              </a:spcBef>
              <a:spcAft>
                <a:spcPts val="0"/>
              </a:spcAft>
              <a:defRPr sz="2000" b="0">
                <a:solidFill>
                  <a:srgbClr val="193540"/>
                </a:solidFill>
                <a:latin typeface="DejaVu Sans"/>
              </a:defRPr>
            </a:pPr>
            <a:r>
              <a:t>dygnsprofilen. Förklara därför inte vintern som enbart SYS/EPAD med separat</a:t>
            </a:r>
          </a:p>
          <a:p>
            <a:pPr>
              <a:lnSpc>
                <a:spcPts val="2480"/>
              </a:lnSpc>
              <a:spcBef>
                <a:spcPts val="0"/>
              </a:spcBef>
              <a:spcAft>
                <a:spcPts val="0"/>
              </a:spcAft>
              <a:defRPr sz="2000" b="0">
                <a:solidFill>
                  <a:srgbClr val="193540"/>
                </a:solidFill>
                <a:latin typeface="DejaVu Sans"/>
              </a:defRPr>
            </a:pPr>
            <a:r>
              <a:t>rörlig dygnsprofil. Kontrollera offertens hela omfattning och avgifter.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Elnät, energiskatt och moms säkras inte. Mer köpt energi ger större</a:t>
            </a:r>
          </a:p>
          <a:p>
            <a:pPr>
              <a:lnSpc>
                <a:spcPts val="2480"/>
              </a:lnSpc>
              <a:spcBef>
                <a:spcPts val="0"/>
              </a:spcBef>
              <a:spcAft>
                <a:spcPts val="0"/>
              </a:spcAft>
              <a:defRPr sz="2000" b="0">
                <a:solidFill>
                  <a:srgbClr val="193540"/>
                </a:solidFill>
                <a:latin typeface="DejaVu Sans"/>
              </a:defRPr>
            </a:pPr>
            <a:r>
              <a:t>volymbaserad vinterkostnad trots samma enhetspris. En kall period eller</a:t>
            </a:r>
          </a:p>
          <a:p>
            <a:pPr>
              <a:lnSpc>
                <a:spcPts val="2480"/>
              </a:lnSpc>
              <a:spcBef>
                <a:spcPts val="0"/>
              </a:spcBef>
              <a:spcAft>
                <a:spcPts val="0"/>
              </a:spcAft>
              <a:defRPr sz="2000" b="0">
                <a:solidFill>
                  <a:srgbClr val="193540"/>
                </a:solidFill>
                <a:latin typeface="DejaVu Sans"/>
              </a:defRPr>
            </a:pPr>
            <a:r>
              <a:t>ändrad drift kan öka beloppet.</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På sommaren påverkar den egna kvartprofilen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Under sommarperioden kopplas faktisk kvartförbrukning till kvartens pris</a:t>
            </a:r>
          </a:p>
          <a:p>
            <a:pPr>
              <a:lnSpc>
                <a:spcPts val="2480"/>
              </a:lnSpc>
              <a:spcBef>
                <a:spcPts val="0"/>
              </a:spcBef>
              <a:spcAft>
                <a:spcPts val="0"/>
              </a:spcAft>
              <a:defRPr sz="2000" b="0">
                <a:solidFill>
                  <a:srgbClr val="193540"/>
                </a:solidFill>
                <a:latin typeface="DejaVu Sans"/>
              </a:defRPr>
            </a:pPr>
            <a:r>
              <a:t>enligt avtalet. Både marknad och användningstid påverkar utfallet. Bedöm</a:t>
            </a:r>
          </a:p>
          <a:p>
            <a:pPr>
              <a:lnSpc>
                <a:spcPts val="2480"/>
              </a:lnSpc>
              <a:spcBef>
                <a:spcPts val="0"/>
              </a:spcBef>
              <a:spcAft>
                <a:spcPts val="0"/>
              </a:spcAft>
              <a:defRPr sz="2000" b="0">
                <a:solidFill>
                  <a:srgbClr val="193540"/>
                </a:solidFill>
                <a:latin typeface="DejaVu Sans"/>
              </a:defRPr>
            </a:pPr>
            <a:r>
              <a:t>lastflytt mot drift, komfort och nätets effektvillkor.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Sommar garanterar inte låga priser. Kunden behöver acceptera fortsatt</a:t>
            </a:r>
          </a:p>
          <a:p>
            <a:pPr>
              <a:lnSpc>
                <a:spcPts val="2480"/>
              </a:lnSpc>
              <a:spcBef>
                <a:spcPts val="0"/>
              </a:spcBef>
              <a:spcAft>
                <a:spcPts val="0"/>
              </a:spcAft>
              <a:defRPr sz="2000" b="0">
                <a:solidFill>
                  <a:srgbClr val="193540"/>
                </a:solidFill>
                <a:latin typeface="DejaVu Sans"/>
              </a:defRPr>
            </a:pPr>
            <a:r>
              <a:t>kvartsexponering under dessa månader. Ett känt elhandelspris hela året är ett</a:t>
            </a:r>
          </a:p>
          <a:p>
            <a:pPr>
              <a:lnSpc>
                <a:spcPts val="2480"/>
              </a:lnSpc>
              <a:spcBef>
                <a:spcPts val="0"/>
              </a:spcBef>
              <a:spcAft>
                <a:spcPts val="0"/>
              </a:spcAft>
              <a:defRPr sz="2000" b="0">
                <a:solidFill>
                  <a:srgbClr val="193540"/>
                </a:solidFill>
                <a:latin typeface="DejaVu Sans"/>
              </a:defRPr>
            </a:pPr>
            <a:r>
              <a:t>annat behov än standardmodellen.</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Året räknas med kundens köpta volymer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Utgå från köpt nätel under varje avtalsdel. Årsvolym ensam räcker inte; stor</a:t>
            </a:r>
          </a:p>
          <a:p>
            <a:pPr>
              <a:lnSpc>
                <a:spcPts val="2480"/>
              </a:lnSpc>
              <a:spcBef>
                <a:spcPts val="0"/>
              </a:spcBef>
              <a:spcAft>
                <a:spcPts val="0"/>
              </a:spcAft>
              <a:defRPr sz="2000" b="0">
                <a:solidFill>
                  <a:srgbClr val="193540"/>
                </a:solidFill>
                <a:latin typeface="DejaVu Sans"/>
              </a:defRPr>
            </a:pPr>
            <a:r>
              <a:t>vintervolym och stor sommarvolym ger olika exponering.</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Håll bruttoanvändning, egenanvänd solel och export isär. Solceller kan minska</a:t>
            </a:r>
          </a:p>
          <a:p>
            <a:pPr>
              <a:lnSpc>
                <a:spcPts val="2480"/>
              </a:lnSpc>
              <a:spcBef>
                <a:spcPts val="0"/>
              </a:spcBef>
              <a:spcAft>
                <a:spcPts val="0"/>
              </a:spcAft>
              <a:defRPr sz="2000" b="0">
                <a:solidFill>
                  <a:srgbClr val="193540"/>
                </a:solidFill>
                <a:latin typeface="DejaVu Sans"/>
              </a:defRPr>
            </a:pPr>
            <a:r>
              <a:t>köpt sommarvolym och ändra vikterna i snittet.</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behov och avtal innan rekommendation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Fråga vilka månader kunden prioriterar förutsägbarhet och hur stor</a:t>
            </a:r>
          </a:p>
          <a:p>
            <a:pPr>
              <a:lnSpc>
                <a:spcPts val="2480"/>
              </a:lnSpc>
              <a:spcBef>
                <a:spcPts val="0"/>
              </a:spcBef>
              <a:spcAft>
                <a:spcPts val="0"/>
              </a:spcAft>
              <a:defRPr sz="2000" b="0">
                <a:solidFill>
                  <a:srgbClr val="193540"/>
                </a:solidFill>
                <a:latin typeface="DejaVu Sans"/>
              </a:defRPr>
            </a:pPr>
            <a:r>
              <a:t>sommarvariation som accepteras. Granska historik och planerade solceller,</a:t>
            </a:r>
          </a:p>
          <a:p>
            <a:pPr>
              <a:lnSpc>
                <a:spcPts val="2480"/>
              </a:lnSpc>
              <a:spcBef>
                <a:spcPts val="0"/>
              </a:spcBef>
              <a:spcAft>
                <a:spcPts val="0"/>
              </a:spcAft>
              <a:defRPr sz="2000" b="0">
                <a:solidFill>
                  <a:srgbClr val="193540"/>
                </a:solidFill>
                <a:latin typeface="DejaVu Sans"/>
              </a:defRPr>
            </a:pPr>
            <a:r>
              <a:t>laddning, maskiner eller ändrade öppettider.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Kontrollera kalender, fast vinteromfattning inklusive dygnsprofil,</a:t>
            </a:r>
          </a:p>
          <a:p>
            <a:pPr>
              <a:lnSpc>
                <a:spcPts val="2480"/>
              </a:lnSpc>
              <a:spcBef>
                <a:spcPts val="0"/>
              </a:spcBef>
              <a:spcAft>
                <a:spcPts val="0"/>
              </a:spcAft>
              <a:defRPr sz="2000" b="0">
                <a:solidFill>
                  <a:srgbClr val="193540"/>
                </a:solidFill>
                <a:latin typeface="DejaVu Sans"/>
              </a:defRPr>
            </a:pPr>
            <a:r>
              <a:t>sommaravräkning, mätkrav, priser, avgifter och start. Läs faktiska volym-,</a:t>
            </a:r>
          </a:p>
          <a:p>
            <a:pPr>
              <a:lnSpc>
                <a:spcPts val="2480"/>
              </a:lnSpc>
              <a:spcBef>
                <a:spcPts val="0"/>
              </a:spcBef>
              <a:spcAft>
                <a:spcPts val="0"/>
              </a:spcAft>
              <a:defRPr sz="2000" b="0">
                <a:solidFill>
                  <a:srgbClr val="193540"/>
                </a:solidFill>
                <a:latin typeface="DejaVu Sans"/>
              </a:defRPr>
            </a:pPr>
            <a:r>
              <a:t>ändrings- och avslutsvillkor utan generella antaganden.</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VISUELL FÖRKLARING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Vintersäkrat: rätt pris i rätt leveransmånad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219</a:t>
            </a:r>
          </a:p>
        </p:txBody>
      </p:sp>
      <p:sp>
        <p:nvSpPr>
          <p:cNvPr id="6" name="Rectangle 5"/>
          <p:cNvSpPr/>
          <p:nvPr/>
        </p:nvSpPr>
        <p:spPr>
          <a:xfrm>
            <a:off x="731520" y="2331720"/>
            <a:ext cx="832104" cy="1325880"/>
          </a:xfrm>
          <a:prstGeom prst="rect">
            <a:avLst/>
          </a:prstGeom>
          <a:solidFill>
            <a:srgbClr val="10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Jan</a:t>
            </a:r>
          </a:p>
        </p:txBody>
      </p:sp>
      <p:sp>
        <p:nvSpPr>
          <p:cNvPr id="8" name="TextBox 7"/>
          <p:cNvSpPr txBox="1"/>
          <p:nvPr/>
        </p:nvSpPr>
        <p:spPr>
          <a:xfrm>
            <a:off x="804672"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Fast</a:t>
            </a:r>
          </a:p>
        </p:txBody>
      </p:sp>
      <p:sp>
        <p:nvSpPr>
          <p:cNvPr id="9" name="Rectangle 8"/>
          <p:cNvSpPr/>
          <p:nvPr/>
        </p:nvSpPr>
        <p:spPr>
          <a:xfrm>
            <a:off x="1627632" y="2331720"/>
            <a:ext cx="832104" cy="1325880"/>
          </a:xfrm>
          <a:prstGeom prst="rect">
            <a:avLst/>
          </a:prstGeom>
          <a:solidFill>
            <a:srgbClr val="10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09928"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Feb</a:t>
            </a:r>
          </a:p>
        </p:txBody>
      </p:sp>
      <p:sp>
        <p:nvSpPr>
          <p:cNvPr id="11" name="TextBox 10"/>
          <p:cNvSpPr txBox="1"/>
          <p:nvPr/>
        </p:nvSpPr>
        <p:spPr>
          <a:xfrm>
            <a:off x="1700784"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Fast</a:t>
            </a:r>
          </a:p>
        </p:txBody>
      </p:sp>
      <p:sp>
        <p:nvSpPr>
          <p:cNvPr id="12" name="Rectangle 11"/>
          <p:cNvSpPr/>
          <p:nvPr/>
        </p:nvSpPr>
        <p:spPr>
          <a:xfrm>
            <a:off x="2523744" y="2331720"/>
            <a:ext cx="832104" cy="1325880"/>
          </a:xfrm>
          <a:prstGeom prst="rect">
            <a:avLst/>
          </a:prstGeom>
          <a:solidFill>
            <a:srgbClr val="10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6039"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Mar</a:t>
            </a:r>
          </a:p>
        </p:txBody>
      </p:sp>
      <p:sp>
        <p:nvSpPr>
          <p:cNvPr id="14" name="TextBox 13"/>
          <p:cNvSpPr txBox="1"/>
          <p:nvPr/>
        </p:nvSpPr>
        <p:spPr>
          <a:xfrm>
            <a:off x="2596896"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Fast</a:t>
            </a:r>
          </a:p>
        </p:txBody>
      </p:sp>
      <p:sp>
        <p:nvSpPr>
          <p:cNvPr id="15" name="Rectangle 14"/>
          <p:cNvSpPr/>
          <p:nvPr/>
        </p:nvSpPr>
        <p:spPr>
          <a:xfrm>
            <a:off x="3419856" y="2331720"/>
            <a:ext cx="832104" cy="1325880"/>
          </a:xfrm>
          <a:prstGeom prst="rect">
            <a:avLst/>
          </a:prstGeom>
          <a:solidFill>
            <a:srgbClr val="136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Apr</a:t>
            </a:r>
          </a:p>
        </p:txBody>
      </p:sp>
      <p:sp>
        <p:nvSpPr>
          <p:cNvPr id="17" name="TextBox 16"/>
          <p:cNvSpPr txBox="1"/>
          <p:nvPr/>
        </p:nvSpPr>
        <p:spPr>
          <a:xfrm>
            <a:off x="3493008"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Kvart</a:t>
            </a:r>
          </a:p>
        </p:txBody>
      </p:sp>
      <p:sp>
        <p:nvSpPr>
          <p:cNvPr id="18" name="Rectangle 17"/>
          <p:cNvSpPr/>
          <p:nvPr/>
        </p:nvSpPr>
        <p:spPr>
          <a:xfrm>
            <a:off x="4315968" y="2331720"/>
            <a:ext cx="832104" cy="1325880"/>
          </a:xfrm>
          <a:prstGeom prst="rect">
            <a:avLst/>
          </a:prstGeom>
          <a:solidFill>
            <a:srgbClr val="136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98264"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Maj</a:t>
            </a:r>
          </a:p>
        </p:txBody>
      </p:sp>
      <p:sp>
        <p:nvSpPr>
          <p:cNvPr id="20" name="TextBox 19"/>
          <p:cNvSpPr txBox="1"/>
          <p:nvPr/>
        </p:nvSpPr>
        <p:spPr>
          <a:xfrm>
            <a:off x="4389120"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Kvart</a:t>
            </a:r>
          </a:p>
        </p:txBody>
      </p:sp>
      <p:sp>
        <p:nvSpPr>
          <p:cNvPr id="21" name="Rectangle 20"/>
          <p:cNvSpPr/>
          <p:nvPr/>
        </p:nvSpPr>
        <p:spPr>
          <a:xfrm>
            <a:off x="5212080" y="2331720"/>
            <a:ext cx="832104" cy="1325880"/>
          </a:xfrm>
          <a:prstGeom prst="rect">
            <a:avLst/>
          </a:prstGeom>
          <a:solidFill>
            <a:srgbClr val="136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94376"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Jun</a:t>
            </a:r>
          </a:p>
        </p:txBody>
      </p:sp>
      <p:sp>
        <p:nvSpPr>
          <p:cNvPr id="23" name="TextBox 22"/>
          <p:cNvSpPr txBox="1"/>
          <p:nvPr/>
        </p:nvSpPr>
        <p:spPr>
          <a:xfrm>
            <a:off x="5285232"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Kvart</a:t>
            </a:r>
          </a:p>
        </p:txBody>
      </p:sp>
      <p:sp>
        <p:nvSpPr>
          <p:cNvPr id="24" name="Rectangle 23"/>
          <p:cNvSpPr/>
          <p:nvPr/>
        </p:nvSpPr>
        <p:spPr>
          <a:xfrm>
            <a:off x="6108192" y="2331720"/>
            <a:ext cx="832104" cy="1325880"/>
          </a:xfrm>
          <a:prstGeom prst="rect">
            <a:avLst/>
          </a:prstGeom>
          <a:solidFill>
            <a:srgbClr val="136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Jul</a:t>
            </a:r>
          </a:p>
        </p:txBody>
      </p:sp>
      <p:sp>
        <p:nvSpPr>
          <p:cNvPr id="26" name="TextBox 25"/>
          <p:cNvSpPr txBox="1"/>
          <p:nvPr/>
        </p:nvSpPr>
        <p:spPr>
          <a:xfrm>
            <a:off x="6181344"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Kvart</a:t>
            </a:r>
          </a:p>
        </p:txBody>
      </p:sp>
      <p:sp>
        <p:nvSpPr>
          <p:cNvPr id="27" name="Rectangle 26"/>
          <p:cNvSpPr/>
          <p:nvPr/>
        </p:nvSpPr>
        <p:spPr>
          <a:xfrm>
            <a:off x="7004303" y="2331720"/>
            <a:ext cx="832104" cy="1325880"/>
          </a:xfrm>
          <a:prstGeom prst="rect">
            <a:avLst/>
          </a:prstGeom>
          <a:solidFill>
            <a:srgbClr val="136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86599"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Aug</a:t>
            </a:r>
          </a:p>
        </p:txBody>
      </p:sp>
      <p:sp>
        <p:nvSpPr>
          <p:cNvPr id="29" name="TextBox 28"/>
          <p:cNvSpPr txBox="1"/>
          <p:nvPr/>
        </p:nvSpPr>
        <p:spPr>
          <a:xfrm>
            <a:off x="7077455"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Kvart</a:t>
            </a:r>
          </a:p>
        </p:txBody>
      </p:sp>
      <p:sp>
        <p:nvSpPr>
          <p:cNvPr id="30" name="Rectangle 29"/>
          <p:cNvSpPr/>
          <p:nvPr/>
        </p:nvSpPr>
        <p:spPr>
          <a:xfrm>
            <a:off x="7900416" y="2331720"/>
            <a:ext cx="832104" cy="1325880"/>
          </a:xfrm>
          <a:prstGeom prst="rect">
            <a:avLst/>
          </a:prstGeom>
          <a:solidFill>
            <a:srgbClr val="136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Sep</a:t>
            </a:r>
          </a:p>
        </p:txBody>
      </p:sp>
      <p:sp>
        <p:nvSpPr>
          <p:cNvPr id="32" name="TextBox 31"/>
          <p:cNvSpPr txBox="1"/>
          <p:nvPr/>
        </p:nvSpPr>
        <p:spPr>
          <a:xfrm>
            <a:off x="7973568"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Kvart</a:t>
            </a:r>
          </a:p>
        </p:txBody>
      </p:sp>
      <p:sp>
        <p:nvSpPr>
          <p:cNvPr id="33" name="Rectangle 32"/>
          <p:cNvSpPr/>
          <p:nvPr/>
        </p:nvSpPr>
        <p:spPr>
          <a:xfrm>
            <a:off x="8796528" y="2331720"/>
            <a:ext cx="832104" cy="1325880"/>
          </a:xfrm>
          <a:prstGeom prst="rect">
            <a:avLst/>
          </a:prstGeom>
          <a:solidFill>
            <a:srgbClr val="10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78824"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Okt</a:t>
            </a:r>
          </a:p>
        </p:txBody>
      </p:sp>
      <p:sp>
        <p:nvSpPr>
          <p:cNvPr id="35" name="TextBox 34"/>
          <p:cNvSpPr txBox="1"/>
          <p:nvPr/>
        </p:nvSpPr>
        <p:spPr>
          <a:xfrm>
            <a:off x="8869680"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Fast</a:t>
            </a:r>
          </a:p>
        </p:txBody>
      </p:sp>
      <p:sp>
        <p:nvSpPr>
          <p:cNvPr id="36" name="Rectangle 35"/>
          <p:cNvSpPr/>
          <p:nvPr/>
        </p:nvSpPr>
        <p:spPr>
          <a:xfrm>
            <a:off x="9692640" y="2331720"/>
            <a:ext cx="832104" cy="1325880"/>
          </a:xfrm>
          <a:prstGeom prst="rect">
            <a:avLst/>
          </a:prstGeom>
          <a:solidFill>
            <a:srgbClr val="10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74936"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Nov</a:t>
            </a:r>
          </a:p>
        </p:txBody>
      </p:sp>
      <p:sp>
        <p:nvSpPr>
          <p:cNvPr id="38" name="TextBox 37"/>
          <p:cNvSpPr txBox="1"/>
          <p:nvPr/>
        </p:nvSpPr>
        <p:spPr>
          <a:xfrm>
            <a:off x="9765792"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Fast</a:t>
            </a:r>
          </a:p>
        </p:txBody>
      </p:sp>
      <p:sp>
        <p:nvSpPr>
          <p:cNvPr id="39" name="Rectangle 38"/>
          <p:cNvSpPr/>
          <p:nvPr/>
        </p:nvSpPr>
        <p:spPr>
          <a:xfrm>
            <a:off x="10588752" y="2331720"/>
            <a:ext cx="832104" cy="1325880"/>
          </a:xfrm>
          <a:prstGeom prst="rect">
            <a:avLst/>
          </a:prstGeom>
          <a:solidFill>
            <a:srgbClr val="102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71048" y="2514600"/>
            <a:ext cx="704088" cy="283464"/>
          </a:xfrm>
          <a:prstGeom prst="rect">
            <a:avLst/>
          </a:prstGeom>
          <a:noFill/>
        </p:spPr>
        <p:txBody>
          <a:bodyPr wrap="none" lIns="27432" rIns="27432" tIns="0" bIns="0">
            <a:spAutoFit/>
          </a:bodyPr>
          <a:lstStyle/>
          <a:p>
            <a:pPr>
              <a:lnSpc>
                <a:spcPts val="2232"/>
              </a:lnSpc>
              <a:spcBef>
                <a:spcPts val="0"/>
              </a:spcBef>
              <a:spcAft>
                <a:spcPts val="0"/>
              </a:spcAft>
              <a:defRPr sz="1800" b="1">
                <a:solidFill>
                  <a:srgbClr val="FFFFFF"/>
                </a:solidFill>
                <a:latin typeface="DejaVu Sans"/>
              </a:defRPr>
            </a:pPr>
            <a:r>
              <a:t>Dec</a:t>
            </a:r>
          </a:p>
        </p:txBody>
      </p:sp>
      <p:sp>
        <p:nvSpPr>
          <p:cNvPr id="41" name="TextBox 40"/>
          <p:cNvSpPr txBox="1"/>
          <p:nvPr/>
        </p:nvSpPr>
        <p:spPr>
          <a:xfrm>
            <a:off x="10661904" y="3072384"/>
            <a:ext cx="731520" cy="251968"/>
          </a:xfrm>
          <a:prstGeom prst="rect">
            <a:avLst/>
          </a:prstGeom>
          <a:noFill/>
        </p:spPr>
        <p:txBody>
          <a:bodyPr wrap="none" lIns="27432" rIns="27432" tIns="0" bIns="0">
            <a:spAutoFit/>
          </a:bodyPr>
          <a:lstStyle/>
          <a:p>
            <a:pPr>
              <a:lnSpc>
                <a:spcPts val="1984"/>
              </a:lnSpc>
              <a:spcBef>
                <a:spcPts val="0"/>
              </a:spcBef>
              <a:spcAft>
                <a:spcPts val="0"/>
              </a:spcAft>
              <a:defRPr sz="1600" b="0">
                <a:solidFill>
                  <a:srgbClr val="FFFFFF"/>
                </a:solidFill>
                <a:latin typeface="DejaVu Sans"/>
              </a:defRPr>
            </a:pPr>
            <a:r>
              <a:t>Fast</a:t>
            </a:r>
          </a:p>
        </p:txBody>
      </p:sp>
      <p:sp>
        <p:nvSpPr>
          <p:cNvPr id="42" name="TextBox 41"/>
          <p:cNvSpPr txBox="1"/>
          <p:nvPr/>
        </p:nvSpPr>
        <p:spPr>
          <a:xfrm>
            <a:off x="731520" y="4005072"/>
            <a:ext cx="10698480" cy="346456"/>
          </a:xfrm>
          <a:prstGeom prst="rect">
            <a:avLst/>
          </a:prstGeom>
          <a:noFill/>
        </p:spPr>
        <p:txBody>
          <a:bodyPr wrap="none" lIns="27432" rIns="27432" tIns="0" bIns="0">
            <a:spAutoFit/>
          </a:bodyPr>
          <a:lstStyle/>
          <a:p>
            <a:pPr>
              <a:lnSpc>
                <a:spcPts val="2728"/>
              </a:lnSpc>
              <a:spcBef>
                <a:spcPts val="0"/>
              </a:spcBef>
              <a:spcAft>
                <a:spcPts val="0"/>
              </a:spcAft>
              <a:defRPr sz="2200" b="1">
                <a:solidFill>
                  <a:srgbClr val="193540"/>
                </a:solidFill>
                <a:latin typeface="DejaVu Sans"/>
              </a:defRPr>
            </a:pPr>
            <a:r>
              <a:t>Oktober–mars: alla elhandelsdelar fasta, även dygnsprofil.</a:t>
            </a:r>
          </a:p>
        </p:txBody>
      </p:sp>
      <p:sp>
        <p:nvSpPr>
          <p:cNvPr id="43" name="TextBox 42"/>
          <p:cNvSpPr txBox="1"/>
          <p:nvPr/>
        </p:nvSpPr>
        <p:spPr>
          <a:xfrm>
            <a:off x="731520" y="4700016"/>
            <a:ext cx="10698480" cy="330708"/>
          </a:xfrm>
          <a:prstGeom prst="rect">
            <a:avLst/>
          </a:prstGeom>
          <a:noFill/>
        </p:spPr>
        <p:txBody>
          <a:bodyPr wrap="none" lIns="27432" rIns="27432" tIns="0" bIns="0">
            <a:spAutoFit/>
          </a:bodyPr>
          <a:lstStyle/>
          <a:p>
            <a:pPr>
              <a:lnSpc>
                <a:spcPts val="2604"/>
              </a:lnSpc>
              <a:spcBef>
                <a:spcPts val="0"/>
              </a:spcBef>
              <a:spcAft>
                <a:spcPts val="0"/>
              </a:spcAft>
              <a:defRPr sz="2100" b="0">
                <a:solidFill>
                  <a:srgbClr val="193540"/>
                </a:solidFill>
                <a:latin typeface="DejaVu Sans"/>
              </a:defRPr>
            </a:pPr>
            <a:r>
              <a:t>April–september: egen förbrukning vägs mot kvartpriser.</a:t>
            </a:r>
          </a:p>
        </p:txBody>
      </p:sp>
      <p:sp>
        <p:nvSpPr>
          <p:cNvPr id="44" name="TextBox 43"/>
          <p:cNvSpPr txBox="1"/>
          <p:nvPr/>
        </p:nvSpPr>
        <p:spPr>
          <a:xfrm>
            <a:off x="731520" y="5468112"/>
            <a:ext cx="10698480" cy="283464"/>
          </a:xfrm>
          <a:prstGeom prst="rect">
            <a:avLst/>
          </a:prstGeom>
          <a:noFill/>
        </p:spPr>
        <p:txBody>
          <a:bodyPr wrap="none" lIns="27432" rIns="27432" tIns="0" bIns="0">
            <a:spAutoFit/>
          </a:bodyPr>
          <a:lstStyle/>
          <a:p>
            <a:pPr>
              <a:lnSpc>
                <a:spcPts val="2232"/>
              </a:lnSpc>
              <a:spcBef>
                <a:spcPts val="0"/>
              </a:spcBef>
              <a:spcAft>
                <a:spcPts val="0"/>
              </a:spcAft>
              <a:defRPr sz="1800" b="0">
                <a:solidFill>
                  <a:srgbClr val="193540"/>
                </a:solidFill>
                <a:latin typeface="DejaVu Sans"/>
              </a:defRPr>
            </a:pPr>
            <a:r>
              <a:t>Leveransmånad styr. Anpassad kalender kräver uttryckligt avtal.</a:t>
            </a:r>
          </a:p>
        </p:txBody>
      </p:sp>
      <p:sp>
        <p:nvSpPr>
          <p:cNvPr id="45" name="TextBox 44"/>
          <p:cNvSpPr txBox="1"/>
          <p:nvPr/>
        </p:nvSpPr>
        <p:spPr>
          <a:xfrm>
            <a:off x="731520" y="6035040"/>
            <a:ext cx="10698480" cy="220472"/>
          </a:xfrm>
          <a:prstGeom prst="rect">
            <a:avLst/>
          </a:prstGeom>
          <a:noFill/>
        </p:spPr>
        <p:txBody>
          <a:bodyPr wrap="none" lIns="27432" rIns="27432" tIns="0" bIns="0">
            <a:spAutoFit/>
          </a:bodyPr>
          <a:lstStyle/>
          <a:p>
            <a:pPr>
              <a:lnSpc>
                <a:spcPts val="1736"/>
              </a:lnSpc>
              <a:spcBef>
                <a:spcPts val="0"/>
              </a:spcBef>
              <a:spcAft>
                <a:spcPts val="0"/>
              </a:spcAft>
              <a:defRPr sz="1400" b="0">
                <a:solidFill>
                  <a:srgbClr val="193540"/>
                </a:solidFill>
                <a:latin typeface="DejaVu Sans"/>
              </a:defRPr>
            </a:pPr>
            <a:r>
              <a:t>Standardkalender. Elnät, energiskatt och moms säkras inte.</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Två sommarutfall med samma fasta vinterdel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220</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Syntetiska jämförbara elhandelspriser före elnät, skatt och moms. Vinterpriset</a:t>
            </a:r>
          </a:p>
          <a:p>
            <a:pPr>
              <a:lnSpc>
                <a:spcPts val="2480"/>
              </a:lnSpc>
              <a:spcBef>
                <a:spcPts val="0"/>
              </a:spcBef>
              <a:spcAft>
                <a:spcPts val="0"/>
              </a:spcAft>
              <a:defRPr sz="2000" b="0">
                <a:solidFill>
                  <a:srgbClr val="193540"/>
                </a:solidFill>
                <a:latin typeface="DejaVu Sans"/>
              </a:defRPr>
            </a:pPr>
            <a:r>
              <a:t>antas omfatta hela den definierade vinterdelen inklusive dygnsprofil.</a:t>
            </a:r>
          </a:p>
          <a:p>
            <a:pPr>
              <a:lnSpc>
                <a:spcPts val="2480"/>
              </a:lnSpc>
              <a:spcBef>
                <a:spcPts val="0"/>
              </a:spcBef>
              <a:spcAft>
                <a:spcPts val="0"/>
              </a:spcAft>
              <a:defRPr sz="2000" b="0">
                <a:solidFill>
                  <a:srgbClr val="193540"/>
                </a:solidFill>
                <a:latin typeface="DejaVu Sans"/>
              </a:defRPr>
            </a:pPr>
            <a:r>
              <a:t>Sommarpriserna är två fiktiva kvartsvägda periodutfall med motsvarande</a:t>
            </a:r>
          </a:p>
          <a:p>
            <a:pPr>
              <a:lnSpc>
                <a:spcPts val="2480"/>
              </a:lnSpc>
              <a:spcBef>
                <a:spcPts val="0"/>
              </a:spcBef>
              <a:spcAft>
                <a:spcPts val="0"/>
              </a:spcAft>
              <a:defRPr sz="2000" b="0">
                <a:solidFill>
                  <a:srgbClr val="193540"/>
                </a:solidFill>
                <a:latin typeface="DejaVu Sans"/>
              </a:defRPr>
            </a:pPr>
            <a:r>
              <a:t>komponentomfattning. Inga separata avgifter ingår.</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Vinterköp: 60 000 kWh till 90 öre/kWh.</a:t>
            </a:r>
          </a:p>
        </p:txBody>
      </p:sp>
      <p:sp>
        <p:nvSpPr>
          <p:cNvPr id="8" name="TextBox 7"/>
          <p:cNvSpPr txBox="1"/>
          <p:nvPr/>
        </p:nvSpPr>
        <p:spPr>
          <a:xfrm>
            <a:off x="603504" y="39522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Sommarköp: 40 000 kWh.</a:t>
            </a:r>
          </a:p>
        </p:txBody>
      </p:sp>
      <p:sp>
        <p:nvSpPr>
          <p:cNvPr id="9" name="TextBox 8"/>
          <p:cNvSpPr txBox="1"/>
          <p:nvPr/>
        </p:nvSpPr>
        <p:spPr>
          <a:xfrm>
            <a:off x="603504" y="438149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Sommarutfall A: 60 öre/kWh. Sommarutfall B: 120 öre/kWh.</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Två sommarutfall med samma fasta</a:t>
            </a:r>
          </a:p>
          <a:p>
            <a:pPr>
              <a:lnSpc>
                <a:spcPts val="3472"/>
              </a:lnSpc>
              <a:spcBef>
                <a:spcPts val="0"/>
              </a:spcBef>
              <a:spcAft>
                <a:spcPts val="0"/>
              </a:spcAft>
              <a:defRPr sz="2800" b="1">
                <a:solidFill>
                  <a:srgbClr val="193540"/>
                </a:solidFill>
                <a:latin typeface="DejaVu Sans"/>
              </a:defRPr>
            </a:pPr>
            <a:r>
              <a:t>vinterdel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Vinterkostnad: 60 000 × 0,90 = 54 000 kr i båda scenarierna.</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Sommar A: 40 000 × 0,60 = 24 000 kr. År A: 54 000 + 24 000 = 78 000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Årssnitt A: 78 000 / 100 000 = 0,78 kr/kWh = 78 öre/kWh.</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Sommar B: 40 000 × 1,20 = 48 000 kr. År B: 54 000 + 48 000 = 102 000 kr.</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5. Årssnitt B: 102 000 / 100 000 = 1,02 kr/kWh = 102 öre/kWh.</a:t>
            </a:r>
          </a:p>
        </p:txBody>
      </p:sp>
      <p:sp>
        <p:nvSpPr>
          <p:cNvPr id="11" name="TextBox 10"/>
          <p:cNvSpPr txBox="1"/>
          <p:nvPr/>
        </p:nvSpPr>
        <p:spPr>
          <a:xfrm>
            <a:off x="603504" y="42951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Årskostnaden blir 78 000 eller 102 000 kr trots samma fasta</a:t>
            </a:r>
          </a:p>
          <a:p>
            <a:pPr>
              <a:lnSpc>
                <a:spcPts val="2480"/>
              </a:lnSpc>
              <a:spcBef>
                <a:spcPts val="0"/>
              </a:spcBef>
              <a:spcAft>
                <a:spcPts val="0"/>
              </a:spcAft>
              <a:defRPr sz="2000" b="0">
                <a:solidFill>
                  <a:srgbClr val="193540"/>
                </a:solidFill>
                <a:latin typeface="DejaVu Sans"/>
              </a:defRPr>
            </a:pPr>
            <a:r>
              <a:t>vinterpris.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Ändrad köpt volym med oförändrade antagna</a:t>
            </a:r>
          </a:p>
          <a:p>
            <a:pPr>
              <a:lnSpc>
                <a:spcPts val="3472"/>
              </a:lnSpc>
              <a:spcBef>
                <a:spcPts val="0"/>
              </a:spcBef>
              <a:spcAft>
                <a:spcPts val="0"/>
              </a:spcAft>
              <a:defRPr sz="2800" b="1">
                <a:solidFill>
                  <a:srgbClr val="193540"/>
                </a:solidFill>
                <a:latin typeface="DejaVu Sans"/>
              </a:defRPr>
            </a:pPr>
            <a:r>
              <a:t>priser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222</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exempel med jämförbart vinterpris 90 öre och sommarutfall</a:t>
            </a:r>
          </a:p>
          <a:p>
            <a:pPr>
              <a:lnSpc>
                <a:spcPts val="2480"/>
              </a:lnSpc>
              <a:spcBef>
                <a:spcPts val="0"/>
              </a:spcBef>
              <a:spcAft>
                <a:spcPts val="0"/>
              </a:spcAft>
              <a:defRPr sz="2000" b="0">
                <a:solidFill>
                  <a:srgbClr val="193540"/>
                </a:solidFill>
                <a:latin typeface="DejaVu Sans"/>
              </a:defRPr>
            </a:pPr>
            <a:r>
              <a:t>60 öre/kWh. Elnät, skatt, moms och separata avgifter utesluts. Det alternativa</a:t>
            </a:r>
          </a:p>
          <a:p>
            <a:pPr>
              <a:lnSpc>
                <a:spcPts val="2480"/>
              </a:lnSpc>
              <a:spcBef>
                <a:spcPts val="0"/>
              </a:spcBef>
              <a:spcAft>
                <a:spcPts val="0"/>
              </a:spcAft>
              <a:defRPr sz="2000" b="0">
                <a:solidFill>
                  <a:srgbClr val="193540"/>
                </a:solidFill>
                <a:latin typeface="DejaVu Sans"/>
              </a:defRPr>
            </a:pPr>
            <a:r>
              <a:t>inköpsmönstret är ett pedagogiskt scenario, inte en generell</a:t>
            </a:r>
          </a:p>
          <a:p>
            <a:pPr>
              <a:lnSpc>
                <a:spcPts val="2480"/>
              </a:lnSpc>
              <a:spcBef>
                <a:spcPts val="0"/>
              </a:spcBef>
              <a:spcAft>
                <a:spcPts val="0"/>
              </a:spcAft>
              <a:defRPr sz="2000" b="0">
                <a:solidFill>
                  <a:srgbClr val="193540"/>
                </a:solidFill>
                <a:latin typeface="DejaVu Sans"/>
              </a:defRPr>
            </a:pPr>
            <a:r>
              <a:t>solcellsbesparing.</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Utgångsläge: 12 000 kWh vinter och 8 000 kWh sommar.</a:t>
            </a:r>
          </a:p>
        </p:txBody>
      </p:sp>
      <p:sp>
        <p:nvSpPr>
          <p:cNvPr id="8" name="TextBox 7"/>
          <p:cNvSpPr txBox="1"/>
          <p:nvPr/>
        </p:nvSpPr>
        <p:spPr>
          <a:xfrm>
            <a:off x="603504" y="39522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Alternativt köpt mönster: 12 000 kWh vinter och 2 000 kWh sommar.</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Ändrad köpt volym med oförändrade</a:t>
            </a:r>
          </a:p>
          <a:p>
            <a:pPr>
              <a:lnSpc>
                <a:spcPts val="3472"/>
              </a:lnSpc>
              <a:spcBef>
                <a:spcPts val="0"/>
              </a:spcBef>
              <a:spcAft>
                <a:spcPts val="0"/>
              </a:spcAft>
              <a:defRPr sz="2800" b="1">
                <a:solidFill>
                  <a:srgbClr val="193540"/>
                </a:solidFill>
                <a:latin typeface="DejaVu Sans"/>
              </a:defRPr>
            </a:pPr>
            <a:r>
              <a:t>antagna priser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Utgångsläge: 12 000 × 0,90 + 8 000 × 0,60 = 10 800 + 4 800 = 15 600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Utgångssnitt: 15 600 / 20 000 × 100 = 78 öre/kWh.</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Alternativ: 12 000 × 0,90 + 2 000 × 0,60 = 10 800 + 1 200 = 12 000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Alternativt snitt: 12 000 / 14 000 × 100 ≈ 85,71 öre/kWh.</a:t>
            </a:r>
          </a:p>
        </p:txBody>
      </p:sp>
      <p:sp>
        <p:nvSpPr>
          <p:cNvPr id="10" name="TextBox 9"/>
          <p:cNvSpPr txBox="1"/>
          <p:nvPr/>
        </p:nvSpPr>
        <p:spPr>
          <a:xfrm>
            <a:off x="603504" y="38658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Kostnaden minskar från 15 600 till 12 000 kr, medan snittet på den</a:t>
            </a:r>
          </a:p>
          <a:p>
            <a:pPr>
              <a:lnSpc>
                <a:spcPts val="2480"/>
              </a:lnSpc>
              <a:spcBef>
                <a:spcPts val="0"/>
              </a:spcBef>
              <a:spcAft>
                <a:spcPts val="0"/>
              </a:spcAft>
              <a:defRPr sz="2000" b="0">
                <a:solidFill>
                  <a:srgbClr val="193540"/>
                </a:solidFill>
                <a:latin typeface="DejaVu Sans"/>
              </a:defRPr>
            </a:pPr>
            <a:r>
              <a:t>köpta energin ökar från 78 till cirka 85,71 öre/kWh.</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Vintersäkrat innebär samma elpris eller belopp hela året.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Standardmodellen har fast vinterdel och kvartsvägd sommardel.</a:t>
            </a:r>
          </a:p>
          <a:p>
            <a:pPr>
              <a:lnSpc>
                <a:spcPts val="2480"/>
              </a:lnSpc>
              <a:spcBef>
                <a:spcPts val="0"/>
              </a:spcBef>
              <a:spcAft>
                <a:spcPts val="0"/>
              </a:spcAft>
              <a:defRPr sz="2000" b="0">
                <a:solidFill>
                  <a:srgbClr val="193540"/>
                </a:solidFill>
                <a:latin typeface="DejaVu Sans"/>
              </a:defRPr>
            </a:pPr>
            <a:r>
              <a:t>Volymen påverkar beloppet i båda delarna.</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Dygnsprofilen ligger alltid utanför även på vintern.</a:t>
            </a:r>
          </a:p>
        </p:txBody>
      </p:sp>
      <p:sp>
        <p:nvSpPr>
          <p:cNvPr id="7" name="TextBox 6"/>
          <p:cNvSpPr txBox="1"/>
          <p:nvPr/>
        </p:nvSpPr>
        <p:spPr>
          <a:xfrm>
            <a:off x="603504" y="25781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Produktpreciseringen anger att hela vinterdelens elhandelspris,</a:t>
            </a:r>
          </a:p>
          <a:p>
            <a:pPr>
              <a:lnSpc>
                <a:spcPts val="2480"/>
              </a:lnSpc>
              <a:spcBef>
                <a:spcPts val="0"/>
              </a:spcBef>
              <a:spcAft>
                <a:spcPts val="0"/>
              </a:spcAft>
              <a:defRPr sz="2000" b="0">
                <a:solidFill>
                  <a:srgbClr val="193540"/>
                </a:solidFill>
                <a:latin typeface="DejaVu Sans"/>
              </a:defRPr>
            </a:pPr>
            <a:r>
              <a:t>inklusive dygnsprofilen, är fast. Skilj denna modell från enbart</a:t>
            </a:r>
          </a:p>
          <a:p>
            <a:pPr>
              <a:lnSpc>
                <a:spcPts val="2480"/>
              </a:lnSpc>
              <a:spcBef>
                <a:spcPts val="0"/>
              </a:spcBef>
              <a:spcAft>
                <a:spcPts val="0"/>
              </a:spcAft>
              <a:defRPr sz="2000" b="0">
                <a:solidFill>
                  <a:srgbClr val="193540"/>
                </a:solidFill>
                <a:latin typeface="DejaVu Sans"/>
              </a:defRPr>
            </a:pPr>
            <a:r>
              <a:t>SYS/EPAD-säkring.</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faktura i april måste använda sommarens pris.</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Det är avtalad leveransperiod för förbrukningen som styr</a:t>
            </a:r>
          </a:p>
          <a:p>
            <a:pPr>
              <a:lnSpc>
                <a:spcPts val="2480"/>
              </a:lnSpc>
              <a:spcBef>
                <a:spcPts val="0"/>
              </a:spcBef>
              <a:spcAft>
                <a:spcPts val="0"/>
              </a:spcAft>
              <a:defRPr sz="2000" b="0">
                <a:solidFill>
                  <a:srgbClr val="193540"/>
                </a:solidFill>
                <a:latin typeface="DejaVu Sans"/>
              </a:defRPr>
            </a:pPr>
            <a:r>
              <a:t>modellen. Kontrollera datumen på fakturan.</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Vintersäkrat väljer det billigaste efter varje månad.</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Det är en avtalad säsongsmodell. Optis efterhandsjämförelse</a:t>
            </a:r>
          </a:p>
          <a:p>
            <a:pPr>
              <a:lnSpc>
                <a:spcPts val="2480"/>
              </a:lnSpc>
              <a:spcBef>
                <a:spcPts val="0"/>
              </a:spcBef>
              <a:spcAft>
                <a:spcPts val="0"/>
              </a:spcAft>
              <a:defRPr sz="2000" b="0">
                <a:solidFill>
                  <a:srgbClr val="193540"/>
                </a:solidFill>
                <a:latin typeface="DejaVu Sans"/>
              </a:defRPr>
            </a:pPr>
            <a:r>
              <a:t>mellan två månadsalternativ är en annan produktprincip.</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228</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Vintersäkrat har normalt fast elhandelspris oktober–mars, inklusive</a:t>
            </a:r>
          </a:p>
          <a:p>
            <a:pPr>
              <a:lnSpc>
                <a:spcPts val="2480"/>
              </a:lnSpc>
              <a:spcBef>
                <a:spcPts val="0"/>
              </a:spcBef>
              <a:spcAft>
                <a:spcPts val="0"/>
              </a:spcAft>
              <a:defRPr sz="2000" b="0">
                <a:solidFill>
                  <a:srgbClr val="193540"/>
                </a:solidFill>
                <a:latin typeface="DejaVu Sans"/>
              </a:defRPr>
            </a:pPr>
            <a:r>
              <a:t>dygnsprofilen, och Kvartspris april–september. Andra månader behöver vara</a:t>
            </a:r>
          </a:p>
          <a:p>
            <a:pPr>
              <a:lnSpc>
                <a:spcPts val="2480"/>
              </a:lnSpc>
              <a:spcBef>
                <a:spcPts val="0"/>
              </a:spcBef>
              <a:spcAft>
                <a:spcPts val="0"/>
              </a:spcAft>
              <a:defRPr sz="2000" b="0">
                <a:solidFill>
                  <a:srgbClr val="193540"/>
                </a:solidFill>
                <a:latin typeface="DejaVu Sans"/>
              </a:defRPr>
            </a:pPr>
            <a:r>
              <a:t>uttryckligen avtalade. Du får en mer förutsägbar vinterdel, men sommarpriset</a:t>
            </a:r>
          </a:p>
          <a:p>
            <a:pPr>
              <a:lnSpc>
                <a:spcPts val="2480"/>
              </a:lnSpc>
              <a:spcBef>
                <a:spcPts val="0"/>
              </a:spcBef>
              <a:spcAft>
                <a:spcPts val="0"/>
              </a:spcAft>
              <a:defRPr sz="2000" b="0">
                <a:solidFill>
                  <a:srgbClr val="193540"/>
                </a:solidFill>
                <a:latin typeface="DejaVu Sans"/>
              </a:defRPr>
            </a:pPr>
            <a:r>
              <a:t>och mängden el påverkar årskostnaden. Elnät, skatt och moms omfattas inte</a:t>
            </a:r>
          </a:p>
          <a:p>
            <a:pPr>
              <a:lnSpc>
                <a:spcPts val="2480"/>
              </a:lnSpc>
              <a:spcBef>
                <a:spcPts val="0"/>
              </a:spcBef>
              <a:spcAft>
                <a:spcPts val="0"/>
              </a:spcAft>
              <a:defRPr sz="2000" b="0">
                <a:solidFill>
                  <a:srgbClr val="193540"/>
                </a:solidFill>
                <a:latin typeface="DejaVu Sans"/>
              </a:defRPr>
            </a:pPr>
            <a:r>
              <a:t>av säkringen.</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Huset med ny solanläggning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229</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Maja köper mest el på vintern och planerar solceller. Hon vill ha</a:t>
            </a:r>
          </a:p>
          <a:p>
            <a:pPr>
              <a:lnSpc>
                <a:spcPts val="2480"/>
              </a:lnSpc>
              <a:spcBef>
                <a:spcPts val="0"/>
              </a:spcBef>
              <a:spcAft>
                <a:spcPts val="0"/>
              </a:spcAft>
              <a:defRPr sz="2000" b="0">
                <a:solidFill>
                  <a:srgbClr val="193540"/>
                </a:solidFill>
                <a:latin typeface="DejaVu Sans"/>
              </a:defRPr>
            </a:pPr>
            <a:r>
              <a:t>förutsägbar vinterdel men accepterar sommarvariation. Hon tror att mindre</a:t>
            </a:r>
          </a:p>
          <a:p>
            <a:pPr>
              <a:lnSpc>
                <a:spcPts val="2480"/>
              </a:lnSpc>
              <a:spcBef>
                <a:spcPts val="0"/>
              </a:spcBef>
              <a:spcAft>
                <a:spcPts val="0"/>
              </a:spcAft>
              <a:defRPr sz="2000" b="0">
                <a:solidFill>
                  <a:srgbClr val="193540"/>
                </a:solidFill>
                <a:latin typeface="DejaVu Sans"/>
              </a:defRPr>
            </a:pPr>
            <a:r>
              <a:t>sommarinköp alltid sänker årssnittet och att en aprilfaktura måste använda</a:t>
            </a:r>
          </a:p>
          <a:p>
            <a:pPr>
              <a:lnSpc>
                <a:spcPts val="2480"/>
              </a:lnSpc>
              <a:spcBef>
                <a:spcPts val="0"/>
              </a:spcBef>
              <a:spcAft>
                <a:spcPts val="0"/>
              </a:spcAft>
              <a:defRPr sz="2000" b="0">
                <a:solidFill>
                  <a:srgbClr val="193540"/>
                </a:solidFill>
                <a:latin typeface="DejaVu Sans"/>
              </a:defRPr>
            </a:pPr>
            <a:r>
              <a:t>Kvartspris. Du saknar framtida månadsfördelning.</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 vilket förbrukningsunderlag du behöver.</a:t>
            </a:r>
          </a:p>
        </p:txBody>
      </p:sp>
      <p:sp>
        <p:nvSpPr>
          <p:cNvPr id="8" name="TextBox 7"/>
          <p:cNvSpPr txBox="1"/>
          <p:nvPr/>
        </p:nvSpPr>
        <p:spPr>
          <a:xfrm>
            <a:off x="603504" y="39522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hur lägre sommarvolym kan påverka både belopp och vägt snitt.</a:t>
            </a:r>
          </a:p>
        </p:txBody>
      </p:sp>
      <p:sp>
        <p:nvSpPr>
          <p:cNvPr id="9" name="TextBox 8"/>
          <p:cNvSpPr txBox="1"/>
          <p:nvPr/>
        </p:nvSpPr>
        <p:spPr>
          <a:xfrm>
            <a:off x="603504" y="438149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kalenderregeln och vinterdelens omfattning.</a:t>
            </a:r>
          </a:p>
        </p:txBody>
      </p:sp>
      <p:sp>
        <p:nvSpPr>
          <p:cNvPr id="10" name="TextBox 9"/>
          <p:cNvSpPr txBox="1"/>
          <p:nvPr/>
        </p:nvSpPr>
        <p:spPr>
          <a:xfrm>
            <a:off x="603504" y="481075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Skriv vad du kontrollerar innan rekommendation.</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230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köpt el, egenanvänd produktion och export.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Förklarar att lägre belopp kan sammanfalla med högre vägt snitt.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Anger standardkalender och leveransperiodens betydelse.</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Anger fast vinterprofil och fortsatt sommarvariation.</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Kräver aktuella offertvillkor utan automatisk solcellsrekommendation.</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231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beskrivning följer standardmodellen?</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Fast elhandelspris hela året.</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Oktober–mars fast elhandelspris inklusive dygnsprofil; april–september</a:t>
            </a:r>
          </a:p>
          <a:p>
            <a:pPr>
              <a:lnSpc>
                <a:spcPts val="2480"/>
              </a:lnSpc>
              <a:spcBef>
                <a:spcPts val="0"/>
              </a:spcBef>
              <a:spcAft>
                <a:spcPts val="0"/>
              </a:spcAft>
              <a:defRPr sz="2000" b="0">
                <a:solidFill>
                  <a:srgbClr val="193540"/>
                </a:solidFill>
                <a:latin typeface="DejaVu Sans"/>
              </a:defRPr>
            </a:pPr>
            <a:r>
              <a:t>Kvartspris.</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Lägsta alternativ väljs automatiskt efter varje kvart.</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232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jämförbart elhandelsexempel: 6 000 kWh vinter till 90 öre och</a:t>
            </a:r>
          </a:p>
          <a:p>
            <a:pPr>
              <a:lnSpc>
                <a:spcPts val="2480"/>
              </a:lnSpc>
              <a:spcBef>
                <a:spcPts val="0"/>
              </a:spcBef>
              <a:spcAft>
                <a:spcPts val="0"/>
              </a:spcAft>
              <a:defRPr sz="2000" b="0">
                <a:solidFill>
                  <a:srgbClr val="193540"/>
                </a:solidFill>
                <a:latin typeface="DejaVu Sans"/>
              </a:defRPr>
            </a:pPr>
            <a:r>
              <a:t>4 000 kWh sommar med kvartsvägt utfall 60 öre. Inga övriga kostnader ingår.</a:t>
            </a:r>
          </a:p>
          <a:p>
            <a:pPr>
              <a:lnSpc>
                <a:spcPts val="2480"/>
              </a:lnSpc>
              <a:spcBef>
                <a:spcPts val="0"/>
              </a:spcBef>
              <a:spcAft>
                <a:spcPts val="0"/>
              </a:spcAft>
              <a:defRPr sz="2000" b="0">
                <a:solidFill>
                  <a:srgbClr val="193540"/>
                </a:solidFill>
                <a:latin typeface="DejaVu Sans"/>
              </a:defRPr>
            </a:pPr>
            <a:r>
              <a:t>Vad är periodens vägda snitt?</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233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kund vill beskriva Vintersäkrat som ett fast årsbelopp. Hur förklarar du vad</a:t>
            </a:r>
          </a:p>
          <a:p>
            <a:pPr>
              <a:lnSpc>
                <a:spcPts val="2480"/>
              </a:lnSpc>
              <a:spcBef>
                <a:spcPts val="0"/>
              </a:spcBef>
              <a:spcAft>
                <a:spcPts val="0"/>
              </a:spcAft>
              <a:defRPr sz="2000" b="0">
                <a:solidFill>
                  <a:srgbClr val="193540"/>
                </a:solidFill>
                <a:latin typeface="DejaVu Sans"/>
              </a:defRPr>
            </a:pPr>
            <a:r>
              <a:t>som är fast och vad som varierar?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234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faktura skickas i april men avser bara leverans i mars i standardupplägget.</a:t>
            </a:r>
          </a:p>
          <a:p>
            <a:pPr>
              <a:lnSpc>
                <a:spcPts val="2480"/>
              </a:lnSpc>
              <a:spcBef>
                <a:spcPts val="0"/>
              </a:spcBef>
              <a:spcAft>
                <a:spcPts val="0"/>
              </a:spcAft>
              <a:defRPr sz="2000" b="0">
                <a:solidFill>
                  <a:srgbClr val="193540"/>
                </a:solidFill>
                <a:latin typeface="DejaVu Sans"/>
              </a:defRPr>
            </a:pPr>
            <a:r>
              <a:t>Vad styr prisdelen?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Leveransen i mars, som hör till den avtalade vinterperioden.</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Fakturadatum i april gör den automatiskt till sommarpris.</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Kunden väljer efteråt vilken modell som var billigast.</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11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235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 avtalad kalender och kontrollera leveransdatum.</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Standard är oktober–mars fast och april–september kvart.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Vinterdelens fasta elhandelspris inkluderar dygnsprofilen.</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Analysera köpt volym per period och planerade förändringar.</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både total kostnad och volymvägt snitt.</a:t>
            </a:r>
          </a:p>
        </p:txBody>
      </p:sp>
      <p:sp>
        <p:nvSpPr>
          <p:cNvPr id="11" name="TextBox 10"/>
          <p:cNvSpPr txBox="1"/>
          <p:nvPr/>
        </p:nvSpPr>
        <p:spPr>
          <a:xfrm>
            <a:off x="603504" y="42951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kvarvarande sommarvariation och separata elkostnader.</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12 · Företag / Savera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Individuell indexportfölj – en egen inköpsplan</a:t>
            </a:r>
          </a:p>
          <a:p>
            <a:pPr>
              <a:lnSpc>
                <a:spcPts val="3472"/>
              </a:lnSpc>
              <a:spcBef>
                <a:spcPts val="0"/>
              </a:spcBef>
              <a:spcAft>
                <a:spcPts val="0"/>
              </a:spcAft>
              <a:defRPr sz="2800" b="1">
                <a:solidFill>
                  <a:srgbClr val="FFFFFF"/>
                </a:solidFill>
                <a:latin typeface="DejaVu Sans"/>
              </a:defRPr>
            </a:pPr>
            <a:r>
              <a:t>över tid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236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hur dagliga, regelstyrda köp skiljer sig från ett inköpstillfälle.</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säkringshorisont från avtalslängd och planerad andel från faktisk</a:t>
            </a:r>
          </a:p>
          <a:p>
            <a:pPr>
              <a:lnSpc>
                <a:spcPts val="2480"/>
              </a:lnSpc>
              <a:spcBef>
                <a:spcPts val="0"/>
              </a:spcBef>
              <a:spcAft>
                <a:spcPts val="0"/>
              </a:spcAft>
              <a:defRPr sz="2000" b="0">
                <a:solidFill>
                  <a:srgbClr val="FFFFFF"/>
                </a:solidFill>
                <a:latin typeface="DejaVu Sans"/>
              </a:defRPr>
            </a:pPr>
            <a:r>
              <a:t>täckning.</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nätinköp, säkringsvolym och ett volymvägt inköpssnitt.</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Beskriva finansiellt säkringsresultat och kvarvarande risk utan att lova ett</a:t>
            </a:r>
          </a:p>
          <a:p>
            <a:pPr>
              <a:lnSpc>
                <a:spcPts val="2480"/>
              </a:lnSpc>
              <a:spcBef>
                <a:spcPts val="0"/>
              </a:spcBef>
              <a:spcAft>
                <a:spcPts val="0"/>
              </a:spcAft>
              <a:defRPr sz="2000" b="0">
                <a:solidFill>
                  <a:srgbClr val="FFFFFF"/>
                </a:solidFill>
                <a:latin typeface="DejaVu Sans"/>
              </a:defRPr>
            </a:pPr>
            <a:r>
              <a:t>fast slutpris.</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1. Inköpet byggs upp genom flera beslut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237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Indexdelen byggs med dagliga, regelstyrda inköp över tid. Kunden får en egen</a:t>
            </a:r>
          </a:p>
          <a:p>
            <a:pPr>
              <a:lnSpc>
                <a:spcPts val="2480"/>
              </a:lnSpc>
              <a:spcBef>
                <a:spcPts val="0"/>
              </a:spcBef>
              <a:spcAft>
                <a:spcPts val="0"/>
              </a:spcAft>
              <a:defRPr sz="2000" b="0">
                <a:solidFill>
                  <a:srgbClr val="193540"/>
                </a:solidFill>
                <a:latin typeface="DejaVu Sans"/>
              </a:defRPr>
            </a:pPr>
            <a:r>
              <a:t>plan för överenskomna volymer och leveransperioder.</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Strategin beskriver framtida köp. Handelsbekräftelsen visar genomförda köp.</a:t>
            </a:r>
          </a:p>
          <a:p>
            <a:pPr>
              <a:lnSpc>
                <a:spcPts val="2480"/>
              </a:lnSpc>
              <a:spcBef>
                <a:spcPts val="0"/>
              </a:spcBef>
              <a:spcAft>
                <a:spcPts val="0"/>
              </a:spcAft>
              <a:defRPr sz="2000" b="0">
                <a:solidFill>
                  <a:srgbClr val="193540"/>
                </a:solidFill>
                <a:latin typeface="DejaVu Sans"/>
              </a:defRPr>
            </a:pPr>
            <a:r>
              <a:t>Ett signerat kundavtal är därför inte ensamt bevis för handel. Håll plan, köp</a:t>
            </a:r>
          </a:p>
          <a:p>
            <a:pPr>
              <a:lnSpc>
                <a:spcPts val="2480"/>
              </a:lnSpc>
              <a:spcBef>
                <a:spcPts val="0"/>
              </a:spcBef>
              <a:spcAft>
                <a:spcPts val="0"/>
              </a:spcAft>
              <a:defRPr sz="2000" b="0">
                <a:solidFill>
                  <a:srgbClr val="193540"/>
                </a:solidFill>
                <a:latin typeface="DejaVu Sans"/>
              </a:defRPr>
            </a:pPr>
            <a:r>
              <a:t>och slutligt utfall isär.</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2. Horisont och säkringsgrad är skilda val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238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Standardhorisonten är 24 månader, med 12 och 36 månader som alternativ.</a:t>
            </a:r>
          </a:p>
          <a:p>
            <a:pPr>
              <a:lnSpc>
                <a:spcPts val="2480"/>
              </a:lnSpc>
              <a:spcBef>
                <a:spcPts val="0"/>
              </a:spcBef>
              <a:spcAft>
                <a:spcPts val="0"/>
              </a:spcAft>
              <a:defRPr sz="2000" b="0">
                <a:solidFill>
                  <a:srgbClr val="193540"/>
                </a:solidFill>
                <a:latin typeface="DejaVu Sans"/>
              </a:defRPr>
            </a:pPr>
            <a:r>
              <a:t>Horisonten beskriver hur långt fram inköpsplanen arbetar med framtida</a:t>
            </a:r>
          </a:p>
          <a:p>
            <a:pPr>
              <a:lnSpc>
                <a:spcPts val="2480"/>
              </a:lnSpc>
              <a:spcBef>
                <a:spcPts val="0"/>
              </a:spcBef>
              <a:spcAft>
                <a:spcPts val="0"/>
              </a:spcAft>
              <a:defRPr sz="2000" b="0">
                <a:solidFill>
                  <a:srgbClr val="193540"/>
                </a:solidFill>
                <a:latin typeface="DejaVu Sans"/>
              </a:defRPr>
            </a:pPr>
            <a:r>
              <a:t>leverans.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Säkringsgraden bestäms individuellt och kan skilja mellan årets perioder. Det</a:t>
            </a:r>
          </a:p>
          <a:p>
            <a:pPr>
              <a:lnSpc>
                <a:spcPts val="2480"/>
              </a:lnSpc>
              <a:spcBef>
                <a:spcPts val="0"/>
              </a:spcBef>
              <a:spcAft>
                <a:spcPts val="0"/>
              </a:spcAft>
              <a:defRPr sz="2000" b="0">
                <a:solidFill>
                  <a:srgbClr val="193540"/>
                </a:solidFill>
                <a:latin typeface="DejaVu Sans"/>
              </a:defRPr>
            </a:pPr>
            <a:r>
              <a:t>finns ingen generell standard på 80 procent för denna produkt. Ett illustrerat</a:t>
            </a:r>
          </a:p>
          <a:p>
            <a:pPr>
              <a:lnSpc>
                <a:spcPts val="2480"/>
              </a:lnSpc>
              <a:spcBef>
                <a:spcPts val="0"/>
              </a:spcBef>
              <a:spcAft>
                <a:spcPts val="0"/>
              </a:spcAft>
              <a:defRPr sz="2000" b="0">
                <a:solidFill>
                  <a:srgbClr val="193540"/>
                </a:solidFill>
                <a:latin typeface="DejaVu Sans"/>
              </a:defRPr>
            </a:pPr>
            <a:r>
              <a:t>val på 60 procent får därför aldrig presenteras som produktens norm.</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3. Börja med elen kunden behöver köpa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239</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Nätinköp är den el kunden behöver köpa från nätet. Bruttoförbrukning är</a:t>
            </a:r>
          </a:p>
          <a:p>
            <a:pPr>
              <a:lnSpc>
                <a:spcPts val="2480"/>
              </a:lnSpc>
              <a:spcBef>
                <a:spcPts val="0"/>
              </a:spcBef>
              <a:spcAft>
                <a:spcPts val="0"/>
              </a:spcAft>
              <a:defRPr sz="2000" b="0">
                <a:solidFill>
                  <a:srgbClr val="193540"/>
                </a:solidFill>
                <a:latin typeface="DejaVu Sans"/>
              </a:defRPr>
            </a:pPr>
            <a:r>
              <a:t>verksamhetens hela elanvändning, även den del som täcks av egen</a:t>
            </a:r>
          </a:p>
          <a:p>
            <a:pPr>
              <a:lnSpc>
                <a:spcPts val="2480"/>
              </a:lnSpc>
              <a:spcBef>
                <a:spcPts val="0"/>
              </a:spcBef>
              <a:spcAft>
                <a:spcPts val="0"/>
              </a:spcAft>
              <a:defRPr sz="2000" b="0">
                <a:solidFill>
                  <a:srgbClr val="193540"/>
                </a:solidFill>
                <a:latin typeface="DejaVu Sans"/>
              </a:defRPr>
            </a:pPr>
            <a:r>
              <a:t>produktion. Egenanvänd solel minskar nätinköpet; exporterad solel är ett</a:t>
            </a:r>
          </a:p>
          <a:p>
            <a:pPr>
              <a:lnSpc>
                <a:spcPts val="2480"/>
              </a:lnSpc>
              <a:spcBef>
                <a:spcPts val="0"/>
              </a:spcBef>
              <a:spcAft>
                <a:spcPts val="0"/>
              </a:spcAft>
              <a:defRPr sz="2000" b="0">
                <a:solidFill>
                  <a:srgbClr val="193540"/>
                </a:solidFill>
                <a:latin typeface="DejaVu Sans"/>
              </a:defRPr>
            </a:pPr>
            <a:r>
              <a:t>annat flöde.</a:t>
            </a:r>
          </a:p>
        </p:txBody>
      </p:sp>
      <p:sp>
        <p:nvSpPr>
          <p:cNvPr id="7" name="TextBox 6"/>
          <p:cNvSpPr txBox="1"/>
          <p:nvPr/>
        </p:nvSpPr>
        <p:spPr>
          <a:xfrm>
            <a:off x="603504" y="352298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Använd underlag per relevant månad och anläggning. En ny laddpark,</a:t>
            </a:r>
          </a:p>
          <a:p>
            <a:pPr>
              <a:lnSpc>
                <a:spcPts val="2480"/>
              </a:lnSpc>
              <a:spcBef>
                <a:spcPts val="0"/>
              </a:spcBef>
              <a:spcAft>
                <a:spcPts val="0"/>
              </a:spcAft>
              <a:defRPr sz="2000" b="0">
                <a:solidFill>
                  <a:srgbClr val="193540"/>
                </a:solidFill>
                <a:latin typeface="DejaVu Sans"/>
              </a:defRPr>
            </a:pPr>
            <a:r>
              <a:t>förändrad produktion, solceller eller ett driftstopp kan göra historiken</a:t>
            </a:r>
          </a:p>
          <a:p>
            <a:pPr>
              <a:lnSpc>
                <a:spcPts val="2480"/>
              </a:lnSpc>
              <a:spcBef>
                <a:spcPts val="0"/>
              </a:spcBef>
              <a:spcAft>
                <a:spcPts val="0"/>
              </a:spcAft>
              <a:defRPr sz="2000" b="0">
                <a:solidFill>
                  <a:srgbClr val="193540"/>
                </a:solidFill>
                <a:latin typeface="DejaVu Sans"/>
              </a:defRPr>
            </a:pPr>
            <a:r>
              <a:t>missvisande. Dokumentera mätperiod, datakälla och förändringar.</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4. Inköpssnitt och fakturapris är olika mått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inköpssnitt viktas med den volym varje köp avser. Ett stort köp ska väga</a:t>
            </a:r>
          </a:p>
          <a:p>
            <a:pPr>
              <a:lnSpc>
                <a:spcPts val="2480"/>
              </a:lnSpc>
              <a:spcBef>
                <a:spcPts val="0"/>
              </a:spcBef>
              <a:spcAft>
                <a:spcPts val="0"/>
              </a:spcAft>
              <a:defRPr sz="2000" b="0">
                <a:solidFill>
                  <a:srgbClr val="193540"/>
                </a:solidFill>
                <a:latin typeface="DejaVu Sans"/>
              </a:defRPr>
            </a:pPr>
            <a:r>
              <a:t>mer än ett litet. Priserna måste gälla jämförbara komponenter, perioder och</a:t>
            </a:r>
          </a:p>
          <a:p>
            <a:pPr>
              <a:lnSpc>
                <a:spcPts val="2480"/>
              </a:lnSpc>
              <a:spcBef>
                <a:spcPts val="0"/>
              </a:spcBef>
              <a:spcAft>
                <a:spcPts val="0"/>
              </a:spcAft>
              <a:defRPr sz="2000" b="0">
                <a:solidFill>
                  <a:srgbClr val="193540"/>
                </a:solidFill>
                <a:latin typeface="DejaVu Sans"/>
              </a:defRPr>
            </a:pPr>
            <a:r>
              <a:t>valuta innan de läggs ihop.</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Fysisk elkostnad och finansiellt säkringsresultat är olika flöden. I utbildningens</a:t>
            </a:r>
          </a:p>
          <a:p>
            <a:pPr>
              <a:lnSpc>
                <a:spcPts val="2480"/>
              </a:lnSpc>
              <a:spcBef>
                <a:spcPts val="0"/>
              </a:spcBef>
              <a:spcAft>
                <a:spcPts val="0"/>
              </a:spcAft>
              <a:defRPr sz="2000" b="0">
                <a:solidFill>
                  <a:srgbClr val="193540"/>
                </a:solidFill>
                <a:latin typeface="DejaVu Sans"/>
              </a:defRPr>
            </a:pPr>
            <a:r>
              <a:t>förenklade modell räknas kostnaden som fysisk kostnad minus finansiellt</a:t>
            </a:r>
          </a:p>
          <a:p>
            <a:pPr>
              <a:lnSpc>
                <a:spcPts val="2480"/>
              </a:lnSpc>
              <a:spcBef>
                <a:spcPts val="0"/>
              </a:spcBef>
              <a:spcAft>
                <a:spcPts val="0"/>
              </a:spcAft>
              <a:defRPr sz="2000" b="0">
                <a:solidFill>
                  <a:srgbClr val="193540"/>
                </a:solidFill>
                <a:latin typeface="DejaVu Sans"/>
              </a:defRPr>
            </a:pPr>
            <a:r>
              <a:t>resultat.</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5. Förklara uppgång och prisfall lika tydligt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tidigare säkring kan hjälpa när samma marknadsreferens stiger. När den</a:t>
            </a:r>
          </a:p>
          <a:p>
            <a:pPr>
              <a:lnSpc>
                <a:spcPts val="2480"/>
              </a:lnSpc>
              <a:spcBef>
                <a:spcPts val="0"/>
              </a:spcBef>
              <a:spcAft>
                <a:spcPts val="0"/>
              </a:spcAft>
              <a:defRPr sz="2000" b="0">
                <a:solidFill>
                  <a:srgbClr val="193540"/>
                </a:solidFill>
                <a:latin typeface="DejaVu Sans"/>
              </a:defRPr>
            </a:pPr>
            <a:r>
              <a:t>faller kan kunden i stället betala mer än vid en osäkrad jämförelse. Spridda</a:t>
            </a:r>
          </a:p>
          <a:p>
            <a:pPr>
              <a:lnSpc>
                <a:spcPts val="2480"/>
              </a:lnSpc>
              <a:spcBef>
                <a:spcPts val="0"/>
              </a:spcBef>
              <a:spcAft>
                <a:spcPts val="0"/>
              </a:spcAft>
              <a:defRPr sz="2000" b="0">
                <a:solidFill>
                  <a:srgbClr val="193540"/>
                </a:solidFill>
                <a:latin typeface="DejaVu Sans"/>
              </a:defRPr>
            </a:pPr>
            <a:r>
              <a:t>inköp garanterar inte billigast el.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Utred budgetrisk och prognoskvalitet. Godkänd offert behöver ange perioder,</a:t>
            </a:r>
          </a:p>
          <a:p>
            <a:pPr>
              <a:lnSpc>
                <a:spcPts val="2480"/>
              </a:lnSpc>
              <a:spcBef>
                <a:spcPts val="0"/>
              </a:spcBef>
              <a:spcAft>
                <a:spcPts val="0"/>
              </a:spcAft>
              <a:defRPr sz="2000" b="0">
                <a:solidFill>
                  <a:srgbClr val="193540"/>
                </a:solidFill>
                <a:latin typeface="DejaVu Sans"/>
              </a:defRPr>
            </a:pPr>
            <a:r>
              <a:t>grader, horisont, prisdelar och avvikelsehantering. Årsvolym avgör inte ensam</a:t>
            </a:r>
          </a:p>
          <a:p>
            <a:pPr>
              <a:lnSpc>
                <a:spcPts val="2480"/>
              </a:lnSpc>
              <a:spcBef>
                <a:spcPts val="0"/>
              </a:spcBef>
              <a:spcAft>
                <a:spcPts val="0"/>
              </a:spcAft>
              <a:defRPr sz="2000" b="0">
                <a:solidFill>
                  <a:srgbClr val="193540"/>
                </a:solidFill>
                <a:latin typeface="DejaVu Sans"/>
              </a:defRPr>
            </a:pPr>
            <a:r>
              <a:t>produktvalet. Kunskap om modellen ger inte handelsmandat.</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Från bruttoförbrukning till faktisk täckning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Syntetiska årsvolymer utan lagring eller annan korrigering. Egenanvändning</a:t>
            </a:r>
          </a:p>
          <a:p>
            <a:pPr>
              <a:lnSpc>
                <a:spcPts val="2480"/>
              </a:lnSpc>
              <a:spcBef>
                <a:spcPts val="0"/>
              </a:spcBef>
              <a:spcAft>
                <a:spcPts val="0"/>
              </a:spcAft>
              <a:defRPr sz="2000" b="0">
                <a:solidFill>
                  <a:srgbClr val="193540"/>
                </a:solidFill>
                <a:latin typeface="DejaVu Sans"/>
              </a:defRPr>
            </a:pPr>
            <a:r>
              <a:t>är redan uppmätt eller prognostiserad. 60 procent är ett individuellt</a:t>
            </a:r>
          </a:p>
          <a:p>
            <a:pPr>
              <a:lnSpc>
                <a:spcPts val="2480"/>
              </a:lnSpc>
              <a:spcBef>
                <a:spcPts val="0"/>
              </a:spcBef>
              <a:spcAft>
                <a:spcPts val="0"/>
              </a:spcAft>
              <a:defRPr sz="2000" b="0">
                <a:solidFill>
                  <a:srgbClr val="193540"/>
                </a:solidFill>
                <a:latin typeface="DejaVu Sans"/>
              </a:defRPr>
            </a:pPr>
            <a:r>
              <a:t>exempelval, ingen standard.</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Bruttoförbrukning: 600 MWh. Solelproduktion: 100 MWh, varav 70 MWh</a:t>
            </a:r>
          </a:p>
          <a:p>
            <a:pPr>
              <a:lnSpc>
                <a:spcPts val="2480"/>
              </a:lnSpc>
              <a:spcBef>
                <a:spcPts val="0"/>
              </a:spcBef>
              <a:spcAft>
                <a:spcPts val="0"/>
              </a:spcAft>
              <a:defRPr sz="2000" b="0">
                <a:solidFill>
                  <a:srgbClr val="193540"/>
                </a:solidFill>
                <a:latin typeface="DejaVu Sans"/>
              </a:defRPr>
            </a:pPr>
            <a:r>
              <a:t>egenanvänds och 30 MWh exporteras.</a:t>
            </a:r>
          </a:p>
        </p:txBody>
      </p:sp>
      <p:sp>
        <p:nvSpPr>
          <p:cNvPr id="8" name="TextBox 7"/>
          <p:cNvSpPr txBox="1"/>
          <p:nvPr/>
        </p:nvSpPr>
        <p:spPr>
          <a:xfrm>
            <a:off x="603504" y="39522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Planerad säkring: 60 procent av prognostiserat nätinköp. Faktiskt nätinköp</a:t>
            </a:r>
          </a:p>
          <a:p>
            <a:pPr>
              <a:lnSpc>
                <a:spcPts val="2480"/>
              </a:lnSpc>
              <a:spcBef>
                <a:spcPts val="0"/>
              </a:spcBef>
              <a:spcAft>
                <a:spcPts val="0"/>
              </a:spcAft>
              <a:defRPr sz="2000" b="0">
                <a:solidFill>
                  <a:srgbClr val="193540"/>
                </a:solidFill>
                <a:latin typeface="DejaVu Sans"/>
              </a:defRPr>
            </a:pPr>
            <a:r>
              <a:t>blir 500 MWh. Anta att hela den planerade säkringsvolymen genomförts för</a:t>
            </a:r>
          </a:p>
          <a:p>
            <a:pPr>
              <a:lnSpc>
                <a:spcPts val="2480"/>
              </a:lnSpc>
              <a:spcBef>
                <a:spcPts val="0"/>
              </a:spcBef>
              <a:spcAft>
                <a:spcPts val="0"/>
              </a:spcAft>
              <a:defRPr sz="2000" b="0">
                <a:solidFill>
                  <a:srgbClr val="193540"/>
                </a:solidFill>
                <a:latin typeface="DejaVu Sans"/>
              </a:defRPr>
            </a:pPr>
            <a:r>
              <a:t>samma period.</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Från bruttoförbrukning till faktisk</a:t>
            </a:r>
          </a:p>
          <a:p>
            <a:pPr>
              <a:lnSpc>
                <a:spcPts val="3472"/>
              </a:lnSpc>
              <a:spcBef>
                <a:spcPts val="0"/>
              </a:spcBef>
              <a:spcAft>
                <a:spcPts val="0"/>
              </a:spcAft>
              <a:defRPr sz="2800" b="1">
                <a:solidFill>
                  <a:srgbClr val="193540"/>
                </a:solidFill>
                <a:latin typeface="DejaVu Sans"/>
              </a:defRPr>
            </a:pPr>
            <a:r>
              <a:t>täckning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Nätinköp: 600 − 70 = 530 MWh. Exporten på 30 MWh dras inte bort en</a:t>
            </a:r>
          </a:p>
          <a:p>
            <a:pPr>
              <a:lnSpc>
                <a:spcPts val="2480"/>
              </a:lnSpc>
              <a:spcBef>
                <a:spcPts val="0"/>
              </a:spcBef>
              <a:spcAft>
                <a:spcPts val="0"/>
              </a:spcAft>
              <a:defRPr sz="2000" b="0">
                <a:solidFill>
                  <a:srgbClr val="193540"/>
                </a:solidFill>
                <a:latin typeface="DejaVu Sans"/>
              </a:defRPr>
            </a:pPr>
            <a:r>
              <a:t>gång till.</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Planerad och i exemplet genomförd säkring: 530 × 0,60 = 318 MWh.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Faktisk volymtäckning: 318 ÷ 500 × 100 = 63,6 procent.</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318 MWh motsvarar 63,6 procent av det faktiska nätinköpet.</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Volymvägt inköpssnitt och finansiellt resultat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244</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exempel för en enda jämförbar referenspriskomponent under</a:t>
            </a:r>
          </a:p>
          <a:p>
            <a:pPr>
              <a:lnSpc>
                <a:spcPts val="2480"/>
              </a:lnSpc>
              <a:spcBef>
                <a:spcPts val="0"/>
              </a:spcBef>
              <a:spcAft>
                <a:spcPts val="0"/>
              </a:spcAft>
              <a:defRPr sz="2000" b="0">
                <a:solidFill>
                  <a:srgbClr val="193540"/>
                </a:solidFill>
                <a:latin typeface="DejaVu Sans"/>
              </a:defRPr>
            </a:pPr>
            <a:r>
              <a:t>samma leveransperiod. Profil, andra elhandelskomponenter, påslag, elnät,</a:t>
            </a:r>
          </a:p>
          <a:p>
            <a:pPr>
              <a:lnSpc>
                <a:spcPts val="2480"/>
              </a:lnSpc>
              <a:spcBef>
                <a:spcPts val="0"/>
              </a:spcBef>
              <a:spcAft>
                <a:spcPts val="0"/>
              </a:spcAft>
              <a:defRPr sz="2000" b="0">
                <a:solidFill>
                  <a:srgbClr val="193540"/>
                </a:solidFill>
                <a:latin typeface="DejaVu Sans"/>
              </a:defRPr>
            </a:pPr>
            <a:r>
              <a:t>energiskatt och moms ingår inte. Full matchning mellan illustrerade köp och</a:t>
            </a:r>
          </a:p>
          <a:p>
            <a:pPr>
              <a:lnSpc>
                <a:spcPts val="2480"/>
              </a:lnSpc>
              <a:spcBef>
                <a:spcPts val="0"/>
              </a:spcBef>
              <a:spcAft>
                <a:spcPts val="0"/>
              </a:spcAft>
              <a:defRPr sz="2000" b="0">
                <a:solidFill>
                  <a:srgbClr val="193540"/>
                </a:solidFill>
                <a:latin typeface="DejaVu Sans"/>
              </a:defRPr>
            </a:pPr>
            <a:r>
              <a:t>leveransvolym antas.</a:t>
            </a:r>
          </a:p>
        </p:txBody>
      </p:sp>
      <p:sp>
        <p:nvSpPr>
          <p:cNvPr id="7" name="TextBox 6"/>
          <p:cNvSpPr txBox="1"/>
          <p:nvPr/>
        </p:nvSpPr>
        <p:spPr>
          <a:xfrm>
            <a:off x="603504" y="35229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Tre köp: 100 MWh till 60 öre/kWh, 200 MWh till 75 öre/kWh och 50 MWh till</a:t>
            </a:r>
          </a:p>
          <a:p>
            <a:pPr>
              <a:lnSpc>
                <a:spcPts val="2480"/>
              </a:lnSpc>
              <a:spcBef>
                <a:spcPts val="0"/>
              </a:spcBef>
              <a:spcAft>
                <a:spcPts val="0"/>
              </a:spcAft>
              <a:defRPr sz="2000" b="0">
                <a:solidFill>
                  <a:srgbClr val="193540"/>
                </a:solidFill>
                <a:latin typeface="DejaVu Sans"/>
              </a:defRPr>
            </a:pPr>
            <a:r>
              <a:t>50 öre/kWh.</a:t>
            </a:r>
          </a:p>
        </p:txBody>
      </p:sp>
      <p:sp>
        <p:nvSpPr>
          <p:cNvPr id="8" name="TextBox 7"/>
          <p:cNvSpPr txBox="1"/>
          <p:nvPr/>
        </p:nvSpPr>
        <p:spPr>
          <a:xfrm>
            <a:off x="603504" y="42672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Fysisk referenskostnad antas först vara 90 öre/kWh för samtliga 350 MWh.</a:t>
            </a:r>
          </a:p>
          <a:p>
            <a:pPr>
              <a:lnSpc>
                <a:spcPts val="2480"/>
              </a:lnSpc>
              <a:spcBef>
                <a:spcPts val="0"/>
              </a:spcBef>
              <a:spcAft>
                <a:spcPts val="0"/>
              </a:spcAft>
              <a:defRPr sz="2000" b="0">
                <a:solidFill>
                  <a:srgbClr val="193540"/>
                </a:solidFill>
                <a:latin typeface="DejaVu Sans"/>
              </a:defRPr>
            </a:pPr>
            <a:r>
              <a:t>Finansiellt resultat är i scenariot +80 000 kr.</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Volymvägt inköpssnitt och finansiellt</a:t>
            </a:r>
          </a:p>
          <a:p>
            <a:pPr>
              <a:lnSpc>
                <a:spcPts val="3472"/>
              </a:lnSpc>
              <a:spcBef>
                <a:spcPts val="0"/>
              </a:spcBef>
              <a:spcAft>
                <a:spcPts val="0"/>
              </a:spcAft>
              <a:defRPr sz="2800" b="1">
                <a:solidFill>
                  <a:srgbClr val="193540"/>
                </a:solidFill>
                <a:latin typeface="DejaVu Sans"/>
              </a:defRPr>
            </a:pPr>
            <a:r>
              <a:t>resultat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Omvandla MWh till kWh och öre till kronor: 100 000 × 0,60 + 200 000 ×</a:t>
            </a:r>
          </a:p>
          <a:p>
            <a:pPr>
              <a:lnSpc>
                <a:spcPts val="2480"/>
              </a:lnSpc>
              <a:spcBef>
                <a:spcPts val="0"/>
              </a:spcBef>
              <a:spcAft>
                <a:spcPts val="0"/>
              </a:spcAft>
              <a:defRPr sz="2000" b="0">
                <a:solidFill>
                  <a:srgbClr val="193540"/>
                </a:solidFill>
                <a:latin typeface="DejaVu Sans"/>
              </a:defRPr>
            </a:pPr>
            <a:r>
              <a:t>0,75 + 50 000 × 0,50 = 235 000 kr.</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Total volym: 350 000 kWh. Vägt snitt: 235 000 ÷ 350 000 × 100 =</a:t>
            </a:r>
          </a:p>
          <a:p>
            <a:pPr>
              <a:lnSpc>
                <a:spcPts val="2480"/>
              </a:lnSpc>
              <a:spcBef>
                <a:spcPts val="0"/>
              </a:spcBef>
              <a:spcAft>
                <a:spcPts val="0"/>
              </a:spcAft>
              <a:defRPr sz="2000" b="0">
                <a:solidFill>
                  <a:srgbClr val="193540"/>
                </a:solidFill>
                <a:latin typeface="DejaVu Sans"/>
              </a:defRPr>
            </a:pPr>
            <a:r>
              <a:t>67,142857 öre/kWh.</a:t>
            </a:r>
          </a:p>
        </p:txBody>
      </p:sp>
      <p:sp>
        <p:nvSpPr>
          <p:cNvPr id="8" name="TextBox 7"/>
          <p:cNvSpPr txBox="1"/>
          <p:nvPr/>
        </p:nvSpPr>
        <p:spPr>
          <a:xfrm>
            <a:off x="603504" y="36372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Fysisk kostnad: 350 000 × 0,90 = 315 000 kr. Efter resultat: 315 000 −</a:t>
            </a:r>
          </a:p>
          <a:p>
            <a:pPr>
              <a:lnSpc>
                <a:spcPts val="2480"/>
              </a:lnSpc>
              <a:spcBef>
                <a:spcPts val="0"/>
              </a:spcBef>
              <a:spcAft>
                <a:spcPts val="0"/>
              </a:spcAft>
              <a:defRPr sz="2000" b="0">
                <a:solidFill>
                  <a:srgbClr val="193540"/>
                </a:solidFill>
                <a:latin typeface="DejaVu Sans"/>
              </a:defRPr>
            </a:pPr>
            <a:r>
              <a:t>80 000 = 235 000 kr.</a:t>
            </a:r>
          </a:p>
        </p:txBody>
      </p:sp>
      <p:sp>
        <p:nvSpPr>
          <p:cNvPr id="9" name="TextBox 8"/>
          <p:cNvSpPr txBox="1"/>
          <p:nvPr/>
        </p:nvSpPr>
        <p:spPr>
          <a:xfrm>
            <a:off x="603504" y="43815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Vid ett illustrerat prisfall till 40 öre blir fysisk kostnad 140 000 kr och</a:t>
            </a:r>
          </a:p>
          <a:p>
            <a:pPr>
              <a:lnSpc>
                <a:spcPts val="2480"/>
              </a:lnSpc>
              <a:spcBef>
                <a:spcPts val="0"/>
              </a:spcBef>
              <a:spcAft>
                <a:spcPts val="0"/>
              </a:spcAft>
              <a:defRPr sz="2000" b="0">
                <a:solidFill>
                  <a:srgbClr val="193540"/>
                </a:solidFill>
                <a:latin typeface="DejaVu Sans"/>
              </a:defRPr>
            </a:pPr>
            <a:r>
              <a:t>resultatet −95 000 kr. Då blir 140 000 − (−95 000) = 235 000 kr.</a:t>
            </a:r>
          </a:p>
        </p:txBody>
      </p:sp>
      <p:sp>
        <p:nvSpPr>
          <p:cNvPr id="10" name="TextBox 9"/>
          <p:cNvSpPr txBox="1"/>
          <p:nvPr/>
        </p:nvSpPr>
        <p:spPr>
          <a:xfrm>
            <a:off x="603504" y="51257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Den jämförbara komponentens inköpssnitt är cirka 67,14 öre/kWh.</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24 månader betyder att kunden är bunden i 24 månader.</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24 månader är standardhorisonten för säkringsplaneringen.</a:t>
            </a:r>
          </a:p>
          <a:p>
            <a:pPr>
              <a:lnSpc>
                <a:spcPts val="2480"/>
              </a:lnSpc>
              <a:spcBef>
                <a:spcPts val="0"/>
              </a:spcBef>
              <a:spcAft>
                <a:spcPts val="0"/>
              </a:spcAft>
              <a:defRPr sz="2000" b="0">
                <a:solidFill>
                  <a:srgbClr val="193540"/>
                </a:solidFill>
                <a:latin typeface="DejaVu Sans"/>
              </a:defRPr>
            </a:pPr>
            <a:r>
              <a:t>Avtalslängd och uppsägning kontrolleras separat.</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Index betyder att vi alltid slår marknaden.</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Regler sprider inköpstidpunkterna. Utfallet kan bli både bättre och</a:t>
            </a:r>
          </a:p>
          <a:p>
            <a:pPr>
              <a:lnSpc>
                <a:spcPts val="2480"/>
              </a:lnSpc>
              <a:spcBef>
                <a:spcPts val="0"/>
              </a:spcBef>
              <a:spcAft>
                <a:spcPts val="0"/>
              </a:spcAft>
              <a:defRPr sz="2000" b="0">
                <a:solidFill>
                  <a:srgbClr val="193540"/>
                </a:solidFill>
                <a:latin typeface="DejaVu Sans"/>
              </a:defRPr>
            </a:pPr>
            <a:r>
              <a:t>sämre än en osäkrad jämförelse.</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80 procent säkras automatiskt och profilkostnaden försvinner.</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Graden är individuell. Profilhanteringen följer godkänd offert och</a:t>
            </a:r>
          </a:p>
          <a:p>
            <a:pPr>
              <a:lnSpc>
                <a:spcPts val="2480"/>
              </a:lnSpc>
              <a:spcBef>
                <a:spcPts val="0"/>
              </a:spcBef>
              <a:spcAft>
                <a:spcPts val="0"/>
              </a:spcAft>
              <a:defRPr sz="2000" b="0">
                <a:solidFill>
                  <a:srgbClr val="193540"/>
                </a:solidFill>
                <a:latin typeface="DejaVu Sans"/>
              </a:defRPr>
            </a:pPr>
            <a:r>
              <a:t>kan inte antas från produktnamnet.</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249</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Ni får en egen inköpsplan där regelstyrda köp bygger upp prissäkringen över</a:t>
            </a:r>
          </a:p>
          <a:p>
            <a:pPr>
              <a:lnSpc>
                <a:spcPts val="2480"/>
              </a:lnSpc>
              <a:spcBef>
                <a:spcPts val="0"/>
              </a:spcBef>
              <a:spcAft>
                <a:spcPts val="0"/>
              </a:spcAft>
              <a:defRPr sz="2000" b="0">
                <a:solidFill>
                  <a:srgbClr val="193540"/>
                </a:solidFill>
                <a:latin typeface="DejaVu Sans"/>
              </a:defRPr>
            </a:pPr>
            <a:r>
              <a:t>tid. Vi kommer överens om volymer, perioder och hur stor del som ska säkras.</a:t>
            </a:r>
          </a:p>
          <a:p>
            <a:pPr>
              <a:lnSpc>
                <a:spcPts val="2480"/>
              </a:lnSpc>
              <a:spcBef>
                <a:spcPts val="0"/>
              </a:spcBef>
              <a:spcAft>
                <a:spcPts val="0"/>
              </a:spcAft>
              <a:defRPr sz="2000" b="0">
                <a:solidFill>
                  <a:srgbClr val="193540"/>
                </a:solidFill>
                <a:latin typeface="DejaVu Sans"/>
              </a:defRPr>
            </a:pPr>
            <a:r>
              <a:t>Det sprider inköpstidpunkterna, men kan bli dyrare än osäkrat om marknaden</a:t>
            </a:r>
          </a:p>
          <a:p>
            <a:pPr>
              <a:lnSpc>
                <a:spcPts val="2480"/>
              </a:lnSpc>
              <a:spcBef>
                <a:spcPts val="0"/>
              </a:spcBef>
              <a:spcAft>
                <a:spcPts val="0"/>
              </a:spcAft>
              <a:defRPr sz="2000" b="0">
                <a:solidFill>
                  <a:srgbClr val="193540"/>
                </a:solidFill>
                <a:latin typeface="DejaVu Sans"/>
              </a:defRPr>
            </a:pPr>
            <a:r>
              <a:t>faller.</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Laddning och solceller förändrar prognosen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250</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fiktivt företag planerar laddpunkter och solceller och vill ha en egen plan.</a:t>
            </a:r>
          </a:p>
          <a:p>
            <a:pPr>
              <a:lnSpc>
                <a:spcPts val="2480"/>
              </a:lnSpc>
              <a:spcBef>
                <a:spcPts val="0"/>
              </a:spcBef>
              <a:spcAft>
                <a:spcPts val="0"/>
              </a:spcAft>
              <a:defRPr sz="2000" b="0">
                <a:solidFill>
                  <a:srgbClr val="193540"/>
                </a:solidFill>
                <a:latin typeface="DejaVu Sans"/>
              </a:defRPr>
            </a:pPr>
            <a:r>
              <a:t>Ekonomichefen frågar: ”Betyder 24 månader att 80 procent redan är köpt?”</a:t>
            </a:r>
          </a:p>
          <a:p>
            <a:pPr>
              <a:lnSpc>
                <a:spcPts val="2480"/>
              </a:lnSpc>
              <a:spcBef>
                <a:spcPts val="0"/>
              </a:spcBef>
              <a:spcAft>
                <a:spcPts val="0"/>
              </a:spcAft>
              <a:defRPr sz="2000" b="0">
                <a:solidFill>
                  <a:srgbClr val="193540"/>
                </a:solidFill>
                <a:latin typeface="DejaVu Sans"/>
              </a:defRPr>
            </a:pPr>
            <a:r>
              <a:t>Årsförbrukningen finns, men månadsdata och solelens egenanvändning</a:t>
            </a:r>
          </a:p>
          <a:p>
            <a:pPr>
              <a:lnSpc>
                <a:spcPts val="2480"/>
              </a:lnSpc>
              <a:spcBef>
                <a:spcPts val="0"/>
              </a:spcBef>
              <a:spcAft>
                <a:spcPts val="0"/>
              </a:spcAft>
              <a:defRPr sz="2000" b="0">
                <a:solidFill>
                  <a:srgbClr val="193540"/>
                </a:solidFill>
                <a:latin typeface="DejaVu Sans"/>
              </a:defRPr>
            </a:pPr>
            <a:r>
              <a:t>saknas.</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Rätta de två antagandena om tid och säkringsgrad.</a:t>
            </a:r>
          </a:p>
        </p:txBody>
      </p:sp>
      <p:sp>
        <p:nvSpPr>
          <p:cNvPr id="8" name="TextBox 7"/>
          <p:cNvSpPr txBox="1"/>
          <p:nvPr/>
        </p:nvSpPr>
        <p:spPr>
          <a:xfrm>
            <a:off x="603504" y="39522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vilka volymuppgifter och förändringar du behöver.</a:t>
            </a:r>
          </a:p>
        </p:txBody>
      </p:sp>
      <p:sp>
        <p:nvSpPr>
          <p:cNvPr id="9" name="TextBox 8"/>
          <p:cNvSpPr txBox="1"/>
          <p:nvPr/>
        </p:nvSpPr>
        <p:spPr>
          <a:xfrm>
            <a:off x="603504" y="4381499"/>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vad som behöver vara klart innan pris och genomförande kan</a:t>
            </a:r>
          </a:p>
          <a:p>
            <a:pPr>
              <a:lnSpc>
                <a:spcPts val="2480"/>
              </a:lnSpc>
              <a:spcBef>
                <a:spcPts val="0"/>
              </a:spcBef>
              <a:spcAft>
                <a:spcPts val="0"/>
              </a:spcAft>
              <a:defRPr sz="2000" b="0">
                <a:solidFill>
                  <a:srgbClr val="193540"/>
                </a:solidFill>
                <a:latin typeface="DejaVu Sans"/>
              </a:defRPr>
            </a:pPr>
            <a:r>
              <a:t>bekräftas.</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horisont, avtal och genomförd handel.</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Begär månadsdata och separerar egenanvändning från export.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Beskriver individuell grad och prisfallsrisk.</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Hämtar kommersiella villkor och mandat från aktuellt underlag.</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Vad betyder produktens standardhorisont på 24 månader?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Avtalet måste alltid löpa i exakt två år.</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Inköpsplanen arbetar med framtida leverans inom en</a:t>
            </a:r>
          </a:p>
          <a:p>
            <a:pPr>
              <a:lnSpc>
                <a:spcPts val="2480"/>
              </a:lnSpc>
              <a:spcBef>
                <a:spcPts val="0"/>
              </a:spcBef>
              <a:spcAft>
                <a:spcPts val="0"/>
              </a:spcAft>
              <a:defRPr sz="2000" b="0">
                <a:solidFill>
                  <a:srgbClr val="193540"/>
                </a:solidFill>
                <a:latin typeface="DejaVu Sans"/>
              </a:defRPr>
            </a:pPr>
            <a:r>
              <a:t>24-månadershorisont.</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All kundens el är omedelbart köpt för två år.</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 första exemplet är 318 MWh säkrat och faktiskt nätinköp 500 MWh. Vilken</a:t>
            </a:r>
          </a:p>
          <a:p>
            <a:pPr>
              <a:lnSpc>
                <a:spcPts val="2480"/>
              </a:lnSpc>
              <a:spcBef>
                <a:spcPts val="0"/>
              </a:spcBef>
              <a:spcAft>
                <a:spcPts val="0"/>
              </a:spcAft>
              <a:defRPr sz="2000" b="0">
                <a:solidFill>
                  <a:srgbClr val="193540"/>
                </a:solidFill>
                <a:latin typeface="DejaVu Sans"/>
              </a:defRPr>
            </a:pPr>
            <a:r>
              <a:t>faktisk volymtäckning blir det?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procent.</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Fysisk kostnad är 140 000 kr och finansiellt resultat −95 000 kr. Vad blir</a:t>
            </a:r>
          </a:p>
          <a:p>
            <a:pPr>
              <a:lnSpc>
                <a:spcPts val="2480"/>
              </a:lnSpc>
              <a:spcBef>
                <a:spcPts val="0"/>
              </a:spcBef>
              <a:spcAft>
                <a:spcPts val="0"/>
              </a:spcAft>
              <a:defRPr sz="2000" b="0">
                <a:solidFill>
                  <a:srgbClr val="193540"/>
                </a:solidFill>
                <a:latin typeface="DejaVu Sans"/>
              </a:defRPr>
            </a:pPr>
            <a:r>
              <a:t>kostnaden i den förenklade modellen?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45 000 kr, eftersom resultat alltid dras av som en positiv besparing.</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235 000 kr, eftersom ett negativt resultat ökar kostnaden.</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140 000 kr, eftersom finansiellt resultat aldrig påverkar kunden.</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har 100 MWh solelproduktion och vill dra av allt från förbrukningen.</a:t>
            </a:r>
          </a:p>
          <a:p>
            <a:pPr>
              <a:lnSpc>
                <a:spcPts val="2480"/>
              </a:lnSpc>
              <a:spcBef>
                <a:spcPts val="0"/>
              </a:spcBef>
              <a:spcAft>
                <a:spcPts val="0"/>
              </a:spcAft>
              <a:defRPr sz="2000" b="0">
                <a:solidFill>
                  <a:srgbClr val="193540"/>
                </a:solidFill>
                <a:latin typeface="DejaVu Sans"/>
              </a:defRPr>
            </a:pPr>
            <a:r>
              <a:t>Hur svarar du?</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12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Planen byggs med dagliga, regelstyrda köp.</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Graden är individuell; horisont och avtalslängd är skilda uppgifter.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Utgå från nätinköp per period och verifierade förändringar.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Volymväg jämförbara köp och skilj inköpssnitt från fakturapris.</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Bekräfta både prisfallsrisk och faktiskt genomförd handel.</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13 · Företag / Savera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Pool Trygg – gemensamma indexinköp med rörlig</a:t>
            </a:r>
          </a:p>
          <a:p>
            <a:pPr>
              <a:lnSpc>
                <a:spcPts val="3472"/>
              </a:lnSpc>
              <a:spcBef>
                <a:spcPts val="0"/>
              </a:spcBef>
              <a:spcAft>
                <a:spcPts val="0"/>
              </a:spcAft>
              <a:defRPr sz="2800" b="1">
                <a:solidFill>
                  <a:srgbClr val="FFFFFF"/>
                </a:solidFill>
                <a:latin typeface="DejaVu Sans"/>
              </a:defRPr>
            </a:pPr>
            <a:r>
              <a:t>del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257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80 procent index och 20 procent rörligt som strategifördelning.</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strategimål från genomförda säkringar och faktisk volymtäckning.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förbrukningsvägda årssnitt från samma periodpriser.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kvarvarande exponering och kontrollera rätt poolvillkor.</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1. Gemensam plan, inte automatiskt egen</a:t>
            </a:r>
          </a:p>
          <a:p>
            <a:pPr>
              <a:lnSpc>
                <a:spcPts val="3472"/>
              </a:lnSpc>
              <a:spcBef>
                <a:spcPts val="0"/>
              </a:spcBef>
              <a:spcAft>
                <a:spcPts val="0"/>
              </a:spcAft>
              <a:defRPr sz="2800" b="1">
                <a:solidFill>
                  <a:srgbClr val="193540"/>
                </a:solidFill>
                <a:latin typeface="DejaVu Sans"/>
              </a:defRPr>
            </a:pPr>
            <a:r>
              <a:t>inköpsplan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Pool Trygg använder 80 procent index och 20 procent rörligt. Indexdelen</a:t>
            </a:r>
          </a:p>
          <a:p>
            <a:pPr>
              <a:lnSpc>
                <a:spcPts val="2480"/>
              </a:lnSpc>
              <a:spcBef>
                <a:spcPts val="0"/>
              </a:spcBef>
              <a:spcAft>
                <a:spcPts val="0"/>
              </a:spcAft>
              <a:defRPr sz="2000" b="0">
                <a:solidFill>
                  <a:srgbClr val="193540"/>
                </a:solidFill>
                <a:latin typeface="DejaVu Sans"/>
              </a:defRPr>
            </a:pPr>
            <a:r>
              <a:t>byggs med regelstyrda, stegvisa köp. Kunden deltar i en gemensam strategi i</a:t>
            </a:r>
          </a:p>
          <a:p>
            <a:pPr>
              <a:lnSpc>
                <a:spcPts val="2480"/>
              </a:lnSpc>
              <a:spcBef>
                <a:spcPts val="0"/>
              </a:spcBef>
              <a:spcAft>
                <a:spcPts val="0"/>
              </a:spcAft>
              <a:defRPr sz="2000" b="0">
                <a:solidFill>
                  <a:srgbClr val="193540"/>
                </a:solidFill>
                <a:latin typeface="DejaVu Sans"/>
              </a:defRPr>
            </a:pPr>
            <a:r>
              <a:t>stället för att automatiskt få en egen individuellt utformad inköpsplan.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Procentsatserna beskriver hur förväntad volym fördelas i strategin. De</a:t>
            </a:r>
          </a:p>
          <a:p>
            <a:pPr>
              <a:lnSpc>
                <a:spcPts val="2480"/>
              </a:lnSpc>
              <a:spcBef>
                <a:spcPts val="0"/>
              </a:spcBef>
              <a:spcAft>
                <a:spcPts val="0"/>
              </a:spcAft>
              <a:defRPr sz="2000" b="0">
                <a:solidFill>
                  <a:srgbClr val="193540"/>
                </a:solidFill>
                <a:latin typeface="DejaVu Sans"/>
              </a:defRPr>
            </a:pPr>
            <a:r>
              <a:t>betyder inte att 80 procent av fakturan är fast, att hela indexdelen redan är</a:t>
            </a:r>
          </a:p>
          <a:p>
            <a:pPr>
              <a:lnSpc>
                <a:spcPts val="2480"/>
              </a:lnSpc>
              <a:spcBef>
                <a:spcPts val="0"/>
              </a:spcBef>
              <a:spcAft>
                <a:spcPts val="0"/>
              </a:spcAft>
              <a:defRPr sz="2000" b="0">
                <a:solidFill>
                  <a:srgbClr val="193540"/>
                </a:solidFill>
                <a:latin typeface="DejaVu Sans"/>
              </a:defRPr>
            </a:pPr>
            <a:r>
              <a:t>köpt eller att exakt 80 procent av varje faktisk kundkvart täcks.</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2. Fråga vad som är planerat och vad som är</a:t>
            </a:r>
          </a:p>
          <a:p>
            <a:pPr>
              <a:lnSpc>
                <a:spcPts val="3472"/>
              </a:lnSpc>
              <a:spcBef>
                <a:spcPts val="0"/>
              </a:spcBef>
              <a:spcAft>
                <a:spcPts val="0"/>
              </a:spcAft>
              <a:defRPr sz="2800" b="1">
                <a:solidFill>
                  <a:srgbClr val="193540"/>
                </a:solidFill>
                <a:latin typeface="DejaVu Sans"/>
              </a:defRPr>
            </a:pPr>
            <a:r>
              <a:t>genomfört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259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Indexmålet kan vara 80 procent medan köpen fortfarande byggs upp. Beskriv</a:t>
            </a:r>
          </a:p>
          <a:p>
            <a:pPr>
              <a:lnSpc>
                <a:spcPts val="2480"/>
              </a:lnSpc>
              <a:spcBef>
                <a:spcPts val="0"/>
              </a:spcBef>
              <a:spcAft>
                <a:spcPts val="0"/>
              </a:spcAft>
              <a:defRPr sz="2000" b="0">
                <a:solidFill>
                  <a:srgbClr val="193540"/>
                </a:solidFill>
                <a:latin typeface="DejaVu Sans"/>
              </a:defRPr>
            </a:pPr>
            <a:r>
              <a:t>nuläget med prognos och faktiskt genomförda säkringar för samma period. En</a:t>
            </a:r>
          </a:p>
          <a:p>
            <a:pPr>
              <a:lnSpc>
                <a:spcPts val="2480"/>
              </a:lnSpc>
              <a:spcBef>
                <a:spcPts val="0"/>
              </a:spcBef>
              <a:spcAft>
                <a:spcPts val="0"/>
              </a:spcAft>
              <a:defRPr sz="2000" b="0">
                <a:solidFill>
                  <a:srgbClr val="193540"/>
                </a:solidFill>
                <a:latin typeface="DejaVu Sans"/>
              </a:defRPr>
            </a:pPr>
            <a:r>
              <a:t>plan bevisar inte att målvolymen är köpt.</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Aktuell poolhorisont hämtas ur offerten och strategin. Individuell index har en</a:t>
            </a:r>
          </a:p>
          <a:p>
            <a:pPr>
              <a:lnSpc>
                <a:spcPts val="2480"/>
              </a:lnSpc>
              <a:spcBef>
                <a:spcPts val="0"/>
              </a:spcBef>
              <a:spcAft>
                <a:spcPts val="0"/>
              </a:spcAft>
              <a:defRPr sz="2000" b="0">
                <a:solidFill>
                  <a:srgbClr val="193540"/>
                </a:solidFill>
                <a:latin typeface="DejaVu Sans"/>
              </a:defRPr>
            </a:pPr>
            <a:r>
              <a:t>standardhorisont på 24 månader, men den gäller inte automatiskt poolen.</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3. Gemensamma periodpriser ger inte alltid</a:t>
            </a:r>
          </a:p>
          <a:p>
            <a:pPr>
              <a:lnSpc>
                <a:spcPts val="3472"/>
              </a:lnSpc>
              <a:spcBef>
                <a:spcPts val="0"/>
              </a:spcBef>
              <a:spcAft>
                <a:spcPts val="0"/>
              </a:spcAft>
              <a:defRPr sz="2800" b="1">
                <a:solidFill>
                  <a:srgbClr val="193540"/>
                </a:solidFill>
                <a:latin typeface="DejaVu Sans"/>
              </a:defRPr>
            </a:pPr>
            <a:r>
              <a:t>samma årssnitt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Poolens portföljpris behöver skiljas från kundens fullständiga</a:t>
            </a:r>
          </a:p>
          <a:p>
            <a:pPr>
              <a:lnSpc>
                <a:spcPts val="2480"/>
              </a:lnSpc>
              <a:spcBef>
                <a:spcPts val="0"/>
              </a:spcBef>
              <a:spcAft>
                <a:spcPts val="0"/>
              </a:spcAft>
              <a:defRPr sz="2000" b="0">
                <a:solidFill>
                  <a:srgbClr val="193540"/>
                </a:solidFill>
                <a:latin typeface="DejaVu Sans"/>
              </a:defRPr>
            </a:pPr>
            <a:r>
              <a:t>elhandelskostnad. Vad profilhantering, tillägg och eventuella individuella</a:t>
            </a:r>
          </a:p>
          <a:p>
            <a:pPr>
              <a:lnSpc>
                <a:spcPts val="2480"/>
              </a:lnSpc>
              <a:spcBef>
                <a:spcPts val="0"/>
              </a:spcBef>
              <a:spcAft>
                <a:spcPts val="0"/>
              </a:spcAft>
              <a:defRPr sz="2000" b="0">
                <a:solidFill>
                  <a:srgbClr val="193540"/>
                </a:solidFill>
                <a:latin typeface="DejaVu Sans"/>
              </a:defRPr>
            </a:pPr>
            <a:r>
              <a:t>kostnader innebär framgår av kundvillkoren.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Även när två kunder har samma jämförbara periodpriser kan deras årssnitt</a:t>
            </a:r>
          </a:p>
          <a:p>
            <a:pPr>
              <a:lnSpc>
                <a:spcPts val="2480"/>
              </a:lnSpc>
              <a:spcBef>
                <a:spcPts val="0"/>
              </a:spcBef>
              <a:spcAft>
                <a:spcPts val="0"/>
              </a:spcAft>
              <a:defRPr sz="2000" b="0">
                <a:solidFill>
                  <a:srgbClr val="193540"/>
                </a:solidFill>
                <a:latin typeface="DejaVu Sans"/>
              </a:defRPr>
            </a:pPr>
            <a:r>
              <a:t>skilja. En vintertung verksamhet använder mer under de dyra månaderna i ett</a:t>
            </a:r>
          </a:p>
          <a:p>
            <a:pPr>
              <a:lnSpc>
                <a:spcPts val="2480"/>
              </a:lnSpc>
              <a:spcBef>
                <a:spcPts val="0"/>
              </a:spcBef>
              <a:spcAft>
                <a:spcPts val="0"/>
              </a:spcAft>
              <a:defRPr sz="2000" b="0">
                <a:solidFill>
                  <a:srgbClr val="193540"/>
                </a:solidFill>
                <a:latin typeface="DejaVu Sans"/>
              </a:defRPr>
            </a:pPr>
            <a:r>
              <a:t>sådant exempel och får då ett högre volymvägt snitt.</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4. Trygghet är inte en prisgaranti</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Genomförda indexköp kan begränsa effekten av framtida prisuppgångar i de</a:t>
            </a:r>
          </a:p>
          <a:p>
            <a:pPr>
              <a:lnSpc>
                <a:spcPts val="2480"/>
              </a:lnSpc>
              <a:spcBef>
                <a:spcPts val="0"/>
              </a:spcBef>
              <a:spcAft>
                <a:spcPts val="0"/>
              </a:spcAft>
              <a:defRPr sz="2000" b="0">
                <a:solidFill>
                  <a:srgbClr val="193540"/>
                </a:solidFill>
                <a:latin typeface="DejaVu Sans"/>
              </a:defRPr>
            </a:pPr>
            <a:r>
              <a:t>komponenter som säkrats. Samma köp kan bli dyrare än en osäkrad</a:t>
            </a:r>
          </a:p>
          <a:p>
            <a:pPr>
              <a:lnSpc>
                <a:spcPts val="2480"/>
              </a:lnSpc>
              <a:spcBef>
                <a:spcPts val="0"/>
              </a:spcBef>
              <a:spcAft>
                <a:spcPts val="0"/>
              </a:spcAft>
              <a:defRPr sz="2000" b="0">
                <a:solidFill>
                  <a:srgbClr val="193540"/>
                </a:solidFill>
                <a:latin typeface="DejaVu Sans"/>
              </a:defRPr>
            </a:pPr>
            <a:r>
              <a:t>jämförelse vid prisfall. Den rörliga delen behåller marknadsexponering.</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Förbrukningen påverkar också kostnaden. Mer faktisk volym kan göra</a:t>
            </a:r>
          </a:p>
          <a:p>
            <a:pPr>
              <a:lnSpc>
                <a:spcPts val="2480"/>
              </a:lnSpc>
              <a:spcBef>
                <a:spcPts val="0"/>
              </a:spcBef>
              <a:spcAft>
                <a:spcPts val="0"/>
              </a:spcAft>
              <a:defRPr sz="2000" b="0">
                <a:solidFill>
                  <a:srgbClr val="193540"/>
                </a:solidFill>
                <a:latin typeface="DejaVu Sans"/>
              </a:defRPr>
            </a:pPr>
            <a:r>
              <a:t>säkringens täckning lägre än prognosandelen. Solceller, ett driftstopp eller</a:t>
            </a:r>
          </a:p>
          <a:p>
            <a:pPr>
              <a:lnSpc>
                <a:spcPts val="2480"/>
              </a:lnSpc>
              <a:spcBef>
                <a:spcPts val="0"/>
              </a:spcBef>
              <a:spcAft>
                <a:spcPts val="0"/>
              </a:spcAft>
              <a:defRPr sz="2000" b="0">
                <a:solidFill>
                  <a:srgbClr val="193540"/>
                </a:solidFill>
                <a:latin typeface="DejaVu Sans"/>
              </a:defRPr>
            </a:pPr>
            <a:r>
              <a:t>nya öppettider kan flytta månadsvolymerna.</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5. Bygg en jämförelse kunden kan förstå</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Fråga om kunden söker gemensam förvaltning eller egen plan. Utred</a:t>
            </a:r>
          </a:p>
          <a:p>
            <a:pPr>
              <a:lnSpc>
                <a:spcPts val="2480"/>
              </a:lnSpc>
              <a:spcBef>
                <a:spcPts val="0"/>
              </a:spcBef>
              <a:spcAft>
                <a:spcPts val="0"/>
              </a:spcAft>
              <a:defRPr sz="2000" b="0">
                <a:solidFill>
                  <a:srgbClr val="193540"/>
                </a:solidFill>
                <a:latin typeface="DejaVu Sans"/>
              </a:defRPr>
            </a:pPr>
            <a:r>
              <a:t>budgetrisk, månadsförbrukning, anläggningar, elområden och förändringar.</a:t>
            </a:r>
          </a:p>
          <a:p>
            <a:pPr>
              <a:lnSpc>
                <a:spcPts val="2480"/>
              </a:lnSpc>
              <a:spcBef>
                <a:spcPts val="0"/>
              </a:spcBef>
              <a:spcAft>
                <a:spcPts val="0"/>
              </a:spcAft>
              <a:defRPr sz="2000" b="0">
                <a:solidFill>
                  <a:srgbClr val="193540"/>
                </a:solidFill>
                <a:latin typeface="DejaVu Sans"/>
              </a:defRPr>
            </a:pPr>
            <a:r>
              <a:t>Årsvolymen räcker inte ensam för en rekommendation.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Inför offert behöver strategiversion, 80/20, poolhorisont, faktisk</a:t>
            </a:r>
          </a:p>
          <a:p>
            <a:pPr>
              <a:lnSpc>
                <a:spcPts val="2480"/>
              </a:lnSpc>
              <a:spcBef>
                <a:spcPts val="0"/>
              </a:spcBef>
              <a:spcAft>
                <a:spcPts val="0"/>
              </a:spcAft>
              <a:defRPr sz="2000" b="0">
                <a:solidFill>
                  <a:srgbClr val="193540"/>
                </a:solidFill>
                <a:latin typeface="DejaVu Sans"/>
              </a:defRPr>
            </a:pPr>
            <a:r>
              <a:t>säkringsuppbyggnad och kundavtal kontrolleras. Specificera portföljpris,</a:t>
            </a:r>
          </a:p>
          <a:p>
            <a:pPr>
              <a:lnSpc>
                <a:spcPts val="2480"/>
              </a:lnSpc>
              <a:spcBef>
                <a:spcPts val="0"/>
              </a:spcBef>
              <a:spcAft>
                <a:spcPts val="0"/>
              </a:spcAft>
              <a:defRPr sz="2000" b="0">
                <a:solidFill>
                  <a:srgbClr val="193540"/>
                </a:solidFill>
                <a:latin typeface="DejaVu Sans"/>
              </a:defRPr>
            </a:pPr>
            <a:r>
              <a:t>profilhantering och tillägg. Jämför samma period, volym och kostnadsdelar.</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Strategimål och nuläge är olika siffror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Syntetiska jämförbara volymer för samma period. Säkringar antas hänföras till</a:t>
            </a:r>
          </a:p>
          <a:p>
            <a:pPr>
              <a:lnSpc>
                <a:spcPts val="2480"/>
              </a:lnSpc>
              <a:spcBef>
                <a:spcPts val="0"/>
              </a:spcBef>
              <a:spcAft>
                <a:spcPts val="0"/>
              </a:spcAft>
              <a:defRPr sz="2000" b="0">
                <a:solidFill>
                  <a:srgbClr val="193540"/>
                </a:solidFill>
                <a:latin typeface="DejaVu Sans"/>
              </a:defRPr>
            </a:pPr>
            <a:r>
              <a:t>exempelvolymen. Inga priser eller avvikelsekostnader beräknas.</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Förväntad volym: 1 000 MWh. Strategi: 80 procent index och 20 procent</a:t>
            </a:r>
          </a:p>
          <a:p>
            <a:pPr>
              <a:lnSpc>
                <a:spcPts val="2480"/>
              </a:lnSpc>
              <a:spcBef>
                <a:spcPts val="0"/>
              </a:spcBef>
              <a:spcAft>
                <a:spcPts val="0"/>
              </a:spcAft>
              <a:defRPr sz="2000" b="0">
                <a:solidFill>
                  <a:srgbClr val="193540"/>
                </a:solidFill>
                <a:latin typeface="DejaVu Sans"/>
              </a:defRPr>
            </a:pPr>
            <a:r>
              <a:t>rörligt.</a:t>
            </a:r>
          </a:p>
        </p:txBody>
      </p:sp>
      <p:sp>
        <p:nvSpPr>
          <p:cNvPr id="8" name="TextBox 7"/>
          <p:cNvSpPr txBox="1"/>
          <p:nvPr/>
        </p:nvSpPr>
        <p:spPr>
          <a:xfrm>
            <a:off x="603504" y="36372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Vid mättillfället är endast 500 MWh av den planerade indexvolymen</a:t>
            </a:r>
          </a:p>
          <a:p>
            <a:pPr>
              <a:lnSpc>
                <a:spcPts val="2480"/>
              </a:lnSpc>
              <a:spcBef>
                <a:spcPts val="0"/>
              </a:spcBef>
              <a:spcAft>
                <a:spcPts val="0"/>
              </a:spcAft>
              <a:defRPr sz="2000" b="0">
                <a:solidFill>
                  <a:srgbClr val="193540"/>
                </a:solidFill>
                <a:latin typeface="DejaVu Sans"/>
              </a:defRPr>
            </a:pPr>
            <a:r>
              <a:t>genomfört. Faktisk förbrukning för perioden antas senare bli 1 250 MWh.</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Strategimål och nuläge är olika siffror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Strategins indexmål: 1 000 × 0,80 = 800 MWh. Strategins rörliga del: 1 000</a:t>
            </a:r>
          </a:p>
          <a:p>
            <a:pPr>
              <a:lnSpc>
                <a:spcPts val="2480"/>
              </a:lnSpc>
              <a:spcBef>
                <a:spcPts val="0"/>
              </a:spcBef>
              <a:spcAft>
                <a:spcPts val="0"/>
              </a:spcAft>
              <a:defRPr sz="2000" b="0">
                <a:solidFill>
                  <a:srgbClr val="193540"/>
                </a:solidFill>
                <a:latin typeface="DejaVu Sans"/>
              </a:defRPr>
            </a:pPr>
            <a:r>
              <a:t>× 0,20 = 200 MWh.</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Genomfört vid mättillfället: 500 ÷ 1 000 × 100 = 50 procent av prognosen,</a:t>
            </a:r>
          </a:p>
          <a:p>
            <a:pPr>
              <a:lnSpc>
                <a:spcPts val="2480"/>
              </a:lnSpc>
              <a:spcBef>
                <a:spcPts val="0"/>
              </a:spcBef>
              <a:spcAft>
                <a:spcPts val="0"/>
              </a:spcAft>
              <a:defRPr sz="2000" b="0">
                <a:solidFill>
                  <a:srgbClr val="193540"/>
                </a:solidFill>
                <a:latin typeface="DejaVu Sans"/>
              </a:defRPr>
            </a:pPr>
            <a:r>
              <a:t>inte 80 procent.</a:t>
            </a:r>
          </a:p>
        </p:txBody>
      </p:sp>
      <p:sp>
        <p:nvSpPr>
          <p:cNvPr id="8" name="TextBox 7"/>
          <p:cNvSpPr txBox="1"/>
          <p:nvPr/>
        </p:nvSpPr>
        <p:spPr>
          <a:xfrm>
            <a:off x="603504" y="36372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Om inga ytterligare köp görs blir faktisk volymtäckning 500 ÷ 1 250 × 100</a:t>
            </a:r>
          </a:p>
          <a:p>
            <a:pPr>
              <a:lnSpc>
                <a:spcPts val="2480"/>
              </a:lnSpc>
              <a:spcBef>
                <a:spcPts val="0"/>
              </a:spcBef>
              <a:spcAft>
                <a:spcPts val="0"/>
              </a:spcAft>
              <a:defRPr sz="2000" b="0">
                <a:solidFill>
                  <a:srgbClr val="193540"/>
                </a:solidFill>
                <a:latin typeface="DejaVu Sans"/>
              </a:defRPr>
            </a:pPr>
            <a:r>
              <a:t>= 40 procent.</a:t>
            </a:r>
          </a:p>
        </p:txBody>
      </p:sp>
      <p:sp>
        <p:nvSpPr>
          <p:cNvPr id="9" name="TextBox 8"/>
          <p:cNvSpPr txBox="1"/>
          <p:nvPr/>
        </p:nvSpPr>
        <p:spPr>
          <a:xfrm>
            <a:off x="603504" y="43815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Om hela målvolymen 800 MWh i stället genomförs blir täckningen 800 ÷</a:t>
            </a:r>
          </a:p>
          <a:p>
            <a:pPr>
              <a:lnSpc>
                <a:spcPts val="2480"/>
              </a:lnSpc>
              <a:spcBef>
                <a:spcPts val="0"/>
              </a:spcBef>
              <a:spcAft>
                <a:spcPts val="0"/>
              </a:spcAft>
              <a:defRPr sz="2000" b="0">
                <a:solidFill>
                  <a:srgbClr val="193540"/>
                </a:solidFill>
                <a:latin typeface="DejaVu Sans"/>
              </a:defRPr>
            </a:pPr>
            <a:r>
              <a:t>1 250 × 100 = 64 procent.</a:t>
            </a:r>
          </a:p>
        </p:txBody>
      </p:sp>
      <p:sp>
        <p:nvSpPr>
          <p:cNvPr id="10" name="TextBox 9"/>
          <p:cNvSpPr txBox="1"/>
          <p:nvPr/>
        </p:nvSpPr>
        <p:spPr>
          <a:xfrm>
            <a:off x="603504" y="51257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80 procent är strategimålet; nuläget är 500 MWh och scenariernas</a:t>
            </a:r>
          </a:p>
          <a:p>
            <a:pPr>
              <a:lnSpc>
                <a:spcPts val="2480"/>
              </a:lnSpc>
              <a:spcBef>
                <a:spcPts val="0"/>
              </a:spcBef>
              <a:spcAft>
                <a:spcPts val="0"/>
              </a:spcAft>
              <a:defRPr sz="2000" b="0">
                <a:solidFill>
                  <a:srgbClr val="193540"/>
                </a:solidFill>
                <a:latin typeface="DejaVu Sans"/>
              </a:defRPr>
            </a:pPr>
            <a:r>
              <a:t>faktiska täckning är 40 eller 64 procent.</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Två kunder, samma periodpriser, olika årssnitt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265</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Två syntetiska säsongsblock sammanfattar ett år. Priserna avser samma</a:t>
            </a:r>
          </a:p>
          <a:p>
            <a:pPr>
              <a:lnSpc>
                <a:spcPts val="2480"/>
              </a:lnSpc>
              <a:spcBef>
                <a:spcPts val="0"/>
              </a:spcBef>
              <a:spcAft>
                <a:spcPts val="0"/>
              </a:spcAft>
              <a:defRPr sz="2000" b="0">
                <a:solidFill>
                  <a:srgbClr val="193540"/>
                </a:solidFill>
                <a:latin typeface="DejaVu Sans"/>
              </a:defRPr>
            </a:pPr>
            <a:r>
              <a:t>redan sammanställda portföljkomponent; 80/20 har inte en gång till</a:t>
            </a:r>
          </a:p>
          <a:p>
            <a:pPr>
              <a:lnSpc>
                <a:spcPts val="2480"/>
              </a:lnSpc>
              <a:spcBef>
                <a:spcPts val="0"/>
              </a:spcBef>
              <a:spcAft>
                <a:spcPts val="0"/>
              </a:spcAft>
              <a:defRPr sz="2000" b="0">
                <a:solidFill>
                  <a:srgbClr val="193540"/>
                </a:solidFill>
                <a:latin typeface="DejaVu Sans"/>
              </a:defRPr>
            </a:pPr>
            <a:r>
              <a:t>applicerats på dem. Profil, tillägg, andra komponenter, elnät, energiskatt och</a:t>
            </a:r>
          </a:p>
          <a:p>
            <a:pPr>
              <a:lnSpc>
                <a:spcPts val="2480"/>
              </a:lnSpc>
              <a:spcBef>
                <a:spcPts val="0"/>
              </a:spcBef>
              <a:spcAft>
                <a:spcPts val="0"/>
              </a:spcAft>
              <a:defRPr sz="2000" b="0">
                <a:solidFill>
                  <a:srgbClr val="193540"/>
                </a:solidFill>
                <a:latin typeface="DejaVu Sans"/>
              </a:defRPr>
            </a:pPr>
            <a:r>
              <a:t>moms ingår inte.</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Illustrerat vinterpris: 100 öre/kWh. Sommarpris: 50 öre/kWh.</a:t>
            </a:r>
          </a:p>
        </p:txBody>
      </p:sp>
      <p:sp>
        <p:nvSpPr>
          <p:cNvPr id="8" name="TextBox 7"/>
          <p:cNvSpPr txBox="1"/>
          <p:nvPr/>
        </p:nvSpPr>
        <p:spPr>
          <a:xfrm>
            <a:off x="603504" y="3952239"/>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Kund A använder 600 000 kWh vinter och 400 000 kWh sommar. Kund B</a:t>
            </a:r>
          </a:p>
          <a:p>
            <a:pPr>
              <a:lnSpc>
                <a:spcPts val="2480"/>
              </a:lnSpc>
              <a:spcBef>
                <a:spcPts val="0"/>
              </a:spcBef>
              <a:spcAft>
                <a:spcPts val="0"/>
              </a:spcAft>
              <a:defRPr sz="2000" b="0">
                <a:solidFill>
                  <a:srgbClr val="193540"/>
                </a:solidFill>
                <a:latin typeface="DejaVu Sans"/>
              </a:defRPr>
            </a:pPr>
            <a:r>
              <a:t>använder 200 000 respektive 800 000 kWh.</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Två kunder, samma periodpriser, olika</a:t>
            </a:r>
          </a:p>
          <a:p>
            <a:pPr>
              <a:lnSpc>
                <a:spcPts val="3472"/>
              </a:lnSpc>
              <a:spcBef>
                <a:spcPts val="0"/>
              </a:spcBef>
              <a:spcAft>
                <a:spcPts val="0"/>
              </a:spcAft>
              <a:defRPr sz="2800" b="1">
                <a:solidFill>
                  <a:srgbClr val="193540"/>
                </a:solidFill>
                <a:latin typeface="DejaVu Sans"/>
              </a:defRPr>
            </a:pPr>
            <a:r>
              <a:t>årssnitt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Kund A: 600 000 × 1,00 + 400 000 × 0,50 = 800 000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Kund A:s snitt: 800 000 ÷ 1 000 000 × 100 = 80 öre/kWh.</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Kund B: 200 000 × 1,00 + 800 000 × 0,50 = 600 000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Kund B:s snitt: 600 000 ÷ 1 000 000 × 100 = 60 öre/kWh.</a:t>
            </a:r>
          </a:p>
        </p:txBody>
      </p:sp>
      <p:sp>
        <p:nvSpPr>
          <p:cNvPr id="10" name="TextBox 9"/>
          <p:cNvSpPr txBox="1"/>
          <p:nvPr/>
        </p:nvSpPr>
        <p:spPr>
          <a:xfrm>
            <a:off x="603504" y="38658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Kund A får 80 öre/kWh och kund B 60 öre/kWh för den illustrerade</a:t>
            </a:r>
          </a:p>
          <a:p>
            <a:pPr>
              <a:lnSpc>
                <a:spcPts val="2480"/>
              </a:lnSpc>
              <a:spcBef>
                <a:spcPts val="0"/>
              </a:spcBef>
              <a:spcAft>
                <a:spcPts val="0"/>
              </a:spcAft>
              <a:defRPr sz="2000" b="0">
                <a:solidFill>
                  <a:srgbClr val="193540"/>
                </a:solidFill>
                <a:latin typeface="DejaVu Sans"/>
              </a:defRPr>
            </a:pPr>
            <a:r>
              <a:t>komponenten.</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Trygg betyder 80 procent fast faktura.</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80 procent avser indexdelen i strategins förväntade volym.</a:t>
            </a:r>
          </a:p>
          <a:p>
            <a:pPr>
              <a:lnSpc>
                <a:spcPts val="2480"/>
              </a:lnSpc>
              <a:spcBef>
                <a:spcPts val="0"/>
              </a:spcBef>
              <a:spcAft>
                <a:spcPts val="0"/>
              </a:spcAft>
              <a:defRPr sz="2000" b="0">
                <a:solidFill>
                  <a:srgbClr val="193540"/>
                </a:solidFill>
                <a:latin typeface="DejaVu Sans"/>
              </a:defRPr>
            </a:pPr>
            <a:r>
              <a:t>Fakturan påverkas även av faktisk volym och andra komponenter.</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Alla poolkunder har samma årssnitt.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Samma periodpriser kan ge olika förbrukningsvägda årssnitt när</a:t>
            </a:r>
          </a:p>
          <a:p>
            <a:pPr>
              <a:lnSpc>
                <a:spcPts val="2480"/>
              </a:lnSpc>
              <a:spcBef>
                <a:spcPts val="0"/>
              </a:spcBef>
              <a:spcAft>
                <a:spcPts val="0"/>
              </a:spcAft>
              <a:defRPr sz="2000" b="0">
                <a:solidFill>
                  <a:srgbClr val="193540"/>
                </a:solidFill>
                <a:latin typeface="DejaVu Sans"/>
              </a:defRPr>
            </a:pPr>
            <a:r>
              <a:t>månadsvolymerna skiljer.</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269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Poolen har automatiskt 24 månaders horisont.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Aktuell poolhorisont kontrolleras separat i strategi och offert;</a:t>
            </a:r>
          </a:p>
          <a:p>
            <a:pPr>
              <a:lnSpc>
                <a:spcPts val="2480"/>
              </a:lnSpc>
              <a:spcBef>
                <a:spcPts val="0"/>
              </a:spcBef>
              <a:spcAft>
                <a:spcPts val="0"/>
              </a:spcAft>
              <a:defRPr sz="2000" b="0">
                <a:solidFill>
                  <a:srgbClr val="193540"/>
                </a:solidFill>
                <a:latin typeface="DejaVu Sans"/>
              </a:defRPr>
            </a:pPr>
            <a:r>
              <a:t>individuell indexstandard kan inte överföras.</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Pool Trygg bygger på gemensamma, regelstyrda inköp för 80 procent av den</a:t>
            </a:r>
          </a:p>
          <a:p>
            <a:pPr>
              <a:lnSpc>
                <a:spcPts val="2480"/>
              </a:lnSpc>
              <a:spcBef>
                <a:spcPts val="0"/>
              </a:spcBef>
              <a:spcAft>
                <a:spcPts val="0"/>
              </a:spcAft>
              <a:defRPr sz="2000" b="0">
                <a:solidFill>
                  <a:srgbClr val="193540"/>
                </a:solidFill>
                <a:latin typeface="DejaVu Sans"/>
              </a:defRPr>
            </a:pPr>
            <a:r>
              <a:t>förväntade volymen och 20 procent rörligt. Det sprider indexdelens inköp över</a:t>
            </a:r>
          </a:p>
          <a:p>
            <a:pPr>
              <a:lnSpc>
                <a:spcPts val="2480"/>
              </a:lnSpc>
              <a:spcBef>
                <a:spcPts val="0"/>
              </a:spcBef>
              <a:spcAft>
                <a:spcPts val="0"/>
              </a:spcAft>
              <a:defRPr sz="2000" b="0">
                <a:solidFill>
                  <a:srgbClr val="193540"/>
                </a:solidFill>
                <a:latin typeface="DejaVu Sans"/>
              </a:defRPr>
            </a:pPr>
            <a:r>
              <a:t>tid. Det ger ingen garanti om lägst pris eller helt fast kostnad.</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En vintertung verkstad vill veta sin budget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271</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fiktiv verkstad väntar 1 200 000 kWh nätinköp: 70 procent vinter och 30</a:t>
            </a:r>
          </a:p>
          <a:p>
            <a:pPr>
              <a:lnSpc>
                <a:spcPts val="2480"/>
              </a:lnSpc>
              <a:spcBef>
                <a:spcPts val="0"/>
              </a:spcBef>
              <a:spcAft>
                <a:spcPts val="0"/>
              </a:spcAft>
              <a:defRPr sz="2000" b="0">
                <a:solidFill>
                  <a:srgbClr val="193540"/>
                </a:solidFill>
                <a:latin typeface="DejaVu Sans"/>
              </a:defRPr>
            </a:pPr>
            <a:r>
              <a:t>procent sommar. Övningspriserna är 90 respektive 60 öre/kWh för</a:t>
            </a:r>
          </a:p>
          <a:p>
            <a:pPr>
              <a:lnSpc>
                <a:spcPts val="2480"/>
              </a:lnSpc>
              <a:spcBef>
                <a:spcPts val="0"/>
              </a:spcBef>
              <a:spcAft>
                <a:spcPts val="0"/>
              </a:spcAft>
              <a:defRPr sz="2000" b="0">
                <a:solidFill>
                  <a:srgbClr val="193540"/>
                </a:solidFill>
                <a:latin typeface="DejaVu Sans"/>
              </a:defRPr>
            </a:pPr>
            <a:r>
              <a:t>portföljkomponenten. Ekonomichefen tror att Trygg ger samma årssnitt som</a:t>
            </a:r>
          </a:p>
          <a:p>
            <a:pPr>
              <a:lnSpc>
                <a:spcPts val="2480"/>
              </a:lnSpc>
              <a:spcBef>
                <a:spcPts val="0"/>
              </a:spcBef>
              <a:spcAft>
                <a:spcPts val="0"/>
              </a:spcAft>
              <a:defRPr sz="2000" b="0">
                <a:solidFill>
                  <a:srgbClr val="193540"/>
                </a:solidFill>
                <a:latin typeface="DejaVu Sans"/>
              </a:defRPr>
            </a:pPr>
            <a:r>
              <a:t>andra kunder och 80 procent fast faktura.</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Beräkna verkstadens volymvägda komponentpris och kostnad.</a:t>
            </a:r>
          </a:p>
        </p:txBody>
      </p:sp>
      <p:sp>
        <p:nvSpPr>
          <p:cNvPr id="8" name="TextBox 7"/>
          <p:cNvSpPr txBox="1"/>
          <p:nvPr/>
        </p:nvSpPr>
        <p:spPr>
          <a:xfrm>
            <a:off x="603504" y="39522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Rätta påståendena om årssnitt och faktura.</a:t>
            </a:r>
          </a:p>
        </p:txBody>
      </p:sp>
      <p:sp>
        <p:nvSpPr>
          <p:cNvPr id="9" name="TextBox 8"/>
          <p:cNvSpPr txBox="1"/>
          <p:nvPr/>
        </p:nvSpPr>
        <p:spPr>
          <a:xfrm>
            <a:off x="603504" y="438149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vilka aktuella pooluppgifter du måste verifiera före offert.</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Visar 840 000 och 360 000 kWh samt korrekt kronomvandling.</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Anger 81 öre/kWh och 972 000 kr med begränsad omfattning.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strategimål, faktisk position och faktura.</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Kontrollerar poolens egna aktuella villkor utan antagen horisont.</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Vilket påstående förklarar 80/20 korrekt?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80 procent av varje faktura är garanterat fast.</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Förväntad volym fördelas i strategin på 80 procent index och 20 procent</a:t>
            </a:r>
          </a:p>
          <a:p>
            <a:pPr>
              <a:lnSpc>
                <a:spcPts val="2480"/>
              </a:lnSpc>
              <a:spcBef>
                <a:spcPts val="0"/>
              </a:spcBef>
              <a:spcAft>
                <a:spcPts val="0"/>
              </a:spcAft>
              <a:defRPr sz="2000" b="0">
                <a:solidFill>
                  <a:srgbClr val="193540"/>
                </a:solidFill>
                <a:latin typeface="DejaVu Sans"/>
              </a:defRPr>
            </a:pPr>
            <a:r>
              <a:t>rörligt.</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80 procent är bevis på redan genomförd handel i varje kvart.</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800 MWh säkring är genomförd för perioden och faktisk volym blir</a:t>
            </a:r>
          </a:p>
          <a:p>
            <a:pPr>
              <a:lnSpc>
                <a:spcPts val="2480"/>
              </a:lnSpc>
              <a:spcBef>
                <a:spcPts val="0"/>
              </a:spcBef>
              <a:spcAft>
                <a:spcPts val="0"/>
              </a:spcAft>
              <a:defRPr sz="2000" b="0">
                <a:solidFill>
                  <a:srgbClr val="193540"/>
                </a:solidFill>
                <a:latin typeface="DejaVu Sans"/>
              </a:defRPr>
            </a:pPr>
            <a:r>
              <a:t>1 250 MWh. Vilken faktisk volymtäckning blir det?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procent.</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Varför får kund A och B olika snitt i det andra exemplet?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Samma portföljpris ger automatiskt olika påslag.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Deras volymer ligger olika fördelade mellan perioderna.</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Kund B får alltid en billigare produkt.</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276</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vill att du lovar 24 månaders poolhorisont och samma fakturabelopp</a:t>
            </a:r>
          </a:p>
          <a:p>
            <a:pPr>
              <a:lnSpc>
                <a:spcPts val="2480"/>
              </a:lnSpc>
              <a:spcBef>
                <a:spcPts val="0"/>
              </a:spcBef>
              <a:spcAft>
                <a:spcPts val="0"/>
              </a:spcAft>
              <a:defRPr sz="2000" b="0">
                <a:solidFill>
                  <a:srgbClr val="193540"/>
                </a:solidFill>
                <a:latin typeface="DejaVu Sans"/>
              </a:defRPr>
            </a:pPr>
            <a:r>
              <a:t>varje månad. Hur hanterar du det?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13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80/20 beskriver strategins förväntade volym.</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Planerad andel bevisar inte genomförd säkring.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Volymväg varje kunds periodpriser med kundens kWh.</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Trygg innebär inte prisgaranti eller lika fakturabelopp.</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 poolens egen horisont, profil och avvikelsevillkor.</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14 · Företag / Savera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Pool Offensiv – index, aktiva beslut och rörlig</a:t>
            </a:r>
          </a:p>
          <a:p>
            <a:pPr>
              <a:lnSpc>
                <a:spcPts val="3472"/>
              </a:lnSpc>
              <a:spcBef>
                <a:spcPts val="0"/>
              </a:spcBef>
              <a:spcAft>
                <a:spcPts val="0"/>
              </a:spcAft>
              <a:defRPr sz="2800" b="1">
                <a:solidFill>
                  <a:srgbClr val="FFFFFF"/>
                </a:solidFill>
                <a:latin typeface="DejaVu Sans"/>
              </a:defRPr>
            </a:pPr>
            <a:r>
              <a:t>exponering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278</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strategins 40 procent index, 40 procent aktivt och 20 procent</a:t>
            </a:r>
          </a:p>
          <a:p>
            <a:pPr>
              <a:lnSpc>
                <a:spcPts val="2480"/>
              </a:lnSpc>
              <a:spcBef>
                <a:spcPts val="0"/>
              </a:spcBef>
              <a:spcAft>
                <a:spcPts val="0"/>
              </a:spcAft>
              <a:defRPr sz="2000" b="0">
                <a:solidFill>
                  <a:srgbClr val="FFFFFF"/>
                </a:solidFill>
                <a:latin typeface="DejaVu Sans"/>
              </a:defRPr>
            </a:pPr>
            <a:r>
              <a:t>rörligt.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aktiv beslutsprincip från faktisk position och garanterat resultat.</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jämförbara scenarier med rätt volymvikter och kostnadsomfattning.</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Bedöma kundens acceptans för sämre aktivt utfall och verifiera aktuellt</a:t>
            </a:r>
          </a:p>
          <a:p>
            <a:pPr>
              <a:lnSpc>
                <a:spcPts val="2480"/>
              </a:lnSpc>
              <a:spcBef>
                <a:spcPts val="0"/>
              </a:spcBef>
              <a:spcAft>
                <a:spcPts val="0"/>
              </a:spcAft>
              <a:defRPr sz="2000" b="0">
                <a:solidFill>
                  <a:srgbClr val="FFFFFF"/>
                </a:solidFill>
                <a:latin typeface="DejaVu Sans"/>
              </a:defRPr>
            </a:pPr>
            <a:r>
              <a:t>mandat.</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1. Tre delar med olika beslutsprinciper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279</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Strategin fördelar förväntad volym på 40 procent index, 40 procent aktiv</a:t>
            </a:r>
          </a:p>
          <a:p>
            <a:pPr>
              <a:lnSpc>
                <a:spcPts val="2480"/>
              </a:lnSpc>
              <a:spcBef>
                <a:spcPts val="0"/>
              </a:spcBef>
              <a:spcAft>
                <a:spcPts val="0"/>
              </a:spcAft>
              <a:defRPr sz="2000" b="0">
                <a:solidFill>
                  <a:srgbClr val="193540"/>
                </a:solidFill>
                <a:latin typeface="DejaVu Sans"/>
              </a:defRPr>
            </a:pPr>
            <a:r>
              <a:t>förvaltning och 20 procent rörligt. Indexdelen bygger på regelstyrda köp över</a:t>
            </a:r>
          </a:p>
          <a:p>
            <a:pPr>
              <a:lnSpc>
                <a:spcPts val="2480"/>
              </a:lnSpc>
              <a:spcBef>
                <a:spcPts val="0"/>
              </a:spcBef>
              <a:spcAft>
                <a:spcPts val="0"/>
              </a:spcAft>
              <a:defRPr sz="2000" b="0">
                <a:solidFill>
                  <a:srgbClr val="193540"/>
                </a:solidFill>
                <a:latin typeface="DejaVu Sans"/>
              </a:defRPr>
            </a:pPr>
            <a:r>
              <a:t>tid. Den aktiva delen bygger på marknadsbedömningar inom ett aktuellt</a:t>
            </a:r>
          </a:p>
          <a:p>
            <a:pPr>
              <a:lnSpc>
                <a:spcPts val="2480"/>
              </a:lnSpc>
              <a:spcBef>
                <a:spcPts val="0"/>
              </a:spcBef>
              <a:spcAft>
                <a:spcPts val="0"/>
              </a:spcAft>
              <a:defRPr sz="2000" b="0">
                <a:solidFill>
                  <a:srgbClr val="193540"/>
                </a:solidFill>
                <a:latin typeface="DejaVu Sans"/>
              </a:defRPr>
            </a:pPr>
            <a:r>
              <a:t>mandat.</a:t>
            </a:r>
          </a:p>
        </p:txBody>
      </p:sp>
      <p:sp>
        <p:nvSpPr>
          <p:cNvPr id="7" name="TextBox 6"/>
          <p:cNvSpPr txBox="1"/>
          <p:nvPr/>
        </p:nvSpPr>
        <p:spPr>
          <a:xfrm>
            <a:off x="603504" y="352298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Fördelningen beskriver strategin, inte 80 procent genomförd säkring eller en</a:t>
            </a:r>
          </a:p>
          <a:p>
            <a:pPr>
              <a:lnSpc>
                <a:spcPts val="2480"/>
              </a:lnSpc>
              <a:spcBef>
                <a:spcPts val="0"/>
              </a:spcBef>
              <a:spcAft>
                <a:spcPts val="0"/>
              </a:spcAft>
              <a:defRPr sz="2000" b="0">
                <a:solidFill>
                  <a:srgbClr val="193540"/>
                </a:solidFill>
                <a:latin typeface="DejaVu Sans"/>
              </a:defRPr>
            </a:pPr>
            <a:r>
              <a:t>bestämd aktiv position. Olika beslut kan fattas inom mandatet. Kunden deltar</a:t>
            </a:r>
          </a:p>
          <a:p>
            <a:pPr>
              <a:lnSpc>
                <a:spcPts val="2480"/>
              </a:lnSpc>
              <a:spcBef>
                <a:spcPts val="0"/>
              </a:spcBef>
              <a:spcAft>
                <a:spcPts val="0"/>
              </a:spcAft>
              <a:defRPr sz="2000" b="0">
                <a:solidFill>
                  <a:srgbClr val="193540"/>
                </a:solidFill>
                <a:latin typeface="DejaVu Sans"/>
              </a:defRPr>
            </a:pPr>
            <a:r>
              <a:t>i en gemensam pool, inte automatiskt en egen individuell plan.</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2. Aktivt betyder möjlighet och risk</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Marknadsbedömningar kan ge ett lägre pris än en annan strategi, men de kan</a:t>
            </a:r>
          </a:p>
          <a:p>
            <a:pPr>
              <a:lnSpc>
                <a:spcPts val="2480"/>
              </a:lnSpc>
              <a:spcBef>
                <a:spcPts val="0"/>
              </a:spcBef>
              <a:spcAft>
                <a:spcPts val="0"/>
              </a:spcAft>
              <a:defRPr sz="2000" b="0">
                <a:solidFill>
                  <a:srgbClr val="193540"/>
                </a:solidFill>
                <a:latin typeface="DejaVu Sans"/>
              </a:defRPr>
            </a:pPr>
            <a:r>
              <a:t>också ge ett högre pris. Ett lyckat tidigare beslut bevisar inte att nästa beslut</a:t>
            </a:r>
          </a:p>
          <a:p>
            <a:pPr>
              <a:lnSpc>
                <a:spcPts val="2480"/>
              </a:lnSpc>
              <a:spcBef>
                <a:spcPts val="0"/>
              </a:spcBef>
              <a:spcAft>
                <a:spcPts val="0"/>
              </a:spcAft>
              <a:defRPr sz="2000" b="0">
                <a:solidFill>
                  <a:srgbClr val="193540"/>
                </a:solidFill>
                <a:latin typeface="DejaVu Sans"/>
              </a:defRPr>
            </a:pPr>
            <a:r>
              <a:t>lyckas.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Kontrollera dagens ansvariga funktion, strategiversion och tillåtna beslut.</a:t>
            </a:r>
          </a:p>
          <a:p>
            <a:pPr>
              <a:lnSpc>
                <a:spcPts val="2480"/>
              </a:lnSpc>
              <a:spcBef>
                <a:spcPts val="0"/>
              </a:spcBef>
              <a:spcAft>
                <a:spcPts val="0"/>
              </a:spcAft>
              <a:defRPr sz="2000" b="0">
                <a:solidFill>
                  <a:srgbClr val="193540"/>
                </a:solidFill>
                <a:latin typeface="DejaVu Sans"/>
              </a:defRPr>
            </a:pPr>
            <a:r>
              <a:t>Äldre material bevisar inte vem som förvaltar poolen nu. Förvaltaridentitet,</a:t>
            </a:r>
          </a:p>
          <a:p>
            <a:pPr>
              <a:lnSpc>
                <a:spcPts val="2480"/>
              </a:lnSpc>
              <a:spcBef>
                <a:spcPts val="0"/>
              </a:spcBef>
              <a:spcAft>
                <a:spcPts val="0"/>
              </a:spcAft>
              <a:defRPr sz="2000" b="0">
                <a:solidFill>
                  <a:srgbClr val="193540"/>
                </a:solidFill>
                <a:latin typeface="DejaVu Sans"/>
              </a:defRPr>
            </a:pPr>
            <a:r>
              <a:t>mandatgränser och tidsramar får inte antas.</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3. Håll mål, position och utfall i tre kolumner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Strategimålet är 40/40/20 av förväntad volym. Faktisk position beskriver</a:t>
            </a:r>
          </a:p>
          <a:p>
            <a:pPr>
              <a:lnSpc>
                <a:spcPts val="2480"/>
              </a:lnSpc>
              <a:spcBef>
                <a:spcPts val="0"/>
              </a:spcBef>
              <a:spcAft>
                <a:spcPts val="0"/>
              </a:spcAft>
              <a:defRPr sz="2000" b="0">
                <a:solidFill>
                  <a:srgbClr val="193540"/>
                </a:solidFill>
                <a:latin typeface="DejaVu Sans"/>
              </a:defRPr>
            </a:pPr>
            <a:r>
              <a:t>genomförda köp och annan verifierad exponering för en angiven period.</a:t>
            </a:r>
          </a:p>
          <a:p>
            <a:pPr>
              <a:lnSpc>
                <a:spcPts val="2480"/>
              </a:lnSpc>
              <a:spcBef>
                <a:spcPts val="0"/>
              </a:spcBef>
              <a:spcAft>
                <a:spcPts val="0"/>
              </a:spcAft>
              <a:defRPr sz="2000" b="0">
                <a:solidFill>
                  <a:srgbClr val="193540"/>
                </a:solidFill>
                <a:latin typeface="DejaVu Sans"/>
              </a:defRPr>
            </a:pPr>
            <a:r>
              <a:t>Utfallet beskriver vad dessa beslut och marknaden gav.</a:t>
            </a:r>
          </a:p>
        </p:txBody>
      </p:sp>
      <p:sp>
        <p:nvSpPr>
          <p:cNvPr id="7" name="TextBox 6"/>
          <p:cNvSpPr txBox="1"/>
          <p:nvPr/>
        </p:nvSpPr>
        <p:spPr>
          <a:xfrm>
            <a:off x="603504" y="320802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Ändrad förbrukning förändrar säkringens volymtäckning. Kontrollera</a:t>
            </a:r>
          </a:p>
          <a:p>
            <a:pPr>
              <a:lnSpc>
                <a:spcPts val="2480"/>
              </a:lnSpc>
              <a:spcBef>
                <a:spcPts val="0"/>
              </a:spcBef>
              <a:spcAft>
                <a:spcPts val="0"/>
              </a:spcAft>
              <a:defRPr sz="2000" b="0">
                <a:solidFill>
                  <a:srgbClr val="193540"/>
                </a:solidFill>
                <a:latin typeface="DejaVu Sans"/>
              </a:defRPr>
            </a:pPr>
            <a:r>
              <a:t>månadsvolymer, anläggningar, elområden och framtida förändringar.</a:t>
            </a:r>
          </a:p>
          <a:p>
            <a:pPr>
              <a:lnSpc>
                <a:spcPts val="2480"/>
              </a:lnSpc>
              <a:spcBef>
                <a:spcPts val="0"/>
              </a:spcBef>
              <a:spcAft>
                <a:spcPts val="0"/>
              </a:spcAft>
              <a:defRPr sz="2000" b="0">
                <a:solidFill>
                  <a:srgbClr val="193540"/>
                </a:solidFill>
                <a:latin typeface="DejaVu Sans"/>
              </a:defRPr>
            </a:pPr>
            <a:r>
              <a:t>Avvikelsefördelning och kostnadsansvar följer godkända villkor, aldrig en</a:t>
            </a:r>
          </a:p>
          <a:p>
            <a:pPr>
              <a:lnSpc>
                <a:spcPts val="2480"/>
              </a:lnSpc>
              <a:spcBef>
                <a:spcPts val="0"/>
              </a:spcBef>
              <a:spcAft>
                <a:spcPts val="0"/>
              </a:spcAft>
              <a:defRPr sz="2000" b="0">
                <a:solidFill>
                  <a:srgbClr val="193540"/>
                </a:solidFill>
                <a:latin typeface="DejaVu Sans"/>
              </a:defRPr>
            </a:pPr>
            <a:r>
              <a:t>antagen tolerans.</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4. Jämför samma sak och räkna i rätt enheter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scenarioberäkning kan vikta tre jämförbara komponentpriser med 40, 40</a:t>
            </a:r>
          </a:p>
          <a:p>
            <a:pPr>
              <a:lnSpc>
                <a:spcPts val="2480"/>
              </a:lnSpc>
              <a:spcBef>
                <a:spcPts val="0"/>
              </a:spcBef>
              <a:spcAft>
                <a:spcPts val="0"/>
              </a:spcAft>
              <a:defRPr sz="2000" b="0">
                <a:solidFill>
                  <a:srgbClr val="193540"/>
                </a:solidFill>
                <a:latin typeface="DejaVu Sans"/>
              </a:defRPr>
            </a:pPr>
            <a:r>
              <a:t>och 20 procent. Men scenariot måste beskriva antagandena. Välj samma</a:t>
            </a:r>
          </a:p>
          <a:p>
            <a:pPr>
              <a:lnSpc>
                <a:spcPts val="2480"/>
              </a:lnSpc>
              <a:spcBef>
                <a:spcPts val="0"/>
              </a:spcBef>
              <a:spcAft>
                <a:spcPts val="0"/>
              </a:spcAft>
              <a:defRPr sz="2000" b="0">
                <a:solidFill>
                  <a:srgbClr val="193540"/>
                </a:solidFill>
                <a:latin typeface="DejaVu Sans"/>
              </a:defRPr>
            </a:pPr>
            <a:r>
              <a:t>period, volym, referens och profilantaganden i jämförelsen.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Priser i öre per kWh delas med 100 för att bli kronor per kWh. Volym i MWh</a:t>
            </a:r>
          </a:p>
          <a:p>
            <a:pPr>
              <a:lnSpc>
                <a:spcPts val="2480"/>
              </a:lnSpc>
              <a:spcBef>
                <a:spcPts val="0"/>
              </a:spcBef>
              <a:spcAft>
                <a:spcPts val="0"/>
              </a:spcAft>
              <a:defRPr sz="2000" b="0">
                <a:solidFill>
                  <a:srgbClr val="193540"/>
                </a:solidFill>
                <a:latin typeface="DejaVu Sans"/>
              </a:defRPr>
            </a:pPr>
            <a:r>
              <a:t>multipliceras med 1 000 för att bli kWh. Portföljpris och finansiellt resultat</a:t>
            </a:r>
          </a:p>
          <a:p>
            <a:pPr>
              <a:lnSpc>
                <a:spcPts val="2480"/>
              </a:lnSpc>
              <a:spcBef>
                <a:spcPts val="0"/>
              </a:spcBef>
              <a:spcAft>
                <a:spcPts val="0"/>
              </a:spcAft>
              <a:defRPr sz="2000" b="0">
                <a:solidFill>
                  <a:srgbClr val="193540"/>
                </a:solidFill>
                <a:latin typeface="DejaVu Sans"/>
              </a:defRPr>
            </a:pPr>
            <a:r>
              <a:t>avräknas enligt villkoren.</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5. Produkten kräver en tydlig behovsdialog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283</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Pröva Offensiv när kunden önskar gemensam förvaltning med aktiva</a:t>
            </a:r>
          </a:p>
          <a:p>
            <a:pPr>
              <a:lnSpc>
                <a:spcPts val="2480"/>
              </a:lnSpc>
              <a:spcBef>
                <a:spcPts val="0"/>
              </a:spcBef>
              <a:spcAft>
                <a:spcPts val="0"/>
              </a:spcAft>
              <a:defRPr sz="2000" b="0">
                <a:solidFill>
                  <a:srgbClr val="193540"/>
                </a:solidFill>
                <a:latin typeface="DejaVu Sans"/>
              </a:defRPr>
            </a:pPr>
            <a:r>
              <a:t>marknadsbedömningar och accepterar att utfallet kan bli sämre än i en</a:t>
            </a:r>
          </a:p>
          <a:p>
            <a:pPr>
              <a:lnSpc>
                <a:spcPts val="2480"/>
              </a:lnSpc>
              <a:spcBef>
                <a:spcPts val="0"/>
              </a:spcBef>
              <a:spcAft>
                <a:spcPts val="0"/>
              </a:spcAft>
              <a:defRPr sz="2000" b="0">
                <a:solidFill>
                  <a:srgbClr val="193540"/>
                </a:solidFill>
                <a:latin typeface="DejaVu Sans"/>
              </a:defRPr>
            </a:pPr>
            <a:r>
              <a:t>regelstyrd jämförelse. Fråga konkret hur kunden skulle bedöma ett sådant år.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Verifiera mandat, strategi, position, poolhorisont och kundavtal. Individuell</a:t>
            </a:r>
          </a:p>
          <a:p>
            <a:pPr>
              <a:lnSpc>
                <a:spcPts val="2480"/>
              </a:lnSpc>
              <a:spcBef>
                <a:spcPts val="0"/>
              </a:spcBef>
              <a:spcAft>
                <a:spcPts val="0"/>
              </a:spcAft>
              <a:defRPr sz="2000" b="0">
                <a:solidFill>
                  <a:srgbClr val="193540"/>
                </a:solidFill>
                <a:latin typeface="DejaVu Sans"/>
              </a:defRPr>
            </a:pPr>
            <a:r>
              <a:t>index 24-månadershorisont gäller inte automatiskt poolen. Krav på lägsta</a:t>
            </a:r>
          </a:p>
          <a:p>
            <a:pPr>
              <a:lnSpc>
                <a:spcPts val="2480"/>
              </a:lnSpc>
              <a:spcBef>
                <a:spcPts val="0"/>
              </a:spcBef>
              <a:spcAft>
                <a:spcPts val="0"/>
              </a:spcAft>
              <a:defRPr sz="2000" b="0">
                <a:solidFill>
                  <a:srgbClr val="193540"/>
                </a:solidFill>
                <a:latin typeface="DejaVu Sans"/>
              </a:defRPr>
            </a:pPr>
            <a:r>
              <a:t>eller helt fast pris behöver rättas och prövas mot godkända alternativ.</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40/40/20 beskriver strategi, inte nulägets</a:t>
            </a:r>
          </a:p>
          <a:p>
            <a:pPr>
              <a:lnSpc>
                <a:spcPts val="3472"/>
              </a:lnSpc>
              <a:spcBef>
                <a:spcPts val="0"/>
              </a:spcBef>
              <a:spcAft>
                <a:spcPts val="0"/>
              </a:spcAft>
              <a:defRPr sz="2800" b="1">
                <a:solidFill>
                  <a:srgbClr val="193540"/>
                </a:solidFill>
                <a:latin typeface="DejaVu Sans"/>
              </a:defRPr>
            </a:pPr>
            <a:r>
              <a:t>säkringsgrad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Syntetiska jämförbara volymer för samma period. De angivna köpen antas</a:t>
            </a:r>
          </a:p>
          <a:p>
            <a:pPr>
              <a:lnSpc>
                <a:spcPts val="2480"/>
              </a:lnSpc>
              <a:spcBef>
                <a:spcPts val="0"/>
              </a:spcBef>
              <a:spcAft>
                <a:spcPts val="0"/>
              </a:spcAft>
              <a:defRPr sz="2000" b="0">
                <a:solidFill>
                  <a:srgbClr val="193540"/>
                </a:solidFill>
                <a:latin typeface="DejaVu Sans"/>
              </a:defRPr>
            </a:pPr>
            <a:r>
              <a:t>vara enda volymsäkringarna. Inget verkligt mandat eller kostnadsutfall anges.</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Förväntad volym: 1 000 MWh. Strategi: 40 procent index, 40 procent aktivt</a:t>
            </a:r>
          </a:p>
          <a:p>
            <a:pPr>
              <a:lnSpc>
                <a:spcPts val="2480"/>
              </a:lnSpc>
              <a:spcBef>
                <a:spcPts val="0"/>
              </a:spcBef>
              <a:spcAft>
                <a:spcPts val="0"/>
              </a:spcAft>
              <a:defRPr sz="2000" b="0">
                <a:solidFill>
                  <a:srgbClr val="193540"/>
                </a:solidFill>
                <a:latin typeface="DejaVu Sans"/>
              </a:defRPr>
            </a:pPr>
            <a:r>
              <a:t>och 20 procent rörligt.</a:t>
            </a:r>
          </a:p>
        </p:txBody>
      </p:sp>
      <p:sp>
        <p:nvSpPr>
          <p:cNvPr id="8" name="TextBox 7"/>
          <p:cNvSpPr txBox="1"/>
          <p:nvPr/>
        </p:nvSpPr>
        <p:spPr>
          <a:xfrm>
            <a:off x="603504" y="36372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Vid mättillfället är 200 MWh indexköp och 100 MWh aktiva köp genomförda.</a:t>
            </a:r>
          </a:p>
          <a:p>
            <a:pPr>
              <a:lnSpc>
                <a:spcPts val="2480"/>
              </a:lnSpc>
              <a:spcBef>
                <a:spcPts val="0"/>
              </a:spcBef>
              <a:spcAft>
                <a:spcPts val="0"/>
              </a:spcAft>
              <a:defRPr sz="2000" b="0">
                <a:solidFill>
                  <a:srgbClr val="193540"/>
                </a:solidFill>
                <a:latin typeface="DejaVu Sans"/>
              </a:defRPr>
            </a:pPr>
            <a:r>
              <a:t>Inga andra volymsäkringar finns i exemplet.</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40/40/20 beskriver strategi, inte</a:t>
            </a:r>
          </a:p>
          <a:p>
            <a:pPr>
              <a:lnSpc>
                <a:spcPts val="3472"/>
              </a:lnSpc>
              <a:spcBef>
                <a:spcPts val="0"/>
              </a:spcBef>
              <a:spcAft>
                <a:spcPts val="0"/>
              </a:spcAft>
              <a:defRPr sz="2800" b="1">
                <a:solidFill>
                  <a:srgbClr val="193540"/>
                </a:solidFill>
                <a:latin typeface="DejaVu Sans"/>
              </a:defRPr>
            </a:pPr>
            <a:r>
              <a:t>nulägets säkringsgrad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Strategivolymer: 1 000 × 0,40 = 400 MWh index, 400 MWh aktivt och</a:t>
            </a:r>
          </a:p>
          <a:p>
            <a:pPr>
              <a:lnSpc>
                <a:spcPts val="2480"/>
              </a:lnSpc>
              <a:spcBef>
                <a:spcPts val="0"/>
              </a:spcBef>
              <a:spcAft>
                <a:spcPts val="0"/>
              </a:spcAft>
              <a:defRPr sz="2000" b="0">
                <a:solidFill>
                  <a:srgbClr val="193540"/>
                </a:solidFill>
                <a:latin typeface="DejaVu Sans"/>
              </a:defRPr>
            </a:pPr>
            <a:r>
              <a:t>1 000 × 0,20 = 200 MWh rörligt.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Genomförd säkringsvolym i exemplet: 200 + 100 = 300 MWh.</a:t>
            </a:r>
          </a:p>
        </p:txBody>
      </p:sp>
      <p:sp>
        <p:nvSpPr>
          <p:cNvPr id="8" name="TextBox 7"/>
          <p:cNvSpPr txBox="1"/>
          <p:nvPr/>
        </p:nvSpPr>
        <p:spPr>
          <a:xfrm>
            <a:off x="603504" y="33223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Andel av prognosen som genomförda köp motsvarar: 300 ÷ 1 000 × 100 =</a:t>
            </a:r>
          </a:p>
          <a:p>
            <a:pPr>
              <a:lnSpc>
                <a:spcPts val="2480"/>
              </a:lnSpc>
              <a:spcBef>
                <a:spcPts val="0"/>
              </a:spcBef>
              <a:spcAft>
                <a:spcPts val="0"/>
              </a:spcAft>
              <a:defRPr sz="2000" b="0">
                <a:solidFill>
                  <a:srgbClr val="193540"/>
                </a:solidFill>
                <a:latin typeface="DejaVu Sans"/>
              </a:defRPr>
            </a:pPr>
            <a:r>
              <a:t>30 procent.</a:t>
            </a:r>
          </a:p>
        </p:txBody>
      </p:sp>
      <p:sp>
        <p:nvSpPr>
          <p:cNvPr id="9" name="TextBox 8"/>
          <p:cNvSpPr txBox="1"/>
          <p:nvPr/>
        </p:nvSpPr>
        <p:spPr>
          <a:xfrm>
            <a:off x="603504" y="4066539"/>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Strategin är 40/40/20, medan den illustrerade genomförda</a:t>
            </a:r>
          </a:p>
          <a:p>
            <a:pPr>
              <a:lnSpc>
                <a:spcPts val="2480"/>
              </a:lnSpc>
              <a:spcBef>
                <a:spcPts val="0"/>
              </a:spcBef>
              <a:spcAft>
                <a:spcPts val="0"/>
              </a:spcAft>
              <a:defRPr sz="2000" b="0">
                <a:solidFill>
                  <a:srgbClr val="193540"/>
                </a:solidFill>
                <a:latin typeface="DejaVu Sans"/>
              </a:defRPr>
            </a:pPr>
            <a:r>
              <a:t>volymsäkringen motsvarar 30 procent av prognosen.</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Ett bättre och ett sämre aktivt scenario</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kalkyl för 1 000 000 kWh i samma period och tre jämförbara</a:t>
            </a:r>
          </a:p>
          <a:p>
            <a:pPr>
              <a:lnSpc>
                <a:spcPts val="2480"/>
              </a:lnSpc>
              <a:spcBef>
                <a:spcPts val="0"/>
              </a:spcBef>
              <a:spcAft>
                <a:spcPts val="0"/>
              </a:spcAft>
              <a:defRPr sz="2000" b="0">
                <a:solidFill>
                  <a:srgbClr val="193540"/>
                </a:solidFill>
                <a:latin typeface="DejaVu Sans"/>
              </a:defRPr>
            </a:pPr>
            <a:r>
              <a:t>referenskomponenter. Profil, tillägg, andra komponenter, elnät, energiskatt</a:t>
            </a:r>
          </a:p>
          <a:p>
            <a:pPr>
              <a:lnSpc>
                <a:spcPts val="2480"/>
              </a:lnSpc>
              <a:spcBef>
                <a:spcPts val="0"/>
              </a:spcBef>
              <a:spcAft>
                <a:spcPts val="0"/>
              </a:spcAft>
              <a:defRPr sz="2000" b="0">
                <a:solidFill>
                  <a:srgbClr val="193540"/>
                </a:solidFill>
                <a:latin typeface="DejaVu Sans"/>
              </a:defRPr>
            </a:pPr>
            <a:r>
              <a:t>och moms ingår inte. Priserna är antaganden, inga köp eller prognoser.</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Index: 70 öre/kWh. Rörligt: 80 öre/kWh. Aktivt antas vara 55 öre i scenario A</a:t>
            </a:r>
          </a:p>
          <a:p>
            <a:pPr>
              <a:lnSpc>
                <a:spcPts val="2480"/>
              </a:lnSpc>
              <a:spcBef>
                <a:spcPts val="0"/>
              </a:spcBef>
              <a:spcAft>
                <a:spcPts val="0"/>
              </a:spcAft>
              <a:defRPr sz="2000" b="0">
                <a:solidFill>
                  <a:srgbClr val="193540"/>
                </a:solidFill>
                <a:latin typeface="DejaVu Sans"/>
              </a:defRPr>
            </a:pPr>
            <a:r>
              <a:t>och 90 öre i scenario B.</a:t>
            </a:r>
          </a:p>
        </p:txBody>
      </p:sp>
      <p:sp>
        <p:nvSpPr>
          <p:cNvPr id="8" name="TextBox 7"/>
          <p:cNvSpPr txBox="1"/>
          <p:nvPr/>
        </p:nvSpPr>
        <p:spPr>
          <a:xfrm>
            <a:off x="603504" y="39522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Som identisk referens används 80 procent index till 70 öre och 20 procent</a:t>
            </a:r>
          </a:p>
          <a:p>
            <a:pPr>
              <a:lnSpc>
                <a:spcPts val="2480"/>
              </a:lnSpc>
              <a:spcBef>
                <a:spcPts val="0"/>
              </a:spcBef>
              <a:spcAft>
                <a:spcPts val="0"/>
              </a:spcAft>
              <a:defRPr sz="2000" b="0">
                <a:solidFill>
                  <a:srgbClr val="193540"/>
                </a:solidFill>
                <a:latin typeface="DejaVu Sans"/>
              </a:defRPr>
            </a:pPr>
            <a:r>
              <a:t>rörligt till 80 öre. Referensen är en jämförelsekalkyl, ingen offert.</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Ett bättre och ett sämre aktivt scenario</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Scenario A: 0,40 × 70 + 0,40 × 55 + 0,20 × 80 = 66 öre/kWh. Kostnad:</a:t>
            </a:r>
          </a:p>
          <a:p>
            <a:pPr>
              <a:lnSpc>
                <a:spcPts val="2480"/>
              </a:lnSpc>
              <a:spcBef>
                <a:spcPts val="0"/>
              </a:spcBef>
              <a:spcAft>
                <a:spcPts val="0"/>
              </a:spcAft>
              <a:defRPr sz="2000" b="0">
                <a:solidFill>
                  <a:srgbClr val="193540"/>
                </a:solidFill>
                <a:latin typeface="DejaVu Sans"/>
              </a:defRPr>
            </a:pPr>
            <a:r>
              <a:t>1 000 000 × 0,66 = 660 000 kr.</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Scenario B: 0,40 × 70 + 0,40 × 90 + 0,20 × 80 = 80 öre/kWh. Kostnad:</a:t>
            </a:r>
          </a:p>
          <a:p>
            <a:pPr>
              <a:lnSpc>
                <a:spcPts val="2480"/>
              </a:lnSpc>
              <a:spcBef>
                <a:spcPts val="0"/>
              </a:spcBef>
              <a:spcAft>
                <a:spcPts val="0"/>
              </a:spcAft>
              <a:defRPr sz="2000" b="0">
                <a:solidFill>
                  <a:srgbClr val="193540"/>
                </a:solidFill>
                <a:latin typeface="DejaVu Sans"/>
              </a:defRPr>
            </a:pPr>
            <a:r>
              <a:t>800 000 kr.</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Referens: 0,80 × 70 + 0,20 × 80 = 72 öre/kWh, alltså 720 000 kr.</a:t>
            </a:r>
          </a:p>
        </p:txBody>
      </p:sp>
      <p:sp>
        <p:nvSpPr>
          <p:cNvPr id="9" name="TextBox 8"/>
          <p:cNvSpPr txBox="1"/>
          <p:nvPr/>
        </p:nvSpPr>
        <p:spPr>
          <a:xfrm>
            <a:off x="603504" y="4066539"/>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A är 60 000 kr lägre än referensen. B är 80 000 kr högre. Skillnaden mellan</a:t>
            </a:r>
          </a:p>
          <a:p>
            <a:pPr>
              <a:lnSpc>
                <a:spcPts val="2480"/>
              </a:lnSpc>
              <a:spcBef>
                <a:spcPts val="0"/>
              </a:spcBef>
              <a:spcAft>
                <a:spcPts val="0"/>
              </a:spcAft>
              <a:defRPr sz="2000" b="0">
                <a:solidFill>
                  <a:srgbClr val="193540"/>
                </a:solidFill>
                <a:latin typeface="DejaVu Sans"/>
              </a:defRPr>
            </a:pPr>
            <a:r>
              <a:t>A och B är 140 000 kr.</a:t>
            </a:r>
          </a:p>
        </p:txBody>
      </p:sp>
      <p:sp>
        <p:nvSpPr>
          <p:cNvPr id="10" name="TextBox 9"/>
          <p:cNvSpPr txBox="1"/>
          <p:nvPr/>
        </p:nvSpPr>
        <p:spPr>
          <a:xfrm>
            <a:off x="603504" y="48107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Aktivdelen ger i de antagna scenarierna ett komponentpris på 66</a:t>
            </a:r>
          </a:p>
          <a:p>
            <a:pPr>
              <a:lnSpc>
                <a:spcPts val="2480"/>
              </a:lnSpc>
              <a:spcBef>
                <a:spcPts val="0"/>
              </a:spcBef>
              <a:spcAft>
                <a:spcPts val="0"/>
              </a:spcAft>
              <a:defRPr sz="2000" b="0">
                <a:solidFill>
                  <a:srgbClr val="193540"/>
                </a:solidFill>
                <a:latin typeface="DejaVu Sans"/>
              </a:defRPr>
            </a:pPr>
            <a:r>
              <a:t>eller 80 öre/kWh.</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Aktiv förvaltning betyder att vi alltid köper på botten.</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Aktiva marknadsbedömningar kan ge bättre eller sämre utfall.</a:t>
            </a:r>
          </a:p>
          <a:p>
            <a:pPr>
              <a:lnSpc>
                <a:spcPts val="2480"/>
              </a:lnSpc>
              <a:spcBef>
                <a:spcPts val="0"/>
              </a:spcBef>
              <a:spcAft>
                <a:spcPts val="0"/>
              </a:spcAft>
              <a:defRPr sz="2000" b="0">
                <a:solidFill>
                  <a:srgbClr val="193540"/>
                </a:solidFill>
                <a:latin typeface="DejaVu Sans"/>
              </a:defRPr>
            </a:pPr>
            <a:r>
              <a:t>Strategin garanterar inte bottenköp.</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289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40 procent index plus 40 procent aktivt betyder 80 procent redan säkrat.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Strategiandelarna anger förväntad volym. Genomförda köp och</a:t>
            </a:r>
          </a:p>
          <a:p>
            <a:pPr>
              <a:lnSpc>
                <a:spcPts val="2480"/>
              </a:lnSpc>
              <a:spcBef>
                <a:spcPts val="0"/>
              </a:spcBef>
              <a:spcAft>
                <a:spcPts val="0"/>
              </a:spcAft>
              <a:defRPr sz="2000" b="0">
                <a:solidFill>
                  <a:srgbClr val="193540"/>
                </a:solidFill>
                <a:latin typeface="DejaVu Sans"/>
              </a:defRPr>
            </a:pPr>
            <a:r>
              <a:t>faktisk position verifieras separat.</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Offensiv har samma horisont och förvaltare som i det äldre materialet.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Aktuell poolhorisont, ansvarig funktion och mandat kontrolleras i</a:t>
            </a:r>
          </a:p>
          <a:p>
            <a:pPr>
              <a:lnSpc>
                <a:spcPts val="2480"/>
              </a:lnSpc>
              <a:spcBef>
                <a:spcPts val="0"/>
              </a:spcBef>
              <a:spcAft>
                <a:spcPts val="0"/>
              </a:spcAft>
              <a:defRPr sz="2000" b="0">
                <a:solidFill>
                  <a:srgbClr val="193540"/>
                </a:solidFill>
                <a:latin typeface="DejaVu Sans"/>
              </a:defRPr>
            </a:pPr>
            <a:r>
              <a:t>dagens strategi och offert.</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291</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Pool Offensiv fördelar den förväntade volymen på 40 procent regelstyrda</a:t>
            </a:r>
          </a:p>
          <a:p>
            <a:pPr>
              <a:lnSpc>
                <a:spcPts val="2480"/>
              </a:lnSpc>
              <a:spcBef>
                <a:spcPts val="0"/>
              </a:spcBef>
              <a:spcAft>
                <a:spcPts val="0"/>
              </a:spcAft>
              <a:defRPr sz="2000" b="0">
                <a:solidFill>
                  <a:srgbClr val="193540"/>
                </a:solidFill>
                <a:latin typeface="DejaVu Sans"/>
              </a:defRPr>
            </a:pPr>
            <a:r>
              <a:t>indexköp, 40 procent aktiva marknadsbedömningar och 20 procent rörligt. Ni</a:t>
            </a:r>
          </a:p>
          <a:p>
            <a:pPr>
              <a:lnSpc>
                <a:spcPts val="2480"/>
              </a:lnSpc>
              <a:spcBef>
                <a:spcPts val="0"/>
              </a:spcBef>
              <a:spcAft>
                <a:spcPts val="0"/>
              </a:spcAft>
              <a:defRPr sz="2000" b="0">
                <a:solidFill>
                  <a:srgbClr val="193540"/>
                </a:solidFill>
                <a:latin typeface="DejaVu Sans"/>
              </a:defRPr>
            </a:pPr>
            <a:r>
              <a:t>deltar i gemensam förvaltning. De aktiva besluten kan ge både bättre och</a:t>
            </a:r>
          </a:p>
          <a:p>
            <a:pPr>
              <a:lnSpc>
                <a:spcPts val="2480"/>
              </a:lnSpc>
              <a:spcBef>
                <a:spcPts val="0"/>
              </a:spcBef>
              <a:spcAft>
                <a:spcPts val="0"/>
              </a:spcAft>
              <a:defRPr sz="2000" b="0">
                <a:solidFill>
                  <a:srgbClr val="193540"/>
                </a:solidFill>
                <a:latin typeface="DejaVu Sans"/>
              </a:defRPr>
            </a:pPr>
            <a:r>
              <a:t>sämre utfall än en annan strategi.</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Ekonomichefen förväntar sig garanterat bättre</a:t>
            </a:r>
          </a:p>
          <a:p>
            <a:pPr>
              <a:lnSpc>
                <a:spcPts val="3472"/>
              </a:lnSpc>
              <a:spcBef>
                <a:spcPts val="0"/>
              </a:spcBef>
              <a:spcAft>
                <a:spcPts val="0"/>
              </a:spcAft>
              <a:defRPr sz="2800" b="1">
                <a:solidFill>
                  <a:srgbClr val="193540"/>
                </a:solidFill>
                <a:latin typeface="DejaVu Sans"/>
              </a:defRPr>
            </a:pPr>
            <a:r>
              <a:t>utfall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292</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fiktivt företag väntar 2 000 000 kWh och diskuterar Offensiv.</a:t>
            </a:r>
          </a:p>
          <a:p>
            <a:pPr>
              <a:lnSpc>
                <a:spcPts val="2480"/>
              </a:lnSpc>
              <a:spcBef>
                <a:spcPts val="0"/>
              </a:spcBef>
              <a:spcAft>
                <a:spcPts val="0"/>
              </a:spcAft>
              <a:defRPr sz="2000" b="0">
                <a:solidFill>
                  <a:srgbClr val="193540"/>
                </a:solidFill>
                <a:latin typeface="DejaVu Sans"/>
              </a:defRPr>
            </a:pPr>
            <a:r>
              <a:t>Övningspriserna är 65 öre index, 95 aktivt och 50 rörligt, med samma referens</a:t>
            </a:r>
          </a:p>
          <a:p>
            <a:pPr>
              <a:lnSpc>
                <a:spcPts val="2480"/>
              </a:lnSpc>
              <a:spcBef>
                <a:spcPts val="0"/>
              </a:spcBef>
              <a:spcAft>
                <a:spcPts val="0"/>
              </a:spcAft>
              <a:defRPr sz="2000" b="0">
                <a:solidFill>
                  <a:srgbClr val="193540"/>
                </a:solidFill>
                <a:latin typeface="DejaVu Sans"/>
              </a:defRPr>
            </a:pPr>
            <a:r>
              <a:t>och omfattning. Ekonomichefen frågar: ”Måste aktivt alltid slå 80 procent</a:t>
            </a:r>
          </a:p>
          <a:p>
            <a:pPr>
              <a:lnSpc>
                <a:spcPts val="2480"/>
              </a:lnSpc>
              <a:spcBef>
                <a:spcPts val="0"/>
              </a:spcBef>
              <a:spcAft>
                <a:spcPts val="0"/>
              </a:spcAft>
              <a:defRPr sz="2000" b="0">
                <a:solidFill>
                  <a:srgbClr val="193540"/>
                </a:solidFill>
                <a:latin typeface="DejaVu Sans"/>
              </a:defRPr>
            </a:pPr>
            <a:r>
              <a:t>index och 20 procent rörligt?”</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Beräkna Offensiv-kalkylens komponentpris och kostnad.</a:t>
            </a:r>
          </a:p>
        </p:txBody>
      </p:sp>
      <p:sp>
        <p:nvSpPr>
          <p:cNvPr id="8" name="TextBox 7"/>
          <p:cNvSpPr txBox="1"/>
          <p:nvPr/>
        </p:nvSpPr>
        <p:spPr>
          <a:xfrm>
            <a:off x="603504" y="39522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Jämför med en 80/20-kalkyl till samma index- och rörliga priser.</a:t>
            </a:r>
          </a:p>
        </p:txBody>
      </p:sp>
      <p:sp>
        <p:nvSpPr>
          <p:cNvPr id="9" name="TextBox 8"/>
          <p:cNvSpPr txBox="1"/>
          <p:nvPr/>
        </p:nvSpPr>
        <p:spPr>
          <a:xfrm>
            <a:off x="603504" y="438149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produktens risk och vad som måste verifieras innan beslut.</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Beräknar 74 och 62 öre/kWh med samma omfattning.</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Omvandlar till 1 480 000 och 1 240 000 kr samt 240 000 kr skillnad.</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Förklarar att scenariot inte är genomförd handel eller garanti.</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Prövar riskacceptans och kontrollerar aktuella kommersiella villkor.</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beskrivning är korrekt?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40 procent index, 40 procent aktiva beslut och 20 procent rörligt av</a:t>
            </a:r>
          </a:p>
          <a:p>
            <a:pPr>
              <a:lnSpc>
                <a:spcPts val="2480"/>
              </a:lnSpc>
              <a:spcBef>
                <a:spcPts val="0"/>
              </a:spcBef>
              <a:spcAft>
                <a:spcPts val="0"/>
              </a:spcAft>
              <a:defRPr sz="2000" b="0">
                <a:solidFill>
                  <a:srgbClr val="193540"/>
                </a:solidFill>
                <a:latin typeface="DejaVu Sans"/>
              </a:defRPr>
            </a:pPr>
            <a:r>
              <a:t>strategins förväntade volym.</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40 procent garanterat lägsta pris och 60 procent fast faktura.</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80 procent är alltid redan säkrat eftersom två delar är 40 procent.</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Räkna det antagna komponentpriset med 40 procent till 70 öre, 40 procent till</a:t>
            </a:r>
          </a:p>
          <a:p>
            <a:pPr>
              <a:lnSpc>
                <a:spcPts val="2480"/>
              </a:lnSpc>
              <a:spcBef>
                <a:spcPts val="0"/>
              </a:spcBef>
              <a:spcAft>
                <a:spcPts val="0"/>
              </a:spcAft>
              <a:defRPr sz="2000" b="0">
                <a:solidFill>
                  <a:srgbClr val="193540"/>
                </a:solidFill>
                <a:latin typeface="DejaVu Sans"/>
              </a:defRPr>
            </a:pPr>
            <a:r>
              <a:t>90 öre och 20 procent till 80 öre.</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Vad måste vara lika för en rättvis scenariejämförelse?</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Endast produktnamnet.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Period, volym, referenser, profilantaganden och kostnadsdelar.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Endast procentsatsen aktiv förvaltning.</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säger: ”Jag accepterar Offensiv bara om ni garanterar att aktivt alltid</a:t>
            </a:r>
          </a:p>
          <a:p>
            <a:pPr>
              <a:lnSpc>
                <a:spcPts val="2480"/>
              </a:lnSpc>
              <a:spcBef>
                <a:spcPts val="0"/>
              </a:spcBef>
              <a:spcAft>
                <a:spcPts val="0"/>
              </a:spcAft>
              <a:defRPr sz="2000" b="0">
                <a:solidFill>
                  <a:srgbClr val="193540"/>
                </a:solidFill>
                <a:latin typeface="DejaVu Sans"/>
              </a:defRPr>
            </a:pPr>
            <a:r>
              <a:t>slår index.” Hur svarar du?</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14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298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40/40/20 beskriver strategi, inte redan genomförd position.</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Aktiv förvaltning ger ingen garanti om överavkastning.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Jämför samma period, volym, referens och kostnadsdelar.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 ett sämre aktivt scenario och fråga om budgeten tål det.</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Verifiera dagens mandat, poolhorisont och kundvillkor.</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15 · Företag / Savera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Kraftringen Direkt – välj tillfälle, förstå vad som</a:t>
            </a:r>
          </a:p>
          <a:p>
            <a:pPr>
              <a:lnSpc>
                <a:spcPts val="3472"/>
              </a:lnSpc>
              <a:spcBef>
                <a:spcPts val="0"/>
              </a:spcBef>
              <a:spcAft>
                <a:spcPts val="0"/>
              </a:spcAft>
              <a:defRPr sz="2800" b="1">
                <a:solidFill>
                  <a:srgbClr val="FFFFFF"/>
                </a:solidFill>
                <a:latin typeface="DejaVu Sans"/>
              </a:defRPr>
            </a:pPr>
            <a:r>
              <a:t>säkras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299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skillnaden mellan köpdag och framtida leveransperiod.</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Beskriva vad SYS och EPAD säkrar och vilka kostnader som ligger separat.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säkrad mängd och jämföra den med faktisk förbrukning.</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Tolka ett uppgångs-, nedgångs- och profilscenario utan att göra det till en</a:t>
            </a:r>
          </a:p>
          <a:p>
            <a:pPr>
              <a:lnSpc>
                <a:spcPts val="2480"/>
              </a:lnSpc>
              <a:spcBef>
                <a:spcPts val="0"/>
              </a:spcBef>
              <a:spcAft>
                <a:spcPts val="0"/>
              </a:spcAft>
              <a:defRPr sz="2000" b="0">
                <a:solidFill>
                  <a:srgbClr val="FFFFFF"/>
                </a:solidFill>
                <a:latin typeface="DejaVu Sans"/>
              </a:defRPr>
            </a:pPr>
            <a:r>
              <a:t>fakturaformel.</a:t>
            </a:r>
          </a:p>
        </p:txBody>
      </p:sp>
      <p:sp>
        <p:nvSpPr>
          <p:cNvPr id="10" name="TextBox 9"/>
          <p:cNvSpPr txBox="1"/>
          <p:nvPr/>
        </p:nvSpPr>
        <p:spPr>
          <a:xfrm>
            <a:off x="603504" y="4180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Genomföra en kunddialog som tydliggör beslutets nytta, risk och</a:t>
            </a:r>
          </a:p>
          <a:p>
            <a:pPr>
              <a:lnSpc>
                <a:spcPts val="2480"/>
              </a:lnSpc>
              <a:spcBef>
                <a:spcPts val="0"/>
              </a:spcBef>
              <a:spcAft>
                <a:spcPts val="0"/>
              </a:spcAft>
              <a:defRPr sz="2000" b="0">
                <a:solidFill>
                  <a:srgbClr val="FFFFFF"/>
                </a:solidFill>
                <a:latin typeface="DejaVu Sans"/>
              </a:defRPr>
            </a:pPr>
            <a:r>
              <a:t>nödvändiga offertkontroller.</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Ett beslut idag för el som ska levereras senare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300</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Köpdag är dagen då prisnivån accepteras och säkringen genomförs.</a:t>
            </a:r>
          </a:p>
          <a:p>
            <a:pPr>
              <a:lnSpc>
                <a:spcPts val="2480"/>
              </a:lnSpc>
              <a:spcBef>
                <a:spcPts val="0"/>
              </a:spcBef>
              <a:spcAft>
                <a:spcPts val="0"/>
              </a:spcAft>
              <a:defRPr sz="2000" b="0">
                <a:solidFill>
                  <a:srgbClr val="193540"/>
                </a:solidFill>
                <a:latin typeface="DejaVu Sans"/>
              </a:defRPr>
            </a:pPr>
            <a:r>
              <a:t>Leveransperioden är den framtida period säkringen avser. Elen används och</a:t>
            </a:r>
          </a:p>
          <a:p>
            <a:pPr>
              <a:lnSpc>
                <a:spcPts val="2480"/>
              </a:lnSpc>
              <a:spcBef>
                <a:spcPts val="0"/>
              </a:spcBef>
              <a:spcAft>
                <a:spcPts val="0"/>
              </a:spcAft>
              <a:defRPr sz="2000" b="0">
                <a:solidFill>
                  <a:srgbClr val="193540"/>
                </a:solidFill>
                <a:latin typeface="DejaVu Sans"/>
              </a:defRPr>
            </a:pPr>
            <a:r>
              <a:t>faktureras senare. Beslutet ska ange prisreferenser, område, mängd och</a:t>
            </a:r>
          </a:p>
          <a:p>
            <a:pPr>
              <a:lnSpc>
                <a:spcPts val="2480"/>
              </a:lnSpc>
              <a:spcBef>
                <a:spcPts val="0"/>
              </a:spcBef>
              <a:spcAft>
                <a:spcPts val="0"/>
              </a:spcAft>
              <a:defRPr sz="2000" b="0">
                <a:solidFill>
                  <a:srgbClr val="193540"/>
                </a:solidFill>
                <a:latin typeface="DejaVu Sans"/>
              </a:defRPr>
            </a:pPr>
            <a:r>
              <a:t>period.</a:t>
            </a:r>
          </a:p>
        </p:txBody>
      </p:sp>
      <p:sp>
        <p:nvSpPr>
          <p:cNvPr id="7" name="TextBox 6"/>
          <p:cNvSpPr txBox="1"/>
          <p:nvPr/>
        </p:nvSpPr>
        <p:spPr>
          <a:xfrm>
            <a:off x="603504" y="352298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Direkt bygger inte upp säkringen genom dagliga indexinköp. Kunden väljer</a:t>
            </a:r>
          </a:p>
          <a:p>
            <a:pPr>
              <a:lnSpc>
                <a:spcPts val="2480"/>
              </a:lnSpc>
              <a:spcBef>
                <a:spcPts val="0"/>
              </a:spcBef>
              <a:spcAft>
                <a:spcPts val="0"/>
              </a:spcAft>
              <a:defRPr sz="2000" b="0">
                <a:solidFill>
                  <a:srgbClr val="193540"/>
                </a:solidFill>
                <a:latin typeface="DejaVu Sans"/>
              </a:defRPr>
            </a:pPr>
            <a:r>
              <a:t>nivån vid ett tillfälle. Det gör beslutet tydligt men innebär tidpunktsberoende:</a:t>
            </a:r>
          </a:p>
          <a:p>
            <a:pPr>
              <a:lnSpc>
                <a:spcPts val="2480"/>
              </a:lnSpc>
              <a:spcBef>
                <a:spcPts val="0"/>
              </a:spcBef>
              <a:spcAft>
                <a:spcPts val="0"/>
              </a:spcAft>
              <a:defRPr sz="2000" b="0">
                <a:solidFill>
                  <a:srgbClr val="193540"/>
                </a:solidFill>
                <a:latin typeface="DejaVu Sans"/>
              </a:defRPr>
            </a:pPr>
            <a:r>
              <a:t>en senare marknadsnedgång sänker inte automatiskt den redan säkrade</a:t>
            </a:r>
          </a:p>
          <a:p>
            <a:pPr>
              <a:lnSpc>
                <a:spcPts val="2480"/>
              </a:lnSpc>
              <a:spcBef>
                <a:spcPts val="0"/>
              </a:spcBef>
              <a:spcAft>
                <a:spcPts val="0"/>
              </a:spcAft>
              <a:defRPr sz="2000" b="0">
                <a:solidFill>
                  <a:srgbClr val="193540"/>
                </a:solidFill>
                <a:latin typeface="DejaVu Sans"/>
              </a:defRPr>
            </a:pPr>
            <a:r>
              <a:t>nivån.</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Två referenser som tillsammans hanterar</a:t>
            </a:r>
          </a:p>
          <a:p>
            <a:pPr>
              <a:lnSpc>
                <a:spcPts val="3472"/>
              </a:lnSpc>
              <a:spcBef>
                <a:spcPts val="0"/>
              </a:spcBef>
              <a:spcAft>
                <a:spcPts val="0"/>
              </a:spcAft>
              <a:defRPr sz="2800" b="1">
                <a:solidFill>
                  <a:srgbClr val="193540"/>
                </a:solidFill>
                <a:latin typeface="DejaVu Sans"/>
              </a:defRPr>
            </a:pPr>
            <a:r>
              <a:t>områdets prisnivå</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SYS är det nordiska systempriset, beräknat utan begränsningarna i</a:t>
            </a:r>
          </a:p>
          <a:p>
            <a:pPr>
              <a:lnSpc>
                <a:spcPts val="2480"/>
              </a:lnSpc>
              <a:spcBef>
                <a:spcPts val="0"/>
              </a:spcBef>
              <a:spcAft>
                <a:spcPts val="0"/>
              </a:spcAft>
              <a:defRPr sz="2000" b="0">
                <a:solidFill>
                  <a:srgbClr val="193540"/>
                </a:solidFill>
                <a:latin typeface="DejaVu Sans"/>
              </a:defRPr>
            </a:pPr>
            <a:r>
              <a:t>överföringskapacitet mellan elområdena. Det är inte kundens lokala elpris.</a:t>
            </a:r>
          </a:p>
          <a:p>
            <a:pPr>
              <a:lnSpc>
                <a:spcPts val="2480"/>
              </a:lnSpc>
              <a:spcBef>
                <a:spcPts val="0"/>
              </a:spcBef>
              <a:spcAft>
                <a:spcPts val="0"/>
              </a:spcAft>
              <a:defRPr sz="2000" b="0">
                <a:solidFill>
                  <a:srgbClr val="193540"/>
                </a:solidFill>
                <a:latin typeface="DejaVu Sans"/>
              </a:defRPr>
            </a:pPr>
            <a:r>
              <a:t>EPAD säkrar skillnaden mellan systempriset och kundens elområde.</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Tillsammans säkrar SYS och EPAD områdets prisreferens för matchad mängd</a:t>
            </a:r>
          </a:p>
          <a:p>
            <a:pPr>
              <a:lnSpc>
                <a:spcPts val="2480"/>
              </a:lnSpc>
              <a:spcBef>
                <a:spcPts val="0"/>
              </a:spcBef>
              <a:spcAft>
                <a:spcPts val="0"/>
              </a:spcAft>
              <a:defRPr sz="2000" b="0">
                <a:solidFill>
                  <a:srgbClr val="193540"/>
                </a:solidFill>
                <a:latin typeface="DejaVu Sans"/>
              </a:defRPr>
            </a:pPr>
            <a:r>
              <a:t>och period. Om prisuppgiften redan är ett komplett områdespris ska</a:t>
            </a:r>
          </a:p>
          <a:p>
            <a:pPr>
              <a:lnSpc>
                <a:spcPts val="2480"/>
              </a:lnSpc>
              <a:spcBef>
                <a:spcPts val="0"/>
              </a:spcBef>
              <a:spcAft>
                <a:spcPts val="0"/>
              </a:spcAft>
              <a:defRPr sz="2000" b="0">
                <a:solidFill>
                  <a:srgbClr val="193540"/>
                </a:solidFill>
                <a:latin typeface="DejaVu Sans"/>
              </a:defRPr>
            </a:pPr>
            <a:r>
              <a:t>områdesskillnaden inte läggas till igen.</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80 procent behöver alltid en nämnare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Beskriven standard är 80 procent av överenskommet volymunderlag, om</a:t>
            </a:r>
          </a:p>
          <a:p>
            <a:pPr>
              <a:lnSpc>
                <a:spcPts val="2480"/>
              </a:lnSpc>
              <a:spcBef>
                <a:spcPts val="0"/>
              </a:spcBef>
              <a:spcAft>
                <a:spcPts val="0"/>
              </a:spcAft>
              <a:defRPr sz="2000" b="0">
                <a:solidFill>
                  <a:srgbClr val="193540"/>
                </a:solidFill>
                <a:latin typeface="DejaVu Sans"/>
              </a:defRPr>
            </a:pPr>
            <a:r>
              <a:t>inget annat avtalas. Underlag 100 MWh ger 80 MWh säkrat för samma period.</a:t>
            </a:r>
          </a:p>
          <a:p>
            <a:pPr>
              <a:lnSpc>
                <a:spcPts val="2480"/>
              </a:lnSpc>
              <a:spcBef>
                <a:spcPts val="0"/>
              </a:spcBef>
              <a:spcAft>
                <a:spcPts val="0"/>
              </a:spcAft>
              <a:defRPr sz="2000" b="0">
                <a:solidFill>
                  <a:srgbClr val="193540"/>
                </a:solidFill>
                <a:latin typeface="DejaVu Sans"/>
              </a:defRPr>
            </a:pPr>
            <a:r>
              <a:t>Mängden växer eller krymper inte automatiskt med verkligt uttag.</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prognos, period och säkrad mängd. Faktisk täckning är säkrad mängd</a:t>
            </a:r>
          </a:p>
          <a:p>
            <a:pPr>
              <a:lnSpc>
                <a:spcPts val="2480"/>
              </a:lnSpc>
              <a:spcBef>
                <a:spcPts val="0"/>
              </a:spcBef>
              <a:spcAft>
                <a:spcPts val="0"/>
              </a:spcAft>
              <a:defRPr sz="2000" b="0">
                <a:solidFill>
                  <a:srgbClr val="193540"/>
                </a:solidFill>
                <a:latin typeface="DejaVu Sans"/>
              </a:defRPr>
            </a:pPr>
            <a:r>
              <a:t>delad med verkligt uttag. En kvot över 100 procent betyder att säkrad mängd</a:t>
            </a:r>
          </a:p>
          <a:p>
            <a:pPr>
              <a:lnSpc>
                <a:spcPts val="2480"/>
              </a:lnSpc>
              <a:spcBef>
                <a:spcPts val="0"/>
              </a:spcBef>
              <a:spcAft>
                <a:spcPts val="0"/>
              </a:spcAft>
              <a:defRPr sz="2000" b="0">
                <a:solidFill>
                  <a:srgbClr val="193540"/>
                </a:solidFill>
                <a:latin typeface="DejaVu Sans"/>
              </a:defRPr>
            </a:pPr>
            <a:r>
              <a:t>överstiger uttaget.</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Profil och osäkrad volym är olika frågor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303</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Månadsprofilen visar volym över årets månader. Dygnsprofilen visar</a:t>
            </a:r>
          </a:p>
          <a:p>
            <a:pPr>
              <a:lnSpc>
                <a:spcPts val="2480"/>
              </a:lnSpc>
              <a:spcBef>
                <a:spcPts val="0"/>
              </a:spcBef>
              <a:spcAft>
                <a:spcPts val="0"/>
              </a:spcAft>
              <a:defRPr sz="2000" b="0">
                <a:solidFill>
                  <a:srgbClr val="193540"/>
                </a:solidFill>
                <a:latin typeface="DejaVu Sans"/>
              </a:defRPr>
            </a:pPr>
            <a:r>
              <a:t>användning inom månadens timmar och kvartar. Samma årsvolym kan därför</a:t>
            </a:r>
          </a:p>
          <a:p>
            <a:pPr>
              <a:lnSpc>
                <a:spcPts val="2480"/>
              </a:lnSpc>
              <a:spcBef>
                <a:spcPts val="0"/>
              </a:spcBef>
              <a:spcAft>
                <a:spcPts val="0"/>
              </a:spcAft>
              <a:defRPr sz="2000" b="0">
                <a:solidFill>
                  <a:srgbClr val="193540"/>
                </a:solidFill>
                <a:latin typeface="DejaVu Sans"/>
              </a:defRPr>
            </a:pPr>
            <a:r>
              <a:t>ge olika kostnad när användningen följer olika priser.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Dygnsprofil ligger separat från säkringen och får inte automatiskt räknas bara</a:t>
            </a:r>
          </a:p>
          <a:p>
            <a:pPr>
              <a:lnSpc>
                <a:spcPts val="2480"/>
              </a:lnSpc>
              <a:spcBef>
                <a:spcPts val="0"/>
              </a:spcBef>
              <a:spcAft>
                <a:spcPts val="0"/>
              </a:spcAft>
              <a:defRPr sz="2000" b="0">
                <a:solidFill>
                  <a:srgbClr val="193540"/>
                </a:solidFill>
                <a:latin typeface="DejaVu Sans"/>
              </a:defRPr>
            </a:pPr>
            <a:r>
              <a:t>på osäkrade 20 procent. Osäkrat är marknadsberoende. Andra</a:t>
            </a:r>
          </a:p>
          <a:p>
            <a:pPr>
              <a:lnSpc>
                <a:spcPts val="2480"/>
              </a:lnSpc>
              <a:spcBef>
                <a:spcPts val="0"/>
              </a:spcBef>
              <a:spcAft>
                <a:spcPts val="0"/>
              </a:spcAft>
              <a:defRPr sz="2000" b="0">
                <a:solidFill>
                  <a:srgbClr val="193540"/>
                </a:solidFill>
                <a:latin typeface="DejaVu Sans"/>
              </a:defRPr>
            </a:pPr>
            <a:r>
              <a:t>elhandelskostnader följer prisbilagan; elnät, energiskatt och moms hålls isär.</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Större förutsägbarhet med en avvägning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304</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Säkringen minskar exponeringen mot prisuppgång för omfattade</a:t>
            </a:r>
          </a:p>
          <a:p>
            <a:pPr>
              <a:lnSpc>
                <a:spcPts val="2480"/>
              </a:lnSpc>
              <a:spcBef>
                <a:spcPts val="0"/>
              </a:spcBef>
              <a:spcAft>
                <a:spcPts val="0"/>
              </a:spcAft>
              <a:defRPr sz="2000" b="0">
                <a:solidFill>
                  <a:srgbClr val="193540"/>
                </a:solidFill>
                <a:latin typeface="DejaVu Sans"/>
              </a:defRPr>
            </a:pPr>
            <a:r>
              <a:t>komponenter och mängd. Den garanterar inte lägsta pris. Vid prisfall kan</a:t>
            </a:r>
          </a:p>
          <a:p>
            <a:pPr>
              <a:lnSpc>
                <a:spcPts val="2480"/>
              </a:lnSpc>
              <a:spcBef>
                <a:spcPts val="0"/>
              </a:spcBef>
              <a:spcAft>
                <a:spcPts val="0"/>
              </a:spcAft>
              <a:defRPr sz="2000" b="0">
                <a:solidFill>
                  <a:srgbClr val="193540"/>
                </a:solidFill>
                <a:latin typeface="DejaVu Sans"/>
              </a:defRPr>
            </a:pPr>
            <a:r>
              <a:t>säkrad nivå vara högre än senare marknad.</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Direkt har inte Stabils gemensamma kundanpassade snittdebitering. Det</a:t>
            </a:r>
          </a:p>
          <a:p>
            <a:pPr>
              <a:lnSpc>
                <a:spcPts val="2480"/>
              </a:lnSpc>
              <a:spcBef>
                <a:spcPts val="0"/>
              </a:spcBef>
              <a:spcAft>
                <a:spcPts val="0"/>
              </a:spcAft>
              <a:defRPr sz="2000" b="0">
                <a:solidFill>
                  <a:srgbClr val="193540"/>
                </a:solidFill>
                <a:latin typeface="DejaVu Sans"/>
              </a:defRPr>
            </a:pPr>
            <a:r>
              <a:t>räcker inte för att härleda en exakt Direktfaktura månad för månad.</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Gör rekommendationen begriplig och spårbar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Fråga vad kunden vill skydda: marginal, budget eller vald nivå. Samla framtida</a:t>
            </a:r>
          </a:p>
          <a:p>
            <a:pPr>
              <a:lnSpc>
                <a:spcPts val="2480"/>
              </a:lnSpc>
              <a:spcBef>
                <a:spcPts val="0"/>
              </a:spcBef>
              <a:spcAft>
                <a:spcPts val="0"/>
              </a:spcAft>
              <a:defRPr sz="2000" b="0">
                <a:solidFill>
                  <a:srgbClr val="193540"/>
                </a:solidFill>
                <a:latin typeface="DejaVu Sans"/>
              </a:defRPr>
            </a:pPr>
            <a:r>
              <a:t>nätinköp per månad och förändringar i lokaler, maskiner, drift och egen</a:t>
            </a:r>
          </a:p>
          <a:p>
            <a:pPr>
              <a:lnSpc>
                <a:spcPts val="2480"/>
              </a:lnSpc>
              <a:spcBef>
                <a:spcPts val="0"/>
              </a:spcBef>
              <a:spcAft>
                <a:spcPts val="0"/>
              </a:spcAft>
              <a:defRPr sz="2000" b="0">
                <a:solidFill>
                  <a:srgbClr val="193540"/>
                </a:solidFill>
                <a:latin typeface="DejaVu Sans"/>
              </a:defRPr>
            </a:pPr>
            <a:r>
              <a:t>produktion. Historisk årssumma räcker inte när verksamheten ändras.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Verifiera område, prognos, mängd, period och aktuella volym-, profil-, flytt-</a:t>
            </a:r>
          </a:p>
          <a:p>
            <a:pPr>
              <a:lnSpc>
                <a:spcPts val="2480"/>
              </a:lnSpc>
              <a:spcBef>
                <a:spcPts val="0"/>
              </a:spcBef>
              <a:spcAft>
                <a:spcPts val="0"/>
              </a:spcAft>
              <a:defRPr sz="2000" b="0">
                <a:solidFill>
                  <a:srgbClr val="193540"/>
                </a:solidFill>
                <a:latin typeface="DejaVu Sans"/>
              </a:defRPr>
            </a:pPr>
            <a:r>
              <a:t>och avslutsvillkor. Visa uppgång och nedgång. Låt kunden återberätta säkrat</a:t>
            </a:r>
          </a:p>
          <a:p>
            <a:pPr>
              <a:lnSpc>
                <a:spcPts val="2480"/>
              </a:lnSpc>
              <a:spcBef>
                <a:spcPts val="0"/>
              </a:spcBef>
              <a:spcAft>
                <a:spcPts val="0"/>
              </a:spcAft>
              <a:defRPr sz="2000" b="0">
                <a:solidFill>
                  <a:srgbClr val="193540"/>
                </a:solidFill>
                <a:latin typeface="DejaVu Sans"/>
              </a:defRPr>
            </a:pPr>
            <a:r>
              <a:t>och kvarvarande risk; det prövar förståelse bättre än ett snabbt ja.</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Samma säkrade mängd, två olika utfall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306</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mängdjämförelse för samma period; ingen faktura eller</a:t>
            </a:r>
          </a:p>
          <a:p>
            <a:pPr>
              <a:lnSpc>
                <a:spcPts val="2480"/>
              </a:lnSpc>
              <a:spcBef>
                <a:spcPts val="0"/>
              </a:spcBef>
              <a:spcAft>
                <a:spcPts val="0"/>
              </a:spcAft>
              <a:defRPr sz="2000" b="0">
                <a:solidFill>
                  <a:srgbClr val="193540"/>
                </a:solidFill>
                <a:latin typeface="DejaVu Sans"/>
              </a:defRPr>
            </a:pPr>
            <a:r>
              <a:t>avvikelseersättning.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Prognos 100 MWh = 100 000 kWh; säkring 80 procent.</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Alternativa faktiska uttag: 125 MWh respektive 60 MWh.</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Samma säkrade mängd, två olika utfall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100 × 0,80 = 80 MWh säkrat.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80 ÷ 125 × 100 = 64 procent.</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80 ÷ 60 × 100 ≈ 133,33 procent; säkrad mängd överstiger uttaget med</a:t>
            </a:r>
          </a:p>
          <a:p>
            <a:pPr>
              <a:lnSpc>
                <a:spcPts val="2480"/>
              </a:lnSpc>
              <a:spcBef>
                <a:spcPts val="0"/>
              </a:spcBef>
              <a:spcAft>
                <a:spcPts val="0"/>
              </a:spcAft>
              <a:defRPr sz="2000" b="0">
                <a:solidFill>
                  <a:srgbClr val="193540"/>
                </a:solidFill>
                <a:latin typeface="DejaVu Sans"/>
              </a:defRPr>
            </a:pPr>
            <a:r>
              <a:t>20 MWh.</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Oförändrade 80 MWh motsvarar 64 respektive cirka 133,33 procent</a:t>
            </a:r>
          </a:p>
          <a:p>
            <a:pPr>
              <a:lnSpc>
                <a:spcPts val="2480"/>
              </a:lnSpc>
              <a:spcBef>
                <a:spcPts val="0"/>
              </a:spcBef>
              <a:spcAft>
                <a:spcPts val="0"/>
              </a:spcAft>
              <a:defRPr sz="2000" b="0">
                <a:solidFill>
                  <a:srgbClr val="193540"/>
                </a:solidFill>
                <a:latin typeface="DejaVu Sans"/>
              </a:defRPr>
            </a:pPr>
            <a:r>
              <a:t>av faktiskt uttag.</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Hur säkringen verkar vid uppgång och nedgång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principmodell med matchande referens, period och mängd.</a:t>
            </a:r>
          </a:p>
          <a:p>
            <a:pPr>
              <a:lnSpc>
                <a:spcPts val="2480"/>
              </a:lnSpc>
              <a:spcBef>
                <a:spcPts val="0"/>
              </a:spcBef>
              <a:spcAft>
                <a:spcPts val="0"/>
              </a:spcAft>
              <a:defRPr sz="2000" b="0">
                <a:solidFill>
                  <a:srgbClr val="193540"/>
                </a:solidFill>
                <a:latin typeface="DejaVu Sans"/>
              </a:defRPr>
            </a:pPr>
            <a:r>
              <a:t>Spotutfall antas lika referensen. Profil, påslag, nät, skatt och moms ingår inte;</a:t>
            </a:r>
          </a:p>
          <a:p>
            <a:pPr>
              <a:lnSpc>
                <a:spcPts val="2480"/>
              </a:lnSpc>
              <a:spcBef>
                <a:spcPts val="0"/>
              </a:spcBef>
              <a:spcAft>
                <a:spcPts val="0"/>
              </a:spcAft>
              <a:defRPr sz="2000" b="0">
                <a:solidFill>
                  <a:srgbClr val="193540"/>
                </a:solidFill>
                <a:latin typeface="DejaVu Sans"/>
              </a:defRPr>
            </a:pPr>
            <a:r>
              <a:t>ingen fullständig fakturaformel.</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SYS 50 + områdesskillnad 20 = 70 öre/kWh = 0,70 kr/kWh säkrad referens.</a:t>
            </a:r>
          </a:p>
        </p:txBody>
      </p:sp>
      <p:sp>
        <p:nvSpPr>
          <p:cNvPr id="8" name="TextBox 7"/>
          <p:cNvSpPr txBox="1"/>
          <p:nvPr/>
        </p:nvSpPr>
        <p:spPr>
          <a:xfrm>
            <a:off x="603504" y="36372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80 000 kWh säkrat; 100 000 kWh faktiskt. Alternativa senare referenser</a:t>
            </a:r>
          </a:p>
          <a:p>
            <a:pPr>
              <a:lnSpc>
                <a:spcPts val="2480"/>
              </a:lnSpc>
              <a:spcBef>
                <a:spcPts val="0"/>
              </a:spcBef>
              <a:spcAft>
                <a:spcPts val="0"/>
              </a:spcAft>
              <a:defRPr sz="2000" b="0">
                <a:solidFill>
                  <a:srgbClr val="193540"/>
                </a:solidFill>
                <a:latin typeface="DejaVu Sans"/>
              </a:defRPr>
            </a:pPr>
            <a:r>
              <a:t>1,00 och 0,40 kr/kWh.</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Hur säkringen verkar vid uppgång och</a:t>
            </a:r>
          </a:p>
          <a:p>
            <a:pPr>
              <a:lnSpc>
                <a:spcPts val="3472"/>
              </a:lnSpc>
              <a:spcBef>
                <a:spcPts val="0"/>
              </a:spcBef>
              <a:spcAft>
                <a:spcPts val="0"/>
              </a:spcAft>
              <a:defRPr sz="2800" b="1">
                <a:solidFill>
                  <a:srgbClr val="193540"/>
                </a:solidFill>
                <a:latin typeface="DejaVu Sans"/>
              </a:defRPr>
            </a:pPr>
            <a:r>
              <a:t>nedgång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309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Finansiellt resultat = säkrad kWh × (senare referens − säkrad nivå).</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Uppgång: 80 000 × (1,00 − 0,70) = +24 000 kr; spotkostnad 100 000 kr</a:t>
            </a:r>
          </a:p>
          <a:p>
            <a:pPr>
              <a:lnSpc>
                <a:spcPts val="2480"/>
              </a:lnSpc>
              <a:spcBef>
                <a:spcPts val="0"/>
              </a:spcBef>
              <a:spcAft>
                <a:spcPts val="0"/>
              </a:spcAft>
              <a:defRPr sz="2000" b="0">
                <a:solidFill>
                  <a:srgbClr val="193540"/>
                </a:solidFill>
                <a:latin typeface="DejaVu Sans"/>
              </a:defRPr>
            </a:pPr>
            <a:r>
              <a:t>minus resultat = 76 000 kr.</a:t>
            </a:r>
          </a:p>
        </p:txBody>
      </p:sp>
      <p:sp>
        <p:nvSpPr>
          <p:cNvPr id="8" name="TextBox 7"/>
          <p:cNvSpPr txBox="1"/>
          <p:nvPr/>
        </p:nvSpPr>
        <p:spPr>
          <a:xfrm>
            <a:off x="603504" y="33223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Nedgång: 80 000 × (0,40 − 0,70) = −24 000 kr; spotkostnad 40 000 kr</a:t>
            </a:r>
          </a:p>
          <a:p>
            <a:pPr>
              <a:lnSpc>
                <a:spcPts val="2480"/>
              </a:lnSpc>
              <a:spcBef>
                <a:spcPts val="0"/>
              </a:spcBef>
              <a:spcAft>
                <a:spcPts val="0"/>
              </a:spcAft>
              <a:defRPr sz="2000" b="0">
                <a:solidFill>
                  <a:srgbClr val="193540"/>
                </a:solidFill>
                <a:latin typeface="DejaVu Sans"/>
              </a:defRPr>
            </a:pPr>
            <a:r>
              <a:t>minus negativt resultat = 64 000 kr.</a:t>
            </a:r>
          </a:p>
        </p:txBody>
      </p:sp>
      <p:sp>
        <p:nvSpPr>
          <p:cNvPr id="9" name="TextBox 8"/>
          <p:cNvSpPr txBox="1"/>
          <p:nvPr/>
        </p:nvSpPr>
        <p:spPr>
          <a:xfrm>
            <a:off x="603504" y="40665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Avgränsat modellnetto: 76 000 kr vid uppgång, 64 000 kr vid</a:t>
            </a:r>
          </a:p>
          <a:p>
            <a:pPr>
              <a:lnSpc>
                <a:spcPts val="2480"/>
              </a:lnSpc>
              <a:spcBef>
                <a:spcPts val="0"/>
              </a:spcBef>
              <a:spcAft>
                <a:spcPts val="0"/>
              </a:spcAft>
              <a:defRPr sz="2000" b="0">
                <a:solidFill>
                  <a:srgbClr val="193540"/>
                </a:solidFill>
                <a:latin typeface="DejaVu Sans"/>
              </a:defRPr>
            </a:pPr>
            <a:r>
              <a:t>nedgång.</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Profilskillnaden kan avse hela uttaget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fortsättning på uppgången: hela faktiska uttaget får</a:t>
            </a:r>
          </a:p>
          <a:p>
            <a:pPr>
              <a:lnSpc>
                <a:spcPts val="2480"/>
              </a:lnSpc>
              <a:spcBef>
                <a:spcPts val="0"/>
              </a:spcBef>
              <a:spcAft>
                <a:spcPts val="0"/>
              </a:spcAft>
              <a:defRPr sz="2000" b="0">
                <a:solidFill>
                  <a:srgbClr val="193540"/>
                </a:solidFill>
                <a:latin typeface="DejaVu Sans"/>
              </a:defRPr>
            </a:pPr>
            <a:r>
              <a:t>förbrukningsvägt spotutfall. Samma avgränsningar gäller; verklig avräkning</a:t>
            </a:r>
          </a:p>
          <a:p>
            <a:pPr>
              <a:lnSpc>
                <a:spcPts val="2480"/>
              </a:lnSpc>
              <a:spcBef>
                <a:spcPts val="0"/>
              </a:spcBef>
              <a:spcAft>
                <a:spcPts val="0"/>
              </a:spcAft>
              <a:defRPr sz="2000" b="0">
                <a:solidFill>
                  <a:srgbClr val="193540"/>
                </a:solidFill>
                <a:latin typeface="DejaVu Sans"/>
              </a:defRPr>
            </a:pPr>
            <a:r>
              <a:t>följer prisbilagan.</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Referens 1,00 kr/kWh; kundens spotutfall 1,05 kr/kWh.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100 000 kWh faktiskt; säkringsresultat +24 000 kr.</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Profilskillnaden kan avse hela uttaget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100 000 × 1,05 = 105 000 kr fysisk kostnad.</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105 000 − 24 000 = 81 000 kr modellnetto.</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81 000 − 76 000 = 5 000 kr = 100 000 × 0,05.</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5 öre på 100 000 kWh ger 5 000 kr profilskillnad.</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80 procent av fakturan blir fast.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80 procent avser beskrivet prognosunderlag. Fakturan beror även</a:t>
            </a:r>
          </a:p>
          <a:p>
            <a:pPr>
              <a:lnSpc>
                <a:spcPts val="2480"/>
              </a:lnSpc>
              <a:spcBef>
                <a:spcPts val="0"/>
              </a:spcBef>
              <a:spcAft>
                <a:spcPts val="0"/>
              </a:spcAft>
              <a:defRPr sz="2000" b="0">
                <a:solidFill>
                  <a:srgbClr val="193540"/>
                </a:solidFill>
                <a:latin typeface="DejaVu Sans"/>
              </a:defRPr>
            </a:pPr>
            <a:r>
              <a:t>på andra komponenter, faktiskt uttag och avtalsvillkor.</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Efter köpet får kunden också alla framtida prisfall.</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Den redan säkrade nivån följer inte automatiskt med ned.</a:t>
            </a:r>
          </a:p>
          <a:p>
            <a:pPr>
              <a:lnSpc>
                <a:spcPts val="2480"/>
              </a:lnSpc>
              <a:spcBef>
                <a:spcPts val="0"/>
              </a:spcBef>
              <a:spcAft>
                <a:spcPts val="0"/>
              </a:spcAft>
              <a:defRPr sz="2000" b="0">
                <a:solidFill>
                  <a:srgbClr val="193540"/>
                </a:solidFill>
                <a:latin typeface="DejaVu Sans"/>
              </a:defRPr>
            </a:pPr>
            <a:r>
              <a:t>Säkringen fungerar åt båda håll.</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Direkt betyder ett gemensamt månadspris som Stabil.</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Direkt har inte Stabils kundanpassade snittdebitering. Exakt</a:t>
            </a:r>
          </a:p>
          <a:p>
            <a:pPr>
              <a:lnSpc>
                <a:spcPts val="2480"/>
              </a:lnSpc>
              <a:spcBef>
                <a:spcPts val="0"/>
              </a:spcBef>
              <a:spcAft>
                <a:spcPts val="0"/>
              </a:spcAft>
              <a:defRPr sz="2000" b="0">
                <a:solidFill>
                  <a:srgbClr val="193540"/>
                </a:solidFill>
                <a:latin typeface="DejaVu Sans"/>
              </a:defRPr>
            </a:pPr>
            <a:r>
              <a:t>månadsberäkning hämtas ur aktuell prisbilaga.</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315</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Med Direkt väljer ni ett tillfälle att säkra SYS och elområdesskillnaden för en</a:t>
            </a:r>
          </a:p>
          <a:p>
            <a:pPr>
              <a:lnSpc>
                <a:spcPts val="2480"/>
              </a:lnSpc>
              <a:spcBef>
                <a:spcPts val="0"/>
              </a:spcBef>
              <a:spcAft>
                <a:spcPts val="0"/>
              </a:spcAft>
              <a:defRPr sz="2000" b="0">
                <a:solidFill>
                  <a:srgbClr val="193540"/>
                </a:solidFill>
                <a:latin typeface="DejaVu Sans"/>
              </a:defRPr>
            </a:pPr>
            <a:r>
              <a:t>överenskommen mängd och period. Det ger större förutsägbarhet för de</a:t>
            </a:r>
          </a:p>
          <a:p>
            <a:pPr>
              <a:lnSpc>
                <a:spcPts val="2480"/>
              </a:lnSpc>
              <a:spcBef>
                <a:spcPts val="0"/>
              </a:spcBef>
              <a:spcAft>
                <a:spcPts val="0"/>
              </a:spcAft>
              <a:defRPr sz="2000" b="0">
                <a:solidFill>
                  <a:srgbClr val="193540"/>
                </a:solidFill>
                <a:latin typeface="DejaVu Sans"/>
              </a:defRPr>
            </a:pPr>
            <a:r>
              <a:t>delarna. Dygnsprofil, osäkrad volym och andra prisdelar ligger separat.</a:t>
            </a:r>
          </a:p>
          <a:p>
            <a:pPr>
              <a:lnSpc>
                <a:spcPts val="2480"/>
              </a:lnSpc>
              <a:spcBef>
                <a:spcPts val="0"/>
              </a:spcBef>
              <a:spcAft>
                <a:spcPts val="0"/>
              </a:spcAft>
              <a:defRPr sz="2000" b="0">
                <a:solidFill>
                  <a:srgbClr val="193540"/>
                </a:solidFill>
                <a:latin typeface="DejaVu Sans"/>
              </a:defRPr>
            </a:pPr>
            <a:r>
              <a:t>Säkrad nivå följer inte automatiskt med ned om marknaden faller.</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Verkstaden som både växer och planerar solceller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316</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Hallbergs Verkstad har köpt 500 MWh per år och vill välja Direkt. Ny</a:t>
            </a:r>
          </a:p>
          <a:p>
            <a:pPr>
              <a:lnSpc>
                <a:spcPts val="2480"/>
              </a:lnSpc>
              <a:spcBef>
                <a:spcPts val="0"/>
              </a:spcBef>
              <a:spcAft>
                <a:spcPts val="0"/>
              </a:spcAft>
              <a:defRPr sz="2000" b="0">
                <a:solidFill>
                  <a:srgbClr val="193540"/>
                </a:solidFill>
                <a:latin typeface="DejaVu Sans"/>
              </a:defRPr>
            </a:pPr>
            <a:r>
              <a:t>maskin och längre öppettider kan höja inköpet till 650 MWh; solceller utreds.</a:t>
            </a:r>
          </a:p>
          <a:p>
            <a:pPr>
              <a:lnSpc>
                <a:spcPts val="2480"/>
              </a:lnSpc>
              <a:spcBef>
                <a:spcPts val="0"/>
              </a:spcBef>
              <a:spcAft>
                <a:spcPts val="0"/>
              </a:spcAft>
              <a:defRPr sz="2000" b="0">
                <a:solidFill>
                  <a:srgbClr val="193540"/>
                </a:solidFill>
                <a:latin typeface="DejaVu Sans"/>
              </a:defRPr>
            </a:pPr>
            <a:r>
              <a:t>Kunden säger: Då är 80 procent av fakturan fast och vi får billigast pris om</a:t>
            </a:r>
          </a:p>
          <a:p>
            <a:pPr>
              <a:lnSpc>
                <a:spcPts val="2480"/>
              </a:lnSpc>
              <a:spcBef>
                <a:spcPts val="0"/>
              </a:spcBef>
              <a:spcAft>
                <a:spcPts val="0"/>
              </a:spcAft>
              <a:defRPr sz="2000" b="0">
                <a:solidFill>
                  <a:srgbClr val="193540"/>
                </a:solidFill>
                <a:latin typeface="DejaVu Sans"/>
              </a:defRPr>
            </a:pPr>
            <a:r>
              <a:t>marknaden sjunker? Övningen använder gammalt underlag 500 MWh och 80</a:t>
            </a:r>
          </a:p>
          <a:p>
            <a:pPr>
              <a:lnSpc>
                <a:spcPts val="2480"/>
              </a:lnSpc>
              <a:spcBef>
                <a:spcPts val="0"/>
              </a:spcBef>
              <a:spcAft>
                <a:spcPts val="0"/>
              </a:spcAft>
              <a:defRPr sz="2000" b="0">
                <a:solidFill>
                  <a:srgbClr val="193540"/>
                </a:solidFill>
                <a:latin typeface="DejaVu Sans"/>
              </a:defRPr>
            </a:pPr>
            <a:r>
              <a:t>procents säkring för samma period.</a:t>
            </a:r>
          </a:p>
        </p:txBody>
      </p:sp>
      <p:sp>
        <p:nvSpPr>
          <p:cNvPr id="7" name="TextBox 6"/>
          <p:cNvSpPr txBox="1"/>
          <p:nvPr/>
        </p:nvSpPr>
        <p:spPr>
          <a:xfrm>
            <a:off x="603504" y="38379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säkrad mängd och andel vid 650 MWh.</a:t>
            </a:r>
          </a:p>
        </p:txBody>
      </p:sp>
      <p:sp>
        <p:nvSpPr>
          <p:cNvPr id="8" name="TextBox 7"/>
          <p:cNvSpPr txBox="1"/>
          <p:nvPr/>
        </p:nvSpPr>
        <p:spPr>
          <a:xfrm>
            <a:off x="603504" y="42672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Korrigera antagandena och förklara nyttan.</a:t>
            </a:r>
          </a:p>
        </p:txBody>
      </p:sp>
      <p:sp>
        <p:nvSpPr>
          <p:cNvPr id="9" name="TextBox 8"/>
          <p:cNvSpPr txBox="1"/>
          <p:nvPr/>
        </p:nvSpPr>
        <p:spPr>
          <a:xfrm>
            <a:off x="603504" y="46964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underlag och villkor före beslut.</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Anger 400 MWh och cirka 61,54 procent med rätt nämnare.</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säkrade referenskomponenter från faktura och återstående risk.</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Förklarar både upp- och nedgång utan löfte om lägsta pris.</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Uppdaterar framtida månadsprognos och nämner offertens avvikelse- och</a:t>
            </a:r>
          </a:p>
          <a:p>
            <a:pPr>
              <a:lnSpc>
                <a:spcPts val="2480"/>
              </a:lnSpc>
              <a:spcBef>
                <a:spcPts val="0"/>
              </a:spcBef>
              <a:spcAft>
                <a:spcPts val="0"/>
              </a:spcAft>
              <a:defRPr sz="2000" b="0">
                <a:solidFill>
                  <a:srgbClr val="193540"/>
                </a:solidFill>
                <a:latin typeface="DejaVu Sans"/>
              </a:defRPr>
            </a:pPr>
            <a:r>
              <a:t>månadsregler.</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beskrivning av Direkt är korrekt?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SYS/EPAD säkras vid ett tillfälle för avtalad mängd och period; andra delar</a:t>
            </a:r>
          </a:p>
          <a:p>
            <a:pPr>
              <a:lnSpc>
                <a:spcPts val="2480"/>
              </a:lnSpc>
              <a:spcBef>
                <a:spcPts val="0"/>
              </a:spcBef>
              <a:spcAft>
                <a:spcPts val="0"/>
              </a:spcAft>
              <a:defRPr sz="2000" b="0">
                <a:solidFill>
                  <a:srgbClr val="193540"/>
                </a:solidFill>
                <a:latin typeface="DejaVu Sans"/>
              </a:defRPr>
            </a:pPr>
            <a:r>
              <a:t>separat.</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Dagliga köp säkrar hela fakturan till lägsta pris.</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Stabils gemensamma månadspris ingår automatiskt.</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319</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80 MWh säkrat, 125 MWh faktiskt för samma period. Vilken procentandel</a:t>
            </a:r>
          </a:p>
          <a:p>
            <a:pPr>
              <a:lnSpc>
                <a:spcPts val="2480"/>
              </a:lnSpc>
              <a:spcBef>
                <a:spcPts val="0"/>
              </a:spcBef>
              <a:spcAft>
                <a:spcPts val="0"/>
              </a:spcAft>
              <a:defRPr sz="2000" b="0">
                <a:solidFill>
                  <a:srgbClr val="193540"/>
                </a:solidFill>
                <a:latin typeface="DejaVu Sans"/>
              </a:defRPr>
            </a:pPr>
            <a:r>
              <a:t>motsvarar säkrad mängd?</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 av faktisk volym.</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 principmodellen är spotutfallet för 100 000 faktiska kWh 5 öre över</a:t>
            </a:r>
          </a:p>
          <a:p>
            <a:pPr>
              <a:lnSpc>
                <a:spcPts val="2480"/>
              </a:lnSpc>
              <a:spcBef>
                <a:spcPts val="0"/>
              </a:spcBef>
              <a:spcAft>
                <a:spcPts val="0"/>
              </a:spcAft>
              <a:defRPr sz="2000" b="0">
                <a:solidFill>
                  <a:srgbClr val="193540"/>
                </a:solidFill>
                <a:latin typeface="DejaVu Sans"/>
              </a:defRPr>
            </a:pPr>
            <a:r>
              <a:t>referensen. Vad visar profilen?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1 000 kr: profil kan bara påverka öppna 20 procent.</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5 000 kr: profil får inte automatiskt begränsas till öppna delen.</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Ingen kostnad: EPAD säkrar varje förbrukningskvart.</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vill säkra idag, få alla framtida prisfall och ett fast fakturabelopp.</a:t>
            </a:r>
          </a:p>
          <a:p>
            <a:pPr>
              <a:lnSpc>
                <a:spcPts val="2480"/>
              </a:lnSpc>
              <a:spcBef>
                <a:spcPts val="0"/>
              </a:spcBef>
              <a:spcAft>
                <a:spcPts val="0"/>
              </a:spcAft>
              <a:defRPr sz="2000" b="0">
                <a:solidFill>
                  <a:srgbClr val="193540"/>
                </a:solidFill>
                <a:latin typeface="DejaVu Sans"/>
              </a:defRPr>
            </a:pPr>
            <a:r>
              <a:t>Svara och ställ två relevanta frågor.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15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Ange köpdag och framtida leveransperiod var för sig.</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Skriv SYS/EPAD, prognosbas och säkrad mängd uttryckligt.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faktisk täckning med faktiskt uttag som nämnare.</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 dygnsprofil och osäkrad volym som separata frågor.</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Jämför både stigande och fallande marknad.</a:t>
            </a:r>
          </a:p>
        </p:txBody>
      </p:sp>
      <p:sp>
        <p:nvSpPr>
          <p:cNvPr id="11" name="TextBox 10"/>
          <p:cNvSpPr txBox="1"/>
          <p:nvPr/>
        </p:nvSpPr>
        <p:spPr>
          <a:xfrm>
            <a:off x="603504" y="42951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Hämta Direkts exakta månads- och avräkningsmodell ur aktuell prisbilaga.</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16 · Företag / Savera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Kraftringen Stabil – samma säkring,</a:t>
            </a:r>
          </a:p>
          <a:p>
            <a:pPr>
              <a:lnSpc>
                <a:spcPts val="3472"/>
              </a:lnSpc>
              <a:spcBef>
                <a:spcPts val="0"/>
              </a:spcBef>
              <a:spcAft>
                <a:spcPts val="0"/>
              </a:spcAft>
              <a:defRPr sz="2800" b="1">
                <a:solidFill>
                  <a:srgbClr val="FFFFFF"/>
                </a:solidFill>
                <a:latin typeface="DejaVu Sans"/>
              </a:defRPr>
            </a:pPr>
            <a:r>
              <a:t>förbrukningsvägt komponentpris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323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Stabils gemensamma pris som SYS/EPAD-pris på överenskommen</a:t>
            </a:r>
          </a:p>
          <a:p>
            <a:pPr>
              <a:lnSpc>
                <a:spcPts val="2480"/>
              </a:lnSpc>
              <a:spcBef>
                <a:spcPts val="0"/>
              </a:spcBef>
              <a:spcAft>
                <a:spcPts val="0"/>
              </a:spcAft>
              <a:defRPr sz="2000" b="0">
                <a:solidFill>
                  <a:srgbClr val="FFFFFF"/>
                </a:solidFill>
                <a:latin typeface="DejaVu Sans"/>
              </a:defRPr>
            </a:pPr>
            <a:r>
              <a:t>säkrad mängd.</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Beräkna ett förbrukningsvägt pris med korrekta öre-, kron- och</a:t>
            </a:r>
          </a:p>
          <a:p>
            <a:pPr>
              <a:lnSpc>
                <a:spcPts val="2480"/>
              </a:lnSpc>
              <a:spcBef>
                <a:spcPts val="0"/>
              </a:spcBef>
              <a:spcAft>
                <a:spcPts val="0"/>
              </a:spcAft>
              <a:defRPr sz="2000" b="0">
                <a:solidFill>
                  <a:srgbClr val="FFFFFF"/>
                </a:solidFill>
                <a:latin typeface="DejaVu Sans"/>
              </a:defRPr>
            </a:pPr>
            <a:r>
              <a:t>volymenheter.</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Skilja månadsprofil från dygnsprofil och komponentpris från fakturabelopp.</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varför utjämning inte skapar en besparing i sig.</a:t>
            </a:r>
          </a:p>
        </p:txBody>
      </p:sp>
      <p:sp>
        <p:nvSpPr>
          <p:cNvPr id="10" name="TextBox 9"/>
          <p:cNvSpPr txBox="1"/>
          <p:nvPr/>
        </p:nvSpPr>
        <p:spPr>
          <a:xfrm>
            <a:off x="603504" y="4495799"/>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Hantera ändrad faktisk profil utan att ändra det överenskomna</a:t>
            </a:r>
          </a:p>
          <a:p>
            <a:pPr>
              <a:lnSpc>
                <a:spcPts val="2480"/>
              </a:lnSpc>
              <a:spcBef>
                <a:spcPts val="0"/>
              </a:spcBef>
              <a:spcAft>
                <a:spcPts val="0"/>
              </a:spcAft>
              <a:defRPr sz="2000" b="0">
                <a:solidFill>
                  <a:srgbClr val="FFFFFF"/>
                </a:solidFill>
                <a:latin typeface="DejaVu Sans"/>
              </a:defRPr>
            </a:pPr>
            <a:r>
              <a:t>komponentpriset eller uppfinna avvikelsevillkor.</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Den extra egenskapen är ett gemensamt</a:t>
            </a:r>
          </a:p>
          <a:p>
            <a:pPr>
              <a:lnSpc>
                <a:spcPts val="3472"/>
              </a:lnSpc>
              <a:spcBef>
                <a:spcPts val="0"/>
              </a:spcBef>
              <a:spcAft>
                <a:spcPts val="0"/>
              </a:spcAft>
              <a:defRPr sz="2800" b="1">
                <a:solidFill>
                  <a:srgbClr val="193540"/>
                </a:solidFill>
                <a:latin typeface="DejaVu Sans"/>
              </a:defRPr>
            </a:pPr>
            <a:r>
              <a:t>komponentpris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324</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SYS och EPAD säkras vid ett tillfälle för avtalad mängd och period. Stabil</a:t>
            </a:r>
          </a:p>
          <a:p>
            <a:pPr>
              <a:lnSpc>
                <a:spcPts val="2480"/>
              </a:lnSpc>
              <a:spcBef>
                <a:spcPts val="0"/>
              </a:spcBef>
              <a:spcAft>
                <a:spcPts val="0"/>
              </a:spcAft>
              <a:defRPr sz="2000" b="0">
                <a:solidFill>
                  <a:srgbClr val="193540"/>
                </a:solidFill>
                <a:latin typeface="DejaVu Sans"/>
              </a:defRPr>
            </a:pPr>
            <a:r>
              <a:t>använder förväntad månadsfördelning för ett gemensamt förbrukningsvägt</a:t>
            </a:r>
          </a:p>
          <a:p>
            <a:pPr>
              <a:lnSpc>
                <a:spcPts val="2480"/>
              </a:lnSpc>
              <a:spcBef>
                <a:spcPts val="0"/>
              </a:spcBef>
              <a:spcAft>
                <a:spcPts val="0"/>
              </a:spcAft>
              <a:defRPr sz="2000" b="0">
                <a:solidFill>
                  <a:srgbClr val="193540"/>
                </a:solidFill>
                <a:latin typeface="DejaVu Sans"/>
              </a:defRPr>
            </a:pPr>
            <a:r>
              <a:t>SYS/EPAD-pris. Varje överenskommen säkrad kWh debiteras samma</a:t>
            </a:r>
          </a:p>
          <a:p>
            <a:pPr>
              <a:lnSpc>
                <a:spcPts val="2480"/>
              </a:lnSpc>
              <a:spcBef>
                <a:spcPts val="0"/>
              </a:spcBef>
              <a:spcAft>
                <a:spcPts val="0"/>
              </a:spcAft>
              <a:defRPr sz="2000" b="0">
                <a:solidFill>
                  <a:srgbClr val="193540"/>
                </a:solidFill>
                <a:latin typeface="DejaVu Sans"/>
              </a:defRPr>
            </a:pPr>
            <a:r>
              <a:t>komponentpris.</a:t>
            </a:r>
          </a:p>
        </p:txBody>
      </p:sp>
      <p:sp>
        <p:nvSpPr>
          <p:cNvPr id="7" name="TextBox 6"/>
          <p:cNvSpPr txBox="1"/>
          <p:nvPr/>
        </p:nvSpPr>
        <p:spPr>
          <a:xfrm>
            <a:off x="603504" y="352298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Det gemensamma priset omfattar endast den säkrade, månadsutjämnade</a:t>
            </a:r>
          </a:p>
          <a:p>
            <a:pPr>
              <a:lnSpc>
                <a:spcPts val="2480"/>
              </a:lnSpc>
              <a:spcBef>
                <a:spcPts val="0"/>
              </a:spcBef>
              <a:spcAft>
                <a:spcPts val="0"/>
              </a:spcAft>
              <a:defRPr sz="2000" b="0">
                <a:solidFill>
                  <a:srgbClr val="193540"/>
                </a:solidFill>
                <a:latin typeface="DejaVu Sans"/>
              </a:defRPr>
            </a:pPr>
            <a:r>
              <a:t>delen. Dygnsprofil, osäkrad mängd och andra elhandelskostnader ligger</a:t>
            </a:r>
          </a:p>
          <a:p>
            <a:pPr>
              <a:lnSpc>
                <a:spcPts val="2480"/>
              </a:lnSpc>
              <a:spcBef>
                <a:spcPts val="0"/>
              </a:spcBef>
              <a:spcAft>
                <a:spcPts val="0"/>
              </a:spcAft>
              <a:defRPr sz="2000" b="0">
                <a:solidFill>
                  <a:srgbClr val="193540"/>
                </a:solidFill>
                <a:latin typeface="DejaVu Sans"/>
              </a:defRPr>
            </a:pPr>
            <a:r>
              <a:t>separat. Direkt har samma referenssäkring men saknar denna kundanpassade</a:t>
            </a:r>
          </a:p>
          <a:p>
            <a:pPr>
              <a:lnSpc>
                <a:spcPts val="2480"/>
              </a:lnSpc>
              <a:spcBef>
                <a:spcPts val="0"/>
              </a:spcBef>
              <a:spcAft>
                <a:spcPts val="0"/>
              </a:spcAft>
              <a:defRPr sz="2000" b="0">
                <a:solidFill>
                  <a:srgbClr val="193540"/>
                </a:solidFill>
                <a:latin typeface="DejaVu Sans"/>
              </a:defRPr>
            </a:pPr>
            <a:r>
              <a:t>snittdebitering.</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Varför månadens mängd behöver vara med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Årsvolymen visar total förväntad mängd. Månadsprofilen visar när inköpet</a:t>
            </a:r>
          </a:p>
          <a:p>
            <a:pPr>
              <a:lnSpc>
                <a:spcPts val="2480"/>
              </a:lnSpc>
              <a:spcBef>
                <a:spcPts val="0"/>
              </a:spcBef>
              <a:spcAft>
                <a:spcPts val="0"/>
              </a:spcAft>
              <a:defRPr sz="2000" b="0">
                <a:solidFill>
                  <a:srgbClr val="193540"/>
                </a:solidFill>
                <a:latin typeface="DejaVu Sans"/>
              </a:defRPr>
            </a:pPr>
            <a:r>
              <a:t>behövs. Månader med stor användning får större betydelse för det viktade</a:t>
            </a:r>
          </a:p>
          <a:p>
            <a:pPr>
              <a:lnSpc>
                <a:spcPts val="2480"/>
              </a:lnSpc>
              <a:spcBef>
                <a:spcPts val="0"/>
              </a:spcBef>
              <a:spcAft>
                <a:spcPts val="0"/>
              </a:spcAft>
              <a:defRPr sz="2000" b="0">
                <a:solidFill>
                  <a:srgbClr val="193540"/>
                </a:solidFill>
                <a:latin typeface="DejaVu Sans"/>
              </a:defRPr>
            </a:pPr>
            <a:r>
              <a:t>priset än månader med liten användning.</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Underlaget ska beskriva framtida nätinköp. Utgå från historik men räkna in</a:t>
            </a:r>
          </a:p>
          <a:p>
            <a:pPr>
              <a:lnSpc>
                <a:spcPts val="2480"/>
              </a:lnSpc>
              <a:spcBef>
                <a:spcPts val="0"/>
              </a:spcBef>
              <a:spcAft>
                <a:spcPts val="0"/>
              </a:spcAft>
              <a:defRPr sz="2000" b="0">
                <a:solidFill>
                  <a:srgbClr val="193540"/>
                </a:solidFill>
                <a:latin typeface="DejaVu Sans"/>
              </a:defRPr>
            </a:pPr>
            <a:r>
              <a:t>nya maskiner, ändrad drift, ledighet, lokaler och egen produktion.</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Viktning är kostnad dividerad med mängd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Multiplicera varje omfattad månadsmängd med dess prisnivå. Summera</a:t>
            </a:r>
          </a:p>
          <a:p>
            <a:pPr>
              <a:lnSpc>
                <a:spcPts val="2480"/>
              </a:lnSpc>
              <a:spcBef>
                <a:spcPts val="0"/>
              </a:spcBef>
              <a:spcAft>
                <a:spcPts val="0"/>
              </a:spcAft>
              <a:defRPr sz="2000" b="0">
                <a:solidFill>
                  <a:srgbClr val="193540"/>
                </a:solidFill>
                <a:latin typeface="DejaVu Sans"/>
              </a:defRPr>
            </a:pPr>
            <a:r>
              <a:t>kostnaderna och dela med omfattad kWh. Håll enheterna konsekventa:</a:t>
            </a:r>
          </a:p>
          <a:p>
            <a:pPr>
              <a:lnSpc>
                <a:spcPts val="2480"/>
              </a:lnSpc>
              <a:spcBef>
                <a:spcPts val="0"/>
              </a:spcBef>
              <a:spcAft>
                <a:spcPts val="0"/>
              </a:spcAft>
              <a:defRPr sz="2000" b="0">
                <a:solidFill>
                  <a:srgbClr val="193540"/>
                </a:solidFill>
                <a:latin typeface="DejaVu Sans"/>
              </a:defRPr>
            </a:pPr>
            <a:r>
              <a:t>100 öre = 1 krona; 1 MWh = 1 000 kWh.</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Exemplets mängder avser redan den säkrade delen: multiplicera inte med 80</a:t>
            </a:r>
          </a:p>
          <a:p>
            <a:pPr>
              <a:lnSpc>
                <a:spcPts val="2480"/>
              </a:lnSpc>
              <a:spcBef>
                <a:spcPts val="0"/>
              </a:spcBef>
              <a:spcAft>
                <a:spcPts val="0"/>
              </a:spcAft>
              <a:defRPr sz="2000" b="0">
                <a:solidFill>
                  <a:srgbClr val="193540"/>
                </a:solidFill>
                <a:latin typeface="DejaVu Sans"/>
              </a:defRPr>
            </a:pPr>
            <a:r>
              <a:t>procent igen. Börjar du med total prognos måste du först veta hur säkrad</a:t>
            </a:r>
          </a:p>
          <a:p>
            <a:pPr>
              <a:lnSpc>
                <a:spcPts val="2480"/>
              </a:lnSpc>
              <a:spcBef>
                <a:spcPts val="0"/>
              </a:spcBef>
              <a:spcAft>
                <a:spcPts val="0"/>
              </a:spcAft>
              <a:defRPr sz="2000" b="0">
                <a:solidFill>
                  <a:srgbClr val="193540"/>
                </a:solidFill>
                <a:latin typeface="DejaVu Sans"/>
              </a:defRPr>
            </a:pPr>
            <a:r>
              <a:t>mängd fördelas enligt avtalet. Blanda inte de stegen.</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Vad utjämningen förändrar</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Utjämningen uttrycker sammanvägd komponentkostnad som gemensamt pris</a:t>
            </a:r>
          </a:p>
          <a:p>
            <a:pPr>
              <a:lnSpc>
                <a:spcPts val="2480"/>
              </a:lnSpc>
              <a:spcBef>
                <a:spcPts val="0"/>
              </a:spcBef>
              <a:spcAft>
                <a:spcPts val="0"/>
              </a:spcAft>
              <a:defRPr sz="2000" b="0">
                <a:solidFill>
                  <a:srgbClr val="193540"/>
                </a:solidFill>
                <a:latin typeface="DejaVu Sans"/>
              </a:defRPr>
            </a:pPr>
            <a:r>
              <a:t>per säkrad kWh. Den gör inte inköpet billigare i sig. Vid samma mängder är</a:t>
            </a:r>
          </a:p>
          <a:p>
            <a:pPr>
              <a:lnSpc>
                <a:spcPts val="2480"/>
              </a:lnSpc>
              <a:spcBef>
                <a:spcPts val="0"/>
              </a:spcBef>
              <a:spcAft>
                <a:spcPts val="0"/>
              </a:spcAft>
              <a:defRPr sz="2000" b="0">
                <a:solidFill>
                  <a:srgbClr val="193540"/>
                </a:solidFill>
                <a:latin typeface="DejaVu Sans"/>
              </a:defRPr>
            </a:pPr>
            <a:r>
              <a:t>totalen före och efter omfördelningen densamma; periodbeloppen förändras.</a:t>
            </a:r>
          </a:p>
        </p:txBody>
      </p:sp>
      <p:sp>
        <p:nvSpPr>
          <p:cNvPr id="7" name="TextBox 6"/>
          <p:cNvSpPr txBox="1"/>
          <p:nvPr/>
        </p:nvSpPr>
        <p:spPr>
          <a:xfrm>
            <a:off x="603504" y="320802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Gemensamt komponentpris är inte gemensamt totalt elhandelspris.</a:t>
            </a:r>
          </a:p>
          <a:p>
            <a:pPr>
              <a:lnSpc>
                <a:spcPts val="2480"/>
              </a:lnSpc>
              <a:spcBef>
                <a:spcPts val="0"/>
              </a:spcBef>
              <a:spcAft>
                <a:spcPts val="0"/>
              </a:spcAft>
              <a:defRPr sz="2000" b="0">
                <a:solidFill>
                  <a:srgbClr val="193540"/>
                </a:solidFill>
                <a:latin typeface="DejaVu Sans"/>
              </a:defRPr>
            </a:pPr>
            <a:r>
              <a:t>Dygnsprofilen beskriver användning inom månadens timmar och kvartar och</a:t>
            </a:r>
          </a:p>
          <a:p>
            <a:pPr>
              <a:lnSpc>
                <a:spcPts val="2480"/>
              </a:lnSpc>
              <a:spcBef>
                <a:spcPts val="0"/>
              </a:spcBef>
              <a:spcAft>
                <a:spcPts val="0"/>
              </a:spcAft>
              <a:defRPr sz="2000" b="0">
                <a:solidFill>
                  <a:srgbClr val="193540"/>
                </a:solidFill>
                <a:latin typeface="DejaVu Sans"/>
              </a:defRPr>
            </a:pPr>
            <a:r>
              <a:t>ligger separat. Osäkrat är marknadsberoende, andra kostnader följer</a:t>
            </a:r>
          </a:p>
          <a:p>
            <a:pPr>
              <a:lnSpc>
                <a:spcPts val="2480"/>
              </a:lnSpc>
              <a:spcBef>
                <a:spcPts val="0"/>
              </a:spcBef>
              <a:spcAft>
                <a:spcPts val="0"/>
              </a:spcAft>
              <a:defRPr sz="2000" b="0">
                <a:solidFill>
                  <a:srgbClr val="193540"/>
                </a:solidFill>
                <a:latin typeface="DejaVu Sans"/>
              </a:defRPr>
            </a:pPr>
            <a:r>
              <a:t>prisbilagan.</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Samma pris per kWh ger inte samma belopp</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328</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Komponenten 80 öre kostar 8 000 kr för 10 000 kWh och 16 000 kr för</a:t>
            </a:r>
          </a:p>
          <a:p>
            <a:pPr>
              <a:lnSpc>
                <a:spcPts val="2480"/>
              </a:lnSpc>
              <a:spcBef>
                <a:spcPts val="0"/>
              </a:spcBef>
              <a:spcAft>
                <a:spcPts val="0"/>
              </a:spcAft>
              <a:defRPr sz="2000" b="0">
                <a:solidFill>
                  <a:srgbClr val="193540"/>
                </a:solidFill>
                <a:latin typeface="DejaVu Sans"/>
              </a:defRPr>
            </a:pPr>
            <a:r>
              <a:t>20 000 kWh. Större mängd ger högre belopp; andra kostnader tillkommer.</a:t>
            </a:r>
          </a:p>
        </p:txBody>
      </p:sp>
      <p:sp>
        <p:nvSpPr>
          <p:cNvPr id="7" name="TextBox 6"/>
          <p:cNvSpPr txBox="1"/>
          <p:nvPr/>
        </p:nvSpPr>
        <p:spPr>
          <a:xfrm>
            <a:off x="603504" y="289306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Fråga vad stabil kostnad betyder: komponentpris, totalt kWh-pris, årsbudget</a:t>
            </a:r>
          </a:p>
          <a:p>
            <a:pPr>
              <a:lnSpc>
                <a:spcPts val="2480"/>
              </a:lnSpc>
              <a:spcBef>
                <a:spcPts val="0"/>
              </a:spcBef>
              <a:spcAft>
                <a:spcPts val="0"/>
              </a:spcAft>
              <a:defRPr sz="2000" b="0">
                <a:solidFill>
                  <a:srgbClr val="193540"/>
                </a:solidFill>
                <a:latin typeface="DejaVu Sans"/>
              </a:defRPr>
            </a:pPr>
            <a:r>
              <a:t>eller lika betalningar? Månadsutjämningen ger inte lika fakturabelopp. En</a:t>
            </a:r>
          </a:p>
          <a:p>
            <a:pPr>
              <a:lnSpc>
                <a:spcPts val="2480"/>
              </a:lnSpc>
              <a:spcBef>
                <a:spcPts val="0"/>
              </a:spcBef>
              <a:spcAft>
                <a:spcPts val="0"/>
              </a:spcAft>
              <a:defRPr sz="2000" b="0">
                <a:solidFill>
                  <a:srgbClr val="193540"/>
                </a:solidFill>
                <a:latin typeface="DejaVu Sans"/>
              </a:defRPr>
            </a:pPr>
            <a:r>
              <a:t>separat betalningslösning får bara beskrivas om den erbjuds och är</a:t>
            </a:r>
          </a:p>
          <a:p>
            <a:pPr>
              <a:lnSpc>
                <a:spcPts val="2480"/>
              </a:lnSpc>
              <a:spcBef>
                <a:spcPts val="0"/>
              </a:spcBef>
              <a:spcAft>
                <a:spcPts val="0"/>
              </a:spcAft>
              <a:defRPr sz="2000" b="0">
                <a:solidFill>
                  <a:srgbClr val="193540"/>
                </a:solidFill>
                <a:latin typeface="DejaVu Sans"/>
              </a:defRPr>
            </a:pPr>
            <a:r>
              <a:t>dokumenterad.</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När verkligheten avviker från prognosen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329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Beskriven standard är 80 procent av prognos, om inget annat avtalas. Säkrad</a:t>
            </a:r>
          </a:p>
          <a:p>
            <a:pPr>
              <a:lnSpc>
                <a:spcPts val="2480"/>
              </a:lnSpc>
              <a:spcBef>
                <a:spcPts val="0"/>
              </a:spcBef>
              <a:spcAft>
                <a:spcPts val="0"/>
              </a:spcAft>
              <a:defRPr sz="2000" b="0">
                <a:solidFill>
                  <a:srgbClr val="193540"/>
                </a:solidFill>
                <a:latin typeface="DejaVu Sans"/>
              </a:defRPr>
            </a:pPr>
            <a:r>
              <a:t>mängd är inte automatiskt 80 procent av nytt uttag. Ändrad faktisk</a:t>
            </a:r>
          </a:p>
          <a:p>
            <a:pPr>
              <a:lnSpc>
                <a:spcPts val="2480"/>
              </a:lnSpc>
              <a:spcBef>
                <a:spcPts val="0"/>
              </a:spcBef>
              <a:spcAft>
                <a:spcPts val="0"/>
              </a:spcAft>
              <a:defRPr sz="2000" b="0">
                <a:solidFill>
                  <a:srgbClr val="193540"/>
                </a:solidFill>
                <a:latin typeface="DejaVu Sans"/>
              </a:defRPr>
            </a:pPr>
            <a:r>
              <a:t>månadsprofil ändrar inte avtalat SYS/EPAD-pris för avtalad säkrad mängd.</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Andra kostnader kan påverkas. Toleranser, avräkning och ansvar för volym-</a:t>
            </a:r>
          </a:p>
          <a:p>
            <a:pPr>
              <a:lnSpc>
                <a:spcPts val="2480"/>
              </a:lnSpc>
              <a:spcBef>
                <a:spcPts val="0"/>
              </a:spcBef>
              <a:spcAft>
                <a:spcPts val="0"/>
              </a:spcAft>
              <a:defRPr sz="2000" b="0">
                <a:solidFill>
                  <a:srgbClr val="193540"/>
                </a:solidFill>
                <a:latin typeface="DejaVu Sans"/>
              </a:defRPr>
            </a:pPr>
            <a:r>
              <a:t>och profilavvikelser följer aktuellt avtal. Ändra inte komponentpriset i</a:t>
            </a:r>
          </a:p>
          <a:p>
            <a:pPr>
              <a:lnSpc>
                <a:spcPts val="2480"/>
              </a:lnSpc>
              <a:spcBef>
                <a:spcPts val="0"/>
              </a:spcBef>
              <a:spcAft>
                <a:spcPts val="0"/>
              </a:spcAft>
              <a:defRPr sz="2000" b="0">
                <a:solidFill>
                  <a:srgbClr val="193540"/>
                </a:solidFill>
                <a:latin typeface="DejaVu Sans"/>
              </a:defRPr>
            </a:pPr>
            <a:r>
              <a:t>förklaringen och lova inte kostnadsfri omplanering.</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Budgetnytta utan löfte om lägsta pris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Stabil passar behovet att säkra en vald nivå och uttrycka säkrad komponent</a:t>
            </a:r>
          </a:p>
          <a:p>
            <a:pPr>
              <a:lnSpc>
                <a:spcPts val="2480"/>
              </a:lnSpc>
              <a:spcBef>
                <a:spcPts val="0"/>
              </a:spcBef>
              <a:spcAft>
                <a:spcPts val="0"/>
              </a:spcAft>
              <a:defRPr sz="2000" b="0">
                <a:solidFill>
                  <a:srgbClr val="193540"/>
                </a:solidFill>
                <a:latin typeface="DejaVu Sans"/>
              </a:defRPr>
            </a:pPr>
            <a:r>
              <a:t>som ett gemensamt kWh-pris med säsongsmönstret inräknat.</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Kontrollera anläggningar, område, framtida månadsvolymer, leveransperiod,</a:t>
            </a:r>
          </a:p>
          <a:p>
            <a:pPr>
              <a:lnSpc>
                <a:spcPts val="2480"/>
              </a:lnSpc>
              <a:spcBef>
                <a:spcPts val="0"/>
              </a:spcBef>
              <a:spcAft>
                <a:spcPts val="0"/>
              </a:spcAft>
              <a:defRPr sz="2000" b="0">
                <a:solidFill>
                  <a:srgbClr val="193540"/>
                </a:solidFill>
                <a:latin typeface="DejaVu Sans"/>
              </a:defRPr>
            </a:pPr>
            <a:r>
              <a:t>prognos och säkrad mängd. Visa viktning och separata delar. Läs avräknings-,</a:t>
            </a:r>
          </a:p>
          <a:p>
            <a:pPr>
              <a:lnSpc>
                <a:spcPts val="2480"/>
              </a:lnSpc>
              <a:spcBef>
                <a:spcPts val="0"/>
              </a:spcBef>
              <a:spcAft>
                <a:spcPts val="0"/>
              </a:spcAft>
              <a:defRPr sz="2000" b="0">
                <a:solidFill>
                  <a:srgbClr val="193540"/>
                </a:solidFill>
                <a:latin typeface="DejaVu Sans"/>
              </a:defRPr>
            </a:pPr>
            <a:r>
              <a:t>valuta-, avvikelse-, flytt- och avslutsvillkor.</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VISUELL FÖRKLARING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Mängden väger priset: 80 öre, inte 75</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331</a:t>
            </a:r>
          </a:p>
        </p:txBody>
      </p:sp>
      <p:sp>
        <p:nvSpPr>
          <p:cNvPr id="6" name="Rectangle 5"/>
          <p:cNvSpPr/>
          <p:nvPr/>
        </p:nvSpPr>
        <p:spPr>
          <a:xfrm>
            <a:off x="731520" y="2148840"/>
            <a:ext cx="5212080" cy="1874519"/>
          </a:xfrm>
          <a:prstGeom prst="rect">
            <a:avLst/>
          </a:prstGeom>
          <a:solidFill>
            <a:srgbClr val="EA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304288"/>
            <a:ext cx="4800600" cy="362204"/>
          </a:xfrm>
          <a:prstGeom prst="rect">
            <a:avLst/>
          </a:prstGeom>
          <a:noFill/>
        </p:spPr>
        <p:txBody>
          <a:bodyPr wrap="none" lIns="27432" rIns="27432" tIns="0" bIns="0">
            <a:spAutoFit/>
          </a:bodyPr>
          <a:lstStyle/>
          <a:p>
            <a:pPr>
              <a:lnSpc>
                <a:spcPts val="2852"/>
              </a:lnSpc>
              <a:spcBef>
                <a:spcPts val="0"/>
              </a:spcBef>
              <a:spcAft>
                <a:spcPts val="0"/>
              </a:spcAft>
              <a:defRPr sz="2300" b="1">
                <a:solidFill>
                  <a:srgbClr val="136F70"/>
                </a:solidFill>
                <a:latin typeface="DejaVu Sans"/>
              </a:defRPr>
            </a:pPr>
            <a:r>
              <a:t>Vinter</a:t>
            </a:r>
          </a:p>
        </p:txBody>
      </p:sp>
      <p:sp>
        <p:nvSpPr>
          <p:cNvPr id="8" name="TextBox 7"/>
          <p:cNvSpPr txBox="1"/>
          <p:nvPr/>
        </p:nvSpPr>
        <p:spPr>
          <a:xfrm>
            <a:off x="932688" y="2798064"/>
            <a:ext cx="48006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600 000 kWh × 100 öre/kWh</a:t>
            </a:r>
          </a:p>
        </p:txBody>
      </p:sp>
      <p:sp>
        <p:nvSpPr>
          <p:cNvPr id="9" name="TextBox 8"/>
          <p:cNvSpPr txBox="1"/>
          <p:nvPr/>
        </p:nvSpPr>
        <p:spPr>
          <a:xfrm>
            <a:off x="932688" y="3419856"/>
            <a:ext cx="4800600" cy="377952"/>
          </a:xfrm>
          <a:prstGeom prst="rect">
            <a:avLst/>
          </a:prstGeom>
          <a:noFill/>
        </p:spPr>
        <p:txBody>
          <a:bodyPr wrap="none" lIns="27432" rIns="27432" tIns="0" bIns="0">
            <a:spAutoFit/>
          </a:bodyPr>
          <a:lstStyle/>
          <a:p>
            <a:pPr>
              <a:lnSpc>
                <a:spcPts val="2976"/>
              </a:lnSpc>
              <a:spcBef>
                <a:spcPts val="0"/>
              </a:spcBef>
              <a:spcAft>
                <a:spcPts val="0"/>
              </a:spcAft>
              <a:defRPr sz="2400" b="1">
                <a:solidFill>
                  <a:srgbClr val="193540"/>
                </a:solidFill>
                <a:latin typeface="DejaVu Sans"/>
              </a:defRPr>
            </a:pPr>
            <a:r>
              <a:t>600 000 kr</a:t>
            </a:r>
          </a:p>
        </p:txBody>
      </p:sp>
      <p:sp>
        <p:nvSpPr>
          <p:cNvPr id="10" name="Rectangle 9"/>
          <p:cNvSpPr/>
          <p:nvPr/>
        </p:nvSpPr>
        <p:spPr>
          <a:xfrm>
            <a:off x="6217920" y="2148840"/>
            <a:ext cx="5212080" cy="1874519"/>
          </a:xfrm>
          <a:prstGeom prst="rect">
            <a:avLst/>
          </a:prstGeom>
          <a:solidFill>
            <a:srgbClr val="EA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304288"/>
            <a:ext cx="4800600" cy="362204"/>
          </a:xfrm>
          <a:prstGeom prst="rect">
            <a:avLst/>
          </a:prstGeom>
          <a:noFill/>
        </p:spPr>
        <p:txBody>
          <a:bodyPr wrap="none" lIns="27432" rIns="27432" tIns="0" bIns="0">
            <a:spAutoFit/>
          </a:bodyPr>
          <a:lstStyle/>
          <a:p>
            <a:pPr>
              <a:lnSpc>
                <a:spcPts val="2852"/>
              </a:lnSpc>
              <a:spcBef>
                <a:spcPts val="0"/>
              </a:spcBef>
              <a:spcAft>
                <a:spcPts val="0"/>
              </a:spcAft>
              <a:defRPr sz="2300" b="1">
                <a:solidFill>
                  <a:srgbClr val="136F70"/>
                </a:solidFill>
                <a:latin typeface="DejaVu Sans"/>
              </a:defRPr>
            </a:pPr>
            <a:r>
              <a:t>Sommar</a:t>
            </a:r>
          </a:p>
        </p:txBody>
      </p:sp>
      <p:sp>
        <p:nvSpPr>
          <p:cNvPr id="12" name="TextBox 11"/>
          <p:cNvSpPr txBox="1"/>
          <p:nvPr/>
        </p:nvSpPr>
        <p:spPr>
          <a:xfrm>
            <a:off x="6419088" y="2798064"/>
            <a:ext cx="48006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400 000 kWh × 50 öre/kWh</a:t>
            </a:r>
          </a:p>
        </p:txBody>
      </p:sp>
      <p:sp>
        <p:nvSpPr>
          <p:cNvPr id="13" name="TextBox 12"/>
          <p:cNvSpPr txBox="1"/>
          <p:nvPr/>
        </p:nvSpPr>
        <p:spPr>
          <a:xfrm>
            <a:off x="6419088" y="3419856"/>
            <a:ext cx="4800600" cy="377952"/>
          </a:xfrm>
          <a:prstGeom prst="rect">
            <a:avLst/>
          </a:prstGeom>
          <a:noFill/>
        </p:spPr>
        <p:txBody>
          <a:bodyPr wrap="none" lIns="27432" rIns="27432" tIns="0" bIns="0">
            <a:spAutoFit/>
          </a:bodyPr>
          <a:lstStyle/>
          <a:p>
            <a:pPr>
              <a:lnSpc>
                <a:spcPts val="2976"/>
              </a:lnSpc>
              <a:spcBef>
                <a:spcPts val="0"/>
              </a:spcBef>
              <a:spcAft>
                <a:spcPts val="0"/>
              </a:spcAft>
              <a:defRPr sz="2400" b="1">
                <a:solidFill>
                  <a:srgbClr val="193540"/>
                </a:solidFill>
                <a:latin typeface="DejaVu Sans"/>
              </a:defRPr>
            </a:pPr>
            <a:r>
              <a:t>200 000 kr</a:t>
            </a:r>
          </a:p>
        </p:txBody>
      </p:sp>
      <p:sp>
        <p:nvSpPr>
          <p:cNvPr id="14" name="TextBox 13"/>
          <p:cNvSpPr txBox="1"/>
          <p:nvPr/>
        </p:nvSpPr>
        <p:spPr>
          <a:xfrm>
            <a:off x="731520" y="4334256"/>
            <a:ext cx="10881360" cy="377952"/>
          </a:xfrm>
          <a:prstGeom prst="rect">
            <a:avLst/>
          </a:prstGeom>
          <a:noFill/>
        </p:spPr>
        <p:txBody>
          <a:bodyPr wrap="none" lIns="27432" rIns="27432" tIns="0" bIns="0">
            <a:spAutoFit/>
          </a:bodyPr>
          <a:lstStyle/>
          <a:p>
            <a:pPr>
              <a:lnSpc>
                <a:spcPts val="2976"/>
              </a:lnSpc>
              <a:spcBef>
                <a:spcPts val="0"/>
              </a:spcBef>
              <a:spcAft>
                <a:spcPts val="0"/>
              </a:spcAft>
              <a:defRPr sz="2400" b="1">
                <a:solidFill>
                  <a:srgbClr val="193540"/>
                </a:solidFill>
                <a:latin typeface="DejaVu Sans"/>
              </a:defRPr>
            </a:pPr>
            <a:r>
              <a:t>800 000 kr / 1 000 000 kWh = 0,80 kr/kWh = 80 öre/kWh</a:t>
            </a:r>
          </a:p>
        </p:txBody>
      </p:sp>
      <p:sp>
        <p:nvSpPr>
          <p:cNvPr id="15" name="TextBox 14"/>
          <p:cNvSpPr txBox="1"/>
          <p:nvPr/>
        </p:nvSpPr>
        <p:spPr>
          <a:xfrm>
            <a:off x="731520" y="5376672"/>
            <a:ext cx="10881360" cy="299212"/>
          </a:xfrm>
          <a:prstGeom prst="rect">
            <a:avLst/>
          </a:prstGeom>
          <a:noFill/>
        </p:spPr>
        <p:txBody>
          <a:bodyPr wrap="none" lIns="27432" rIns="27432" tIns="0" bIns="0">
            <a:spAutoFit/>
          </a:bodyPr>
          <a:lstStyle/>
          <a:p>
            <a:pPr>
              <a:lnSpc>
                <a:spcPts val="2356"/>
              </a:lnSpc>
              <a:spcBef>
                <a:spcPts val="0"/>
              </a:spcBef>
              <a:spcAft>
                <a:spcPts val="0"/>
              </a:spcAft>
              <a:defRPr sz="1900" b="1">
                <a:solidFill>
                  <a:srgbClr val="136F70"/>
                </a:solidFill>
                <a:latin typeface="DejaVu Sans"/>
              </a:defRPr>
            </a:pPr>
            <a:r>
              <a:t>Volymerna är redan den säkrade delen: inget extra × 80 %.</a:t>
            </a:r>
          </a:p>
        </p:txBody>
      </p:sp>
      <p:sp>
        <p:nvSpPr>
          <p:cNvPr id="16" name="TextBox 15"/>
          <p:cNvSpPr txBox="1"/>
          <p:nvPr/>
        </p:nvSpPr>
        <p:spPr>
          <a:xfrm>
            <a:off x="731520" y="5989320"/>
            <a:ext cx="10881360" cy="220472"/>
          </a:xfrm>
          <a:prstGeom prst="rect">
            <a:avLst/>
          </a:prstGeom>
          <a:noFill/>
        </p:spPr>
        <p:txBody>
          <a:bodyPr wrap="none" lIns="27432" rIns="27432" tIns="0" bIns="0">
            <a:spAutoFit/>
          </a:bodyPr>
          <a:lstStyle/>
          <a:p>
            <a:pPr>
              <a:lnSpc>
                <a:spcPts val="1736"/>
              </a:lnSpc>
              <a:spcBef>
                <a:spcPts val="0"/>
              </a:spcBef>
              <a:spcAft>
                <a:spcPts val="0"/>
              </a:spcAft>
              <a:defRPr sz="1400" b="0">
                <a:solidFill>
                  <a:srgbClr val="193540"/>
                </a:solidFill>
                <a:latin typeface="DejaVu Sans"/>
              </a:defRPr>
            </a:pPr>
            <a:r>
              <a:t>Syntetisk viktning av SYS/EPAD-delen; dygnsprofil och andra delar ligger utanför.</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Varför rätt snitt är 80 öre och inte 75</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viktning av redan säkrad SYS/EPAD-mängd: inga ytterligare 80</a:t>
            </a:r>
          </a:p>
          <a:p>
            <a:pPr>
              <a:lnSpc>
                <a:spcPts val="2480"/>
              </a:lnSpc>
              <a:spcBef>
                <a:spcPts val="0"/>
              </a:spcBef>
              <a:spcAft>
                <a:spcPts val="0"/>
              </a:spcAft>
              <a:defRPr sz="2000" b="0">
                <a:solidFill>
                  <a:srgbClr val="193540"/>
                </a:solidFill>
                <a:latin typeface="DejaVu Sans"/>
              </a:defRPr>
            </a:pPr>
            <a:r>
              <a:t>procent. Inte offert eller totalpris. Profil, osäkrat, tillägg, nät, skatt och moms</a:t>
            </a:r>
          </a:p>
          <a:p>
            <a:pPr>
              <a:lnSpc>
                <a:spcPts val="2480"/>
              </a:lnSpc>
              <a:spcBef>
                <a:spcPts val="0"/>
              </a:spcBef>
              <a:spcAft>
                <a:spcPts val="0"/>
              </a:spcAft>
              <a:defRPr sz="2000" b="0">
                <a:solidFill>
                  <a:srgbClr val="193540"/>
                </a:solidFill>
                <a:latin typeface="DejaVu Sans"/>
              </a:defRPr>
            </a:pPr>
            <a:r>
              <a:t>ingår inte.</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Vinter: 600 000 säkrade kWh till 100 öre/kWh.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Sommar: 400 000 säkrade kWh till 50 öre/kWh.</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Varför rätt snitt är 80 öre och inte 75</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100 öre = 1,00 kr; 50 öre = 0,50 kr.</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Vinter: 600 000 × 1,00 = 600 000 kr. Sommar: 400 000 × 0,50 =</a:t>
            </a:r>
          </a:p>
          <a:p>
            <a:pPr>
              <a:lnSpc>
                <a:spcPts val="2480"/>
              </a:lnSpc>
              <a:spcBef>
                <a:spcPts val="0"/>
              </a:spcBef>
              <a:spcAft>
                <a:spcPts val="0"/>
              </a:spcAft>
              <a:defRPr sz="2000" b="0">
                <a:solidFill>
                  <a:srgbClr val="193540"/>
                </a:solidFill>
                <a:latin typeface="DejaVu Sans"/>
              </a:defRPr>
            </a:pPr>
            <a:r>
              <a:t>200 000 kr.</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Totalt 800 000 kr för 1 000 000 kWh.</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800 000 ÷ 1 000 000 = 0,80 kr/kWh = 80 öre/kWh.</a:t>
            </a:r>
          </a:p>
        </p:txBody>
      </p:sp>
      <p:sp>
        <p:nvSpPr>
          <p:cNvPr id="10" name="TextBox 9"/>
          <p:cNvSpPr txBox="1"/>
          <p:nvPr/>
        </p:nvSpPr>
        <p:spPr>
          <a:xfrm>
            <a:off x="603504" y="41808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5. Oviktat: (100 + 50) ÷ 2 = 75 öre/kWh.</a:t>
            </a:r>
          </a:p>
        </p:txBody>
      </p:sp>
      <p:sp>
        <p:nvSpPr>
          <p:cNvPr id="11" name="TextBox 10"/>
          <p:cNvSpPr txBox="1"/>
          <p:nvPr/>
        </p:nvSpPr>
        <p:spPr>
          <a:xfrm>
            <a:off x="603504" y="461009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Förbrukningsvägt komponentpris är 80 öre/kWh.</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Utjämnad komponentkostnad utan besparing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Samma redan säkrade mängder, gemensamt SYS/EPAD-pris 80 öre/kWh. Bara</a:t>
            </a:r>
          </a:p>
          <a:p>
            <a:pPr>
              <a:lnSpc>
                <a:spcPts val="2480"/>
              </a:lnSpc>
              <a:spcBef>
                <a:spcPts val="0"/>
              </a:spcBef>
              <a:spcAft>
                <a:spcPts val="0"/>
              </a:spcAft>
              <a:defRPr sz="2000" b="0">
                <a:solidFill>
                  <a:srgbClr val="193540"/>
                </a:solidFill>
                <a:latin typeface="DejaVu Sans"/>
              </a:defRPr>
            </a:pPr>
            <a:r>
              <a:t>komponenten visas, inga periodfakturor.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600 000 kWh vinter och 400 000 kWh sommar; komponentpris 0,80 kr/kWh.</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Utjämnad komponentkostnad utan</a:t>
            </a:r>
          </a:p>
          <a:p>
            <a:pPr>
              <a:lnSpc>
                <a:spcPts val="3472"/>
              </a:lnSpc>
              <a:spcBef>
                <a:spcPts val="0"/>
              </a:spcBef>
              <a:spcAft>
                <a:spcPts val="0"/>
              </a:spcAft>
              <a:defRPr sz="2800" b="1">
                <a:solidFill>
                  <a:srgbClr val="193540"/>
                </a:solidFill>
                <a:latin typeface="DejaVu Sans"/>
              </a:defRPr>
            </a:pPr>
            <a:r>
              <a:t>besparing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Vinter: 600 000 × 0,80 = 480 000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Sommar: 400 000 × 0,80 = 320 000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Totalt 800 000 kr.</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4. Vintern minskar 120 000 kr och sommaren ökar lika mycket jämfört med</a:t>
            </a:r>
          </a:p>
          <a:p>
            <a:pPr>
              <a:lnSpc>
                <a:spcPts val="2480"/>
              </a:lnSpc>
              <a:spcBef>
                <a:spcPts val="0"/>
              </a:spcBef>
              <a:spcAft>
                <a:spcPts val="0"/>
              </a:spcAft>
              <a:defRPr sz="2000" b="0">
                <a:solidFill>
                  <a:srgbClr val="193540"/>
                </a:solidFill>
                <a:latin typeface="DejaVu Sans"/>
              </a:defRPr>
            </a:pPr>
            <a:r>
              <a:t>utgångsvärdena.</a:t>
            </a:r>
          </a:p>
        </p:txBody>
      </p:sp>
      <p:sp>
        <p:nvSpPr>
          <p:cNvPr id="10" name="TextBox 9"/>
          <p:cNvSpPr txBox="1"/>
          <p:nvPr/>
        </p:nvSpPr>
        <p:spPr>
          <a:xfrm>
            <a:off x="603504" y="4180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Oförändrad total 800 000 kr: 480 000 vinter, 320 000 sommar.</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Prognosandel och faktisk täckning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336</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volymjämförelse för samma period. Ingen generell fakturaformel</a:t>
            </a:r>
          </a:p>
          <a:p>
            <a:pPr>
              <a:lnSpc>
                <a:spcPts val="2480"/>
              </a:lnSpc>
              <a:spcBef>
                <a:spcPts val="0"/>
              </a:spcBef>
              <a:spcAft>
                <a:spcPts val="0"/>
              </a:spcAft>
              <a:defRPr sz="2000" b="0">
                <a:solidFill>
                  <a:srgbClr val="193540"/>
                </a:solidFill>
                <a:latin typeface="DejaVu Sans"/>
              </a:defRPr>
            </a:pPr>
            <a:r>
              <a:t>eller avvikelseavräkning.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Prognos 100 MWh, säkring 80 procent; faktiskt uttag 125 MWh.</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Prognosandel och faktisk täckning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100 × 0,80 = 80 MWh säkrat.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80 ÷ 125 × 100 = 64 procent faktisk volymkvot.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125 − 80 = 45 MWh differens.</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80 MWh motsvarar 64 procent av faktiskt uttag.</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Stabil innebär samma totala elpris varje månad.</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Gemensamt pris gäller säkrad SYS/EPAD-del; profil, osäkrat och</a:t>
            </a:r>
          </a:p>
          <a:p>
            <a:pPr>
              <a:lnSpc>
                <a:spcPts val="2480"/>
              </a:lnSpc>
              <a:spcBef>
                <a:spcPts val="0"/>
              </a:spcBef>
              <a:spcAft>
                <a:spcPts val="0"/>
              </a:spcAft>
              <a:defRPr sz="2000" b="0">
                <a:solidFill>
                  <a:srgbClr val="193540"/>
                </a:solidFill>
                <a:latin typeface="DejaVu Sans"/>
              </a:defRPr>
            </a:pPr>
            <a:r>
              <a:t>övrigt påverkar totalen.</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339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Månadsprofilen är utjämnad, alltså är dygnsprofilen också säkrad.</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Månads- och dygnsprofil är olika fördelningar. Dygnsprofil ligger</a:t>
            </a:r>
          </a:p>
          <a:p>
            <a:pPr>
              <a:lnSpc>
                <a:spcPts val="2480"/>
              </a:lnSpc>
              <a:spcBef>
                <a:spcPts val="0"/>
              </a:spcBef>
              <a:spcAft>
                <a:spcPts val="0"/>
              </a:spcAft>
              <a:defRPr sz="2000" b="0">
                <a:solidFill>
                  <a:srgbClr val="193540"/>
                </a:solidFill>
                <a:latin typeface="DejaVu Sans"/>
              </a:defRPr>
            </a:pPr>
            <a:r>
              <a:t>separat.</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När verklig månadsprofil ändras räknas komponentpriset automatiskt om.</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Avtalat SYS/EPAD-pris kvar för säkrad mängd; andra avvikelser</a:t>
            </a:r>
          </a:p>
          <a:p>
            <a:pPr>
              <a:lnSpc>
                <a:spcPts val="2480"/>
              </a:lnSpc>
              <a:spcBef>
                <a:spcPts val="0"/>
              </a:spcBef>
              <a:spcAft>
                <a:spcPts val="0"/>
              </a:spcAft>
              <a:defRPr sz="2000" b="0">
                <a:solidFill>
                  <a:srgbClr val="193540"/>
                </a:solidFill>
                <a:latin typeface="DejaVu Sans"/>
              </a:defRPr>
            </a:pPr>
            <a:r>
              <a:t>enligt avtal.</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Stabil säkrar SYS och elområdesskillnad vid ett tillfälle. Förväntad</a:t>
            </a:r>
          </a:p>
          <a:p>
            <a:pPr>
              <a:lnSpc>
                <a:spcPts val="2480"/>
              </a:lnSpc>
              <a:spcBef>
                <a:spcPts val="0"/>
              </a:spcBef>
              <a:spcAft>
                <a:spcPts val="0"/>
              </a:spcAft>
              <a:defRPr sz="2000" b="0">
                <a:solidFill>
                  <a:srgbClr val="193540"/>
                </a:solidFill>
                <a:latin typeface="DejaVu Sans"/>
              </a:defRPr>
            </a:pPr>
            <a:r>
              <a:t>månadsförbrukning ger gemensamt pris på avtalad säkrad del. Profil, osäkrat</a:t>
            </a:r>
          </a:p>
          <a:p>
            <a:pPr>
              <a:lnSpc>
                <a:spcPts val="2480"/>
              </a:lnSpc>
              <a:spcBef>
                <a:spcPts val="0"/>
              </a:spcBef>
              <a:spcAft>
                <a:spcPts val="0"/>
              </a:spcAft>
              <a:defRPr sz="2000" b="0">
                <a:solidFill>
                  <a:srgbClr val="193540"/>
                </a:solidFill>
                <a:latin typeface="DejaVu Sans"/>
              </a:defRPr>
            </a:pPr>
            <a:r>
              <a:t>och övrigt ligger separat; använd mängd påverkar fakturan.</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Bageriet som vill flytta produktion till sommaren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342</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Bergs Bageri har accepterat Stabil med gemensamt SYS/EPAD-pris för</a:t>
            </a:r>
          </a:p>
          <a:p>
            <a:pPr>
              <a:lnSpc>
                <a:spcPts val="2480"/>
              </a:lnSpc>
              <a:spcBef>
                <a:spcPts val="0"/>
              </a:spcBef>
              <a:spcAft>
                <a:spcPts val="0"/>
              </a:spcAft>
              <a:defRPr sz="2000" b="0">
                <a:solidFill>
                  <a:srgbClr val="193540"/>
                </a:solidFill>
                <a:latin typeface="DejaVu Sans"/>
              </a:defRPr>
            </a:pPr>
            <a:r>
              <a:t>avtalad säkrad mängd. Därefter planeras mindre vinterdrift och fler</a:t>
            </a:r>
          </a:p>
          <a:p>
            <a:pPr>
              <a:lnSpc>
                <a:spcPts val="2480"/>
              </a:lnSpc>
              <a:spcBef>
                <a:spcPts val="0"/>
              </a:spcBef>
              <a:spcAft>
                <a:spcPts val="0"/>
              </a:spcAft>
              <a:defRPr sz="2000" b="0">
                <a:solidFill>
                  <a:srgbClr val="193540"/>
                </a:solidFill>
                <a:latin typeface="DejaVu Sans"/>
              </a:defRPr>
            </a:pPr>
            <a:r>
              <a:t>sommarleveranser. Kunden säger: Då blir vårt gemensamma pris billigare och</a:t>
            </a:r>
          </a:p>
          <a:p>
            <a:pPr>
              <a:lnSpc>
                <a:spcPts val="2480"/>
              </a:lnSpc>
              <a:spcBef>
                <a:spcPts val="0"/>
              </a:spcBef>
              <a:spcAft>
                <a:spcPts val="0"/>
              </a:spcAft>
              <a:defRPr sz="2000" b="0">
                <a:solidFill>
                  <a:srgbClr val="193540"/>
                </a:solidFill>
                <a:latin typeface="DejaVu Sans"/>
              </a:defRPr>
            </a:pPr>
            <a:r>
              <a:t>fakturan lika varje månad? Separat budgetövning: redan säkrat 600 000 kWh</a:t>
            </a:r>
          </a:p>
          <a:p>
            <a:pPr>
              <a:lnSpc>
                <a:spcPts val="2480"/>
              </a:lnSpc>
              <a:spcBef>
                <a:spcPts val="0"/>
              </a:spcBef>
              <a:spcAft>
                <a:spcPts val="0"/>
              </a:spcAft>
              <a:defRPr sz="2000" b="0">
                <a:solidFill>
                  <a:srgbClr val="193540"/>
                </a:solidFill>
                <a:latin typeface="DejaVu Sans"/>
              </a:defRPr>
            </a:pPr>
            <a:r>
              <a:t>vinter och 400 000 kWh sommar, komponentpris 80 öre/kWh.</a:t>
            </a:r>
          </a:p>
        </p:txBody>
      </p:sp>
      <p:sp>
        <p:nvSpPr>
          <p:cNvPr id="7" name="TextBox 6"/>
          <p:cNvSpPr txBox="1"/>
          <p:nvPr/>
        </p:nvSpPr>
        <p:spPr>
          <a:xfrm>
            <a:off x="603504" y="38379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övningens komponentbelopp och förklara skillnaden.</a:t>
            </a:r>
          </a:p>
        </p:txBody>
      </p:sp>
      <p:sp>
        <p:nvSpPr>
          <p:cNvPr id="8" name="TextBox 7"/>
          <p:cNvSpPr txBox="1"/>
          <p:nvPr/>
        </p:nvSpPr>
        <p:spPr>
          <a:xfrm>
            <a:off x="603504" y="42672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Besvara påståendet om automatiskt ändrat pris.</a:t>
            </a:r>
          </a:p>
        </p:txBody>
      </p:sp>
      <p:sp>
        <p:nvSpPr>
          <p:cNvPr id="9" name="TextBox 8"/>
          <p:cNvSpPr txBox="1"/>
          <p:nvPr/>
        </p:nvSpPr>
        <p:spPr>
          <a:xfrm>
            <a:off x="603504" y="46964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kunddialog och avtalskontroller.</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Räknar 480 000, 320 000 och 800 000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komponent, totalpris och faktura.</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Behåller avtalat komponentpris för säkrad mängd.</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Kontrollerar avräkning utan påhittat ansvar.</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Uppdaterar underlag och frågar om betalningsmål.</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Vad omfattar Stabils gemensamma pris enligt produktunderlaget?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Hela elhandelspriset, all profil och varje kostnad.</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SYS/EPAD för överenskommen säkrad kWh under perioden.</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Lika fakturabelopp oberoende av mängd.</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Redan säkrat: 600 000 kWh till 100 öre/kWh och 400 000 kWh till 50 öre/kWh.</a:t>
            </a:r>
          </a:p>
          <a:p>
            <a:pPr>
              <a:lnSpc>
                <a:spcPts val="2480"/>
              </a:lnSpc>
              <a:spcBef>
                <a:spcPts val="0"/>
              </a:spcBef>
              <a:spcAft>
                <a:spcPts val="0"/>
              </a:spcAft>
              <a:defRPr sz="2000" b="0">
                <a:solidFill>
                  <a:srgbClr val="193540"/>
                </a:solidFill>
                <a:latin typeface="DejaVu Sans"/>
              </a:defRPr>
            </a:pPr>
            <a:r>
              <a:t>Vilket viktat komponentpris får du?</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Faktisk månadsprofil ändras efter accepterat Stabil. Vad kan du säga?</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Avtalat SYS/EPAD-pris kvar för säkrad mängd; övriga avvikelser enligt</a:t>
            </a:r>
          </a:p>
          <a:p>
            <a:pPr>
              <a:lnSpc>
                <a:spcPts val="2480"/>
              </a:lnSpc>
              <a:spcBef>
                <a:spcPts val="0"/>
              </a:spcBef>
              <a:spcAft>
                <a:spcPts val="0"/>
              </a:spcAft>
              <a:defRPr sz="2000" b="0">
                <a:solidFill>
                  <a:srgbClr val="193540"/>
                </a:solidFill>
                <a:latin typeface="DejaVu Sans"/>
              </a:defRPr>
            </a:pPr>
            <a:r>
              <a:t>avtal.</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Hela fakturan och alla avvikelsekostnader alltid fasta.</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Gemensamt komponentpris räknas automatiskt om.</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använder dubbelt så mycket vissa månader och väntar lika fakturor</a:t>
            </a:r>
          </a:p>
          <a:p>
            <a:pPr>
              <a:lnSpc>
                <a:spcPts val="2480"/>
              </a:lnSpc>
              <a:spcBef>
                <a:spcPts val="0"/>
              </a:spcBef>
              <a:spcAft>
                <a:spcPts val="0"/>
              </a:spcAft>
              <a:defRPr sz="2000" b="0">
                <a:solidFill>
                  <a:srgbClr val="193540"/>
                </a:solidFill>
                <a:latin typeface="DejaVu Sans"/>
              </a:defRPr>
            </a:pPr>
            <a:r>
              <a:t>med Stabil. Förklara och nämn vad du kontrollerar.</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16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348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ett gemensamt SYS/EPAD-pris på avtalad säkrad mängd.</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Vikta månadens pris med månadens omfattade kWh.</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Säkra inte redan säkrade exempelvolymer med 80 procent igen.</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 månadsprofil, dygnsprofil och osäkrad mängd.</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Utjämning skapar inte en besparing eller lika fakturabelopp i sig.</a:t>
            </a:r>
          </a:p>
        </p:txBody>
      </p:sp>
      <p:sp>
        <p:nvSpPr>
          <p:cNvPr id="11" name="TextBox 10"/>
          <p:cNvSpPr txBox="1"/>
          <p:nvPr/>
        </p:nvSpPr>
        <p:spPr>
          <a:xfrm>
            <a:off x="603504" y="42951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Ändrad faktisk profil ändrar inte avtalat komponentpris; andra avvikelser</a:t>
            </a:r>
          </a:p>
          <a:p>
            <a:pPr>
              <a:lnSpc>
                <a:spcPts val="2480"/>
              </a:lnSpc>
              <a:spcBef>
                <a:spcPts val="0"/>
              </a:spcBef>
              <a:spcAft>
                <a:spcPts val="0"/>
              </a:spcAft>
              <a:defRPr sz="2000" b="0">
                <a:solidFill>
                  <a:srgbClr val="193540"/>
                </a:solidFill>
                <a:latin typeface="DejaVu Sans"/>
              </a:defRPr>
            </a:pPr>
            <a:r>
              <a:t>följer aktuellt avtal.</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17 · Företag / Savera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Företagskunden: från behov till motiverat</a:t>
            </a:r>
          </a:p>
          <a:p>
            <a:pPr>
              <a:lnSpc>
                <a:spcPts val="3472"/>
              </a:lnSpc>
              <a:spcBef>
                <a:spcPts val="0"/>
              </a:spcBef>
              <a:spcAft>
                <a:spcPts val="0"/>
              </a:spcAft>
              <a:defRPr sz="2800" b="1">
                <a:solidFill>
                  <a:srgbClr val="FFFFFF"/>
                </a:solidFill>
                <a:latin typeface="DejaVu Sans"/>
              </a:defRPr>
            </a:pPr>
            <a:r>
              <a:t>produktval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349</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Genomföra en behovsanalys som skiljer budgetkrav från önskemål om lågt</a:t>
            </a:r>
          </a:p>
          <a:p>
            <a:pPr>
              <a:lnSpc>
                <a:spcPts val="2480"/>
              </a:lnSpc>
              <a:spcBef>
                <a:spcPts val="0"/>
              </a:spcBef>
              <a:spcAft>
                <a:spcPts val="0"/>
              </a:spcAft>
              <a:defRPr sz="2000" b="0">
                <a:solidFill>
                  <a:srgbClr val="FFFFFF"/>
                </a:solidFill>
                <a:latin typeface="DejaVu Sans"/>
              </a:defRPr>
            </a:pPr>
            <a:r>
              <a:t>pris.</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Jämföra offerter med samma volym, period och kostnadskomponenter.</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Motivera flera rimliga alternativ och förklara deras kvarvarande risker.</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Räkna på säkringsgrad utan att förväxla prognosvolym med faktisk</a:t>
            </a:r>
          </a:p>
          <a:p>
            <a:pPr>
              <a:lnSpc>
                <a:spcPts val="2480"/>
              </a:lnSpc>
              <a:spcBef>
                <a:spcPts val="0"/>
              </a:spcBef>
              <a:spcAft>
                <a:spcPts val="0"/>
              </a:spcAft>
              <a:defRPr sz="2000" b="0">
                <a:solidFill>
                  <a:srgbClr val="FFFFFF"/>
                </a:solidFill>
                <a:latin typeface="DejaVu Sans"/>
              </a:defRPr>
            </a:pPr>
            <a:r>
              <a:t>förbrukning.</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Börja med beslutet kunden behöver fatta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Frågan ”vilket avtal är bäst?” saknar ett meningsfullt svar innan du vet vad</a:t>
            </a:r>
          </a:p>
          <a:p>
            <a:pPr>
              <a:lnSpc>
                <a:spcPts val="2480"/>
              </a:lnSpc>
              <a:spcBef>
                <a:spcPts val="0"/>
              </a:spcBef>
              <a:spcAft>
                <a:spcPts val="0"/>
              </a:spcAft>
              <a:defRPr sz="2000" b="0">
                <a:solidFill>
                  <a:srgbClr val="193540"/>
                </a:solidFill>
                <a:latin typeface="DejaVu Sans"/>
              </a:defRPr>
            </a:pPr>
            <a:r>
              <a:t>företaget vill uppnå. En ekonomiansvarig kan vilja begränsa risken för</a:t>
            </a:r>
          </a:p>
          <a:p>
            <a:pPr>
              <a:lnSpc>
                <a:spcPts val="2480"/>
              </a:lnSpc>
              <a:spcBef>
                <a:spcPts val="0"/>
              </a:spcBef>
              <a:spcAft>
                <a:spcPts val="0"/>
              </a:spcAft>
              <a:defRPr sz="2000" b="0">
                <a:solidFill>
                  <a:srgbClr val="193540"/>
                </a:solidFill>
                <a:latin typeface="DejaVu Sans"/>
              </a:defRPr>
            </a:pPr>
            <a:r>
              <a:t>stigande energipriser.</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Be kunden beskriva en situation där dagens elavtal inte fungerar. ”Förra</a:t>
            </a:r>
          </a:p>
          <a:p>
            <a:pPr>
              <a:lnSpc>
                <a:spcPts val="2480"/>
              </a:lnSpc>
              <a:spcBef>
                <a:spcPts val="0"/>
              </a:spcBef>
              <a:spcAft>
                <a:spcPts val="0"/>
              </a:spcAft>
              <a:defRPr sz="2000" b="0">
                <a:solidFill>
                  <a:srgbClr val="193540"/>
                </a:solidFill>
                <a:latin typeface="DejaVu Sans"/>
              </a:defRPr>
            </a:pPr>
            <a:r>
              <a:t>vintern blev kostnaden svår att prognostisera” är användbar information.</a:t>
            </a:r>
          </a:p>
        </p:txBody>
      </p:sp>
      <p:sp>
        <p:nvSpPr>
          <p:cNvPr id="8" name="TextBox 7"/>
          <p:cNvSpPr txBox="1"/>
          <p:nvPr/>
        </p:nvSpPr>
        <p:spPr>
          <a:xfrm>
            <a:off x="603504" y="39522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Håll rekommendationen och offertbeslutet isär. Du kan förklara en</a:t>
            </a:r>
          </a:p>
          <a:p>
            <a:pPr>
              <a:lnSpc>
                <a:spcPts val="2480"/>
              </a:lnSpc>
              <a:spcBef>
                <a:spcPts val="0"/>
              </a:spcBef>
              <a:spcAft>
                <a:spcPts val="0"/>
              </a:spcAft>
              <a:defRPr sz="2000" b="0">
                <a:solidFill>
                  <a:srgbClr val="193540"/>
                </a:solidFill>
                <a:latin typeface="DejaVu Sans"/>
              </a:defRPr>
            </a:pPr>
            <a:r>
              <a:t>produktprincip med utbildningen. Kundens aktuella pris, tillgängliga produkt,</a:t>
            </a:r>
          </a:p>
          <a:p>
            <a:pPr>
              <a:lnSpc>
                <a:spcPts val="2480"/>
              </a:lnSpc>
              <a:spcBef>
                <a:spcPts val="0"/>
              </a:spcBef>
              <a:spcAft>
                <a:spcPts val="0"/>
              </a:spcAft>
              <a:defRPr sz="2000" b="0">
                <a:solidFill>
                  <a:srgbClr val="193540"/>
                </a:solidFill>
                <a:latin typeface="DejaVu Sans"/>
              </a:defRPr>
            </a:pPr>
            <a:r>
              <a:t>löptid, mandat och avvikelsevillkor måste däremot komma från den konkreta</a:t>
            </a:r>
          </a:p>
          <a:p>
            <a:pPr>
              <a:lnSpc>
                <a:spcPts val="2480"/>
              </a:lnSpc>
              <a:spcBef>
                <a:spcPts val="0"/>
              </a:spcBef>
              <a:spcAft>
                <a:spcPts val="0"/>
              </a:spcAft>
              <a:defRPr sz="2000" b="0">
                <a:solidFill>
                  <a:srgbClr val="193540"/>
                </a:solidFill>
                <a:latin typeface="DejaVu Sans"/>
              </a:defRPr>
            </a:pPr>
            <a:r>
              <a:t>offerten.</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Samla uppgifter som påverkar kalkylen · 1/2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Årsvolymen ger storleksordningen men inte hela kostnadsbilden. Be om</a:t>
            </a:r>
          </a:p>
          <a:p>
            <a:pPr>
              <a:lnSpc>
                <a:spcPts val="2480"/>
              </a:lnSpc>
              <a:spcBef>
                <a:spcPts val="0"/>
              </a:spcBef>
              <a:spcAft>
                <a:spcPts val="0"/>
              </a:spcAft>
              <a:defRPr sz="2000" b="0">
                <a:solidFill>
                  <a:srgbClr val="193540"/>
                </a:solidFill>
                <a:latin typeface="DejaVu Sans"/>
              </a:defRPr>
            </a:pPr>
            <a:r>
              <a:t>månadsförbrukning, relevant kvartshistorik, elområde och verksamhetens</a:t>
            </a:r>
          </a:p>
          <a:p>
            <a:pPr>
              <a:lnSpc>
                <a:spcPts val="2480"/>
              </a:lnSpc>
              <a:spcBef>
                <a:spcPts val="0"/>
              </a:spcBef>
              <a:spcAft>
                <a:spcPts val="0"/>
              </a:spcAft>
              <a:defRPr sz="2000" b="0">
                <a:solidFill>
                  <a:srgbClr val="193540"/>
                </a:solidFill>
                <a:latin typeface="DejaVu Sans"/>
              </a:defRPr>
            </a:pPr>
            <a:r>
              <a:t>planerade förändringar.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Undersök också påverkningsmöjligheterna. Kan laddning, kylning eller annan</a:t>
            </a:r>
          </a:p>
          <a:p>
            <a:pPr>
              <a:lnSpc>
                <a:spcPts val="2480"/>
              </a:lnSpc>
              <a:spcBef>
                <a:spcPts val="0"/>
              </a:spcBef>
              <a:spcAft>
                <a:spcPts val="0"/>
              </a:spcAft>
              <a:defRPr sz="2000" b="0">
                <a:solidFill>
                  <a:srgbClr val="193540"/>
                </a:solidFill>
                <a:latin typeface="DejaVu Sans"/>
              </a:defRPr>
            </a:pPr>
            <a:r>
              <a:t>last flyttas utan att störa leveransen? Att någon tekniskt kan styra ett uttag</a:t>
            </a:r>
          </a:p>
          <a:p>
            <a:pPr>
              <a:lnSpc>
                <a:spcPts val="2480"/>
              </a:lnSpc>
              <a:spcBef>
                <a:spcPts val="0"/>
              </a:spcBef>
              <a:spcAft>
                <a:spcPts val="0"/>
              </a:spcAft>
              <a:defRPr sz="2000" b="0">
                <a:solidFill>
                  <a:srgbClr val="193540"/>
                </a:solidFill>
                <a:latin typeface="DejaVu Sans"/>
              </a:defRPr>
            </a:pPr>
            <a:r>
              <a:t>betyder inte att verksamheten vill eller kan göra det varje dag.</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Till sist behöver du förstå företagets beslutsram. Hur stora prisvariationer kan</a:t>
            </a:r>
          </a:p>
          <a:p>
            <a:pPr>
              <a:lnSpc>
                <a:spcPts val="2480"/>
              </a:lnSpc>
              <a:spcBef>
                <a:spcPts val="0"/>
              </a:spcBef>
              <a:spcAft>
                <a:spcPts val="0"/>
              </a:spcAft>
              <a:defRPr sz="2000" b="0">
                <a:solidFill>
                  <a:srgbClr val="193540"/>
                </a:solidFill>
                <a:latin typeface="DejaVu Sans"/>
              </a:defRPr>
            </a:pPr>
            <a:r>
              <a:t>det bära? Vilken del av kostnaden ska vara mer förutsägbar? Hur värderar det</a:t>
            </a:r>
          </a:p>
          <a:p>
            <a:pPr>
              <a:lnSpc>
                <a:spcPts val="2480"/>
              </a:lnSpc>
              <a:spcBef>
                <a:spcPts val="0"/>
              </a:spcBef>
              <a:spcAft>
                <a:spcPts val="0"/>
              </a:spcAft>
              <a:defRPr sz="2000" b="0">
                <a:solidFill>
                  <a:srgbClr val="193540"/>
                </a:solidFill>
                <a:latin typeface="DejaVu Sans"/>
              </a:defRPr>
            </a:pPr>
            <a:r>
              <a:t>möjligheten att följa ett prisfall?</a:t>
            </a:r>
          </a:p>
        </p:txBody>
      </p:sp>
      <p:sp>
        <p:nvSpPr>
          <p:cNvPr id="9" name="TextBox 8"/>
          <p:cNvSpPr txBox="1"/>
          <p:nvPr/>
        </p:nvSpPr>
        <p:spPr>
          <a:xfrm>
            <a:off x="603504" y="53263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Årsvolym och förbrukning månad för månad.</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Samla uppgifter som påverkar kalkylen · 2/2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Elområde, kvartsmönster och möjlighet att flytta last.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Förändrad verksamhet och datum för förändringen.</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Budgetmål, riskutrymme och beslutsansvar.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Befintligt avtals slut och jämförbara offertkomponenter.</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Kundfall: verkstaden som vill slippa en</a:t>
            </a:r>
          </a:p>
          <a:p>
            <a:pPr>
              <a:lnSpc>
                <a:spcPts val="3472"/>
              </a:lnSpc>
              <a:spcBef>
                <a:spcPts val="0"/>
              </a:spcBef>
              <a:spcAft>
                <a:spcPts val="0"/>
              </a:spcAft>
              <a:defRPr sz="2800" b="1">
                <a:solidFill>
                  <a:srgbClr val="193540"/>
                </a:solidFill>
                <a:latin typeface="DejaVu Sans"/>
              </a:defRPr>
            </a:pPr>
            <a:r>
              <a:t>prisöverraskning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353</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Exempelverkstaden räknar med 100 MWh under leveransperioden. Den har</a:t>
            </a:r>
          </a:p>
          <a:p>
            <a:pPr>
              <a:lnSpc>
                <a:spcPts val="2480"/>
              </a:lnSpc>
              <a:spcBef>
                <a:spcPts val="0"/>
              </a:spcBef>
              <a:spcAft>
                <a:spcPts val="0"/>
              </a:spcAft>
              <a:defRPr sz="2000" b="0">
                <a:solidFill>
                  <a:srgbClr val="193540"/>
                </a:solidFill>
                <a:latin typeface="DejaVu Sans"/>
              </a:defRPr>
            </a:pPr>
            <a:r>
              <a:t>mest produktion på vardagar och ser risk för att en ny produktionslinje höjer</a:t>
            </a:r>
          </a:p>
          <a:p>
            <a:pPr>
              <a:lnSpc>
                <a:spcPts val="2480"/>
              </a:lnSpc>
              <a:spcBef>
                <a:spcPts val="0"/>
              </a:spcBef>
              <a:spcAft>
                <a:spcPts val="0"/>
              </a:spcAft>
              <a:defRPr sz="2000" b="0">
                <a:solidFill>
                  <a:srgbClr val="193540"/>
                </a:solidFill>
                <a:latin typeface="DejaVu Sans"/>
              </a:defRPr>
            </a:pPr>
            <a:r>
              <a:t>förbrukningen till 125 MWh.</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 det beskrivna Direkt- eller Stabilupplägget avser 80 procent det</a:t>
            </a:r>
          </a:p>
          <a:p>
            <a:pPr>
              <a:lnSpc>
                <a:spcPts val="2480"/>
              </a:lnSpc>
              <a:spcBef>
                <a:spcPts val="0"/>
              </a:spcBef>
              <a:spcAft>
                <a:spcPts val="0"/>
              </a:spcAft>
              <a:defRPr sz="2000" b="0">
                <a:solidFill>
                  <a:srgbClr val="193540"/>
                </a:solidFill>
                <a:latin typeface="DejaVu Sans"/>
              </a:defRPr>
            </a:pPr>
            <a:r>
              <a:t>överenskomna volymunderlaget. Det ger 80 MWh säkrad volym vid en</a:t>
            </a:r>
          </a:p>
          <a:p>
            <a:pPr>
              <a:lnSpc>
                <a:spcPts val="2480"/>
              </a:lnSpc>
              <a:spcBef>
                <a:spcPts val="0"/>
              </a:spcBef>
              <a:spcAft>
                <a:spcPts val="0"/>
              </a:spcAft>
              <a:defRPr sz="2000" b="0">
                <a:solidFill>
                  <a:srgbClr val="193540"/>
                </a:solidFill>
                <a:latin typeface="DejaVu Sans"/>
              </a:defRPr>
            </a:pPr>
            <a:r>
              <a:t>prognos på 100 MWh.</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Direkt kan vara relevant om kunden vill bestämma prisnivån för de säkrade</a:t>
            </a:r>
          </a:p>
          <a:p>
            <a:pPr>
              <a:lnSpc>
                <a:spcPts val="2480"/>
              </a:lnSpc>
              <a:spcBef>
                <a:spcPts val="0"/>
              </a:spcBef>
              <a:spcAft>
                <a:spcPts val="0"/>
              </a:spcAft>
              <a:defRPr sz="2000" b="0">
                <a:solidFill>
                  <a:srgbClr val="193540"/>
                </a:solidFill>
                <a:latin typeface="DejaVu Sans"/>
              </a:defRPr>
            </a:pPr>
            <a:r>
              <a:t>komponenterna vid ett valt tillfälle. Stabil lägger till ett gemensamt</a:t>
            </a:r>
          </a:p>
          <a:p>
            <a:pPr>
              <a:lnSpc>
                <a:spcPts val="2480"/>
              </a:lnSpc>
              <a:spcBef>
                <a:spcPts val="0"/>
              </a:spcBef>
              <a:spcAft>
                <a:spcPts val="0"/>
              </a:spcAft>
              <a:defRPr sz="2000" b="0">
                <a:solidFill>
                  <a:srgbClr val="193540"/>
                </a:solidFill>
                <a:latin typeface="DejaVu Sans"/>
              </a:defRPr>
            </a:pPr>
            <a:r>
              <a:t>förbrukningsvägt pris på den säkrade, månadsutjämnade delen.</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Kundfall: säsongsföretaget med ett budgetmål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354</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Exempellagret använder 60 procent av årets el på vintern och 40 procent på</a:t>
            </a:r>
          </a:p>
          <a:p>
            <a:pPr>
              <a:lnSpc>
                <a:spcPts val="2480"/>
              </a:lnSpc>
              <a:spcBef>
                <a:spcPts val="0"/>
              </a:spcBef>
              <a:spcAft>
                <a:spcPts val="0"/>
              </a:spcAft>
              <a:defRPr sz="2000" b="0">
                <a:solidFill>
                  <a:srgbClr val="193540"/>
                </a:solidFill>
                <a:latin typeface="DejaVu Sans"/>
              </a:defRPr>
            </a:pPr>
            <a:r>
              <a:t>sommaren. Det vill få säsongsmönstret inräknat i komponentpriset från</a:t>
            </a:r>
          </a:p>
          <a:p>
            <a:pPr>
              <a:lnSpc>
                <a:spcPts val="2480"/>
              </a:lnSpc>
              <a:spcBef>
                <a:spcPts val="0"/>
              </a:spcBef>
              <a:spcAft>
                <a:spcPts val="0"/>
              </a:spcAft>
              <a:defRPr sz="2000" b="0">
                <a:solidFill>
                  <a:srgbClr val="193540"/>
                </a:solidFill>
                <a:latin typeface="DejaVu Sans"/>
              </a:defRPr>
            </a:pPr>
            <a:r>
              <a:t>början.</a:t>
            </a:r>
          </a:p>
        </p:txBody>
      </p:sp>
      <p:sp>
        <p:nvSpPr>
          <p:cNvPr id="7" name="TextBox 6"/>
          <p:cNvSpPr txBox="1"/>
          <p:nvPr/>
        </p:nvSpPr>
        <p:spPr>
          <a:xfrm>
            <a:off x="603504" y="320802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Be kunden precisera budgetmålet. ”Samma pris på säkrade komponenter” är</a:t>
            </a:r>
          </a:p>
          <a:p>
            <a:pPr>
              <a:lnSpc>
                <a:spcPts val="2480"/>
              </a:lnSpc>
              <a:spcBef>
                <a:spcPts val="0"/>
              </a:spcBef>
              <a:spcAft>
                <a:spcPts val="0"/>
              </a:spcAft>
              <a:defRPr sz="2000" b="0">
                <a:solidFill>
                  <a:srgbClr val="193540"/>
                </a:solidFill>
                <a:latin typeface="DejaVu Sans"/>
              </a:defRPr>
            </a:pPr>
            <a:r>
              <a:t>ett möjligt resultat i Stabil. ”Samma slutliga elhandelspris” följer inte</a:t>
            </a:r>
          </a:p>
          <a:p>
            <a:pPr>
              <a:lnSpc>
                <a:spcPts val="2480"/>
              </a:lnSpc>
              <a:spcBef>
                <a:spcPts val="0"/>
              </a:spcBef>
              <a:spcAft>
                <a:spcPts val="0"/>
              </a:spcAft>
              <a:defRPr sz="2000" b="0">
                <a:solidFill>
                  <a:srgbClr val="193540"/>
                </a:solidFill>
                <a:latin typeface="DejaVu Sans"/>
              </a:defRPr>
            </a:pPr>
            <a:r>
              <a:t>automatiskt när öppna volymer, dygnsprofil eller andra rörliga kostnader</a:t>
            </a:r>
          </a:p>
          <a:p>
            <a:pPr>
              <a:lnSpc>
                <a:spcPts val="2480"/>
              </a:lnSpc>
              <a:spcBef>
                <a:spcPts val="0"/>
              </a:spcBef>
              <a:spcAft>
                <a:spcPts val="0"/>
              </a:spcAft>
              <a:defRPr sz="2000" b="0">
                <a:solidFill>
                  <a:srgbClr val="193540"/>
                </a:solidFill>
                <a:latin typeface="DejaVu Sans"/>
              </a:defRPr>
            </a:pPr>
            <a:r>
              <a:t>tillkommer.</a:t>
            </a:r>
          </a:p>
        </p:txBody>
      </p:sp>
      <p:sp>
        <p:nvSpPr>
          <p:cNvPr id="8" name="TextBox 7"/>
          <p:cNvSpPr txBox="1"/>
          <p:nvPr/>
        </p:nvSpPr>
        <p:spPr>
          <a:xfrm>
            <a:off x="603504" y="45821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Granska sedan vad avtalet säger om avvikande volym och kostnader. Du ska</a:t>
            </a:r>
          </a:p>
          <a:p>
            <a:pPr>
              <a:lnSpc>
                <a:spcPts val="2480"/>
              </a:lnSpc>
              <a:spcBef>
                <a:spcPts val="0"/>
              </a:spcBef>
              <a:spcAft>
                <a:spcPts val="0"/>
              </a:spcAft>
              <a:defRPr sz="2000" b="0">
                <a:solidFill>
                  <a:srgbClr val="193540"/>
                </a:solidFill>
                <a:latin typeface="DejaVu Sans"/>
              </a:defRPr>
            </a:pPr>
            <a:r>
              <a:t>kunna skilja den fasta komponentregeln från hur andra avvikelser avräknas.</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När portfölj eller löpande pris är ett alternativ</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företag som vill sprida inköpstillfällena kan vara intresserat av en</a:t>
            </a:r>
          </a:p>
          <a:p>
            <a:pPr>
              <a:lnSpc>
                <a:spcPts val="2480"/>
              </a:lnSpc>
              <a:spcBef>
                <a:spcPts val="0"/>
              </a:spcBef>
              <a:spcAft>
                <a:spcPts val="0"/>
              </a:spcAft>
              <a:defRPr sz="2000" b="0">
                <a:solidFill>
                  <a:srgbClr val="193540"/>
                </a:solidFill>
                <a:latin typeface="DejaVu Sans"/>
              </a:defRPr>
            </a:pPr>
            <a:r>
              <a:t>individuell indexportfölj. Där byggs inköpet enligt regler över tid.</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Pool Trygg och Pool Offensiv ger andra strategiska fördelningar.</a:t>
            </a:r>
          </a:p>
        </p:txBody>
      </p:sp>
      <p:sp>
        <p:nvSpPr>
          <p:cNvPr id="8" name="TextBox 7"/>
          <p:cNvSpPr txBox="1"/>
          <p:nvPr/>
        </p:nvSpPr>
        <p:spPr>
          <a:xfrm>
            <a:off x="603504" y="332232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Kvartspris eller Rörligt pris kan vara rimliga om kunden kan bära</a:t>
            </a:r>
          </a:p>
          <a:p>
            <a:pPr>
              <a:lnSpc>
                <a:spcPts val="2480"/>
              </a:lnSpc>
              <a:spcBef>
                <a:spcPts val="0"/>
              </a:spcBef>
              <a:spcAft>
                <a:spcPts val="0"/>
              </a:spcAft>
              <a:defRPr sz="2000" b="0">
                <a:solidFill>
                  <a:srgbClr val="193540"/>
                </a:solidFill>
                <a:latin typeface="DejaVu Sans"/>
              </a:defRPr>
            </a:pPr>
            <a:r>
              <a:t>marknadsvariationerna. De fungerar olika: Kvartspris kopplar kundens uttag</a:t>
            </a:r>
          </a:p>
          <a:p>
            <a:pPr>
              <a:lnSpc>
                <a:spcPts val="2480"/>
              </a:lnSpc>
              <a:spcBef>
                <a:spcPts val="0"/>
              </a:spcBef>
              <a:spcAft>
                <a:spcPts val="0"/>
              </a:spcAft>
              <a:defRPr sz="2000" b="0">
                <a:solidFill>
                  <a:srgbClr val="193540"/>
                </a:solidFill>
                <a:latin typeface="DejaVu Sans"/>
              </a:defRPr>
            </a:pPr>
            <a:r>
              <a:t>till respektive kvarts pris, medan Rörligt pris följer den avtalade</a:t>
            </a:r>
          </a:p>
          <a:p>
            <a:pPr>
              <a:lnSpc>
                <a:spcPts val="2480"/>
              </a:lnSpc>
              <a:spcBef>
                <a:spcPts val="0"/>
              </a:spcBef>
              <a:spcAft>
                <a:spcPts val="0"/>
              </a:spcAft>
              <a:defRPr sz="2000" b="0">
                <a:solidFill>
                  <a:srgbClr val="193540"/>
                </a:solidFill>
                <a:latin typeface="DejaVu Sans"/>
              </a:defRPr>
            </a:pPr>
            <a:r>
              <a:t>månadsmodellen.</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Avsluta med en rekommendation som går att</a:t>
            </a:r>
          </a:p>
          <a:p>
            <a:pPr>
              <a:lnSpc>
                <a:spcPts val="3472"/>
              </a:lnSpc>
              <a:spcBef>
                <a:spcPts val="0"/>
              </a:spcBef>
              <a:spcAft>
                <a:spcPts val="0"/>
              </a:spcAft>
              <a:defRPr sz="2800" b="1">
                <a:solidFill>
                  <a:srgbClr val="193540"/>
                </a:solidFill>
                <a:latin typeface="DejaVu Sans"/>
              </a:defRPr>
            </a:pPr>
            <a:r>
              <a:t>granska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Sammanfatta först behovet med kundens ord, sedan vad underlaget visar.</a:t>
            </a:r>
          </a:p>
          <a:p>
            <a:pPr>
              <a:lnSpc>
                <a:spcPts val="2480"/>
              </a:lnSpc>
              <a:spcBef>
                <a:spcPts val="0"/>
              </a:spcBef>
              <a:spcAft>
                <a:spcPts val="0"/>
              </a:spcAft>
              <a:defRPr sz="2000" b="0">
                <a:solidFill>
                  <a:srgbClr val="193540"/>
                </a:solidFill>
                <a:latin typeface="DejaVu Sans"/>
              </a:defRPr>
            </a:pPr>
            <a:r>
              <a:t>Presentera ett huvudalternativ och ett jämförelsealternativ. Säg varför de</a:t>
            </a:r>
          </a:p>
          <a:p>
            <a:pPr>
              <a:lnSpc>
                <a:spcPts val="2480"/>
              </a:lnSpc>
              <a:spcBef>
                <a:spcPts val="0"/>
              </a:spcBef>
              <a:spcAft>
                <a:spcPts val="0"/>
              </a:spcAft>
              <a:defRPr sz="2000" b="0">
                <a:solidFill>
                  <a:srgbClr val="193540"/>
                </a:solidFill>
                <a:latin typeface="DejaVu Sans"/>
              </a:defRPr>
            </a:pPr>
            <a:r>
              <a:t>passar och vilken risk kunden behåller i respektive modell.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Kontrollera förståelsen med en öppen fråga: ”Hur skulle ni själva beskriva vad</a:t>
            </a:r>
          </a:p>
          <a:p>
            <a:pPr>
              <a:lnSpc>
                <a:spcPts val="2480"/>
              </a:lnSpc>
              <a:spcBef>
                <a:spcPts val="0"/>
              </a:spcBef>
              <a:spcAft>
                <a:spcPts val="0"/>
              </a:spcAft>
              <a:defRPr sz="2000" b="0">
                <a:solidFill>
                  <a:srgbClr val="193540"/>
                </a:solidFill>
                <a:latin typeface="DejaVu Sans"/>
              </a:defRPr>
            </a:pPr>
            <a:r>
              <a:t>som är säkrat och vad som fortfarande kan variera?” Kundens svar är bättre</a:t>
            </a:r>
          </a:p>
          <a:p>
            <a:pPr>
              <a:lnSpc>
                <a:spcPts val="2480"/>
              </a:lnSpc>
              <a:spcBef>
                <a:spcPts val="0"/>
              </a:spcBef>
              <a:spcAft>
                <a:spcPts val="0"/>
              </a:spcAft>
              <a:defRPr sz="2000" b="0">
                <a:solidFill>
                  <a:srgbClr val="193540"/>
                </a:solidFill>
                <a:latin typeface="DejaVu Sans"/>
              </a:defRPr>
            </a:pPr>
            <a:r>
              <a:t>belägg än ett snabbt ja.</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Samma säkrade volym, olika faktisk täckning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volymberäkning för beskrivna 80-procentsupplägget. Ingen</a:t>
            </a:r>
          </a:p>
          <a:p>
            <a:pPr>
              <a:lnSpc>
                <a:spcPts val="2480"/>
              </a:lnSpc>
              <a:spcBef>
                <a:spcPts val="0"/>
              </a:spcBef>
              <a:spcAft>
                <a:spcPts val="0"/>
              </a:spcAft>
              <a:defRPr sz="2000" b="0">
                <a:solidFill>
                  <a:srgbClr val="193540"/>
                </a:solidFill>
                <a:latin typeface="DejaVu Sans"/>
              </a:defRPr>
            </a:pPr>
            <a:r>
              <a:t>fakturaberäkning eller avvikelseavräkning.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Överenskommet volymunderlag: 100 MWh.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Säkringsgrad vid inköpet: 80 procent.</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Två möjliga utfall: 125 MWh respektive 60 MWh.</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Samma säkrade volym, olika faktisk</a:t>
            </a:r>
          </a:p>
          <a:p>
            <a:pPr>
              <a:lnSpc>
                <a:spcPts val="3472"/>
              </a:lnSpc>
              <a:spcBef>
                <a:spcPts val="0"/>
              </a:spcBef>
              <a:spcAft>
                <a:spcPts val="0"/>
              </a:spcAft>
              <a:defRPr sz="2800" b="1">
                <a:solidFill>
                  <a:srgbClr val="193540"/>
                </a:solidFill>
                <a:latin typeface="DejaVu Sans"/>
              </a:defRPr>
            </a:pPr>
            <a:r>
              <a:t>täckning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100 MWh × 0,80 = 80 MWh säkrad volym.</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80 MWh ÷ 125 MWh × 100 = 64 procent av faktisk volym.</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80 MWh ÷ 60 MWh × 100 ≈ 133,33 procent av faktisk volym.</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Samma 80 MWh motsvarar 64 procent respektive cirka 133,33</a:t>
            </a:r>
          </a:p>
          <a:p>
            <a:pPr>
              <a:lnSpc>
                <a:spcPts val="2480"/>
              </a:lnSpc>
              <a:spcBef>
                <a:spcPts val="0"/>
              </a:spcBef>
              <a:spcAft>
                <a:spcPts val="0"/>
              </a:spcAft>
              <a:defRPr sz="2000" b="0">
                <a:solidFill>
                  <a:srgbClr val="193540"/>
                </a:solidFill>
                <a:latin typeface="DejaVu Sans"/>
              </a:defRPr>
            </a:pPr>
            <a:r>
              <a:t>procent av utfallet.</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Jämför energipris och avgift på samma bas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359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Två påhittade, direkt jämförbara energihandelskalkyler för ett år. Samma</a:t>
            </a:r>
          </a:p>
          <a:p>
            <a:pPr>
              <a:lnSpc>
                <a:spcPts val="2480"/>
              </a:lnSpc>
              <a:spcBef>
                <a:spcPts val="0"/>
              </a:spcBef>
              <a:spcAft>
                <a:spcPts val="0"/>
              </a:spcAft>
              <a:defRPr sz="2000" b="0">
                <a:solidFill>
                  <a:srgbClr val="193540"/>
                </a:solidFill>
                <a:latin typeface="DejaVu Sans"/>
              </a:defRPr>
            </a:pPr>
            <a:r>
              <a:t>komponenter och volym; elnät, skatt och moms är uteslutna. Ingen offert eller</a:t>
            </a:r>
          </a:p>
          <a:p>
            <a:pPr>
              <a:lnSpc>
                <a:spcPts val="2480"/>
              </a:lnSpc>
              <a:spcBef>
                <a:spcPts val="0"/>
              </a:spcBef>
              <a:spcAft>
                <a:spcPts val="0"/>
              </a:spcAft>
              <a:defRPr sz="2000" b="0">
                <a:solidFill>
                  <a:srgbClr val="193540"/>
                </a:solidFill>
                <a:latin typeface="DejaVu Sans"/>
              </a:defRPr>
            </a:pPr>
            <a:r>
              <a:t>prognos för en faktisk produkt.</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Jämförelsevolym: 120 000 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Alternativ A: 100 öre/kWh och 1 200 kr i årsavgift.</a:t>
            </a:r>
          </a:p>
        </p:txBody>
      </p:sp>
      <p:sp>
        <p:nvSpPr>
          <p:cNvPr id="9" name="TextBox 8"/>
          <p:cNvSpPr txBox="1"/>
          <p:nvPr/>
        </p:nvSpPr>
        <p:spPr>
          <a:xfrm>
            <a:off x="603504" y="40665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Alternativ B: 97 öre/kWh och 3 600 kr i årsavgift.</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Jämför energipris och avgift på samma</a:t>
            </a:r>
          </a:p>
          <a:p>
            <a:pPr>
              <a:lnSpc>
                <a:spcPts val="3472"/>
              </a:lnSpc>
              <a:spcBef>
                <a:spcPts val="0"/>
              </a:spcBef>
              <a:spcAft>
                <a:spcPts val="0"/>
              </a:spcAft>
              <a:defRPr sz="2800" b="1">
                <a:solidFill>
                  <a:srgbClr val="193540"/>
                </a:solidFill>
                <a:latin typeface="DejaVu Sans"/>
              </a:defRPr>
            </a:pPr>
            <a:r>
              <a:t>bas</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100 öre = 1,00 kr. A: 120 000 × 1,00 + 1 200 = 121 200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97 öre = 0,97 kr. B: 120 000 × 0,97 + 3 600 = 120 000 kr.</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121 200 − 120 000 = 1 200 kr skillnad på den gemensamma</a:t>
            </a:r>
          </a:p>
          <a:p>
            <a:pPr>
              <a:lnSpc>
                <a:spcPts val="2480"/>
              </a:lnSpc>
              <a:spcBef>
                <a:spcPts val="0"/>
              </a:spcBef>
              <a:spcAft>
                <a:spcPts val="0"/>
              </a:spcAft>
              <a:defRPr sz="2000" b="0">
                <a:solidFill>
                  <a:srgbClr val="193540"/>
                </a:solidFill>
                <a:latin typeface="DejaVu Sans"/>
              </a:defRPr>
            </a:pPr>
            <a:r>
              <a:t>jämförelsebasen.</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B är 1 200 kr lägre i just detta exempel trots högre årsavgift.</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vill ha trygghet, alltså ska vi alltid rekommendera Stabil.</a:t>
            </a:r>
          </a:p>
        </p:txBody>
      </p:sp>
      <p:sp>
        <p:nvSpPr>
          <p:cNvPr id="7" name="TextBox 6"/>
          <p:cNvSpPr txBox="1"/>
          <p:nvPr/>
        </p:nvSpPr>
        <p:spPr>
          <a:xfrm>
            <a:off x="603504" y="25781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Ta reda på vilken risk och vilken kostnadsvariation kunden vill</a:t>
            </a:r>
          </a:p>
          <a:p>
            <a:pPr>
              <a:lnSpc>
                <a:spcPts val="2480"/>
              </a:lnSpc>
              <a:spcBef>
                <a:spcPts val="0"/>
              </a:spcBef>
              <a:spcAft>
                <a:spcPts val="0"/>
              </a:spcAft>
              <a:defRPr sz="2000" b="0">
                <a:solidFill>
                  <a:srgbClr val="193540"/>
                </a:solidFill>
                <a:latin typeface="DejaVu Sans"/>
              </a:defRPr>
            </a:pPr>
            <a:r>
              <a:t>hantera. Stabil jämnar ut säkrade komponenter; behovet kan handla om</a:t>
            </a:r>
          </a:p>
          <a:p>
            <a:pPr>
              <a:lnSpc>
                <a:spcPts val="2480"/>
              </a:lnSpc>
              <a:spcBef>
                <a:spcPts val="0"/>
              </a:spcBef>
              <a:spcAft>
                <a:spcPts val="0"/>
              </a:spcAft>
              <a:defRPr sz="2000" b="0">
                <a:solidFill>
                  <a:srgbClr val="193540"/>
                </a:solidFill>
                <a:latin typeface="DejaVu Sans"/>
              </a:defRPr>
            </a:pPr>
            <a:r>
              <a:t>något annat.</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portfölj med 80 procent index är redan 80 procent prissäkrad.</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Strategisk fördelning och faktiskt genomförda positioner är skilda</a:t>
            </a:r>
          </a:p>
          <a:p>
            <a:pPr>
              <a:lnSpc>
                <a:spcPts val="2480"/>
              </a:lnSpc>
              <a:spcBef>
                <a:spcPts val="0"/>
              </a:spcBef>
              <a:spcAft>
                <a:spcPts val="0"/>
              </a:spcAft>
              <a:defRPr sz="2000" b="0">
                <a:solidFill>
                  <a:srgbClr val="193540"/>
                </a:solidFill>
                <a:latin typeface="DejaVu Sans"/>
              </a:defRPr>
            </a:pPr>
            <a:r>
              <a:t>saker.</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Det billigaste örestalet visar den bästa offerten.</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Volym, period, komponenter, avgifter och risk måste vara</a:t>
            </a:r>
          </a:p>
          <a:p>
            <a:pPr>
              <a:lnSpc>
                <a:spcPts val="2480"/>
              </a:lnSpc>
              <a:spcBef>
                <a:spcPts val="0"/>
              </a:spcBef>
              <a:spcAft>
                <a:spcPts val="0"/>
              </a:spcAft>
              <a:defRPr sz="2000" b="0">
                <a:solidFill>
                  <a:srgbClr val="193540"/>
                </a:solidFill>
                <a:latin typeface="DejaVu Sans"/>
              </a:defRPr>
            </a:pPr>
            <a:r>
              <a:t>jämförbara innan totalen kan tolkas.</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364</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 börjar med hur mycket el ni använder, när ni använder den och vilken risk</a:t>
            </a:r>
          </a:p>
          <a:p>
            <a:pPr>
              <a:lnSpc>
                <a:spcPts val="2480"/>
              </a:lnSpc>
              <a:spcBef>
                <a:spcPts val="0"/>
              </a:spcBef>
              <a:spcAft>
                <a:spcPts val="0"/>
              </a:spcAft>
              <a:defRPr sz="2000" b="0">
                <a:solidFill>
                  <a:srgbClr val="193540"/>
                </a:solidFill>
                <a:latin typeface="DejaVu Sans"/>
              </a:defRPr>
            </a:pPr>
            <a:r>
              <a:t>ni vill hantera. Sedan jämför vi samma delar av priset. Prissäkring kan ge mer</a:t>
            </a:r>
          </a:p>
          <a:p>
            <a:pPr>
              <a:lnSpc>
                <a:spcPts val="2480"/>
              </a:lnSpc>
              <a:spcBef>
                <a:spcPts val="0"/>
              </a:spcBef>
              <a:spcAft>
                <a:spcPts val="0"/>
              </a:spcAft>
              <a:defRPr sz="2000" b="0">
                <a:solidFill>
                  <a:srgbClr val="193540"/>
                </a:solidFill>
                <a:latin typeface="DejaVu Sans"/>
              </a:defRPr>
            </a:pPr>
            <a:r>
              <a:t>förutsägbarhet på de delar som omfattas, men mängden el och övriga</a:t>
            </a:r>
          </a:p>
          <a:p>
            <a:pPr>
              <a:lnSpc>
                <a:spcPts val="2480"/>
              </a:lnSpc>
              <a:spcBef>
                <a:spcPts val="0"/>
              </a:spcBef>
              <a:spcAft>
                <a:spcPts val="0"/>
              </a:spcAft>
              <a:defRPr sz="2000" b="0">
                <a:solidFill>
                  <a:srgbClr val="193540"/>
                </a:solidFill>
                <a:latin typeface="DejaVu Sans"/>
              </a:defRPr>
            </a:pPr>
            <a:r>
              <a:t>komponenter påverkar fortfarande kostnaden.</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Exempelfabriken växer · 1/2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365</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Exempelfabriken har historiskt använt 100 MWh, med tydlig vintertopp.</a:t>
            </a:r>
          </a:p>
          <a:p>
            <a:pPr>
              <a:lnSpc>
                <a:spcPts val="2480"/>
              </a:lnSpc>
              <a:spcBef>
                <a:spcPts val="0"/>
              </a:spcBef>
              <a:spcAft>
                <a:spcPts val="0"/>
              </a:spcAft>
              <a:defRPr sz="2000" b="0">
                <a:solidFill>
                  <a:srgbClr val="193540"/>
                </a:solidFill>
                <a:latin typeface="DejaVu Sans"/>
              </a:defRPr>
            </a:pPr>
            <a:r>
              <a:t>Nästa år kan en ny linje öka användningen till 125 MWh. Ekonomiansvarig vill</a:t>
            </a:r>
          </a:p>
          <a:p>
            <a:pPr>
              <a:lnSpc>
                <a:spcPts val="2480"/>
              </a:lnSpc>
              <a:spcBef>
                <a:spcPts val="0"/>
              </a:spcBef>
              <a:spcAft>
                <a:spcPts val="0"/>
              </a:spcAft>
              <a:defRPr sz="2000" b="0">
                <a:solidFill>
                  <a:srgbClr val="193540"/>
                </a:solidFill>
                <a:latin typeface="DejaVu Sans"/>
              </a:defRPr>
            </a:pPr>
            <a:r>
              <a:t>”ha 80 procent fast och samma räkning varje månad” och vill jämföra Stabil</a:t>
            </a:r>
          </a:p>
          <a:p>
            <a:pPr>
              <a:lnSpc>
                <a:spcPts val="2480"/>
              </a:lnSpc>
              <a:spcBef>
                <a:spcPts val="0"/>
              </a:spcBef>
              <a:spcAft>
                <a:spcPts val="0"/>
              </a:spcAft>
              <a:defRPr sz="2000" b="0">
                <a:solidFill>
                  <a:srgbClr val="193540"/>
                </a:solidFill>
                <a:latin typeface="DejaVu Sans"/>
              </a:defRPr>
            </a:pPr>
            <a:r>
              <a:t>med en portfölj. Inga aktuella offertvillkor finns ännu.</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Vilka fem uppgifter behöver du komplettera?</a:t>
            </a:r>
          </a:p>
        </p:txBody>
      </p:sp>
      <p:sp>
        <p:nvSpPr>
          <p:cNvPr id="8" name="TextBox 7"/>
          <p:cNvSpPr txBox="1"/>
          <p:nvPr/>
        </p:nvSpPr>
        <p:spPr>
          <a:xfrm>
            <a:off x="603504" y="3952239"/>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Räkna säkrad volym och täckning vid 125 MWh om underlaget fortfarande</a:t>
            </a:r>
          </a:p>
          <a:p>
            <a:pPr>
              <a:lnSpc>
                <a:spcPts val="2480"/>
              </a:lnSpc>
              <a:spcBef>
                <a:spcPts val="0"/>
              </a:spcBef>
              <a:spcAft>
                <a:spcPts val="0"/>
              </a:spcAft>
              <a:defRPr sz="2000" b="0">
                <a:solidFill>
                  <a:srgbClr val="193540"/>
                </a:solidFill>
                <a:latin typeface="DejaVu Sans"/>
              </a:defRPr>
            </a:pPr>
            <a:r>
              <a:t>är 100 MWh.</a:t>
            </a:r>
          </a:p>
        </p:txBody>
      </p:sp>
      <p:sp>
        <p:nvSpPr>
          <p:cNvPr id="9" name="TextBox 8"/>
          <p:cNvSpPr txBox="1"/>
          <p:nvPr/>
        </p:nvSpPr>
        <p:spPr>
          <a:xfrm>
            <a:off x="603504" y="46964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vilka delar av kundens önskemål som Stabil hanterar och vilka det</a:t>
            </a:r>
          </a:p>
          <a:p>
            <a:pPr>
              <a:lnSpc>
                <a:spcPts val="2480"/>
              </a:lnSpc>
              <a:spcBef>
                <a:spcPts val="0"/>
              </a:spcBef>
              <a:spcAft>
                <a:spcPts val="0"/>
              </a:spcAft>
              <a:defRPr sz="2000" b="0">
                <a:solidFill>
                  <a:srgbClr val="193540"/>
                </a:solidFill>
                <a:latin typeface="DejaVu Sans"/>
              </a:defRPr>
            </a:pPr>
            <a:r>
              <a:t>inte automatiskt hanterar.</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Exempelfabriken växer · 2/2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366</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Presentera ett motiverat huvudalternativ och ett rimligt jämförelsealternativ</a:t>
            </a:r>
          </a:p>
          <a:p>
            <a:pPr>
              <a:lnSpc>
                <a:spcPts val="2480"/>
              </a:lnSpc>
              <a:spcBef>
                <a:spcPts val="0"/>
              </a:spcBef>
              <a:spcAft>
                <a:spcPts val="0"/>
              </a:spcAft>
              <a:defRPr sz="2000" b="0">
                <a:solidFill>
                  <a:srgbClr val="193540"/>
                </a:solidFill>
                <a:latin typeface="DejaVu Sans"/>
              </a:defRPr>
            </a:pPr>
            <a:r>
              <a:t>utan att hitta på villkor.</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prognosvolym från faktiskt utfall och räknar 80 MWh/64 procent.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Förklarar komponentpris, slutpris och fakturabelopp var för sig.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Visar att månadsprofil och dygnsprofil är olika.</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Kontrollerar faktiska mandat och avvikelsevillkor.</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Motiverar alternativen från kundens mål och visar kvarvarande risk.</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368</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fråga är mest användbar när kunden säger att elkostnaden blev</a:t>
            </a:r>
          </a:p>
          <a:p>
            <a:pPr>
              <a:lnSpc>
                <a:spcPts val="2480"/>
              </a:lnSpc>
              <a:spcBef>
                <a:spcPts val="0"/>
              </a:spcBef>
              <a:spcAft>
                <a:spcPts val="0"/>
              </a:spcAft>
              <a:defRPr sz="2000" b="0">
                <a:solidFill>
                  <a:srgbClr val="193540"/>
                </a:solidFill>
                <a:latin typeface="DejaVu Sans"/>
              </a:defRPr>
            </a:pPr>
            <a:r>
              <a:t>oväntat hög?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Vilken produkt har kortast namn?</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Berodde överraskningen på pris, förbrukning eller båda?</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Vill ni alltid välja det lägsta visade örestalet?</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369</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80 MWh är säkrat och utfallet blir 125 MWh. Hur stor andel av faktisk volym</a:t>
            </a:r>
          </a:p>
          <a:p>
            <a:pPr>
              <a:lnSpc>
                <a:spcPts val="2480"/>
              </a:lnSpc>
              <a:spcBef>
                <a:spcPts val="0"/>
              </a:spcBef>
              <a:spcAft>
                <a:spcPts val="0"/>
              </a:spcAft>
              <a:defRPr sz="2000" b="0">
                <a:solidFill>
                  <a:srgbClr val="193540"/>
                </a:solidFill>
                <a:latin typeface="DejaVu Sans"/>
              </a:defRPr>
            </a:pPr>
            <a:r>
              <a:t>motsvarar säkringen?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procent.</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Vad krävs innan två erbjudna örespriser jämförs?</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Samma volym, period och omfattning samt hänsyn till avgifter och risk.</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Bara att båda prisraderna anger öre/kWh.</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Att den ena leverantören använder ordet stabil.</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säger ”Stabil ger samma räkning varje månad”. Skriv ett begripligt</a:t>
            </a:r>
          </a:p>
          <a:p>
            <a:pPr>
              <a:lnSpc>
                <a:spcPts val="2480"/>
              </a:lnSpc>
              <a:spcBef>
                <a:spcPts val="0"/>
              </a:spcBef>
              <a:spcAft>
                <a:spcPts val="0"/>
              </a:spcAft>
              <a:defRPr sz="2000" b="0">
                <a:solidFill>
                  <a:srgbClr val="193540"/>
                </a:solidFill>
                <a:latin typeface="DejaVu Sans"/>
              </a:defRPr>
            </a:pPr>
            <a:r>
              <a:t>svar och en följdfråga.</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17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Utgå från kundens problem och dess förbrukning.</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Uppdatera prognosen när verksamheten ändras.</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Jämför kostnader på samma bas.</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 säkrade komponenter och kvarvarande risk var för sig.</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Kontrollera förståelsen innan nästa offertsteg.</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KAPITEL 18 · Privatkund / Face2face</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Privatkunden: ett begripligt val och ett bra</a:t>
            </a:r>
          </a:p>
          <a:p>
            <a:pPr>
              <a:lnSpc>
                <a:spcPts val="3472"/>
              </a:lnSpc>
              <a:spcBef>
                <a:spcPts val="0"/>
              </a:spcBef>
              <a:spcAft>
                <a:spcPts val="0"/>
              </a:spcAft>
              <a:defRPr sz="2800" b="1">
                <a:solidFill>
                  <a:srgbClr val="FFFFFF"/>
                </a:solidFill>
                <a:latin typeface="DejaVu Sans"/>
              </a:defRPr>
            </a:pPr>
            <a:r>
              <a:t>samtal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373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Kartlägga förbrukning, budgetbehov och faktisk möjlighet att flytta</a:t>
            </a:r>
          </a:p>
          <a:p>
            <a:pPr>
              <a:lnSpc>
                <a:spcPts val="2480"/>
              </a:lnSpc>
              <a:spcBef>
                <a:spcPts val="0"/>
              </a:spcBef>
              <a:spcAft>
                <a:spcPts val="0"/>
              </a:spcAft>
              <a:defRPr sz="2000" b="0">
                <a:solidFill>
                  <a:srgbClr val="FFFFFF"/>
                </a:solidFill>
                <a:latin typeface="DejaVu Sans"/>
              </a:defRPr>
            </a:pPr>
            <a:r>
              <a:t>elanvändning.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Förklara fem konsumentprodukter utan löften om marknadens lägsta pris.</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Jämföra kostnader och kontrollera kundens förståelse.</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 Granska ett lyckat samtal med en tydlig bedömningsmall.</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Gör plats för kundens vardag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374</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Börja med att ta reda på vad kunden vill få hjälp med. En kund kan vilja känna</a:t>
            </a:r>
          </a:p>
          <a:p>
            <a:pPr>
              <a:lnSpc>
                <a:spcPts val="2480"/>
              </a:lnSpc>
              <a:spcBef>
                <a:spcPts val="0"/>
              </a:spcBef>
              <a:spcAft>
                <a:spcPts val="0"/>
              </a:spcAft>
              <a:defRPr sz="2000" b="0">
                <a:solidFill>
                  <a:srgbClr val="193540"/>
                </a:solidFill>
                <a:latin typeface="DejaVu Sans"/>
              </a:defRPr>
            </a:pPr>
            <a:r>
              <a:t>större trygghet inför vintern. En annan vill utnyttja sin laddbox och automatisk</a:t>
            </a:r>
          </a:p>
          <a:p>
            <a:pPr>
              <a:lnSpc>
                <a:spcPts val="2480"/>
              </a:lnSpc>
              <a:spcBef>
                <a:spcPts val="0"/>
              </a:spcBef>
              <a:spcAft>
                <a:spcPts val="0"/>
              </a:spcAft>
              <a:defRPr sz="2000" b="0">
                <a:solidFill>
                  <a:srgbClr val="193540"/>
                </a:solidFill>
                <a:latin typeface="DejaVu Sans"/>
              </a:defRPr>
            </a:pPr>
            <a:r>
              <a:t>styrning. En tredje tycker att fakturan är svår att förstå.</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Fråga om bostadens uppvärmning, ungefärlig årsförbrukning, elbil och andra</a:t>
            </a:r>
          </a:p>
          <a:p>
            <a:pPr>
              <a:lnSpc>
                <a:spcPts val="2480"/>
              </a:lnSpc>
              <a:spcBef>
                <a:spcPts val="0"/>
              </a:spcBef>
              <a:spcAft>
                <a:spcPts val="0"/>
              </a:spcAft>
              <a:defRPr sz="2000" b="0">
                <a:solidFill>
                  <a:srgbClr val="193540"/>
                </a:solidFill>
                <a:latin typeface="DejaVu Sans"/>
              </a:defRPr>
            </a:pPr>
            <a:r>
              <a:t>större uttag. Ta reda på om kundens användning går att flytta i praktiken.</a:t>
            </a:r>
          </a:p>
        </p:txBody>
      </p:sp>
      <p:sp>
        <p:nvSpPr>
          <p:cNvPr id="8" name="TextBox 7"/>
          <p:cNvSpPr txBox="1"/>
          <p:nvPr/>
        </p:nvSpPr>
        <p:spPr>
          <a:xfrm>
            <a:off x="603504" y="39522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Fråga sedan hur mycket variation kunden kan acceptera. Ett hushåll kan</a:t>
            </a:r>
          </a:p>
          <a:p>
            <a:pPr>
              <a:lnSpc>
                <a:spcPts val="2480"/>
              </a:lnSpc>
              <a:spcBef>
                <a:spcPts val="0"/>
              </a:spcBef>
              <a:spcAft>
                <a:spcPts val="0"/>
              </a:spcAft>
              <a:defRPr sz="2000" b="0">
                <a:solidFill>
                  <a:srgbClr val="193540"/>
                </a:solidFill>
                <a:latin typeface="DejaVu Sans"/>
              </a:defRPr>
            </a:pPr>
            <a:r>
              <a:t>föredra ett mer förutsägbart energipris även om det inte följer framtida</a:t>
            </a:r>
          </a:p>
          <a:p>
            <a:pPr>
              <a:lnSpc>
                <a:spcPts val="2480"/>
              </a:lnSpc>
              <a:spcBef>
                <a:spcPts val="0"/>
              </a:spcBef>
              <a:spcAft>
                <a:spcPts val="0"/>
              </a:spcAft>
              <a:defRPr sz="2000" b="0">
                <a:solidFill>
                  <a:srgbClr val="193540"/>
                </a:solidFill>
                <a:latin typeface="DejaVu Sans"/>
              </a:defRPr>
            </a:pPr>
            <a:r>
              <a:t>prisfall.</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Fem produkter, fem olika förklaringar · 1/2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Kvartspris kopplar kundens uttag till priset i respektive kvart. Det kan vara</a:t>
            </a:r>
          </a:p>
          <a:p>
            <a:pPr>
              <a:lnSpc>
                <a:spcPts val="2480"/>
              </a:lnSpc>
              <a:spcBef>
                <a:spcPts val="0"/>
              </a:spcBef>
              <a:spcAft>
                <a:spcPts val="0"/>
              </a:spcAft>
              <a:defRPr sz="2000" b="0">
                <a:solidFill>
                  <a:srgbClr val="193540"/>
                </a:solidFill>
                <a:latin typeface="DejaVu Sans"/>
              </a:defRPr>
            </a:pPr>
            <a:r>
              <a:t>relevant när stora uttag går att styra och kunden accepterar prisvariation.</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Rörligt pris följer den avtalade månadsmodellen. Det ger inte hela energipriset</a:t>
            </a:r>
          </a:p>
          <a:p>
            <a:pPr>
              <a:lnSpc>
                <a:spcPts val="2480"/>
              </a:lnSpc>
              <a:spcBef>
                <a:spcPts val="0"/>
              </a:spcBef>
              <a:spcAft>
                <a:spcPts val="0"/>
              </a:spcAft>
              <a:defRPr sz="2000" b="0">
                <a:solidFill>
                  <a:srgbClr val="193540"/>
                </a:solidFill>
                <a:latin typeface="DejaVu Sans"/>
              </a:defRPr>
            </a:pPr>
            <a:r>
              <a:t>fast över en längre period. Fastpris ger det avtalade energihandelspriset enligt</a:t>
            </a:r>
          </a:p>
          <a:p>
            <a:pPr>
              <a:lnSpc>
                <a:spcPts val="2480"/>
              </a:lnSpc>
              <a:spcBef>
                <a:spcPts val="0"/>
              </a:spcBef>
              <a:spcAft>
                <a:spcPts val="0"/>
              </a:spcAft>
              <a:defRPr sz="2000" b="0">
                <a:solidFill>
                  <a:srgbClr val="193540"/>
                </a:solidFill>
                <a:latin typeface="DejaVu Sans"/>
              </a:defRPr>
            </a:pPr>
            <a:r>
              <a:t>produktens omfattning under perioden.</a:t>
            </a:r>
          </a:p>
        </p:txBody>
      </p:sp>
      <p:sp>
        <p:nvSpPr>
          <p:cNvPr id="8" name="TextBox 7"/>
          <p:cNvSpPr txBox="1"/>
          <p:nvPr/>
        </p:nvSpPr>
        <p:spPr>
          <a:xfrm>
            <a:off x="603504" y="3952239"/>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Opti jämför två månadsutfall för samma volym och prisomfattning: det</a:t>
            </a:r>
          </a:p>
          <a:p>
            <a:pPr>
              <a:lnSpc>
                <a:spcPts val="2480"/>
              </a:lnSpc>
              <a:spcBef>
                <a:spcPts val="0"/>
              </a:spcBef>
              <a:spcAft>
                <a:spcPts val="0"/>
              </a:spcAft>
              <a:defRPr sz="2000" b="0">
                <a:solidFill>
                  <a:srgbClr val="193540"/>
                </a:solidFill>
                <a:latin typeface="DejaVu Sans"/>
              </a:defRPr>
            </a:pPr>
            <a:r>
              <a:t>faktiska förbrukningsvägda kvartsutfallet och avtalets rörliga månadspris. Det</a:t>
            </a:r>
          </a:p>
          <a:p>
            <a:pPr>
              <a:lnSpc>
                <a:spcPts val="2480"/>
              </a:lnSpc>
              <a:spcBef>
                <a:spcPts val="0"/>
              </a:spcBef>
              <a:spcAft>
                <a:spcPts val="0"/>
              </a:spcAft>
              <a:defRPr sz="2000" b="0">
                <a:solidFill>
                  <a:srgbClr val="193540"/>
                </a:solidFill>
                <a:latin typeface="DejaVu Sans"/>
              </a:defRPr>
            </a:pPr>
            <a:r>
              <a:t>lägre används enligt modellen.</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Fem produkter, fem olika förklaringar · 2/2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Vintersäkrat kombinerar ett fast energihandelspris under vinterdelen med</a:t>
            </a:r>
          </a:p>
          <a:p>
            <a:pPr>
              <a:lnSpc>
                <a:spcPts val="2480"/>
              </a:lnSpc>
              <a:spcBef>
                <a:spcPts val="0"/>
              </a:spcBef>
              <a:spcAft>
                <a:spcPts val="0"/>
              </a:spcAft>
              <a:defRPr sz="2000" b="0">
                <a:solidFill>
                  <a:srgbClr val="193540"/>
                </a:solidFill>
                <a:latin typeface="DejaVu Sans"/>
              </a:defRPr>
            </a:pPr>
            <a:r>
              <a:t>Kvartspris under sommardelen. Standardperioderna i underlaget är oktober till</a:t>
            </a:r>
          </a:p>
          <a:p>
            <a:pPr>
              <a:lnSpc>
                <a:spcPts val="2480"/>
              </a:lnSpc>
              <a:spcBef>
                <a:spcPts val="0"/>
              </a:spcBef>
              <a:spcAft>
                <a:spcPts val="0"/>
              </a:spcAft>
              <a:defRPr sz="2000" b="0">
                <a:solidFill>
                  <a:srgbClr val="193540"/>
                </a:solidFill>
                <a:latin typeface="DejaVu Sans"/>
              </a:defRPr>
            </a:pPr>
            <a:r>
              <a:t>mars respektive april till september; aktuellt avtal kan ange andra månader.</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Kundfall: villan med elbil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Exempelvillan använder 18 000 kWh per år och har en laddbox. Kunden säger</a:t>
            </a:r>
          </a:p>
          <a:p>
            <a:pPr>
              <a:lnSpc>
                <a:spcPts val="2480"/>
              </a:lnSpc>
              <a:spcBef>
                <a:spcPts val="0"/>
              </a:spcBef>
              <a:spcAft>
                <a:spcPts val="0"/>
              </a:spcAft>
              <a:defRPr sz="2000" b="0">
                <a:solidFill>
                  <a:srgbClr val="193540"/>
                </a:solidFill>
                <a:latin typeface="DejaVu Sans"/>
              </a:defRPr>
            </a:pPr>
            <a:r>
              <a:t>att bilen ofta står hemma hela natten, men att värmepumpen behövs när</a:t>
            </a:r>
          </a:p>
          <a:p>
            <a:pPr>
              <a:lnSpc>
                <a:spcPts val="2480"/>
              </a:lnSpc>
              <a:spcBef>
                <a:spcPts val="0"/>
              </a:spcBef>
              <a:spcAft>
                <a:spcPts val="0"/>
              </a:spcAft>
              <a:defRPr sz="2000" b="0">
                <a:solidFill>
                  <a:srgbClr val="193540"/>
                </a:solidFill>
                <a:latin typeface="DejaVu Sans"/>
              </a:defRPr>
            </a:pPr>
            <a:r>
              <a:t>huset är kallt.</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Förklara att möjligheten att flytta laddning är en möjlighet, inte en säker</a:t>
            </a:r>
          </a:p>
          <a:p>
            <a:pPr>
              <a:lnSpc>
                <a:spcPts val="2480"/>
              </a:lnSpc>
              <a:spcBef>
                <a:spcPts val="0"/>
              </a:spcBef>
              <a:spcAft>
                <a:spcPts val="0"/>
              </a:spcAft>
              <a:defRPr sz="2000" b="0">
                <a:solidFill>
                  <a:srgbClr val="193540"/>
                </a:solidFill>
                <a:latin typeface="DejaVu Sans"/>
              </a:defRPr>
            </a:pPr>
            <a:r>
              <a:t>besparing. Framtida kvartpriser är inte kända.</a:t>
            </a:r>
          </a:p>
        </p:txBody>
      </p:sp>
      <p:sp>
        <p:nvSpPr>
          <p:cNvPr id="8" name="TextBox 7"/>
          <p:cNvSpPr txBox="1"/>
          <p:nvPr/>
        </p:nvSpPr>
        <p:spPr>
          <a:xfrm>
            <a:off x="603504" y="39522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Om kunden vill kombinera kvartsexponering med månadsjämförelsen i Opti</a:t>
            </a:r>
          </a:p>
          <a:p>
            <a:pPr>
              <a:lnSpc>
                <a:spcPts val="2480"/>
              </a:lnSpc>
              <a:spcBef>
                <a:spcPts val="0"/>
              </a:spcBef>
              <a:spcAft>
                <a:spcPts val="0"/>
              </a:spcAft>
              <a:defRPr sz="2000" b="0">
                <a:solidFill>
                  <a:srgbClr val="193540"/>
                </a:solidFill>
                <a:latin typeface="DejaVu Sans"/>
              </a:defRPr>
            </a:pPr>
            <a:r>
              <a:t>behöver du förklara just den jämförelsen. Kunden ska kunna återge att den</a:t>
            </a:r>
          </a:p>
          <a:p>
            <a:pPr>
              <a:lnSpc>
                <a:spcPts val="2480"/>
              </a:lnSpc>
              <a:spcBef>
                <a:spcPts val="0"/>
              </a:spcBef>
              <a:spcAft>
                <a:spcPts val="0"/>
              </a:spcAft>
              <a:defRPr sz="2000" b="0">
                <a:solidFill>
                  <a:srgbClr val="193540"/>
                </a:solidFill>
                <a:latin typeface="DejaVu Sans"/>
              </a:defRPr>
            </a:pPr>
            <a:r>
              <a:t>görs för hela månaden.</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Kundfall: lägenheten och den lilla förbrukningen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Exempellägenheten använder 2 000 kWh per år och har ingen elvärme eller</a:t>
            </a:r>
          </a:p>
          <a:p>
            <a:pPr>
              <a:lnSpc>
                <a:spcPts val="2480"/>
              </a:lnSpc>
              <a:spcBef>
                <a:spcPts val="0"/>
              </a:spcBef>
              <a:spcAft>
                <a:spcPts val="0"/>
              </a:spcAft>
              <a:defRPr sz="2000" b="0">
                <a:solidFill>
                  <a:srgbClr val="193540"/>
                </a:solidFill>
                <a:latin typeface="DejaVu Sans"/>
              </a:defRPr>
            </a:pPr>
            <a:r>
              <a:t>elbil. Kunden fokuserar på skillnaden mellan två örespriser. Här kan den fasta</a:t>
            </a:r>
          </a:p>
          <a:p>
            <a:pPr>
              <a:lnSpc>
                <a:spcPts val="2480"/>
              </a:lnSpc>
              <a:spcBef>
                <a:spcPts val="0"/>
              </a:spcBef>
              <a:spcAft>
                <a:spcPts val="0"/>
              </a:spcAft>
              <a:defRPr sz="2000" b="0">
                <a:solidFill>
                  <a:srgbClr val="193540"/>
                </a:solidFill>
                <a:latin typeface="DejaVu Sans"/>
              </a:defRPr>
            </a:pPr>
            <a:r>
              <a:t>avgiften få stor betydelse i totalen.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Undvik att göra styrbarhet till ett allmänt argument för alla. Om kundens</a:t>
            </a:r>
          </a:p>
          <a:p>
            <a:pPr>
              <a:lnSpc>
                <a:spcPts val="2480"/>
              </a:lnSpc>
              <a:spcBef>
                <a:spcPts val="0"/>
              </a:spcBef>
              <a:spcAft>
                <a:spcPts val="0"/>
              </a:spcAft>
              <a:defRPr sz="2000" b="0">
                <a:solidFill>
                  <a:srgbClr val="193540"/>
                </a:solidFill>
                <a:latin typeface="DejaVu Sans"/>
              </a:defRPr>
            </a:pPr>
            <a:r>
              <a:t>större uttag är få kan tiden och intresset för aktiv styrning väga tyngre än</a:t>
            </a:r>
          </a:p>
          <a:p>
            <a:pPr>
              <a:lnSpc>
                <a:spcPts val="2480"/>
              </a:lnSpc>
              <a:spcBef>
                <a:spcPts val="0"/>
              </a:spcBef>
              <a:spcAft>
                <a:spcPts val="0"/>
              </a:spcAft>
              <a:defRPr sz="2000" b="0">
                <a:solidFill>
                  <a:srgbClr val="193540"/>
                </a:solidFill>
                <a:latin typeface="DejaVu Sans"/>
              </a:defRPr>
            </a:pPr>
            <a:r>
              <a:t>skillnaden i ett historiskt exempel.</a:t>
            </a:r>
          </a:p>
        </p:txBody>
      </p:sp>
      <p:sp>
        <p:nvSpPr>
          <p:cNvPr id="8" name="TextBox 7"/>
          <p:cNvSpPr txBox="1"/>
          <p:nvPr/>
        </p:nvSpPr>
        <p:spPr>
          <a:xfrm>
            <a:off x="603504" y="42672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Visa kostnaden i kronor tillsammans med öre per kilowattimme. Det hjälper</a:t>
            </a:r>
          </a:p>
          <a:p>
            <a:pPr>
              <a:lnSpc>
                <a:spcPts val="2480"/>
              </a:lnSpc>
              <a:spcBef>
                <a:spcPts val="0"/>
              </a:spcBef>
              <a:spcAft>
                <a:spcPts val="0"/>
              </a:spcAft>
              <a:defRPr sz="2000" b="0">
                <a:solidFill>
                  <a:srgbClr val="193540"/>
                </a:solidFill>
                <a:latin typeface="DejaVu Sans"/>
              </a:defRPr>
            </a:pPr>
            <a:r>
              <a:t>kunden att förstå storleksordningen. Säg exakt vilka delar du har räknat med.</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Kundfall: trygghet under vintern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379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Exempelhushållet har eluppvärmning och använder mycket mer el under kalla</a:t>
            </a:r>
          </a:p>
          <a:p>
            <a:pPr>
              <a:lnSpc>
                <a:spcPts val="2480"/>
              </a:lnSpc>
              <a:spcBef>
                <a:spcPts val="0"/>
              </a:spcBef>
              <a:spcAft>
                <a:spcPts val="0"/>
              </a:spcAft>
              <a:defRPr sz="2000" b="0">
                <a:solidFill>
                  <a:srgbClr val="193540"/>
                </a:solidFill>
                <a:latin typeface="DejaVu Sans"/>
              </a:defRPr>
            </a:pPr>
            <a:r>
              <a:t>månader. Kunden vill ha större förutsägbarhet just då men kan acceptera ett</a:t>
            </a:r>
          </a:p>
          <a:p>
            <a:pPr>
              <a:lnSpc>
                <a:spcPts val="2480"/>
              </a:lnSpc>
              <a:spcBef>
                <a:spcPts val="0"/>
              </a:spcBef>
              <a:spcAft>
                <a:spcPts val="0"/>
              </a:spcAft>
              <a:defRPr sz="2000" b="0">
                <a:solidFill>
                  <a:srgbClr val="193540"/>
                </a:solidFill>
                <a:latin typeface="DejaVu Sans"/>
              </a:defRPr>
            </a:pPr>
            <a:r>
              <a:t>marknadsföljande pris på sommaren.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Påminn om att högre vinterförbrukning fortfarande ger högre kostnad även</a:t>
            </a:r>
          </a:p>
          <a:p>
            <a:pPr>
              <a:lnSpc>
                <a:spcPts val="2480"/>
              </a:lnSpc>
              <a:spcBef>
                <a:spcPts val="0"/>
              </a:spcBef>
              <a:spcAft>
                <a:spcPts val="0"/>
              </a:spcAft>
              <a:defRPr sz="2000" b="0">
                <a:solidFill>
                  <a:srgbClr val="193540"/>
                </a:solidFill>
                <a:latin typeface="DejaVu Sans"/>
              </a:defRPr>
            </a:pPr>
            <a:r>
              <a:t>när priset per kWh är fast på vinterdelen. Fast pris på energihandeln betyder</a:t>
            </a:r>
          </a:p>
          <a:p>
            <a:pPr>
              <a:lnSpc>
                <a:spcPts val="2480"/>
              </a:lnSpc>
              <a:spcBef>
                <a:spcPts val="0"/>
              </a:spcBef>
              <a:spcAft>
                <a:spcPts val="0"/>
              </a:spcAft>
              <a:defRPr sz="2000" b="0">
                <a:solidFill>
                  <a:srgbClr val="193540"/>
                </a:solidFill>
                <a:latin typeface="DejaVu Sans"/>
              </a:defRPr>
            </a:pPr>
            <a:r>
              <a:t>inte samma faktura.</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Jämför också med Fastpris om kunden önskar förutsägbarhet under hela</a:t>
            </a:r>
          </a:p>
          <a:p>
            <a:pPr>
              <a:lnSpc>
                <a:spcPts val="2480"/>
              </a:lnSpc>
              <a:spcBef>
                <a:spcPts val="0"/>
              </a:spcBef>
              <a:spcAft>
                <a:spcPts val="0"/>
              </a:spcAft>
              <a:defRPr sz="2000" b="0">
                <a:solidFill>
                  <a:srgbClr val="193540"/>
                </a:solidFill>
                <a:latin typeface="DejaVu Sans"/>
              </a:defRPr>
            </a:pPr>
            <a:r>
              <a:t>avtalsperioden. Håll jämförelsen neutral: ett fast pris kan bli mindre</a:t>
            </a:r>
          </a:p>
          <a:p>
            <a:pPr>
              <a:lnSpc>
                <a:spcPts val="2480"/>
              </a:lnSpc>
              <a:spcBef>
                <a:spcPts val="0"/>
              </a:spcBef>
              <a:spcAft>
                <a:spcPts val="0"/>
              </a:spcAft>
              <a:defRPr sz="2000" b="0">
                <a:solidFill>
                  <a:srgbClr val="193540"/>
                </a:solidFill>
                <a:latin typeface="DejaVu Sans"/>
              </a:defRPr>
            </a:pPr>
            <a:r>
              <a:t>fördelaktigt när marknaden faller.</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Ett fiktivt telefonrollspel · 1/2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380</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Säljare: ”Vad skulle du framför allt vilja få bättre kontroll på i ditt elavtal?”</a:t>
            </a:r>
          </a:p>
          <a:p>
            <a:pPr>
              <a:lnSpc>
                <a:spcPts val="2480"/>
              </a:lnSpc>
              <a:spcBef>
                <a:spcPts val="0"/>
              </a:spcBef>
              <a:spcAft>
                <a:spcPts val="0"/>
              </a:spcAft>
              <a:defRPr sz="2000" b="0">
                <a:solidFill>
                  <a:srgbClr val="193540"/>
                </a:solidFill>
                <a:latin typeface="DejaVu Sans"/>
              </a:defRPr>
            </a:pPr>
            <a:r>
              <a:t>Kund: ”Jag oroar mig för vinterns räkningar.” Säljare: ”Är det främst att priset</a:t>
            </a:r>
          </a:p>
          <a:p>
            <a:pPr>
              <a:lnSpc>
                <a:spcPts val="2480"/>
              </a:lnSpc>
              <a:spcBef>
                <a:spcPts val="0"/>
              </a:spcBef>
              <a:spcAft>
                <a:spcPts val="0"/>
              </a:spcAft>
              <a:defRPr sz="2000" b="0">
                <a:solidFill>
                  <a:srgbClr val="193540"/>
                </a:solidFill>
                <a:latin typeface="DejaVu Sans"/>
              </a:defRPr>
            </a:pPr>
            <a:r>
              <a:t>kan stiga, eller att huset använder mer el när det är kallt?” Kund: ”Båda, men</a:t>
            </a:r>
          </a:p>
          <a:p>
            <a:pPr>
              <a:lnSpc>
                <a:spcPts val="2480"/>
              </a:lnSpc>
              <a:spcBef>
                <a:spcPts val="0"/>
              </a:spcBef>
              <a:spcAft>
                <a:spcPts val="0"/>
              </a:spcAft>
              <a:defRPr sz="2000" b="0">
                <a:solidFill>
                  <a:srgbClr val="193540"/>
                </a:solidFill>
                <a:latin typeface="DejaVu Sans"/>
              </a:defRPr>
            </a:pPr>
            <a:r>
              <a:t>jag vill förstå vad jag kan bestämma i förväg.”</a:t>
            </a:r>
          </a:p>
        </p:txBody>
      </p:sp>
      <p:sp>
        <p:nvSpPr>
          <p:cNvPr id="7" name="TextBox 6"/>
          <p:cNvSpPr txBox="1"/>
          <p:nvPr/>
        </p:nvSpPr>
        <p:spPr>
          <a:xfrm>
            <a:off x="603504" y="352298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Säljare: ”Då börjar vi med pris och mängd var för sig. Ett fast</a:t>
            </a:r>
          </a:p>
          <a:p>
            <a:pPr>
              <a:lnSpc>
                <a:spcPts val="2480"/>
              </a:lnSpc>
              <a:spcBef>
                <a:spcPts val="0"/>
              </a:spcBef>
              <a:spcAft>
                <a:spcPts val="0"/>
              </a:spcAft>
              <a:defRPr sz="2000" b="0">
                <a:solidFill>
                  <a:srgbClr val="193540"/>
                </a:solidFill>
                <a:latin typeface="DejaVu Sans"/>
              </a:defRPr>
            </a:pPr>
            <a:r>
              <a:t>energihandelspris gör den delen mer förutsägbar per kilowattimme. Använder</a:t>
            </a:r>
          </a:p>
          <a:p>
            <a:pPr>
              <a:lnSpc>
                <a:spcPts val="2480"/>
              </a:lnSpc>
              <a:spcBef>
                <a:spcPts val="0"/>
              </a:spcBef>
              <a:spcAft>
                <a:spcPts val="0"/>
              </a:spcAft>
              <a:defRPr sz="2000" b="0">
                <a:solidFill>
                  <a:srgbClr val="193540"/>
                </a:solidFill>
                <a:latin typeface="DejaVu Sans"/>
              </a:defRPr>
            </a:pPr>
            <a:r>
              <a:t>huset mer el blir kostnaden ändå högre.</a:t>
            </a:r>
          </a:p>
        </p:txBody>
      </p:sp>
      <p:sp>
        <p:nvSpPr>
          <p:cNvPr id="8" name="TextBox 7"/>
          <p:cNvSpPr txBox="1"/>
          <p:nvPr/>
        </p:nvSpPr>
        <p:spPr>
          <a:xfrm>
            <a:off x="603504" y="45821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Säljare: ”Precis. Förbrukningen varierar, och elnät, skatt och moms är andra</a:t>
            </a:r>
          </a:p>
          <a:p>
            <a:pPr>
              <a:lnSpc>
                <a:spcPts val="2480"/>
              </a:lnSpc>
              <a:spcBef>
                <a:spcPts val="0"/>
              </a:spcBef>
              <a:spcAft>
                <a:spcPts val="0"/>
              </a:spcAft>
              <a:defRPr sz="2000" b="0">
                <a:solidFill>
                  <a:srgbClr val="193540"/>
                </a:solidFill>
                <a:latin typeface="DejaVu Sans"/>
              </a:defRPr>
            </a:pPr>
            <a:r>
              <a:t>delar av räkningen. Vi går igenom aktuella månader, prisomfattning och</a:t>
            </a:r>
          </a:p>
          <a:p>
            <a:pPr>
              <a:lnSpc>
                <a:spcPts val="2480"/>
              </a:lnSpc>
              <a:spcBef>
                <a:spcPts val="0"/>
              </a:spcBef>
              <a:spcAft>
                <a:spcPts val="0"/>
              </a:spcAft>
              <a:defRPr sz="2000" b="0">
                <a:solidFill>
                  <a:srgbClr val="193540"/>
                </a:solidFill>
                <a:latin typeface="DejaVu Sans"/>
              </a:defRPr>
            </a:pPr>
            <a:r>
              <a:t>villkor i erbjudandet.</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Ett fiktivt telefonrollspel · 2/2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Detta är ett manus för träning, inte ett verkligt lyckat kundsamtal. Det</a:t>
            </a:r>
          </a:p>
          <a:p>
            <a:pPr>
              <a:lnSpc>
                <a:spcPts val="2480"/>
              </a:lnSpc>
              <a:spcBef>
                <a:spcPts val="0"/>
              </a:spcBef>
              <a:spcAft>
                <a:spcPts val="0"/>
              </a:spcAft>
              <a:defRPr sz="2000" b="0">
                <a:solidFill>
                  <a:srgbClr val="193540"/>
                </a:solidFill>
                <a:latin typeface="DejaVu Sans"/>
              </a:defRPr>
            </a:pPr>
            <a:r>
              <a:t>lyckade momentet är att kunden kan återge modellen.</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Analysera lyckade samtal metodiskt · 1/2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När ett verkligt samtal har lagts till i det befintliga B2C-biblioteket, lyssna först</a:t>
            </a:r>
          </a:p>
          <a:p>
            <a:pPr>
              <a:lnSpc>
                <a:spcPts val="2480"/>
              </a:lnSpc>
              <a:spcBef>
                <a:spcPts val="0"/>
              </a:spcBef>
              <a:spcAft>
                <a:spcPts val="0"/>
              </a:spcAft>
              <a:defRPr sz="2000" b="0">
                <a:solidFill>
                  <a:srgbClr val="193540"/>
                </a:solidFill>
                <a:latin typeface="DejaVu Sans"/>
              </a:defRPr>
            </a:pPr>
            <a:r>
              <a:t>efter kundens behov innan du bedömer produktförklaringen. Anteckna vilka</a:t>
            </a:r>
          </a:p>
          <a:p>
            <a:pPr>
              <a:lnSpc>
                <a:spcPts val="2480"/>
              </a:lnSpc>
              <a:spcBef>
                <a:spcPts val="0"/>
              </a:spcBef>
              <a:spcAft>
                <a:spcPts val="0"/>
              </a:spcAft>
              <a:defRPr sz="2000" b="0">
                <a:solidFill>
                  <a:srgbClr val="193540"/>
                </a:solidFill>
                <a:latin typeface="DejaVu Sans"/>
              </a:defRPr>
            </a:pPr>
            <a:r>
              <a:t>frågor som gjorde behovet tydligt.</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Välj en kort, meningsfull sekvens för diskussion. Beskriv varför den fungerade</a:t>
            </a:r>
          </a:p>
          <a:p>
            <a:pPr>
              <a:lnSpc>
                <a:spcPts val="2480"/>
              </a:lnSpc>
              <a:spcBef>
                <a:spcPts val="0"/>
              </a:spcBef>
              <a:spcAft>
                <a:spcPts val="0"/>
              </a:spcAft>
              <a:defRPr sz="2000" b="0">
                <a:solidFill>
                  <a:srgbClr val="193540"/>
                </a:solidFill>
                <a:latin typeface="DejaVu Sans"/>
              </a:defRPr>
            </a:pPr>
            <a:r>
              <a:t>och hur principen kan användas i nästa samtal. Ett avtal som tecknas är inte</a:t>
            </a:r>
          </a:p>
          <a:p>
            <a:pPr>
              <a:lnSpc>
                <a:spcPts val="2480"/>
              </a:lnSpc>
              <a:spcBef>
                <a:spcPts val="0"/>
              </a:spcBef>
              <a:spcAft>
                <a:spcPts val="0"/>
              </a:spcAft>
              <a:defRPr sz="2000" b="0">
                <a:solidFill>
                  <a:srgbClr val="193540"/>
                </a:solidFill>
                <a:latin typeface="DejaVu Sans"/>
              </a:defRPr>
            </a:pPr>
            <a:r>
              <a:t>ensamt ett bevis på att förklaringen var korrekt.</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Följ verksamhetens godkända rutiner för att använda och dela riktiga</a:t>
            </a:r>
          </a:p>
          <a:p>
            <a:pPr>
              <a:lnSpc>
                <a:spcPts val="2480"/>
              </a:lnSpc>
              <a:spcBef>
                <a:spcPts val="0"/>
              </a:spcBef>
              <a:spcAft>
                <a:spcPts val="0"/>
              </a:spcAft>
              <a:defRPr sz="2000" b="0">
                <a:solidFill>
                  <a:srgbClr val="193540"/>
                </a:solidFill>
                <a:latin typeface="DejaVu Sans"/>
              </a:defRPr>
            </a:pPr>
            <a:r>
              <a:t>inspelningar. Bibliotekets lokala lagring innebär inte att ljudfilen automatiskt</a:t>
            </a:r>
          </a:p>
          <a:p>
            <a:pPr>
              <a:lnSpc>
                <a:spcPts val="2480"/>
              </a:lnSpc>
              <a:spcBef>
                <a:spcPts val="0"/>
              </a:spcBef>
              <a:spcAft>
                <a:spcPts val="0"/>
              </a:spcAft>
              <a:defRPr sz="2000" b="0">
                <a:solidFill>
                  <a:srgbClr val="193540"/>
                </a:solidFill>
                <a:latin typeface="DejaVu Sans"/>
              </a:defRPr>
            </a:pPr>
            <a:r>
              <a:t>delas med andra deltagare.</a:t>
            </a:r>
          </a:p>
        </p:txBody>
      </p:sp>
      <p:sp>
        <p:nvSpPr>
          <p:cNvPr id="9" name="TextBox 8"/>
          <p:cNvSpPr txBox="1"/>
          <p:nvPr/>
        </p:nvSpPr>
        <p:spPr>
          <a:xfrm>
            <a:off x="603504" y="53263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Vilka behov kom fram och genom vilka frågor?</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FÖRSTÅ</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Analysera lyckade samtal metodiskt · 2/2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Vilken del av priset förklarades och vilken risk nämndes?</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Vad visade att kunden förstod?</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Vilken formulering kan förbättras och varför?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Vad blir ett tydligt nästa steg enligt den faktiska processen?</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Litet hushåll: avgiften förändrar jämförelsen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Syntetiska energihandelspriser med jämförbara komponenter och samma</a:t>
            </a:r>
          </a:p>
          <a:p>
            <a:pPr>
              <a:lnSpc>
                <a:spcPts val="2480"/>
              </a:lnSpc>
              <a:spcBef>
                <a:spcPts val="0"/>
              </a:spcBef>
              <a:spcAft>
                <a:spcPts val="0"/>
              </a:spcAft>
              <a:defRPr sz="2000" b="0">
                <a:solidFill>
                  <a:srgbClr val="193540"/>
                </a:solidFill>
                <a:latin typeface="DejaVu Sans"/>
              </a:defRPr>
            </a:pPr>
            <a:r>
              <a:t>årsvolym. Elnät, skatt och moms uteslutna. Ingen faktisk offert.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Årsförbrukning: 2 000 kWh.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90 öre/kWh och 49 kr/månad.</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100 öre/kWh och 19 kr/månad.</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Litet hushåll: avgiften förändrar</a:t>
            </a:r>
          </a:p>
          <a:p>
            <a:pPr>
              <a:lnSpc>
                <a:spcPts val="3472"/>
              </a:lnSpc>
              <a:spcBef>
                <a:spcPts val="0"/>
              </a:spcBef>
              <a:spcAft>
                <a:spcPts val="0"/>
              </a:spcAft>
              <a:defRPr sz="2800" b="1">
                <a:solidFill>
                  <a:srgbClr val="193540"/>
                </a:solidFill>
                <a:latin typeface="DejaVu Sans"/>
              </a:defRPr>
            </a:pPr>
            <a:r>
              <a:t>jämförelsen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A:s energi: 2 000 × 0,90 = 1 800 kr. Avgift: 49 × 12 = 588 kr. Totalt:</a:t>
            </a:r>
          </a:p>
          <a:p>
            <a:pPr>
              <a:lnSpc>
                <a:spcPts val="2480"/>
              </a:lnSpc>
              <a:spcBef>
                <a:spcPts val="0"/>
              </a:spcBef>
              <a:spcAft>
                <a:spcPts val="0"/>
              </a:spcAft>
              <a:defRPr sz="2000" b="0">
                <a:solidFill>
                  <a:srgbClr val="193540"/>
                </a:solidFill>
                <a:latin typeface="DejaVu Sans"/>
              </a:defRPr>
            </a:pPr>
            <a:r>
              <a:t>2 388 kr.</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B:s energi: 2 000 × 1,00 = 2 000 kr. Avgift: 19 × 12 = 228 kr. Totalt:</a:t>
            </a:r>
          </a:p>
          <a:p>
            <a:pPr>
              <a:lnSpc>
                <a:spcPts val="2480"/>
              </a:lnSpc>
              <a:spcBef>
                <a:spcPts val="0"/>
              </a:spcBef>
              <a:spcAft>
                <a:spcPts val="0"/>
              </a:spcAft>
              <a:defRPr sz="2000" b="0">
                <a:solidFill>
                  <a:srgbClr val="193540"/>
                </a:solidFill>
                <a:latin typeface="DejaVu Sans"/>
              </a:defRPr>
            </a:pPr>
            <a:r>
              <a:t>2 228 kr.</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2 388 − 2 228 = 160 kr.</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B är 160 kr lägre under exemplet trots högre energipris.</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RÄKNA FÖRST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Opti jämför två hela månadsutfall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386</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illustration av Optis jämförelse. Samma 2 000 kWh och samma</a:t>
            </a:r>
          </a:p>
          <a:p>
            <a:pPr>
              <a:lnSpc>
                <a:spcPts val="2480"/>
              </a:lnSpc>
              <a:spcBef>
                <a:spcPts val="0"/>
              </a:spcBef>
              <a:spcAft>
                <a:spcPts val="0"/>
              </a:spcAft>
              <a:defRPr sz="2000" b="0">
                <a:solidFill>
                  <a:srgbClr val="193540"/>
                </a:solidFill>
                <a:latin typeface="DejaVu Sans"/>
              </a:defRPr>
            </a:pPr>
            <a:r>
              <a:t>omfattade priskomponenter; inga övriga avgifter eller skatter.</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Månadens faktiska förbrukningsvägda kvartspris på jämförelsebasen:</a:t>
            </a:r>
          </a:p>
          <a:p>
            <a:pPr>
              <a:lnSpc>
                <a:spcPts val="2480"/>
              </a:lnSpc>
              <a:spcBef>
                <a:spcPts val="0"/>
              </a:spcBef>
              <a:spcAft>
                <a:spcPts val="0"/>
              </a:spcAft>
              <a:defRPr sz="2000" b="0">
                <a:solidFill>
                  <a:srgbClr val="193540"/>
                </a:solidFill>
                <a:latin typeface="DejaVu Sans"/>
              </a:defRPr>
            </a:pPr>
            <a:r>
              <a:t>110 öre/kWh.</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Avtalets rörliga månadspris på samma bas: 95 öre/kWh.</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Månadsvolym: 2 000 kWh.</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MELLANLED OCH RESULTAT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Lösning: Opti jämför två hela månadsutfall</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387</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1. Kvartsutfallet: 2 000 × 1,10 = 2 200 kr.</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2. Rörligt månadsutfall: 2 000 × 0,95 = 1 900 kr.</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3. Det lägre månadsutfallet i jämförelsen är 1 900 kr. Skillnaden är 300 kr.</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Resultat: Månadsmodellen ger det lägre utfallet i just detta exempel.</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Med laddbox är Kvartspris alltid billigast.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Utfallet beror på framtida priser, faktisk förbrukningsfördelning</a:t>
            </a:r>
          </a:p>
          <a:p>
            <a:pPr>
              <a:lnSpc>
                <a:spcPts val="2480"/>
              </a:lnSpc>
              <a:spcBef>
                <a:spcPts val="0"/>
              </a:spcBef>
              <a:spcAft>
                <a:spcPts val="0"/>
              </a:spcAft>
              <a:defRPr sz="2000" b="0">
                <a:solidFill>
                  <a:srgbClr val="193540"/>
                </a:solidFill>
                <a:latin typeface="DejaVu Sans"/>
              </a:defRPr>
            </a:pPr>
            <a:r>
              <a:t>och möjlig styrning. Laddboxen garanterar ingen besparing.</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389</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Opti väljer lägsta pris varje kvart.</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Opti jämför två hela månadsutfall för samma volym och</a:t>
            </a:r>
          </a:p>
          <a:p>
            <a:pPr>
              <a:lnSpc>
                <a:spcPts val="2480"/>
              </a:lnSpc>
              <a:spcBef>
                <a:spcPts val="0"/>
              </a:spcBef>
              <a:spcAft>
                <a:spcPts val="0"/>
              </a:spcAft>
              <a:defRPr sz="2000" b="0">
                <a:solidFill>
                  <a:srgbClr val="193540"/>
                </a:solidFill>
                <a:latin typeface="DejaVu Sans"/>
              </a:defRPr>
            </a:pPr>
            <a:r>
              <a:t>omfattning.</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KONTROLLERA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Pröva påståendet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390</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Vintersäkrat ger samma räkning under vintermånaderna.</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Korrigering: Priset på vinterdelens energihandel är fast enligt avtalet.</a:t>
            </a:r>
          </a:p>
          <a:p>
            <a:pPr>
              <a:lnSpc>
                <a:spcPts val="2480"/>
              </a:lnSpc>
              <a:spcBef>
                <a:spcPts val="0"/>
              </a:spcBef>
              <a:spcAft>
                <a:spcPts val="0"/>
              </a:spcAft>
              <a:defRPr sz="2000" b="0">
                <a:solidFill>
                  <a:srgbClr val="193540"/>
                </a:solidFill>
                <a:latin typeface="DejaVu Sans"/>
              </a:defRPr>
            </a:pPr>
            <a:r>
              <a:t>Förbrukningen och andra fakturadelar påverkar beloppet.</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KUNDDIALOG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Förklara för kunden</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391</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 väljer avtalsmodell utifrån hur du använder el, hur mycket du kan flytta och</a:t>
            </a:r>
          </a:p>
          <a:p>
            <a:pPr>
              <a:lnSpc>
                <a:spcPts val="2480"/>
              </a:lnSpc>
              <a:spcBef>
                <a:spcPts val="0"/>
              </a:spcBef>
              <a:spcAft>
                <a:spcPts val="0"/>
              </a:spcAft>
              <a:defRPr sz="2000" b="0">
                <a:solidFill>
                  <a:srgbClr val="193540"/>
                </a:solidFill>
                <a:latin typeface="DejaVu Sans"/>
              </a:defRPr>
            </a:pPr>
            <a:r>
              <a:t>hur stor prisvariation du vill acceptera. Sedan visar vi vad priset omfattar och</a:t>
            </a:r>
          </a:p>
          <a:p>
            <a:pPr>
              <a:lnSpc>
                <a:spcPts val="2480"/>
              </a:lnSpc>
              <a:spcBef>
                <a:spcPts val="0"/>
              </a:spcBef>
              <a:spcAft>
                <a:spcPts val="0"/>
              </a:spcAft>
              <a:defRPr sz="2000" b="0">
                <a:solidFill>
                  <a:srgbClr val="193540"/>
                </a:solidFill>
                <a:latin typeface="DejaVu Sans"/>
              </a:defRPr>
            </a:pPr>
            <a:r>
              <a:t>vad som fortfarande kan ändras. Ett fast pris per kilowattimme betyder inte</a:t>
            </a:r>
          </a:p>
          <a:p>
            <a:pPr>
              <a:lnSpc>
                <a:spcPts val="2480"/>
              </a:lnSpc>
              <a:spcBef>
                <a:spcPts val="0"/>
              </a:spcBef>
              <a:spcAft>
                <a:spcPts val="0"/>
              </a:spcAft>
              <a:defRPr sz="2000" b="0">
                <a:solidFill>
                  <a:srgbClr val="193540"/>
                </a:solidFill>
                <a:latin typeface="DejaVu Sans"/>
              </a:defRPr>
            </a:pPr>
            <a:r>
              <a:t>att räkningen blir lika stor varje månad.</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TRÄNA FÖRE FACIT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Exempelvillan vill ha både låg kostnad och</a:t>
            </a:r>
          </a:p>
          <a:p>
            <a:pPr>
              <a:lnSpc>
                <a:spcPts val="3472"/>
              </a:lnSpc>
              <a:spcBef>
                <a:spcPts val="0"/>
              </a:spcBef>
              <a:spcAft>
                <a:spcPts val="0"/>
              </a:spcAft>
              <a:defRPr sz="2800" b="1">
                <a:solidFill>
                  <a:srgbClr val="193540"/>
                </a:solidFill>
                <a:latin typeface="DejaVu Sans"/>
              </a:defRPr>
            </a:pPr>
            <a:r>
              <a:t>vintertrygghet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392</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Fiktiva Exempelvillan använder 18 000 kWh om året. Huset har värmepump</a:t>
            </a:r>
          </a:p>
          <a:p>
            <a:pPr>
              <a:lnSpc>
                <a:spcPts val="2480"/>
              </a:lnSpc>
              <a:spcBef>
                <a:spcPts val="0"/>
              </a:spcBef>
              <a:spcAft>
                <a:spcPts val="0"/>
              </a:spcAft>
              <a:defRPr sz="2000" b="0">
                <a:solidFill>
                  <a:srgbClr val="193540"/>
                </a:solidFill>
                <a:latin typeface="DejaVu Sans"/>
              </a:defRPr>
            </a:pPr>
            <a:r>
              <a:t>och elbil. Kunden kan flytta en del laddning men vill slippa stora</a:t>
            </a:r>
          </a:p>
          <a:p>
            <a:pPr>
              <a:lnSpc>
                <a:spcPts val="2480"/>
              </a:lnSpc>
              <a:spcBef>
                <a:spcPts val="0"/>
              </a:spcBef>
              <a:spcAft>
                <a:spcPts val="0"/>
              </a:spcAft>
              <a:defRPr sz="2000" b="0">
                <a:solidFill>
                  <a:srgbClr val="193540"/>
                </a:solidFill>
                <a:latin typeface="DejaVu Sans"/>
              </a:defRPr>
            </a:pPr>
            <a:r>
              <a:t>prisöverraskningar på vintern. Kunden tror att Opti alltid ger lägsta priset på</a:t>
            </a:r>
          </a:p>
          <a:p>
            <a:pPr>
              <a:lnSpc>
                <a:spcPts val="2480"/>
              </a:lnSpc>
              <a:spcBef>
                <a:spcPts val="0"/>
              </a:spcBef>
              <a:spcAft>
                <a:spcPts val="0"/>
              </a:spcAft>
              <a:defRPr sz="2000" b="0">
                <a:solidFill>
                  <a:srgbClr val="193540"/>
                </a:solidFill>
                <a:latin typeface="DejaVu Sans"/>
              </a:defRPr>
            </a:pPr>
            <a:r>
              <a:t>hela marknaden och att Vintersäkrat betyder samma faktura.</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Ställ fyra behovsfrågor innan du väljer modell.</a:t>
            </a:r>
          </a:p>
        </p:txBody>
      </p:sp>
      <p:sp>
        <p:nvSpPr>
          <p:cNvPr id="8" name="TextBox 7"/>
          <p:cNvSpPr txBox="1"/>
          <p:nvPr/>
        </p:nvSpPr>
        <p:spPr>
          <a:xfrm>
            <a:off x="603504" y="39522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Korrigera båda missförstånden med vardagliga ord.</a:t>
            </a:r>
          </a:p>
        </p:txBody>
      </p:sp>
      <p:sp>
        <p:nvSpPr>
          <p:cNvPr id="9" name="TextBox 8"/>
          <p:cNvSpPr txBox="1"/>
          <p:nvPr/>
        </p:nvSpPr>
        <p:spPr>
          <a:xfrm>
            <a:off x="603504" y="438149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Ge två relevanta alternativ och förklara vad som skulle tala för vart och ett.</a:t>
            </a:r>
          </a:p>
        </p:txBody>
      </p:sp>
      <p:sp>
        <p:nvSpPr>
          <p:cNvPr id="10" name="TextBox 9"/>
          <p:cNvSpPr txBox="1"/>
          <p:nvPr/>
        </p:nvSpPr>
        <p:spPr>
          <a:xfrm>
            <a:off x="603504" y="481075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Skriv en fråga som kontrollerar kundens förståelse.</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FACIT OCH RESONEMANG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Bedöm kundfallet</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Utgår från hushållets faktiska förbrukning och styrmöjlighet.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Avgränsar Optis månadsjämförelse korrekt.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Skiljer fast vinterpris från fakturabelopp.</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Beskriver alternativen och riskerna utan garanti om billigast utfall.</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Använder en öppen förståelsefråga.</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Vilket påstående är mest korrekt för en kund med laddbox?</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Kvartspris blir alltid billigast.</a:t>
            </a:r>
          </a:p>
        </p:txBody>
      </p:sp>
      <p:sp>
        <p:nvSpPr>
          <p:cNvPr id="8" name="TextBox 7"/>
          <p:cNvSpPr txBox="1"/>
          <p:nvPr/>
        </p:nvSpPr>
        <p:spPr>
          <a:xfrm>
            <a:off x="603504" y="30073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Flyttbar laddning kan vara relevant, men utfallet beror på priser och</a:t>
            </a:r>
          </a:p>
          <a:p>
            <a:pPr>
              <a:lnSpc>
                <a:spcPts val="2480"/>
              </a:lnSpc>
              <a:spcBef>
                <a:spcPts val="0"/>
              </a:spcBef>
              <a:spcAft>
                <a:spcPts val="0"/>
              </a:spcAft>
              <a:defRPr sz="2000" b="0">
                <a:solidFill>
                  <a:srgbClr val="193540"/>
                </a:solidFill>
                <a:latin typeface="DejaVu Sans"/>
              </a:defRPr>
            </a:pPr>
            <a:r>
              <a:t>kundens användning.</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Alla hushållets kilowattimmar kan automatiskt flyttas till natten.</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395</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årsavgift motsvarar 49 kr per månad?</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 per år.</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Vad kännetecknar en korrekt analys av ett lyckat samtal?</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Bara att kunden accepterade ett avtal.</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Att säljaren pratade längst.</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Att behov, prisomfattning, risk och kundens förståelse blev tydliga.</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Kontrollfråga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två meningar som förklarar Opti utan att säga att det alltid är billigast</a:t>
            </a:r>
          </a:p>
          <a:p>
            <a:pPr>
              <a:lnSpc>
                <a:spcPts val="2480"/>
              </a:lnSpc>
              <a:spcBef>
                <a:spcPts val="0"/>
              </a:spcBef>
              <a:spcAft>
                <a:spcPts val="0"/>
              </a:spcAft>
              <a:defRPr sz="2000" b="0">
                <a:solidFill>
                  <a:srgbClr val="193540"/>
                </a:solidFill>
                <a:latin typeface="DejaVu Sans"/>
              </a:defRPr>
            </a:pPr>
            <a:r>
              <a:t>på marknaden.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18 · REPETERA</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Ta med dig</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398</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Fråga om vardag, budget och styrbar förbrukning.</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Visa öre/kWh och kronor på samma jämförelsebas.</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Förklara varje produkts omfattning och risk.</a:t>
            </a:r>
          </a:p>
        </p:txBody>
      </p:sp>
      <p:sp>
        <p:nvSpPr>
          <p:cNvPr id="9" name="TextBox 8"/>
          <p:cNvSpPr txBox="1"/>
          <p:nvPr/>
        </p:nvSpPr>
        <p:spPr>
          <a:xfrm>
            <a:off x="603504" y="34366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 kunden återge modellen med egna ord.</a:t>
            </a:r>
          </a:p>
        </p:txBody>
      </p:sp>
      <p:sp>
        <p:nvSpPr>
          <p:cNvPr id="10" name="TextBox 9"/>
          <p:cNvSpPr txBox="1"/>
          <p:nvPr/>
        </p:nvSpPr>
        <p:spPr>
          <a:xfrm>
            <a:off x="603504" y="38658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Bedöm samtalskvalitet genom förståelse och korrekt innehåll.</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399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kW, kilowatt — Enhet för effekt: hur snabbt energi används eller produceras i</a:t>
            </a:r>
          </a:p>
          <a:p>
            <a:pPr>
              <a:lnSpc>
                <a:spcPts val="2480"/>
              </a:lnSpc>
              <a:spcBef>
                <a:spcPts val="0"/>
              </a:spcBef>
              <a:spcAft>
                <a:spcPts val="0"/>
              </a:spcAft>
              <a:defRPr sz="2000" b="0">
                <a:solidFill>
                  <a:srgbClr val="193540"/>
                </a:solidFill>
                <a:latin typeface="DejaVu Sans"/>
              </a:defRPr>
            </a:pPr>
            <a:r>
              <a:t>ett ögonblick. En apparat på 4 kW som används i två timmar använder 8 kWh</a:t>
            </a:r>
          </a:p>
          <a:p>
            <a:pPr>
              <a:lnSpc>
                <a:spcPts val="2480"/>
              </a:lnSpc>
              <a:spcBef>
                <a:spcPts val="0"/>
              </a:spcBef>
              <a:spcAft>
                <a:spcPts val="0"/>
              </a:spcAft>
              <a:defRPr sz="2000" b="0">
                <a:solidFill>
                  <a:srgbClr val="193540"/>
                </a:solidFill>
                <a:latin typeface="DejaVu Sans"/>
              </a:defRPr>
            </a:pPr>
            <a:r>
              <a:t>om effekten är konstant.</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kWh, kilowattimme — Enhet för energi: mängden el som används eller</a:t>
            </a:r>
          </a:p>
          <a:p>
            <a:pPr>
              <a:lnSpc>
                <a:spcPts val="2480"/>
              </a:lnSpc>
              <a:spcBef>
                <a:spcPts val="0"/>
              </a:spcBef>
              <a:spcAft>
                <a:spcPts val="0"/>
              </a:spcAft>
              <a:defRPr sz="2000" b="0">
                <a:solidFill>
                  <a:srgbClr val="193540"/>
                </a:solidFill>
                <a:latin typeface="DejaVu Sans"/>
              </a:defRPr>
            </a:pPr>
            <a:r>
              <a:t>produceras. kWh används för att multiplicera en mängd med ett pris per kWh;</a:t>
            </a:r>
          </a:p>
          <a:p>
            <a:pPr>
              <a:lnSpc>
                <a:spcPts val="2480"/>
              </a:lnSpc>
              <a:spcBef>
                <a:spcPts val="0"/>
              </a:spcBef>
              <a:spcAft>
                <a:spcPts val="0"/>
              </a:spcAft>
              <a:defRPr sz="2000" b="0">
                <a:solidFill>
                  <a:srgbClr val="193540"/>
                </a:solidFill>
                <a:latin typeface="DejaVu Sans"/>
              </a:defRPr>
            </a:pPr>
            <a:r>
              <a:t>den ska inte förväxlas med effekt i kW.</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MWh, megawattimme — Energi motsvarande 1 000 kWh. Volymuppgifter</a:t>
            </a:r>
          </a:p>
          <a:p>
            <a:pPr>
              <a:lnSpc>
                <a:spcPts val="2480"/>
              </a:lnSpc>
              <a:spcBef>
                <a:spcPts val="0"/>
              </a:spcBef>
              <a:spcAft>
                <a:spcPts val="0"/>
              </a:spcAft>
              <a:defRPr sz="2000" b="0">
                <a:solidFill>
                  <a:srgbClr val="193540"/>
                </a:solidFill>
                <a:latin typeface="DejaVu Sans"/>
              </a:defRPr>
            </a:pPr>
            <a:r>
              <a:t>måste omvandlas till samma enhet innan de jämförs eller multipliceras med</a:t>
            </a:r>
          </a:p>
          <a:p>
            <a:pPr>
              <a:lnSpc>
                <a:spcPts val="2480"/>
              </a:lnSpc>
              <a:spcBef>
                <a:spcPts val="0"/>
              </a:spcBef>
              <a:spcAft>
                <a:spcPts val="0"/>
              </a:spcAft>
              <a:defRPr sz="2000" b="0">
                <a:solidFill>
                  <a:srgbClr val="193540"/>
                </a:solidFill>
                <a:latin typeface="DejaVu Sans"/>
              </a:defRPr>
            </a:pPr>
            <a:r>
              <a:t>pris.</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Öre per kWh — Pris per energienhet. 100 öre/kWh motsvarar 1 kr/kWh. Prisets</a:t>
            </a:r>
          </a:p>
          <a:p>
            <a:pPr>
              <a:lnSpc>
                <a:spcPts val="2480"/>
              </a:lnSpc>
              <a:spcBef>
                <a:spcPts val="0"/>
              </a:spcBef>
              <a:spcAft>
                <a:spcPts val="0"/>
              </a:spcAft>
              <a:defRPr sz="2000" b="0">
                <a:solidFill>
                  <a:srgbClr val="193540"/>
                </a:solidFill>
                <a:latin typeface="DejaVu Sans"/>
              </a:defRPr>
            </a:pPr>
            <a:r>
              <a:t>omfattning måste anges: spotreferens, viss komponent eller ett definierat</a:t>
            </a:r>
          </a:p>
          <a:p>
            <a:pPr>
              <a:lnSpc>
                <a:spcPts val="2480"/>
              </a:lnSpc>
              <a:spcBef>
                <a:spcPts val="0"/>
              </a:spcBef>
              <a:spcAft>
                <a:spcPts val="0"/>
              </a:spcAft>
              <a:defRPr sz="2000" b="0">
                <a:solidFill>
                  <a:srgbClr val="193540"/>
                </a:solidFill>
                <a:latin typeface="DejaVu Sans"/>
              </a:defRPr>
            </a:pPr>
            <a:r>
              <a:t>elhandelspris.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Spotpris — Marknadspris för el i en viss leveransperiod och ett visst elområde.</a:t>
            </a:r>
          </a:p>
          <a:p>
            <a:pPr>
              <a:lnSpc>
                <a:spcPts val="2480"/>
              </a:lnSpc>
              <a:spcBef>
                <a:spcPts val="0"/>
              </a:spcBef>
              <a:spcAft>
                <a:spcPts val="0"/>
              </a:spcAft>
              <a:defRPr sz="2000" b="0">
                <a:solidFill>
                  <a:srgbClr val="193540"/>
                </a:solidFill>
                <a:latin typeface="DejaVu Sans"/>
              </a:defRPr>
            </a:pPr>
            <a:r>
              <a:t>Det är en prisreferens och inte automatiskt kundens fullständiga elhandelspris</a:t>
            </a:r>
          </a:p>
          <a:p>
            <a:pPr>
              <a:lnSpc>
                <a:spcPts val="2480"/>
              </a:lnSpc>
              <a:spcBef>
                <a:spcPts val="0"/>
              </a:spcBef>
              <a:spcAft>
                <a:spcPts val="0"/>
              </a:spcAft>
              <a:defRPr sz="2000" b="0">
                <a:solidFill>
                  <a:srgbClr val="193540"/>
                </a:solidFill>
                <a:latin typeface="DejaVu Sans"/>
              </a:defRPr>
            </a:pPr>
            <a:r>
              <a:t>eller hela elkostnad.</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Elområde — Geografiskt område med ett eget marknadspris för el. Kundens</a:t>
            </a:r>
          </a:p>
          <a:p>
            <a:pPr>
              <a:lnSpc>
                <a:spcPts val="2480"/>
              </a:lnSpc>
              <a:spcBef>
                <a:spcPts val="0"/>
              </a:spcBef>
              <a:spcAft>
                <a:spcPts val="0"/>
              </a:spcAft>
              <a:defRPr sz="2000" b="0">
                <a:solidFill>
                  <a:srgbClr val="193540"/>
                </a:solidFill>
                <a:latin typeface="DejaVu Sans"/>
              </a:defRPr>
            </a:pPr>
            <a:r>
              <a:t>anläggning måste kopplas till rätt område; ett nordiskt referenspris ersätter</a:t>
            </a:r>
          </a:p>
          <a:p>
            <a:pPr>
              <a:lnSpc>
                <a:spcPts val="2480"/>
              </a:lnSpc>
              <a:spcBef>
                <a:spcPts val="0"/>
              </a:spcBef>
              <a:spcAft>
                <a:spcPts val="0"/>
              </a:spcAft>
              <a:defRPr sz="2000" b="0">
                <a:solidFill>
                  <a:srgbClr val="193540"/>
                </a:solidFill>
                <a:latin typeface="DejaVu Sans"/>
              </a:defRPr>
            </a:pPr>
            <a:r>
              <a:t>inte områdespriset.</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Systempris, SYS — Nordiskt referenspris beräknat utan begränsningarna i</a:t>
            </a:r>
          </a:p>
          <a:p>
            <a:pPr>
              <a:lnSpc>
                <a:spcPts val="2480"/>
              </a:lnSpc>
              <a:spcBef>
                <a:spcPts val="0"/>
              </a:spcBef>
              <a:spcAft>
                <a:spcPts val="0"/>
              </a:spcAft>
              <a:defRPr sz="2000" b="0">
                <a:solidFill>
                  <a:srgbClr val="193540"/>
                </a:solidFill>
                <a:latin typeface="DejaVu Sans"/>
              </a:defRPr>
            </a:pPr>
            <a:r>
              <a:t>överföringskapacitet mellan elområdena. SYS används vid finansiell</a:t>
            </a:r>
          </a:p>
          <a:p>
            <a:pPr>
              <a:lnSpc>
                <a:spcPts val="2480"/>
              </a:lnSpc>
              <a:spcBef>
                <a:spcPts val="0"/>
              </a:spcBef>
              <a:spcAft>
                <a:spcPts val="0"/>
              </a:spcAft>
              <a:defRPr sz="2000" b="0">
                <a:solidFill>
                  <a:srgbClr val="193540"/>
                </a:solidFill>
                <a:latin typeface="DejaVu Sans"/>
              </a:defRPr>
            </a:pPr>
            <a:r>
              <a:t>prissäkring men är inte kundens lokala elpris.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EPAD — Instrument för att prissäkra skillnaden mellan ett elområdes pris och</a:t>
            </a:r>
          </a:p>
          <a:p>
            <a:pPr>
              <a:lnSpc>
                <a:spcPts val="2480"/>
              </a:lnSpc>
              <a:spcBef>
                <a:spcPts val="0"/>
              </a:spcBef>
              <a:spcAft>
                <a:spcPts val="0"/>
              </a:spcAft>
              <a:defRPr sz="2000" b="0">
                <a:solidFill>
                  <a:srgbClr val="193540"/>
                </a:solidFill>
                <a:latin typeface="DejaVu Sans"/>
              </a:defRPr>
            </a:pPr>
            <a:r>
              <a:t>systempriset för motsvarande period. EPAD och SYS behöver matcha område,</a:t>
            </a:r>
          </a:p>
          <a:p>
            <a:pPr>
              <a:lnSpc>
                <a:spcPts val="2480"/>
              </a:lnSpc>
              <a:spcBef>
                <a:spcPts val="0"/>
              </a:spcBef>
              <a:spcAft>
                <a:spcPts val="0"/>
              </a:spcAft>
              <a:defRPr sz="2000" b="0">
                <a:solidFill>
                  <a:srgbClr val="193540"/>
                </a:solidFill>
                <a:latin typeface="DejaVu Sans"/>
              </a:defRPr>
            </a:pPr>
            <a:r>
              <a:t>volym och period för avsedd referenssäkring.</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Elområdesskillnad — Skillnaden mellan priset i ett elområde och systempriset.</a:t>
            </a:r>
          </a:p>
          <a:p>
            <a:pPr>
              <a:lnSpc>
                <a:spcPts val="2480"/>
              </a:lnSpc>
              <a:spcBef>
                <a:spcPts val="0"/>
              </a:spcBef>
              <a:spcAft>
                <a:spcPts val="0"/>
              </a:spcAft>
              <a:defRPr sz="2000" b="0">
                <a:solidFill>
                  <a:srgbClr val="193540"/>
                </a:solidFill>
                <a:latin typeface="DejaVu Sans"/>
              </a:defRPr>
            </a:pPr>
            <a:r>
              <a:t>Den kan vara positiv eller negativ. Lägg inte till den en gång till ovanpå ett</a:t>
            </a:r>
          </a:p>
          <a:p>
            <a:pPr>
              <a:lnSpc>
                <a:spcPts val="2480"/>
              </a:lnSpc>
              <a:spcBef>
                <a:spcPts val="0"/>
              </a:spcBef>
              <a:spcAft>
                <a:spcPts val="0"/>
              </a:spcAft>
              <a:defRPr sz="2000" b="0">
                <a:solidFill>
                  <a:srgbClr val="193540"/>
                </a:solidFill>
                <a:latin typeface="DejaVu Sans"/>
              </a:defRPr>
            </a:pPr>
            <a:r>
              <a:t>komplett områdespris.</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Områdespris — Marknadspris för ett visst elområde och en viss period. Om en</a:t>
            </a:r>
          </a:p>
          <a:p>
            <a:pPr>
              <a:lnSpc>
                <a:spcPts val="2480"/>
              </a:lnSpc>
              <a:spcBef>
                <a:spcPts val="0"/>
              </a:spcBef>
              <a:spcAft>
                <a:spcPts val="0"/>
              </a:spcAft>
              <a:defRPr sz="2000" b="0">
                <a:solidFill>
                  <a:srgbClr val="193540"/>
                </a:solidFill>
                <a:latin typeface="DejaVu Sans"/>
              </a:defRPr>
            </a:pPr>
            <a:r>
              <a:t>prisuppgift redan är områdespriset inkluderar den skillnaden mot SYS; EPAD</a:t>
            </a:r>
          </a:p>
          <a:p>
            <a:pPr>
              <a:lnSpc>
                <a:spcPts val="2480"/>
              </a:lnSpc>
              <a:spcBef>
                <a:spcPts val="0"/>
              </a:spcBef>
              <a:spcAft>
                <a:spcPts val="0"/>
              </a:spcAft>
              <a:defRPr sz="2000" b="0">
                <a:solidFill>
                  <a:srgbClr val="193540"/>
                </a:solidFill>
                <a:latin typeface="DejaVu Sans"/>
              </a:defRPr>
            </a:pPr>
            <a:r>
              <a:t>får inte dubbelräknas.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Prissäkring — Åtgärd som bestämmer en prisnivå för definierade referenser,</a:t>
            </a:r>
          </a:p>
          <a:p>
            <a:pPr>
              <a:lnSpc>
                <a:spcPts val="2480"/>
              </a:lnSpc>
              <a:spcBef>
                <a:spcPts val="0"/>
              </a:spcBef>
              <a:spcAft>
                <a:spcPts val="0"/>
              </a:spcAft>
              <a:defRPr sz="2000" b="0">
                <a:solidFill>
                  <a:srgbClr val="193540"/>
                </a:solidFill>
                <a:latin typeface="DejaVu Sans"/>
              </a:defRPr>
            </a:pPr>
            <a:r>
              <a:t>mängder och perioder. Den minskar viss framtida prisexponering men</a:t>
            </a:r>
          </a:p>
          <a:p>
            <a:pPr>
              <a:lnSpc>
                <a:spcPts val="2480"/>
              </a:lnSpc>
              <a:spcBef>
                <a:spcPts val="0"/>
              </a:spcBef>
              <a:spcAft>
                <a:spcPts val="0"/>
              </a:spcAft>
              <a:defRPr sz="2000" b="0">
                <a:solidFill>
                  <a:srgbClr val="193540"/>
                </a:solidFill>
                <a:latin typeface="DejaVu Sans"/>
              </a:defRPr>
            </a:pPr>
            <a:r>
              <a:t>garanterar varken lägsta pris eller helt fast kundfaktura.</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Finansiellt säkringsresultat — Resultat från en genomförd finansiell säkring. I</a:t>
            </a:r>
          </a:p>
          <a:p>
            <a:pPr>
              <a:lnSpc>
                <a:spcPts val="2480"/>
              </a:lnSpc>
              <a:spcBef>
                <a:spcPts val="0"/>
              </a:spcBef>
              <a:spcAft>
                <a:spcPts val="0"/>
              </a:spcAft>
              <a:defRPr sz="2000" b="0">
                <a:solidFill>
                  <a:srgbClr val="193540"/>
                </a:solidFill>
                <a:latin typeface="DejaVu Sans"/>
              </a:defRPr>
            </a:pPr>
            <a:r>
              <a:t>kursens avgränsade principmodeller minskar ett positivt resultat elkostnaden</a:t>
            </a:r>
          </a:p>
          <a:p>
            <a:pPr>
              <a:lnSpc>
                <a:spcPts val="2480"/>
              </a:lnSpc>
              <a:spcBef>
                <a:spcPts val="0"/>
              </a:spcBef>
              <a:spcAft>
                <a:spcPts val="0"/>
              </a:spcAft>
              <a:defRPr sz="2000" b="0">
                <a:solidFill>
                  <a:srgbClr val="193540"/>
                </a:solidFill>
                <a:latin typeface="DejaVu Sans"/>
              </a:defRPr>
            </a:pPr>
            <a:r>
              <a:t>och ett negativt resultat ökar den. Kundens avräkning följer prisbilagan.</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403</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Säkrad mängd — Överenskommen eller faktiskt genomförd mängd som</a:t>
            </a:r>
          </a:p>
          <a:p>
            <a:pPr>
              <a:lnSpc>
                <a:spcPts val="2480"/>
              </a:lnSpc>
              <a:spcBef>
                <a:spcPts val="0"/>
              </a:spcBef>
              <a:spcAft>
                <a:spcPts val="0"/>
              </a:spcAft>
              <a:defRPr sz="2000" b="0">
                <a:solidFill>
                  <a:srgbClr val="193540"/>
                </a:solidFill>
                <a:latin typeface="DejaVu Sans"/>
              </a:defRPr>
            </a:pPr>
            <a:r>
              <a:t>omfattas av en viss prissäkring för en bestämd leveransperiod. Planerad</a:t>
            </a:r>
          </a:p>
          <a:p>
            <a:pPr>
              <a:lnSpc>
                <a:spcPts val="2480"/>
              </a:lnSpc>
              <a:spcBef>
                <a:spcPts val="0"/>
              </a:spcBef>
              <a:spcAft>
                <a:spcPts val="0"/>
              </a:spcAft>
              <a:defRPr sz="2000" b="0">
                <a:solidFill>
                  <a:srgbClr val="193540"/>
                </a:solidFill>
                <a:latin typeface="DejaVu Sans"/>
              </a:defRPr>
            </a:pPr>
            <a:r>
              <a:t>mängd och genomförda köp behöver hållas isär.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Förbrukningsprognos — Bedömning av framtida elbehov med</a:t>
            </a:r>
          </a:p>
          <a:p>
            <a:pPr>
              <a:lnSpc>
                <a:spcPts val="2480"/>
              </a:lnSpc>
              <a:spcBef>
                <a:spcPts val="0"/>
              </a:spcBef>
              <a:spcAft>
                <a:spcPts val="0"/>
              </a:spcAft>
              <a:defRPr sz="2000" b="0">
                <a:solidFill>
                  <a:srgbClr val="193540"/>
                </a:solidFill>
                <a:latin typeface="DejaVu Sans"/>
              </a:defRPr>
            </a:pPr>
            <a:r>
              <a:t>periodfördelning. Historik är ett underlag, men driftförändringar, egen</a:t>
            </a:r>
          </a:p>
          <a:p>
            <a:pPr>
              <a:lnSpc>
                <a:spcPts val="2480"/>
              </a:lnSpc>
              <a:spcBef>
                <a:spcPts val="0"/>
              </a:spcBef>
              <a:spcAft>
                <a:spcPts val="0"/>
              </a:spcAft>
              <a:defRPr sz="2000" b="0">
                <a:solidFill>
                  <a:srgbClr val="193540"/>
                </a:solidFill>
                <a:latin typeface="DejaVu Sans"/>
              </a:defRPr>
            </a:pPr>
            <a:r>
              <a:t>produktion och nya anläggningar behöver vägas in.</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Prognosbas — Den överenskomna volym som en angiven säkringsandel</a:t>
            </a:r>
          </a:p>
          <a:p>
            <a:pPr>
              <a:lnSpc>
                <a:spcPts val="2480"/>
              </a:lnSpc>
              <a:spcBef>
                <a:spcPts val="0"/>
              </a:spcBef>
              <a:spcAft>
                <a:spcPts val="0"/>
              </a:spcAft>
              <a:defRPr sz="2000" b="0">
                <a:solidFill>
                  <a:srgbClr val="193540"/>
                </a:solidFill>
                <a:latin typeface="DejaVu Sans"/>
              </a:defRPr>
            </a:pPr>
            <a:r>
              <a:t>räknas från. Exempelvis 80 procent av 100 MWh ger 80 MWh; prognosbasen</a:t>
            </a:r>
          </a:p>
          <a:p>
            <a:pPr>
              <a:lnSpc>
                <a:spcPts val="2480"/>
              </a:lnSpc>
              <a:spcBef>
                <a:spcPts val="0"/>
              </a:spcBef>
              <a:spcAft>
                <a:spcPts val="0"/>
              </a:spcAft>
              <a:defRPr sz="2000" b="0">
                <a:solidFill>
                  <a:srgbClr val="193540"/>
                </a:solidFill>
                <a:latin typeface="DejaVu Sans"/>
              </a:defRPr>
            </a:pPr>
            <a:r>
              <a:t>är inte fakturabeloppet.</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404</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Säkringsgrad av prognos — Andel av ett uttryckligt prognosunderlag som</a:t>
            </a:r>
          </a:p>
          <a:p>
            <a:pPr>
              <a:lnSpc>
                <a:spcPts val="2480"/>
              </a:lnSpc>
              <a:spcBef>
                <a:spcPts val="0"/>
              </a:spcBef>
              <a:spcAft>
                <a:spcPts val="0"/>
              </a:spcAft>
              <a:defRPr sz="2000" b="0">
                <a:solidFill>
                  <a:srgbClr val="193540"/>
                </a:solidFill>
                <a:latin typeface="DejaVu Sans"/>
              </a:defRPr>
            </a:pPr>
            <a:r>
              <a:t>planeras eller avtalas att säkras. Ange period och om uppgiften gäller</a:t>
            </a:r>
          </a:p>
          <a:p>
            <a:pPr>
              <a:lnSpc>
                <a:spcPts val="2480"/>
              </a:lnSpc>
              <a:spcBef>
                <a:spcPts val="0"/>
              </a:spcBef>
              <a:spcAft>
                <a:spcPts val="0"/>
              </a:spcAft>
              <a:defRPr sz="2000" b="0">
                <a:solidFill>
                  <a:srgbClr val="193540"/>
                </a:solidFill>
                <a:latin typeface="DejaVu Sans"/>
              </a:defRPr>
            </a:pPr>
            <a:r>
              <a:t>strategi, avtalad mängd eller redan genomförd handel.</a:t>
            </a:r>
          </a:p>
        </p:txBody>
      </p:sp>
      <p:sp>
        <p:nvSpPr>
          <p:cNvPr id="7" name="TextBox 6"/>
          <p:cNvSpPr txBox="1"/>
          <p:nvPr/>
        </p:nvSpPr>
        <p:spPr>
          <a:xfrm>
            <a:off x="603504" y="32080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Faktiskt uttag — Den verkliga uppmätta mängd kunden har använt från nätet</a:t>
            </a:r>
          </a:p>
          <a:p>
            <a:pPr>
              <a:lnSpc>
                <a:spcPts val="2480"/>
              </a:lnSpc>
              <a:spcBef>
                <a:spcPts val="0"/>
              </a:spcBef>
              <a:spcAft>
                <a:spcPts val="0"/>
              </a:spcAft>
              <a:defRPr sz="2000" b="0">
                <a:solidFill>
                  <a:srgbClr val="193540"/>
                </a:solidFill>
                <a:latin typeface="DejaVu Sans"/>
              </a:defRPr>
            </a:pPr>
            <a:r>
              <a:t>under en viss period. Utfallet kan skilja sig från prognosen.</a:t>
            </a:r>
          </a:p>
        </p:txBody>
      </p:sp>
      <p:sp>
        <p:nvSpPr>
          <p:cNvPr id="8" name="TextBox 7"/>
          <p:cNvSpPr txBox="1"/>
          <p:nvPr/>
        </p:nvSpPr>
        <p:spPr>
          <a:xfrm>
            <a:off x="603504" y="39522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Faktisk volymtäckning — Säkrad mängd dividerad med faktiskt uttag för</a:t>
            </a:r>
          </a:p>
          <a:p>
            <a:pPr>
              <a:lnSpc>
                <a:spcPts val="2480"/>
              </a:lnSpc>
              <a:spcBef>
                <a:spcPts val="0"/>
              </a:spcBef>
              <a:spcAft>
                <a:spcPts val="0"/>
              </a:spcAft>
              <a:defRPr sz="2000" b="0">
                <a:solidFill>
                  <a:srgbClr val="193540"/>
                </a:solidFill>
                <a:latin typeface="DejaVu Sans"/>
              </a:defRPr>
            </a:pPr>
            <a:r>
              <a:t>jämförbar period. Det är en volymkvot, inte andelen av fakturan som är fast</a:t>
            </a:r>
          </a:p>
          <a:p>
            <a:pPr>
              <a:lnSpc>
                <a:spcPts val="2480"/>
              </a:lnSpc>
              <a:spcBef>
                <a:spcPts val="0"/>
              </a:spcBef>
              <a:spcAft>
                <a:spcPts val="0"/>
              </a:spcAft>
              <a:defRPr sz="2000" b="0">
                <a:solidFill>
                  <a:srgbClr val="193540"/>
                </a:solidFill>
                <a:latin typeface="DejaVu Sans"/>
              </a:defRPr>
            </a:pPr>
            <a:r>
              <a:t>och inte en garanti för kostnadsutfallet.</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Översäkring — Situation där säkrad mängd överstiger motsvarande faktiskt</a:t>
            </a:r>
          </a:p>
          <a:p>
            <a:pPr>
              <a:lnSpc>
                <a:spcPts val="2480"/>
              </a:lnSpc>
              <a:spcBef>
                <a:spcPts val="0"/>
              </a:spcBef>
              <a:spcAft>
                <a:spcPts val="0"/>
              </a:spcAft>
              <a:defRPr sz="2000" b="0">
                <a:solidFill>
                  <a:srgbClr val="193540"/>
                </a:solidFill>
                <a:latin typeface="DejaVu Sans"/>
              </a:defRPr>
            </a:pPr>
            <a:r>
              <a:t>uttag. Hur överskott eller avvikelser avräknas och vem som bär kostnaden</a:t>
            </a:r>
          </a:p>
          <a:p>
            <a:pPr>
              <a:lnSpc>
                <a:spcPts val="2480"/>
              </a:lnSpc>
              <a:spcBef>
                <a:spcPts val="0"/>
              </a:spcBef>
              <a:spcAft>
                <a:spcPts val="0"/>
              </a:spcAft>
              <a:defRPr sz="2000" b="0">
                <a:solidFill>
                  <a:srgbClr val="193540"/>
                </a:solidFill>
                <a:latin typeface="DejaVu Sans"/>
              </a:defRPr>
            </a:pPr>
            <a:r>
              <a:t>avgörs av aktuellt avtal.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Osäkrad mängd — Volym som inte omfattas av den aktuella säkringen och</a:t>
            </a:r>
          </a:p>
          <a:p>
            <a:pPr>
              <a:lnSpc>
                <a:spcPts val="2480"/>
              </a:lnSpc>
              <a:spcBef>
                <a:spcPts val="0"/>
              </a:spcBef>
              <a:spcAft>
                <a:spcPts val="0"/>
              </a:spcAft>
              <a:defRPr sz="2000" b="0">
                <a:solidFill>
                  <a:srgbClr val="193540"/>
                </a:solidFill>
                <a:latin typeface="DejaVu Sans"/>
              </a:defRPr>
            </a:pPr>
            <a:r>
              <a:t>därför behåller marknadsexponering. Den är inte automatiskt exakt 20</a:t>
            </a:r>
          </a:p>
          <a:p>
            <a:pPr>
              <a:lnSpc>
                <a:spcPts val="2480"/>
              </a:lnSpc>
              <a:spcBef>
                <a:spcPts val="0"/>
              </a:spcBef>
              <a:spcAft>
                <a:spcPts val="0"/>
              </a:spcAft>
              <a:defRPr sz="2000" b="0">
                <a:solidFill>
                  <a:srgbClr val="193540"/>
                </a:solidFill>
                <a:latin typeface="DejaVu Sans"/>
              </a:defRPr>
            </a:pPr>
            <a:r>
              <a:t>procent av varje nytt faktiskt uttag.</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Marknadsexponering — Hur kundens kostnad kan påverkas av ändrade</a:t>
            </a:r>
          </a:p>
          <a:p>
            <a:pPr>
              <a:lnSpc>
                <a:spcPts val="2480"/>
              </a:lnSpc>
              <a:spcBef>
                <a:spcPts val="0"/>
              </a:spcBef>
              <a:spcAft>
                <a:spcPts val="0"/>
              </a:spcAft>
              <a:defRPr sz="2000" b="0">
                <a:solidFill>
                  <a:srgbClr val="193540"/>
                </a:solidFill>
                <a:latin typeface="DejaVu Sans"/>
              </a:defRPr>
            </a:pPr>
            <a:r>
              <a:t>marknadspriser. Bedöm komponenter, mängder, perioder och profil; en enda</a:t>
            </a:r>
          </a:p>
          <a:p>
            <a:pPr>
              <a:lnSpc>
                <a:spcPts val="2480"/>
              </a:lnSpc>
              <a:spcBef>
                <a:spcPts val="0"/>
              </a:spcBef>
              <a:spcAft>
                <a:spcPts val="0"/>
              </a:spcAft>
              <a:defRPr sz="2000" b="0">
                <a:solidFill>
                  <a:srgbClr val="193540"/>
                </a:solidFill>
                <a:latin typeface="DejaVu Sans"/>
              </a:defRPr>
            </a:pPr>
            <a:r>
              <a:t>procentuppgift beskriver inte hela risken.</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406</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Köpdag — Tidpunkt då ett inköp eller en säkring genomförs. Skilj från den</a:t>
            </a:r>
          </a:p>
          <a:p>
            <a:pPr>
              <a:lnSpc>
                <a:spcPts val="2480"/>
              </a:lnSpc>
              <a:spcBef>
                <a:spcPts val="0"/>
              </a:spcBef>
              <a:spcAft>
                <a:spcPts val="0"/>
              </a:spcAft>
              <a:defRPr sz="2000" b="0">
                <a:solidFill>
                  <a:srgbClr val="193540"/>
                </a:solidFill>
                <a:latin typeface="DejaVu Sans"/>
              </a:defRPr>
            </a:pPr>
            <a:r>
              <a:t>framtida period under vilken den avtalade elen ska levereras.</a:t>
            </a:r>
          </a:p>
        </p:txBody>
      </p:sp>
      <p:sp>
        <p:nvSpPr>
          <p:cNvPr id="7" name="TextBox 6"/>
          <p:cNvSpPr txBox="1"/>
          <p:nvPr/>
        </p:nvSpPr>
        <p:spPr>
          <a:xfrm>
            <a:off x="603504" y="28930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Leveransperiod — Period som elinköpet, priset eller säkringen avser. Det är</a:t>
            </a:r>
          </a:p>
          <a:p>
            <a:pPr>
              <a:lnSpc>
                <a:spcPts val="2480"/>
              </a:lnSpc>
              <a:spcBef>
                <a:spcPts val="0"/>
              </a:spcBef>
              <a:spcAft>
                <a:spcPts val="0"/>
              </a:spcAft>
              <a:defRPr sz="2000" b="0">
                <a:solidFill>
                  <a:srgbClr val="193540"/>
                </a:solidFill>
                <a:latin typeface="DejaVu Sans"/>
              </a:defRPr>
            </a:pPr>
            <a:r>
              <a:t>leveransen, inte enbart dagen då fakturan skickas, som avgör vilken avtalad</a:t>
            </a:r>
          </a:p>
          <a:p>
            <a:pPr>
              <a:lnSpc>
                <a:spcPts val="2480"/>
              </a:lnSpc>
              <a:spcBef>
                <a:spcPts val="0"/>
              </a:spcBef>
              <a:spcAft>
                <a:spcPts val="0"/>
              </a:spcAft>
              <a:defRPr sz="2000" b="0">
                <a:solidFill>
                  <a:srgbClr val="193540"/>
                </a:solidFill>
                <a:latin typeface="DejaVu Sans"/>
              </a:defRPr>
            </a:pPr>
            <a:r>
              <a:t>prisperiod som används.</a:t>
            </a:r>
          </a:p>
        </p:txBody>
      </p:sp>
      <p:sp>
        <p:nvSpPr>
          <p:cNvPr id="8" name="TextBox 7"/>
          <p:cNvSpPr txBox="1"/>
          <p:nvPr/>
        </p:nvSpPr>
        <p:spPr>
          <a:xfrm>
            <a:off x="603504" y="3952239"/>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Månadsprofil — Hur förväntad eller faktisk förbrukning fördelas mellan</a:t>
            </a:r>
          </a:p>
          <a:p>
            <a:pPr>
              <a:lnSpc>
                <a:spcPts val="2480"/>
              </a:lnSpc>
              <a:spcBef>
                <a:spcPts val="0"/>
              </a:spcBef>
              <a:spcAft>
                <a:spcPts val="0"/>
              </a:spcAft>
              <a:defRPr sz="2000" b="0">
                <a:solidFill>
                  <a:srgbClr val="193540"/>
                </a:solidFill>
                <a:latin typeface="DejaVu Sans"/>
              </a:defRPr>
            </a:pPr>
            <a:r>
              <a:t>månaderna. Den beskriver säsongsmönstret och skiljer sig från tidpunkterna</a:t>
            </a:r>
          </a:p>
          <a:p>
            <a:pPr>
              <a:lnSpc>
                <a:spcPts val="2480"/>
              </a:lnSpc>
              <a:spcBef>
                <a:spcPts val="0"/>
              </a:spcBef>
              <a:spcAft>
                <a:spcPts val="0"/>
              </a:spcAft>
              <a:defRPr sz="2000" b="0">
                <a:solidFill>
                  <a:srgbClr val="193540"/>
                </a:solidFill>
                <a:latin typeface="DejaVu Sans"/>
              </a:defRPr>
            </a:pPr>
            <a:r>
              <a:t>inom varje månad.</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Dygnsprofil — Hur elförbrukningen fördelas mellan timmar och kvartar inom</a:t>
            </a:r>
          </a:p>
          <a:p>
            <a:pPr>
              <a:lnSpc>
                <a:spcPts val="2480"/>
              </a:lnSpc>
              <a:spcBef>
                <a:spcPts val="0"/>
              </a:spcBef>
              <a:spcAft>
                <a:spcPts val="0"/>
              </a:spcAft>
              <a:defRPr sz="2000" b="0">
                <a:solidFill>
                  <a:srgbClr val="193540"/>
                </a:solidFill>
                <a:latin typeface="DejaVu Sans"/>
              </a:defRPr>
            </a:pPr>
            <a:r>
              <a:t>månaden. I Direkt och Stabil ligger den separat från SYS/EPAD-säkringen;</a:t>
            </a:r>
          </a:p>
          <a:p>
            <a:pPr>
              <a:lnSpc>
                <a:spcPts val="2480"/>
              </a:lnSpc>
              <a:spcBef>
                <a:spcPts val="0"/>
              </a:spcBef>
              <a:spcAft>
                <a:spcPts val="0"/>
              </a:spcAft>
              <a:defRPr sz="2000" b="0">
                <a:solidFill>
                  <a:srgbClr val="193540"/>
                </a:solidFill>
                <a:latin typeface="DejaVu Sans"/>
              </a:defRPr>
            </a:pPr>
            <a:r>
              <a:t>Vintersäkrats fasta vinterdel inkluderar den.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Förbrukningsvägt pris — Sammanlagd kostnad för de omfattade mängderna</a:t>
            </a:r>
          </a:p>
          <a:p>
            <a:pPr>
              <a:lnSpc>
                <a:spcPts val="2480"/>
              </a:lnSpc>
              <a:spcBef>
                <a:spcPts val="0"/>
              </a:spcBef>
              <a:spcAft>
                <a:spcPts val="0"/>
              </a:spcAft>
              <a:defRPr sz="2000" b="0">
                <a:solidFill>
                  <a:srgbClr val="193540"/>
                </a:solidFill>
                <a:latin typeface="DejaVu Sans"/>
              </a:defRPr>
            </a:pPr>
            <a:r>
              <a:t>dividerad med deras sammanlagda kWh. Perioder med större mängd får</a:t>
            </a:r>
          </a:p>
          <a:p>
            <a:pPr>
              <a:lnSpc>
                <a:spcPts val="2480"/>
              </a:lnSpc>
              <a:spcBef>
                <a:spcPts val="0"/>
              </a:spcBef>
              <a:spcAft>
                <a:spcPts val="0"/>
              </a:spcAft>
              <a:defRPr sz="2000" b="0">
                <a:solidFill>
                  <a:srgbClr val="193540"/>
                </a:solidFill>
                <a:latin typeface="DejaVu Sans"/>
              </a:defRPr>
            </a:pPr>
            <a:r>
              <a:t>större vikt. Ange alltid vilka prisdelar som ingår.</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Oviktat medelvärde — Genomsnitt där varje prisuppgift får samma vikt. Det</a:t>
            </a:r>
          </a:p>
          <a:p>
            <a:pPr>
              <a:lnSpc>
                <a:spcPts val="2480"/>
              </a:lnSpc>
              <a:spcBef>
                <a:spcPts val="0"/>
              </a:spcBef>
              <a:spcAft>
                <a:spcPts val="0"/>
              </a:spcAft>
              <a:defRPr sz="2000" b="0">
                <a:solidFill>
                  <a:srgbClr val="193540"/>
                </a:solidFill>
                <a:latin typeface="DejaVu Sans"/>
              </a:defRPr>
            </a:pPr>
            <a:r>
              <a:t>motsvarar inte automatiskt kundens förbrukningsvägda pris när mängderna</a:t>
            </a:r>
          </a:p>
          <a:p>
            <a:pPr>
              <a:lnSpc>
                <a:spcPts val="2480"/>
              </a:lnSpc>
              <a:spcBef>
                <a:spcPts val="0"/>
              </a:spcBef>
              <a:spcAft>
                <a:spcPts val="0"/>
              </a:spcAft>
              <a:defRPr sz="2000" b="0">
                <a:solidFill>
                  <a:srgbClr val="193540"/>
                </a:solidFill>
                <a:latin typeface="DejaVu Sans"/>
              </a:defRPr>
            </a:pPr>
            <a:r>
              <a:t>bakom prisuppgifterna skiljer sig.</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Kvartspris — Produkt där faktisk förbrukning i varje kvart avräknas mot</a:t>
            </a:r>
          </a:p>
          <a:p>
            <a:pPr>
              <a:lnSpc>
                <a:spcPts val="2480"/>
              </a:lnSpc>
              <a:spcBef>
                <a:spcPts val="0"/>
              </a:spcBef>
              <a:spcAft>
                <a:spcPts val="0"/>
              </a:spcAft>
              <a:defRPr sz="2000" b="0">
                <a:solidFill>
                  <a:srgbClr val="193540"/>
                </a:solidFill>
                <a:latin typeface="DejaVu Sans"/>
              </a:defRPr>
            </a:pPr>
            <a:r>
              <a:t>kvartens pris i kundens elområde enligt avtalet. Egen tidsprofil ingår i</a:t>
            </a:r>
          </a:p>
          <a:p>
            <a:pPr>
              <a:lnSpc>
                <a:spcPts val="2480"/>
              </a:lnSpc>
              <a:spcBef>
                <a:spcPts val="0"/>
              </a:spcBef>
              <a:spcAft>
                <a:spcPts val="0"/>
              </a:spcAft>
              <a:defRPr sz="2000" b="0">
                <a:solidFill>
                  <a:srgbClr val="193540"/>
                </a:solidFill>
                <a:latin typeface="DejaVu Sans"/>
              </a:defRPr>
            </a:pPr>
            <a:r>
              <a:t>viktningen och ska inte läggas till igen.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Rörligt månadspris — Gemensamt månadspris enligt avtalets modell, normalt</a:t>
            </a:r>
          </a:p>
          <a:p>
            <a:pPr>
              <a:lnSpc>
                <a:spcPts val="2480"/>
              </a:lnSpc>
              <a:spcBef>
                <a:spcPts val="0"/>
              </a:spcBef>
              <a:spcAft>
                <a:spcPts val="0"/>
              </a:spcAft>
              <a:defRPr sz="2000" b="0">
                <a:solidFill>
                  <a:srgbClr val="193540"/>
                </a:solidFill>
                <a:latin typeface="DejaVu Sans"/>
              </a:defRPr>
            </a:pPr>
            <a:r>
              <a:t>fastställt i efterhand. Det är en annan avräkning än kundens individuella</a:t>
            </a:r>
          </a:p>
          <a:p>
            <a:pPr>
              <a:lnSpc>
                <a:spcPts val="2480"/>
              </a:lnSpc>
              <a:spcBef>
                <a:spcPts val="0"/>
              </a:spcBef>
              <a:spcAft>
                <a:spcPts val="0"/>
              </a:spcAft>
              <a:defRPr sz="2000" b="0">
                <a:solidFill>
                  <a:srgbClr val="193540"/>
                </a:solidFill>
                <a:latin typeface="DejaVu Sans"/>
              </a:defRPr>
            </a:pPr>
            <a:r>
              <a:t>viktning av varje kvart.</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Fastpris — Avtalat elhandelspris per kWh för uttryckligt definierade delar,</a:t>
            </a:r>
          </a:p>
          <a:p>
            <a:pPr>
              <a:lnSpc>
                <a:spcPts val="2480"/>
              </a:lnSpc>
              <a:spcBef>
                <a:spcPts val="0"/>
              </a:spcBef>
              <a:spcAft>
                <a:spcPts val="0"/>
              </a:spcAft>
              <a:defRPr sz="2000" b="0">
                <a:solidFill>
                  <a:srgbClr val="193540"/>
                </a:solidFill>
                <a:latin typeface="DejaVu Sans"/>
              </a:defRPr>
            </a:pPr>
            <a:r>
              <a:t>period och villkor. Känt enhetspris innebär inte lika fakturabelopp eller att nät,</a:t>
            </a:r>
          </a:p>
          <a:p>
            <a:pPr>
              <a:lnSpc>
                <a:spcPts val="2480"/>
              </a:lnSpc>
              <a:spcBef>
                <a:spcPts val="0"/>
              </a:spcBef>
              <a:spcAft>
                <a:spcPts val="0"/>
              </a:spcAft>
              <a:defRPr sz="2000" b="0">
                <a:solidFill>
                  <a:srgbClr val="193540"/>
                </a:solidFill>
                <a:latin typeface="DejaVu Sans"/>
              </a:defRPr>
            </a:pPr>
            <a:r>
              <a:t>skatt och moms är låsta.</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409</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Opti — Månadsvis efterhandsval av det lägre av avtalets individuellt</a:t>
            </a:r>
          </a:p>
          <a:p>
            <a:pPr>
              <a:lnSpc>
                <a:spcPts val="2480"/>
              </a:lnSpc>
              <a:spcBef>
                <a:spcPts val="0"/>
              </a:spcBef>
              <a:spcAft>
                <a:spcPts val="0"/>
              </a:spcAft>
              <a:defRPr sz="2000" b="0">
                <a:solidFill>
                  <a:srgbClr val="193540"/>
                </a:solidFill>
                <a:latin typeface="DejaVu Sans"/>
              </a:defRPr>
            </a:pPr>
            <a:r>
              <a:t>kvartsvägda och rörliga månadsalternativ för samma faktiska månadsvolym</a:t>
            </a:r>
          </a:p>
          <a:p>
            <a:pPr>
              <a:lnSpc>
                <a:spcPts val="2480"/>
              </a:lnSpc>
              <a:spcBef>
                <a:spcPts val="0"/>
              </a:spcBef>
              <a:spcAft>
                <a:spcPts val="0"/>
              </a:spcAft>
              <a:defRPr sz="2000" b="0">
                <a:solidFill>
                  <a:srgbClr val="193540"/>
                </a:solidFill>
                <a:latin typeface="DejaVu Sans"/>
              </a:defRPr>
            </a:pPr>
            <a:r>
              <a:t>och kostnadsdelar. Det är inte minimum varje kvart eller billigast på hela</a:t>
            </a:r>
          </a:p>
          <a:p>
            <a:pPr>
              <a:lnSpc>
                <a:spcPts val="2480"/>
              </a:lnSpc>
              <a:spcBef>
                <a:spcPts val="0"/>
              </a:spcBef>
              <a:spcAft>
                <a:spcPts val="0"/>
              </a:spcAft>
              <a:defRPr sz="2000" b="0">
                <a:solidFill>
                  <a:srgbClr val="193540"/>
                </a:solidFill>
                <a:latin typeface="DejaVu Sans"/>
              </a:defRPr>
            </a:pPr>
            <a:r>
              <a:t>marknaden.</a:t>
            </a:r>
          </a:p>
        </p:txBody>
      </p:sp>
      <p:sp>
        <p:nvSpPr>
          <p:cNvPr id="7" name="TextBox 6"/>
          <p:cNvSpPr txBox="1"/>
          <p:nvPr/>
        </p:nvSpPr>
        <p:spPr>
          <a:xfrm>
            <a:off x="603504" y="352298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Vintersäkrat — Fast elhandelspris inklusive dygnsprofil under avtalad</a:t>
            </a:r>
          </a:p>
          <a:p>
            <a:pPr>
              <a:lnSpc>
                <a:spcPts val="2480"/>
              </a:lnSpc>
              <a:spcBef>
                <a:spcPts val="0"/>
              </a:spcBef>
              <a:spcAft>
                <a:spcPts val="0"/>
              </a:spcAft>
              <a:defRPr sz="2000" b="0">
                <a:solidFill>
                  <a:srgbClr val="193540"/>
                </a:solidFill>
                <a:latin typeface="DejaVu Sans"/>
              </a:defRPr>
            </a:pPr>
            <a:r>
              <a:t>vinterperiod och kvartspris under sommarperiod. Standard är oktober–mars</a:t>
            </a:r>
          </a:p>
          <a:p>
            <a:pPr>
              <a:lnSpc>
                <a:spcPts val="2480"/>
              </a:lnSpc>
              <a:spcBef>
                <a:spcPts val="0"/>
              </a:spcBef>
              <a:spcAft>
                <a:spcPts val="0"/>
              </a:spcAft>
              <a:defRPr sz="2000" b="0">
                <a:solidFill>
                  <a:srgbClr val="193540"/>
                </a:solidFill>
                <a:latin typeface="DejaVu Sans"/>
              </a:defRPr>
            </a:pPr>
            <a:r>
              <a:t>respektive april–september; andra perioder kräver uttryckligt avtal.</a:t>
            </a:r>
          </a:p>
        </p:txBody>
      </p:sp>
      <p:sp>
        <p:nvSpPr>
          <p:cNvPr id="8" name="TextBox 7"/>
          <p:cNvSpPr txBox="1"/>
          <p:nvPr/>
        </p:nvSpPr>
        <p:spPr>
          <a:xfrm>
            <a:off x="603504" y="45821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Individuell indexportfölj — Egen regelstyrd inköpsplan med dagliga köp över</a:t>
            </a:r>
          </a:p>
          <a:p>
            <a:pPr>
              <a:lnSpc>
                <a:spcPts val="2480"/>
              </a:lnSpc>
              <a:spcBef>
                <a:spcPts val="0"/>
              </a:spcBef>
              <a:spcAft>
                <a:spcPts val="0"/>
              </a:spcAft>
              <a:defRPr sz="2000" b="0">
                <a:solidFill>
                  <a:srgbClr val="193540"/>
                </a:solidFill>
                <a:latin typeface="DejaVu Sans"/>
              </a:defRPr>
            </a:pPr>
            <a:r>
              <a:t>tid. Standardhorisont är 24 månader, med 12 och 36 som alternativ.</a:t>
            </a:r>
          </a:p>
          <a:p>
            <a:pPr>
              <a:lnSpc>
                <a:spcPts val="2480"/>
              </a:lnSpc>
              <a:spcBef>
                <a:spcPts val="0"/>
              </a:spcBef>
              <a:spcAft>
                <a:spcPts val="0"/>
              </a:spcAft>
              <a:defRPr sz="2000" b="0">
                <a:solidFill>
                  <a:srgbClr val="193540"/>
                </a:solidFill>
                <a:latin typeface="DejaVu Sans"/>
              </a:defRPr>
            </a:pPr>
            <a:r>
              <a:t>Säkringsgrad är individuell; ingen universell 80-procentsregel.</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Säkringshorisont — Hur långt fram i framtida leveransperioder inköpsplanen</a:t>
            </a:r>
          </a:p>
          <a:p>
            <a:pPr>
              <a:lnSpc>
                <a:spcPts val="2480"/>
              </a:lnSpc>
              <a:spcBef>
                <a:spcPts val="0"/>
              </a:spcBef>
              <a:spcAft>
                <a:spcPts val="0"/>
              </a:spcAft>
              <a:defRPr sz="2000" b="0">
                <a:solidFill>
                  <a:srgbClr val="193540"/>
                </a:solidFill>
                <a:latin typeface="DejaVu Sans"/>
              </a:defRPr>
            </a:pPr>
            <a:r>
              <a:t>bygger säkringar. Den är inte automatiskt avtalets längd. Individuell</a:t>
            </a:r>
          </a:p>
          <a:p>
            <a:pPr>
              <a:lnSpc>
                <a:spcPts val="2480"/>
              </a:lnSpc>
              <a:spcBef>
                <a:spcPts val="0"/>
              </a:spcBef>
              <a:spcAft>
                <a:spcPts val="0"/>
              </a:spcAft>
              <a:defRPr sz="2000" b="0">
                <a:solidFill>
                  <a:srgbClr val="193540"/>
                </a:solidFill>
                <a:latin typeface="DejaVu Sans"/>
              </a:defRPr>
            </a:pPr>
            <a:r>
              <a:t>indexstandard får inte utan stöd överföras till en pool.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Avtalslängd — Den tid kundavtalet gäller enligt aktuella villkor. Avtalets längd,</a:t>
            </a:r>
          </a:p>
          <a:p>
            <a:pPr>
              <a:lnSpc>
                <a:spcPts val="2480"/>
              </a:lnSpc>
              <a:spcBef>
                <a:spcPts val="0"/>
              </a:spcBef>
              <a:spcAft>
                <a:spcPts val="0"/>
              </a:spcAft>
              <a:defRPr sz="2000" b="0">
                <a:solidFill>
                  <a:srgbClr val="193540"/>
                </a:solidFill>
                <a:latin typeface="DejaVu Sans"/>
              </a:defRPr>
            </a:pPr>
            <a:r>
              <a:t>leveransperiod och säkringshorisont är olika uppgifter och behöver</a:t>
            </a:r>
          </a:p>
          <a:p>
            <a:pPr>
              <a:lnSpc>
                <a:spcPts val="2480"/>
              </a:lnSpc>
              <a:spcBef>
                <a:spcPts val="0"/>
              </a:spcBef>
              <a:spcAft>
                <a:spcPts val="0"/>
              </a:spcAft>
              <a:defRPr sz="2000" b="0">
                <a:solidFill>
                  <a:srgbClr val="193540"/>
                </a:solidFill>
                <a:latin typeface="DejaVu Sans"/>
              </a:defRPr>
            </a:pPr>
            <a:r>
              <a:t>kontrolleras var för sig.</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Pool Trygg — Gemensam strategi med 80 procent index och 20 procent rörligt</a:t>
            </a:r>
          </a:p>
          <a:p>
            <a:pPr>
              <a:lnSpc>
                <a:spcPts val="2480"/>
              </a:lnSpc>
              <a:spcBef>
                <a:spcPts val="0"/>
              </a:spcBef>
              <a:spcAft>
                <a:spcPts val="0"/>
              </a:spcAft>
              <a:defRPr sz="2000" b="0">
                <a:solidFill>
                  <a:srgbClr val="193540"/>
                </a:solidFill>
                <a:latin typeface="DejaVu Sans"/>
              </a:defRPr>
            </a:pPr>
            <a:r>
              <a:t>av förväntad volym. Strategifördelningen bevisar inte att 80 procent redan är</a:t>
            </a:r>
          </a:p>
          <a:p>
            <a:pPr>
              <a:lnSpc>
                <a:spcPts val="2480"/>
              </a:lnSpc>
              <a:spcBef>
                <a:spcPts val="0"/>
              </a:spcBef>
              <a:spcAft>
                <a:spcPts val="0"/>
              </a:spcAft>
              <a:defRPr sz="2000" b="0">
                <a:solidFill>
                  <a:srgbClr val="193540"/>
                </a:solidFill>
                <a:latin typeface="DejaVu Sans"/>
              </a:defRPr>
            </a:pPr>
            <a:r>
              <a:t>säkrat eller att 80 procent av fakturan är fast.</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Pool Offensiv — Gemensam strategi med 40 procent index, 40 procent aktiva</a:t>
            </a:r>
          </a:p>
          <a:p>
            <a:pPr>
              <a:lnSpc>
                <a:spcPts val="2480"/>
              </a:lnSpc>
              <a:spcBef>
                <a:spcPts val="0"/>
              </a:spcBef>
              <a:spcAft>
                <a:spcPts val="0"/>
              </a:spcAft>
              <a:defRPr sz="2000" b="0">
                <a:solidFill>
                  <a:srgbClr val="193540"/>
                </a:solidFill>
                <a:latin typeface="DejaVu Sans"/>
              </a:defRPr>
            </a:pPr>
            <a:r>
              <a:t>beslut och 20 procent rörligt av förväntad volym. Aktiva beslut kan ge bättre</a:t>
            </a:r>
          </a:p>
          <a:p>
            <a:pPr>
              <a:lnSpc>
                <a:spcPts val="2480"/>
              </a:lnSpc>
              <a:spcBef>
                <a:spcPts val="0"/>
              </a:spcBef>
              <a:spcAft>
                <a:spcPts val="0"/>
              </a:spcAft>
              <a:defRPr sz="2000" b="0">
                <a:solidFill>
                  <a:srgbClr val="193540"/>
                </a:solidFill>
                <a:latin typeface="DejaVu Sans"/>
              </a:defRPr>
            </a:pPr>
            <a:r>
              <a:t>eller sämre utfall; aktuellt mandat styr.</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Indexdel — Del av inköpsstrategin som bygger säkringar med regelstyrda köp</a:t>
            </a:r>
          </a:p>
          <a:p>
            <a:pPr>
              <a:lnSpc>
                <a:spcPts val="2480"/>
              </a:lnSpc>
              <a:spcBef>
                <a:spcPts val="0"/>
              </a:spcBef>
              <a:spcAft>
                <a:spcPts val="0"/>
              </a:spcAft>
              <a:defRPr sz="2000" b="0">
                <a:solidFill>
                  <a:srgbClr val="193540"/>
                </a:solidFill>
                <a:latin typeface="DejaVu Sans"/>
              </a:defRPr>
            </a:pPr>
            <a:r>
              <a:t>över tid. Planerad andel är inte ett bevis på dagens faktiska position och</a:t>
            </a:r>
          </a:p>
          <a:p>
            <a:pPr>
              <a:lnSpc>
                <a:spcPts val="2480"/>
              </a:lnSpc>
              <a:spcBef>
                <a:spcPts val="0"/>
              </a:spcBef>
              <a:spcAft>
                <a:spcPts val="0"/>
              </a:spcAft>
              <a:defRPr sz="2000" b="0">
                <a:solidFill>
                  <a:srgbClr val="193540"/>
                </a:solidFill>
                <a:latin typeface="DejaVu Sans"/>
              </a:defRPr>
            </a:pPr>
            <a:r>
              <a:t>garanterar inte billigast inköp.</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Aktiv del — Strategidel där marknadsbedömningar styr beslut inom godkänt</a:t>
            </a:r>
          </a:p>
          <a:p>
            <a:pPr>
              <a:lnSpc>
                <a:spcPts val="2480"/>
              </a:lnSpc>
              <a:spcBef>
                <a:spcPts val="0"/>
              </a:spcBef>
              <a:spcAft>
                <a:spcPts val="0"/>
              </a:spcAft>
              <a:defRPr sz="2000" b="0">
                <a:solidFill>
                  <a:srgbClr val="193540"/>
                </a:solidFill>
                <a:latin typeface="DejaVu Sans"/>
              </a:defRPr>
            </a:pPr>
            <a:r>
              <a:t>mandat. Andelen beskriver beslutsprincipen, inte garanterad avkastning eller</a:t>
            </a:r>
          </a:p>
          <a:p>
            <a:pPr>
              <a:lnSpc>
                <a:spcPts val="2480"/>
              </a:lnSpc>
              <a:spcBef>
                <a:spcPts val="0"/>
              </a:spcBef>
              <a:spcAft>
                <a:spcPts val="0"/>
              </a:spcAft>
              <a:defRPr sz="2000" b="0">
                <a:solidFill>
                  <a:srgbClr val="193540"/>
                </a:solidFill>
                <a:latin typeface="DejaVu Sans"/>
              </a:defRPr>
            </a:pPr>
            <a:r>
              <a:t>en viss aktuell säkringsposition.</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Mandat — Dokumenterad ram för vilka beslut en funktion får fatta. Ansvarig</a:t>
            </a:r>
          </a:p>
          <a:p>
            <a:pPr>
              <a:lnSpc>
                <a:spcPts val="2480"/>
              </a:lnSpc>
              <a:spcBef>
                <a:spcPts val="0"/>
              </a:spcBef>
              <a:spcAft>
                <a:spcPts val="0"/>
              </a:spcAft>
              <a:defRPr sz="2000" b="0">
                <a:solidFill>
                  <a:srgbClr val="193540"/>
                </a:solidFill>
                <a:latin typeface="DejaVu Sans"/>
              </a:defRPr>
            </a:pPr>
            <a:r>
              <a:t>förvaltare, aktuella befogenheter och gränser verifieras i gällande underlag,</a:t>
            </a:r>
          </a:p>
          <a:p>
            <a:pPr>
              <a:lnSpc>
                <a:spcPts val="2480"/>
              </a:lnSpc>
              <a:spcBef>
                <a:spcPts val="0"/>
              </a:spcBef>
              <a:spcAft>
                <a:spcPts val="0"/>
              </a:spcAft>
              <a:defRPr sz="2000" b="0">
                <a:solidFill>
                  <a:srgbClr val="193540"/>
                </a:solidFill>
                <a:latin typeface="DejaVu Sans"/>
              </a:defRPr>
            </a:pPr>
            <a:r>
              <a:t>inte i äldre utbildningsmaterial.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Faktisk position — De köp och säkringar som verkligen genomförts för angivna</a:t>
            </a:r>
          </a:p>
          <a:p>
            <a:pPr>
              <a:lnSpc>
                <a:spcPts val="2480"/>
              </a:lnSpc>
              <a:spcBef>
                <a:spcPts val="0"/>
              </a:spcBef>
              <a:spcAft>
                <a:spcPts val="0"/>
              </a:spcAft>
              <a:defRPr sz="2000" b="0">
                <a:solidFill>
                  <a:srgbClr val="193540"/>
                </a:solidFill>
                <a:latin typeface="DejaVu Sans"/>
              </a:defRPr>
            </a:pPr>
            <a:r>
              <a:t>perioder och mängder. Den kan skilja från strategi eller plan; signerat</a:t>
            </a:r>
          </a:p>
          <a:p>
            <a:pPr>
              <a:lnSpc>
                <a:spcPts val="2480"/>
              </a:lnSpc>
              <a:spcBef>
                <a:spcPts val="0"/>
              </a:spcBef>
              <a:spcAft>
                <a:spcPts val="0"/>
              </a:spcAft>
              <a:defRPr sz="2000" b="0">
                <a:solidFill>
                  <a:srgbClr val="193540"/>
                </a:solidFill>
                <a:latin typeface="DejaVu Sans"/>
              </a:defRPr>
            </a:pPr>
            <a:r>
              <a:t>kundavtal är inte ensamt bevis på handel.</a:t>
            </a:r>
          </a:p>
        </p:txBody>
      </p:sp>
      <p:sp>
        <p:nvSpPr>
          <p:cNvPr id="8" name="TextBox 7"/>
          <p:cNvSpPr txBox="1"/>
          <p:nvPr/>
        </p:nvSpPr>
        <p:spPr>
          <a:xfrm>
            <a:off x="603504" y="426720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Kraftringen Direkt — SYS och EPAD säkras vid ett inköpstillfälle för</a:t>
            </a:r>
          </a:p>
          <a:p>
            <a:pPr>
              <a:lnSpc>
                <a:spcPts val="2480"/>
              </a:lnSpc>
              <a:spcBef>
                <a:spcPts val="0"/>
              </a:spcBef>
              <a:spcAft>
                <a:spcPts val="0"/>
              </a:spcAft>
              <a:defRPr sz="2000" b="0">
                <a:solidFill>
                  <a:srgbClr val="193540"/>
                </a:solidFill>
                <a:latin typeface="DejaVu Sans"/>
              </a:defRPr>
            </a:pPr>
            <a:r>
              <a:t>överenskommen mängd och period. Har inte Stabils kundanpassade</a:t>
            </a:r>
          </a:p>
          <a:p>
            <a:pPr>
              <a:lnSpc>
                <a:spcPts val="2480"/>
              </a:lnSpc>
              <a:spcBef>
                <a:spcPts val="0"/>
              </a:spcBef>
              <a:spcAft>
                <a:spcPts val="0"/>
              </a:spcAft>
              <a:defRPr sz="2000" b="0">
                <a:solidFill>
                  <a:srgbClr val="193540"/>
                </a:solidFill>
                <a:latin typeface="DejaVu Sans"/>
              </a:defRPr>
            </a:pPr>
            <a:r>
              <a:t>månadsutjämning. Exakt månads- och avräkningsmodell följer aktuell</a:t>
            </a:r>
          </a:p>
          <a:p>
            <a:pPr>
              <a:lnSpc>
                <a:spcPts val="2480"/>
              </a:lnSpc>
              <a:spcBef>
                <a:spcPts val="0"/>
              </a:spcBef>
              <a:spcAft>
                <a:spcPts val="0"/>
              </a:spcAft>
              <a:defRPr sz="2000" b="0">
                <a:solidFill>
                  <a:srgbClr val="193540"/>
                </a:solidFill>
                <a:latin typeface="DejaVu Sans"/>
              </a:defRPr>
            </a:pPr>
            <a:r>
              <a:t>prisbilaga.</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413</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Kraftringen Stabil — Samma säkringsgrund som Direkt, med gemensamt</a:t>
            </a:r>
          </a:p>
          <a:p>
            <a:pPr>
              <a:lnSpc>
                <a:spcPts val="2480"/>
              </a:lnSpc>
              <a:spcBef>
                <a:spcPts val="0"/>
              </a:spcBef>
              <a:spcAft>
                <a:spcPts val="0"/>
              </a:spcAft>
              <a:defRPr sz="2000" b="0">
                <a:solidFill>
                  <a:srgbClr val="193540"/>
                </a:solidFill>
                <a:latin typeface="DejaVu Sans"/>
              </a:defRPr>
            </a:pPr>
            <a:r>
              <a:t>förbrukningsvägt SYS/EPAD-pris på avtalad säkrad mängd. Ändrad faktisk</a:t>
            </a:r>
          </a:p>
          <a:p>
            <a:pPr>
              <a:lnSpc>
                <a:spcPts val="2480"/>
              </a:lnSpc>
              <a:spcBef>
                <a:spcPts val="0"/>
              </a:spcBef>
              <a:spcAft>
                <a:spcPts val="0"/>
              </a:spcAft>
              <a:defRPr sz="2000" b="0">
                <a:solidFill>
                  <a:srgbClr val="193540"/>
                </a:solidFill>
                <a:latin typeface="DejaVu Sans"/>
              </a:defRPr>
            </a:pPr>
            <a:r>
              <a:t>månadsprofil ändrar inte detta komponentpris; övrig avvikelsehantering följer</a:t>
            </a:r>
          </a:p>
          <a:p>
            <a:pPr>
              <a:lnSpc>
                <a:spcPts val="2480"/>
              </a:lnSpc>
              <a:spcBef>
                <a:spcPts val="0"/>
              </a:spcBef>
              <a:spcAft>
                <a:spcPts val="0"/>
              </a:spcAft>
              <a:defRPr sz="2000" b="0">
                <a:solidFill>
                  <a:srgbClr val="193540"/>
                </a:solidFill>
                <a:latin typeface="DejaVu Sans"/>
              </a:defRPr>
            </a:pPr>
            <a:r>
              <a:t>avtalet.</a:t>
            </a:r>
          </a:p>
        </p:txBody>
      </p:sp>
      <p:sp>
        <p:nvSpPr>
          <p:cNvPr id="7" name="TextBox 6"/>
          <p:cNvSpPr txBox="1"/>
          <p:nvPr/>
        </p:nvSpPr>
        <p:spPr>
          <a:xfrm>
            <a:off x="603504" y="352298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Månadsutjämning — Fördelning genom ett gemensamt komponentpris per</a:t>
            </a:r>
          </a:p>
          <a:p>
            <a:pPr>
              <a:lnSpc>
                <a:spcPts val="2480"/>
              </a:lnSpc>
              <a:spcBef>
                <a:spcPts val="0"/>
              </a:spcBef>
              <a:spcAft>
                <a:spcPts val="0"/>
              </a:spcAft>
              <a:defRPr sz="2000" b="0">
                <a:solidFill>
                  <a:srgbClr val="193540"/>
                </a:solidFill>
                <a:latin typeface="DejaVu Sans"/>
              </a:defRPr>
            </a:pPr>
            <a:r>
              <a:t>omfattad kWh över en period, beräknat med förväntade månadsvolymer.</a:t>
            </a:r>
          </a:p>
          <a:p>
            <a:pPr>
              <a:lnSpc>
                <a:spcPts val="2480"/>
              </a:lnSpc>
              <a:spcBef>
                <a:spcPts val="0"/>
              </a:spcBef>
              <a:spcAft>
                <a:spcPts val="0"/>
              </a:spcAft>
              <a:defRPr sz="2000" b="0">
                <a:solidFill>
                  <a:srgbClr val="193540"/>
                </a:solidFill>
                <a:latin typeface="DejaVu Sans"/>
              </a:defRPr>
            </a:pPr>
            <a:r>
              <a:t>Utjämning ger inte i sig lägre total inköpskostnad eller lika fakturabelopp.</a:t>
            </a:r>
          </a:p>
        </p:txBody>
      </p:sp>
      <p:sp>
        <p:nvSpPr>
          <p:cNvPr id="8" name="TextBox 7"/>
          <p:cNvSpPr txBox="1"/>
          <p:nvPr/>
        </p:nvSpPr>
        <p:spPr>
          <a:xfrm>
            <a:off x="603504" y="458216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Volymavvikelse — Skillnad mellan avtalat eller prognostiserat volymunderlag</a:t>
            </a:r>
          </a:p>
          <a:p>
            <a:pPr>
              <a:lnSpc>
                <a:spcPts val="2480"/>
              </a:lnSpc>
              <a:spcBef>
                <a:spcPts val="0"/>
              </a:spcBef>
              <a:spcAft>
                <a:spcPts val="0"/>
              </a:spcAft>
              <a:defRPr sz="2000" b="0">
                <a:solidFill>
                  <a:srgbClr val="193540"/>
                </a:solidFill>
                <a:latin typeface="DejaVu Sans"/>
              </a:defRPr>
            </a:pPr>
            <a:r>
              <a:t>och faktiskt uttag. Toleranser, avräkning och kostnadsansvar är avtalsfrågor</a:t>
            </a:r>
          </a:p>
          <a:p>
            <a:pPr>
              <a:lnSpc>
                <a:spcPts val="2480"/>
              </a:lnSpc>
              <a:spcBef>
                <a:spcPts val="0"/>
              </a:spcBef>
              <a:spcAft>
                <a:spcPts val="0"/>
              </a:spcAft>
              <a:defRPr sz="2000" b="0">
                <a:solidFill>
                  <a:srgbClr val="193540"/>
                </a:solidFill>
                <a:latin typeface="DejaVu Sans"/>
              </a:defRPr>
            </a:pPr>
            <a:r>
              <a:t>och ska inte hittas på i kundförklaringen.</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414</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Profilavvikelse — Skillnad mellan förväntad och faktisk tidsfördelning av</a:t>
            </a:r>
          </a:p>
          <a:p>
            <a:pPr>
              <a:lnSpc>
                <a:spcPts val="2480"/>
              </a:lnSpc>
              <a:spcBef>
                <a:spcPts val="0"/>
              </a:spcBef>
              <a:spcAft>
                <a:spcPts val="0"/>
              </a:spcAft>
              <a:defRPr sz="2000" b="0">
                <a:solidFill>
                  <a:srgbClr val="193540"/>
                </a:solidFill>
                <a:latin typeface="DejaVu Sans"/>
              </a:defRPr>
            </a:pPr>
            <a:r>
              <a:t>förbrukningen. Ändrad årsvolym och ändrad profil är olika frågor. Hur</a:t>
            </a:r>
          </a:p>
          <a:p>
            <a:pPr>
              <a:lnSpc>
                <a:spcPts val="2480"/>
              </a:lnSpc>
              <a:spcBef>
                <a:spcPts val="0"/>
              </a:spcBef>
              <a:spcAft>
                <a:spcPts val="0"/>
              </a:spcAft>
              <a:defRPr sz="2000" b="0">
                <a:solidFill>
                  <a:srgbClr val="193540"/>
                </a:solidFill>
                <a:latin typeface="DejaVu Sans"/>
              </a:defRPr>
            </a:pPr>
            <a:r>
              <a:t>avvikelsen påverkar kostnader följer produkt och avtal.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Elhandelspris — Pris för de elhandelsdelar som definieras i avtalet. En</a:t>
            </a:r>
          </a:p>
          <a:p>
            <a:pPr>
              <a:lnSpc>
                <a:spcPts val="2480"/>
              </a:lnSpc>
              <a:spcBef>
                <a:spcPts val="0"/>
              </a:spcBef>
              <a:spcAft>
                <a:spcPts val="0"/>
              </a:spcAft>
              <a:defRPr sz="2000" b="0">
                <a:solidFill>
                  <a:srgbClr val="193540"/>
                </a:solidFill>
                <a:latin typeface="DejaVu Sans"/>
              </a:defRPr>
            </a:pPr>
            <a:r>
              <a:t>uppgiven komponent eller spotreferens är inte automatiskt ett komplett</a:t>
            </a:r>
          </a:p>
          <a:p>
            <a:pPr>
              <a:lnSpc>
                <a:spcPts val="2480"/>
              </a:lnSpc>
              <a:spcBef>
                <a:spcPts val="0"/>
              </a:spcBef>
              <a:spcAft>
                <a:spcPts val="0"/>
              </a:spcAft>
              <a:defRPr sz="2000" b="0">
                <a:solidFill>
                  <a:srgbClr val="193540"/>
                </a:solidFill>
                <a:latin typeface="DejaVu Sans"/>
              </a:defRPr>
            </a:pPr>
            <a:r>
              <a:t>elhandelspris; kontrollera profil, påslag och avgifter.</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Fakturabelopp — Belopp som debiteras för aktuell period och de poster</a:t>
            </a:r>
          </a:p>
          <a:p>
            <a:pPr>
              <a:lnSpc>
                <a:spcPts val="2480"/>
              </a:lnSpc>
              <a:spcBef>
                <a:spcPts val="0"/>
              </a:spcBef>
              <a:spcAft>
                <a:spcPts val="0"/>
              </a:spcAft>
              <a:defRPr sz="2000" b="0">
                <a:solidFill>
                  <a:srgbClr val="193540"/>
                </a:solidFill>
                <a:latin typeface="DejaVu Sans"/>
              </a:defRPr>
            </a:pPr>
            <a:r>
              <a:t>fakturan omfattar. Det påverkas av mängd och kostnadsposter även när ett</a:t>
            </a:r>
          </a:p>
          <a:p>
            <a:pPr>
              <a:lnSpc>
                <a:spcPts val="2480"/>
              </a:lnSpc>
              <a:spcBef>
                <a:spcPts val="0"/>
              </a:spcBef>
              <a:spcAft>
                <a:spcPts val="0"/>
              </a:spcAft>
              <a:defRPr sz="2000" b="0">
                <a:solidFill>
                  <a:srgbClr val="193540"/>
                </a:solidFill>
                <a:latin typeface="DejaVu Sans"/>
              </a:defRPr>
            </a:pPr>
            <a:r>
              <a:t>visst kWh-pris är fast.</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Elnät — Tjänsten att överföra el genom nätet till anläggningen. Nätkostnader</a:t>
            </a:r>
          </a:p>
          <a:p>
            <a:pPr>
              <a:lnSpc>
                <a:spcPts val="2480"/>
              </a:lnSpc>
              <a:spcBef>
                <a:spcPts val="0"/>
              </a:spcBef>
              <a:spcAft>
                <a:spcPts val="0"/>
              </a:spcAft>
              <a:defRPr sz="2000" b="0">
                <a:solidFill>
                  <a:srgbClr val="193540"/>
                </a:solidFill>
                <a:latin typeface="DejaVu Sans"/>
              </a:defRPr>
            </a:pPr>
            <a:r>
              <a:t>och villkor är skilda från elhandelsproduktens pris och låses inte genom en</a:t>
            </a:r>
          </a:p>
          <a:p>
            <a:pPr>
              <a:lnSpc>
                <a:spcPts val="2480"/>
              </a:lnSpc>
              <a:spcBef>
                <a:spcPts val="0"/>
              </a:spcBef>
              <a:spcAft>
                <a:spcPts val="0"/>
              </a:spcAft>
              <a:defRPr sz="2000" b="0">
                <a:solidFill>
                  <a:srgbClr val="193540"/>
                </a:solidFill>
                <a:latin typeface="DejaVu Sans"/>
              </a:defRPr>
            </a:pPr>
            <a:r>
              <a:t>elhandelssäkring.</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Effektavgift — Nätavgift som enligt nätbolagets villkor kan bero på uppmätt</a:t>
            </a:r>
          </a:p>
          <a:p>
            <a:pPr>
              <a:lnSpc>
                <a:spcPts val="2480"/>
              </a:lnSpc>
              <a:spcBef>
                <a:spcPts val="0"/>
              </a:spcBef>
              <a:spcAft>
                <a:spcPts val="0"/>
              </a:spcAft>
              <a:defRPr sz="2000" b="0">
                <a:solidFill>
                  <a:srgbClr val="193540"/>
                </a:solidFill>
                <a:latin typeface="DejaVu Sans"/>
              </a:defRPr>
            </a:pPr>
            <a:r>
              <a:t>eller beräknad effekt. Lastflytt kan påverka både energi och effekt; anta inte</a:t>
            </a:r>
          </a:p>
          <a:p>
            <a:pPr>
              <a:lnSpc>
                <a:spcPts val="2480"/>
              </a:lnSpc>
              <a:spcBef>
                <a:spcPts val="0"/>
              </a:spcBef>
              <a:spcAft>
                <a:spcPts val="0"/>
              </a:spcAft>
              <a:defRPr sz="2000" b="0">
                <a:solidFill>
                  <a:srgbClr val="193540"/>
                </a:solidFill>
                <a:latin typeface="DejaVu Sans"/>
              </a:defRPr>
            </a:pPr>
            <a:r>
              <a:t>ett visst nätutfall utan aktuella villkor.</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Energiskatt — Skattepost kopplad till elanvändningen enligt gällande regler.</a:t>
            </a:r>
          </a:p>
          <a:p>
            <a:pPr>
              <a:lnSpc>
                <a:spcPts val="2480"/>
              </a:lnSpc>
              <a:spcBef>
                <a:spcPts val="0"/>
              </a:spcBef>
              <a:spcAft>
                <a:spcPts val="0"/>
              </a:spcAft>
              <a:defRPr sz="2000" b="0">
                <a:solidFill>
                  <a:srgbClr val="193540"/>
                </a:solidFill>
                <a:latin typeface="DejaVu Sans"/>
              </a:defRPr>
            </a:pPr>
            <a:r>
              <a:t>Den ska hållas isär från produktens säkrade elhandelskomponenter; kursen</a:t>
            </a:r>
          </a:p>
          <a:p>
            <a:pPr>
              <a:lnSpc>
                <a:spcPts val="2480"/>
              </a:lnSpc>
              <a:spcBef>
                <a:spcPts val="0"/>
              </a:spcBef>
              <a:spcAft>
                <a:spcPts val="0"/>
              </a:spcAft>
              <a:defRPr sz="2000" b="0">
                <a:solidFill>
                  <a:srgbClr val="193540"/>
                </a:solidFill>
                <a:latin typeface="DejaVu Sans"/>
              </a:defRPr>
            </a:pPr>
            <a:r>
              <a:t>fastställer ingen generell aktuell skattesats.</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Moms — Skattepåslag på de poster som omfattas av gällande regler.</a:t>
            </a:r>
          </a:p>
          <a:p>
            <a:pPr>
              <a:lnSpc>
                <a:spcPts val="2480"/>
              </a:lnSpc>
              <a:spcBef>
                <a:spcPts val="0"/>
              </a:spcBef>
              <a:spcAft>
                <a:spcPts val="0"/>
              </a:spcAft>
              <a:defRPr sz="2000" b="0">
                <a:solidFill>
                  <a:srgbClr val="193540"/>
                </a:solidFill>
                <a:latin typeface="DejaVu Sans"/>
              </a:defRPr>
            </a:pPr>
            <a:r>
              <a:t>Jämförelser behöver samma momsgrund. Ett pris före moms och ett pris</a:t>
            </a:r>
          </a:p>
          <a:p>
            <a:pPr>
              <a:lnSpc>
                <a:spcPts val="2480"/>
              </a:lnSpc>
              <a:spcBef>
                <a:spcPts val="0"/>
              </a:spcBef>
              <a:spcAft>
                <a:spcPts val="0"/>
              </a:spcAft>
              <a:defRPr sz="2000" b="0">
                <a:solidFill>
                  <a:srgbClr val="193540"/>
                </a:solidFill>
                <a:latin typeface="DejaVu Sans"/>
              </a:defRPr>
            </a:pPr>
            <a:r>
              <a:t>inklusive moms kan inte direkt jämföras.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Påslag — Avtalad kostnad utöver en angiven prisreferens, ofta uttryckt per</a:t>
            </a:r>
          </a:p>
          <a:p>
            <a:pPr>
              <a:lnSpc>
                <a:spcPts val="2480"/>
              </a:lnSpc>
              <a:spcBef>
                <a:spcPts val="0"/>
              </a:spcBef>
              <a:spcAft>
                <a:spcPts val="0"/>
              </a:spcAft>
              <a:defRPr sz="2000" b="0">
                <a:solidFill>
                  <a:srgbClr val="193540"/>
                </a:solidFill>
                <a:latin typeface="DejaVu Sans"/>
              </a:defRPr>
            </a:pPr>
            <a:r>
              <a:t>kWh. Kontrollera vilka kostnader som redan ingår så att samma post inte</a:t>
            </a:r>
          </a:p>
          <a:p>
            <a:pPr>
              <a:lnSpc>
                <a:spcPts val="2480"/>
              </a:lnSpc>
              <a:spcBef>
                <a:spcPts val="0"/>
              </a:spcBef>
              <a:spcAft>
                <a:spcPts val="0"/>
              </a:spcAft>
              <a:defRPr sz="2000" b="0">
                <a:solidFill>
                  <a:srgbClr val="193540"/>
                </a:solidFill>
                <a:latin typeface="DejaVu Sans"/>
              </a:defRPr>
            </a:pPr>
            <a:r>
              <a:t>läggs till två gånger.</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 avgift — Avgift som inte direkt varierar med kWh i den angivna perioden.</a:t>
            </a:r>
          </a:p>
          <a:p>
            <a:pPr>
              <a:lnSpc>
                <a:spcPts val="2480"/>
              </a:lnSpc>
              <a:spcBef>
                <a:spcPts val="0"/>
              </a:spcBef>
              <a:spcAft>
                <a:spcPts val="0"/>
              </a:spcAft>
              <a:defRPr sz="2000" b="0">
                <a:solidFill>
                  <a:srgbClr val="193540"/>
                </a:solidFill>
                <a:latin typeface="DejaVu Sans"/>
              </a:defRPr>
            </a:pPr>
            <a:r>
              <a:t>Samma månadsavgift ger högre effektivt örepåslag per kWh vid mindre</a:t>
            </a:r>
          </a:p>
          <a:p>
            <a:pPr>
              <a:lnSpc>
                <a:spcPts val="2480"/>
              </a:lnSpc>
              <a:spcBef>
                <a:spcPts val="0"/>
              </a:spcBef>
              <a:spcAft>
                <a:spcPts val="0"/>
              </a:spcAft>
              <a:defRPr sz="2000" b="0">
                <a:solidFill>
                  <a:srgbClr val="193540"/>
                </a:solidFill>
                <a:latin typeface="DejaVu Sans"/>
              </a:defRPr>
            </a:pPr>
            <a:r>
              <a:t>förbrukning.</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Prisbilaga — Avtalsunderlag som definierar prisreferenser, kostnadsposter och</a:t>
            </a:r>
          </a:p>
          <a:p>
            <a:pPr>
              <a:lnSpc>
                <a:spcPts val="2480"/>
              </a:lnSpc>
              <a:spcBef>
                <a:spcPts val="0"/>
              </a:spcBef>
              <a:spcAft>
                <a:spcPts val="0"/>
              </a:spcAft>
              <a:defRPr sz="2000" b="0">
                <a:solidFill>
                  <a:srgbClr val="193540"/>
                </a:solidFill>
                <a:latin typeface="DejaVu Sans"/>
              </a:defRPr>
            </a:pPr>
            <a:r>
              <a:t>avräkning. Den aktuella versionen avgör kundens prisomfattning och kan inte</a:t>
            </a:r>
          </a:p>
          <a:p>
            <a:pPr>
              <a:lnSpc>
                <a:spcPts val="2480"/>
              </a:lnSpc>
              <a:spcBef>
                <a:spcPts val="0"/>
              </a:spcBef>
              <a:spcAft>
                <a:spcPts val="0"/>
              </a:spcAft>
              <a:defRPr sz="2000" b="0">
                <a:solidFill>
                  <a:srgbClr val="193540"/>
                </a:solidFill>
                <a:latin typeface="DejaVu Sans"/>
              </a:defRPr>
            </a:pPr>
            <a:r>
              <a:t>ersättas med en generell kursformel.</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Offertgiltighet — Den tidsram och de förutsättningar under vilka ett</a:t>
            </a:r>
          </a:p>
          <a:p>
            <a:pPr>
              <a:lnSpc>
                <a:spcPts val="2480"/>
              </a:lnSpc>
              <a:spcBef>
                <a:spcPts val="0"/>
              </a:spcBef>
              <a:spcAft>
                <a:spcPts val="0"/>
              </a:spcAft>
              <a:defRPr sz="2000" b="0">
                <a:solidFill>
                  <a:srgbClr val="193540"/>
                </a:solidFill>
                <a:latin typeface="DejaVu Sans"/>
              </a:defRPr>
            </a:pPr>
            <a:r>
              <a:t>erbjudande kan accepteras. En historisk prisuppgift i utbildningen är inte ett</a:t>
            </a:r>
          </a:p>
          <a:p>
            <a:pPr>
              <a:lnSpc>
                <a:spcPts val="2480"/>
              </a:lnSpc>
              <a:spcBef>
                <a:spcPts val="0"/>
              </a:spcBef>
              <a:spcAft>
                <a:spcPts val="0"/>
              </a:spcAft>
              <a:defRPr sz="2000" b="0">
                <a:solidFill>
                  <a:srgbClr val="193540"/>
                </a:solidFill>
                <a:latin typeface="DejaVu Sans"/>
              </a:defRPr>
            </a:pPr>
            <a:r>
              <a:t>aktuellt erbjudande.</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Bruttoförbrukning — Verksamhetens eller hushållets totala elanvändning,</a:t>
            </a:r>
          </a:p>
          <a:p>
            <a:pPr>
              <a:lnSpc>
                <a:spcPts val="2480"/>
              </a:lnSpc>
              <a:spcBef>
                <a:spcPts val="0"/>
              </a:spcBef>
              <a:spcAft>
                <a:spcPts val="0"/>
              </a:spcAft>
              <a:defRPr sz="2000" b="0">
                <a:solidFill>
                  <a:srgbClr val="193540"/>
                </a:solidFill>
                <a:latin typeface="DejaVu Sans"/>
              </a:defRPr>
            </a:pPr>
            <a:r>
              <a:t>oavsett om elen tas från nätet eller egen produktion. Den är inte automatiskt</a:t>
            </a:r>
          </a:p>
          <a:p>
            <a:pPr>
              <a:lnSpc>
                <a:spcPts val="2480"/>
              </a:lnSpc>
              <a:spcBef>
                <a:spcPts val="0"/>
              </a:spcBef>
              <a:spcAft>
                <a:spcPts val="0"/>
              </a:spcAft>
              <a:defRPr sz="2000" b="0">
                <a:solidFill>
                  <a:srgbClr val="193540"/>
                </a:solidFill>
                <a:latin typeface="DejaVu Sans"/>
              </a:defRPr>
            </a:pPr>
            <a:r>
              <a:t>samma som nätinköpet.</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Nätinköp — El som behöver köpas från nätet. Egenanvänd produktion kan</a:t>
            </a:r>
          </a:p>
          <a:p>
            <a:pPr>
              <a:lnSpc>
                <a:spcPts val="2480"/>
              </a:lnSpc>
              <a:spcBef>
                <a:spcPts val="0"/>
              </a:spcBef>
              <a:spcAft>
                <a:spcPts val="0"/>
              </a:spcAft>
              <a:defRPr sz="2000" b="0">
                <a:solidFill>
                  <a:srgbClr val="193540"/>
                </a:solidFill>
                <a:latin typeface="DejaVu Sans"/>
              </a:defRPr>
            </a:pPr>
            <a:r>
              <a:t>minska inköpet; exporterad el är ett annat flöde. Separera mängder och</a:t>
            </a:r>
          </a:p>
          <a:p>
            <a:pPr>
              <a:lnSpc>
                <a:spcPts val="2480"/>
              </a:lnSpc>
              <a:spcBef>
                <a:spcPts val="0"/>
              </a:spcBef>
              <a:spcAft>
                <a:spcPts val="0"/>
              </a:spcAft>
              <a:defRPr sz="2000" b="0">
                <a:solidFill>
                  <a:srgbClr val="193540"/>
                </a:solidFill>
                <a:latin typeface="DejaVu Sans"/>
              </a:defRPr>
            </a:pPr>
            <a:r>
              <a:t>perioder i prognosen.</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Egenanvänd solel — Del av egen solelproduktion som faktiskt används i den</a:t>
            </a:r>
          </a:p>
          <a:p>
            <a:pPr>
              <a:lnSpc>
                <a:spcPts val="2480"/>
              </a:lnSpc>
              <a:spcBef>
                <a:spcPts val="0"/>
              </a:spcBef>
              <a:spcAft>
                <a:spcPts val="0"/>
              </a:spcAft>
              <a:defRPr sz="2000" b="0">
                <a:solidFill>
                  <a:srgbClr val="193540"/>
                </a:solidFill>
                <a:latin typeface="DejaVu Sans"/>
              </a:defRPr>
            </a:pPr>
            <a:r>
              <a:t>egna anläggningen. Den minskar motsvarande nätinköp i tidsmässigt</a:t>
            </a:r>
          </a:p>
          <a:p>
            <a:pPr>
              <a:lnSpc>
                <a:spcPts val="2480"/>
              </a:lnSpc>
              <a:spcBef>
                <a:spcPts val="0"/>
              </a:spcBef>
              <a:spcAft>
                <a:spcPts val="0"/>
              </a:spcAft>
              <a:defRPr sz="2000" b="0">
                <a:solidFill>
                  <a:srgbClr val="193540"/>
                </a:solidFill>
                <a:latin typeface="DejaVu Sans"/>
              </a:defRPr>
            </a:pPr>
            <a:r>
              <a:t>matchad användning; all producerad solel är inte egenanvänd.</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Export av el — Egenproducerad el som matas ut till nätet. Export ska inte</a:t>
            </a:r>
          </a:p>
          <a:p>
            <a:pPr>
              <a:lnSpc>
                <a:spcPts val="2480"/>
              </a:lnSpc>
              <a:spcBef>
                <a:spcPts val="0"/>
              </a:spcBef>
              <a:spcAft>
                <a:spcPts val="0"/>
              </a:spcAft>
              <a:defRPr sz="2000" b="0">
                <a:solidFill>
                  <a:srgbClr val="193540"/>
                </a:solidFill>
                <a:latin typeface="DejaVu Sans"/>
              </a:defRPr>
            </a:pPr>
            <a:r>
              <a:t>automatiskt dras av som om den ersatte inköpt el; inköp och försäljning hålls</a:t>
            </a:r>
          </a:p>
          <a:p>
            <a:pPr>
              <a:lnSpc>
                <a:spcPts val="2480"/>
              </a:lnSpc>
              <a:spcBef>
                <a:spcPts val="0"/>
              </a:spcBef>
              <a:spcAft>
                <a:spcPts val="0"/>
              </a:spcAft>
              <a:defRPr sz="2000" b="0">
                <a:solidFill>
                  <a:srgbClr val="193540"/>
                </a:solidFill>
                <a:latin typeface="DejaVu Sans"/>
              </a:defRPr>
            </a:pPr>
            <a:r>
              <a:t>isär.</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419</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Lastflytt — Ändrad tidpunkt för användning, exempelvis laddning. Vid</a:t>
            </a:r>
          </a:p>
          <a:p>
            <a:pPr>
              <a:lnSpc>
                <a:spcPts val="2480"/>
              </a:lnSpc>
              <a:spcBef>
                <a:spcPts val="0"/>
              </a:spcBef>
              <a:spcAft>
                <a:spcPts val="0"/>
              </a:spcAft>
              <a:defRPr sz="2000" b="0">
                <a:solidFill>
                  <a:srgbClr val="193540"/>
                </a:solidFill>
                <a:latin typeface="DejaVu Sans"/>
              </a:defRPr>
            </a:pPr>
            <a:r>
              <a:t>kvartspris kan det ändra individuell energikostnad, men funktion, mätning och</a:t>
            </a:r>
          </a:p>
          <a:p>
            <a:pPr>
              <a:lnSpc>
                <a:spcPts val="2480"/>
              </a:lnSpc>
              <a:spcBef>
                <a:spcPts val="0"/>
              </a:spcBef>
              <a:spcAft>
                <a:spcPts val="0"/>
              </a:spcAft>
              <a:defRPr sz="2000" b="0">
                <a:solidFill>
                  <a:srgbClr val="193540"/>
                </a:solidFill>
                <a:latin typeface="DejaVu Sans"/>
              </a:defRPr>
            </a:pPr>
            <a:r>
              <a:t>nätets effektvillkor behöver kontrolleras.</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Mätvärden — Registrerad förbrukning eller produktion för angivna</a:t>
            </a:r>
          </a:p>
          <a:p>
            <a:pPr>
              <a:lnSpc>
                <a:spcPts val="2480"/>
              </a:lnSpc>
              <a:spcBef>
                <a:spcPts val="0"/>
              </a:spcBef>
              <a:spcAft>
                <a:spcPts val="0"/>
              </a:spcAft>
              <a:defRPr sz="2000" b="0">
                <a:solidFill>
                  <a:srgbClr val="193540"/>
                </a:solidFill>
                <a:latin typeface="DejaVu Sans"/>
              </a:defRPr>
            </a:pPr>
            <a:r>
              <a:t>tidsintervall. Komplett, korrekt data behövs för relevant förbrukningsvägning;</a:t>
            </a:r>
          </a:p>
          <a:p>
            <a:pPr>
              <a:lnSpc>
                <a:spcPts val="2480"/>
              </a:lnSpc>
              <a:spcBef>
                <a:spcPts val="0"/>
              </a:spcBef>
              <a:spcAft>
                <a:spcPts val="0"/>
              </a:spcAft>
              <a:defRPr sz="2000" b="0">
                <a:solidFill>
                  <a:srgbClr val="193540"/>
                </a:solidFill>
                <a:latin typeface="DejaVu Sans"/>
              </a:defRPr>
            </a:pPr>
            <a:r>
              <a:t>en årsvolym visar inte kvartsmönstret.</a:t>
            </a:r>
          </a:p>
        </p:txBody>
      </p:sp>
      <p:sp>
        <p:nvSpPr>
          <p:cNvPr id="8" name="TextBox 7"/>
          <p:cNvSpPr txBox="1"/>
          <p:nvPr/>
        </p:nvSpPr>
        <p:spPr>
          <a:xfrm>
            <a:off x="603504" y="426720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Jämförbar prisomfattning — Samma period, mängd, referenser,</a:t>
            </a:r>
          </a:p>
          <a:p>
            <a:pPr>
              <a:lnSpc>
                <a:spcPts val="2480"/>
              </a:lnSpc>
              <a:spcBef>
                <a:spcPts val="0"/>
              </a:spcBef>
              <a:spcAft>
                <a:spcPts val="0"/>
              </a:spcAft>
              <a:defRPr sz="2000" b="0">
                <a:solidFill>
                  <a:srgbClr val="193540"/>
                </a:solidFill>
                <a:latin typeface="DejaVu Sans"/>
              </a:defRPr>
            </a:pPr>
            <a:r>
              <a:t>profilantaganden, avgifter och skatte-/momsgrund i en jämförelse. Lika öretal</a:t>
            </a:r>
          </a:p>
          <a:p>
            <a:pPr>
              <a:lnSpc>
                <a:spcPts val="2480"/>
              </a:lnSpc>
              <a:spcBef>
                <a:spcPts val="0"/>
              </a:spcBef>
              <a:spcAft>
                <a:spcPts val="0"/>
              </a:spcAft>
              <a:defRPr sz="2000" b="0">
                <a:solidFill>
                  <a:srgbClr val="193540"/>
                </a:solidFill>
                <a:latin typeface="DejaVu Sans"/>
              </a:defRPr>
            </a:pPr>
            <a:r>
              <a:t>räcker inte om prisraderna omfattar olika delar.</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UPPSLAG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Ordlista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420</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Återberättelse — Kunden beskriver med egna ord vad produkten innebär, vad</a:t>
            </a:r>
          </a:p>
          <a:p>
            <a:pPr>
              <a:lnSpc>
                <a:spcPts val="2480"/>
              </a:lnSpc>
              <a:spcBef>
                <a:spcPts val="0"/>
              </a:spcBef>
              <a:spcAft>
                <a:spcPts val="0"/>
              </a:spcAft>
              <a:defRPr sz="2000" b="0">
                <a:solidFill>
                  <a:srgbClr val="193540"/>
                </a:solidFill>
                <a:latin typeface="DejaVu Sans"/>
              </a:defRPr>
            </a:pPr>
            <a:r>
              <a:t>som kan variera och vad beslutet omfattar. Det hjälper säljaren upptäcka</a:t>
            </a:r>
          </a:p>
          <a:p>
            <a:pPr>
              <a:lnSpc>
                <a:spcPts val="2480"/>
              </a:lnSpc>
              <a:spcBef>
                <a:spcPts val="0"/>
              </a:spcBef>
              <a:spcAft>
                <a:spcPts val="0"/>
              </a:spcAft>
              <a:defRPr sz="2000" b="0">
                <a:solidFill>
                  <a:srgbClr val="193540"/>
                </a:solidFill>
                <a:latin typeface="DejaVu Sans"/>
              </a:defRPr>
            </a:pPr>
            <a:r>
              <a:t>missförstånd före beslut.</a:t>
            </a:r>
          </a:p>
        </p:txBody>
      </p:sp>
      <p:sp>
        <p:nvSpPr>
          <p:cNvPr id="7" name="TextBox 6"/>
          <p:cNvSpPr txBox="1"/>
          <p:nvPr/>
        </p:nvSpPr>
        <p:spPr>
          <a:xfrm>
            <a:off x="603504" y="320802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Kunskapskontroll — Övning som prövar förståelse och ger facit eller</a:t>
            </a:r>
          </a:p>
          <a:p>
            <a:pPr>
              <a:lnSpc>
                <a:spcPts val="2480"/>
              </a:lnSpc>
              <a:spcBef>
                <a:spcPts val="0"/>
              </a:spcBef>
              <a:spcAft>
                <a:spcPts val="0"/>
              </a:spcAft>
              <a:defRPr sz="2000" b="0">
                <a:solidFill>
                  <a:srgbClr val="193540"/>
                </a:solidFill>
                <a:latin typeface="DejaVu Sans"/>
              </a:defRPr>
            </a:pPr>
            <a:r>
              <a:t>bedömningsstöd. Resultatet ersätter inte säljmandat, granskad offert,</a:t>
            </a:r>
          </a:p>
          <a:p>
            <a:pPr>
              <a:lnSpc>
                <a:spcPts val="2480"/>
              </a:lnSpc>
              <a:spcBef>
                <a:spcPts val="0"/>
              </a:spcBef>
              <a:spcAft>
                <a:spcPts val="0"/>
              </a:spcAft>
              <a:defRPr sz="2000" b="0">
                <a:solidFill>
                  <a:srgbClr val="193540"/>
                </a:solidFill>
                <a:latin typeface="DejaVu Sans"/>
              </a:defRPr>
            </a:pPr>
            <a:r>
              <a:t>kundavtal eller ett formellt certifieringsbeslut.</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SLUTTEST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Avslutande självtest: Företag / Savera</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421</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Besvara frågorna innan du läser bildanteckningarnas facit.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Förklara prisomfattning, enheter och kvarvarande risk.</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Självtest är träning och ger inte i sig produktmandat.</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maskin märkt 8 kW står på kundens energilista. Vilken komplettering</a:t>
            </a:r>
          </a:p>
          <a:p>
            <a:pPr>
              <a:lnSpc>
                <a:spcPts val="2480"/>
              </a:lnSpc>
              <a:spcBef>
                <a:spcPts val="0"/>
              </a:spcBef>
              <a:spcAft>
                <a:spcPts val="0"/>
              </a:spcAft>
              <a:defRPr sz="2000" b="0">
                <a:solidFill>
                  <a:srgbClr val="193540"/>
                </a:solidFill>
                <a:latin typeface="DejaVu Sans"/>
              </a:defRPr>
            </a:pPr>
            <a:r>
              <a:t>behövs för att uppskatta energimängden?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Antalet timmar maskinen används och hur effekten varierar.</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Endast maskinens elområde; 8 kW är redan en årsvolym.</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Antalet fakturor under året; kW kan direkt multipliceras med öre/kWh.</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prisrad anger redan hela SE4-referensen. Säljaren vill lägga EPAD ovanpå</a:t>
            </a:r>
          </a:p>
          <a:p>
            <a:pPr>
              <a:lnSpc>
                <a:spcPts val="2480"/>
              </a:lnSpc>
              <a:spcBef>
                <a:spcPts val="0"/>
              </a:spcBef>
              <a:spcAft>
                <a:spcPts val="0"/>
              </a:spcAft>
              <a:defRPr sz="2000" b="0">
                <a:solidFill>
                  <a:srgbClr val="193540"/>
                </a:solidFill>
                <a:latin typeface="DejaVu Sans"/>
              </a:defRPr>
            </a:pPr>
            <a:r>
              <a:t>den för att komma till områdets nivå. Vad är rätt?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Lägg EPAD till varje pris eftersom den alltid ligger utanför.</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Lägg både SYS och EPAD ovanpå områdespriset.</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Kontrollera definitionen: skillnaden ingår redan i ett komplett områdespris</a:t>
            </a:r>
          </a:p>
          <a:p>
            <a:pPr>
              <a:lnSpc>
                <a:spcPts val="2480"/>
              </a:lnSpc>
              <a:spcBef>
                <a:spcPts val="0"/>
              </a:spcBef>
              <a:spcAft>
                <a:spcPts val="0"/>
              </a:spcAft>
              <a:defRPr sz="2000" b="0">
                <a:solidFill>
                  <a:srgbClr val="193540"/>
                </a:solidFill>
                <a:latin typeface="DejaVu Sans"/>
              </a:defRPr>
            </a:pPr>
            <a:r>
              <a:t>och ska inte räknas igen.</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Två lager har samma månadsvolymer. Det ena laddar truckar nattid, det</a:t>
            </a:r>
          </a:p>
          <a:p>
            <a:pPr>
              <a:lnSpc>
                <a:spcPts val="2480"/>
              </a:lnSpc>
              <a:spcBef>
                <a:spcPts val="0"/>
              </a:spcBef>
              <a:spcAft>
                <a:spcPts val="0"/>
              </a:spcAft>
              <a:defRPr sz="2000" b="0">
                <a:solidFill>
                  <a:srgbClr val="193540"/>
                </a:solidFill>
                <a:latin typeface="DejaVu Sans"/>
              </a:defRPr>
            </a:pPr>
            <a:r>
              <a:t>andra under andra kvartar. Vilken slutsats är möjlig?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Samma månadsprofil betyder identiskt förbrukningsvägt spotutfall.</a:t>
            </a:r>
          </a:p>
        </p:txBody>
      </p:sp>
      <p:sp>
        <p:nvSpPr>
          <p:cNvPr id="8" name="TextBox 7"/>
          <p:cNvSpPr txBox="1"/>
          <p:nvPr/>
        </p:nvSpPr>
        <p:spPr>
          <a:xfrm>
            <a:off x="603504" y="33223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Dygnsprofilen kan ge olika förbrukningsvägda spotutfall; månadsprofilen</a:t>
            </a:r>
          </a:p>
          <a:p>
            <a:pPr>
              <a:lnSpc>
                <a:spcPts val="2480"/>
              </a:lnSpc>
              <a:spcBef>
                <a:spcPts val="0"/>
              </a:spcBef>
              <a:spcAft>
                <a:spcPts val="0"/>
              </a:spcAft>
              <a:defRPr sz="2000" b="0">
                <a:solidFill>
                  <a:srgbClr val="193540"/>
                </a:solidFill>
                <a:latin typeface="DejaVu Sans"/>
              </a:defRPr>
            </a:pPr>
            <a:r>
              <a:t>visar inte de tiderna.</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Skillnaden måste vara EPAD och kan aldrig bero på användningstid.</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kund med gemensamt Rörligt månadspris vill ha en garanterad individuell</a:t>
            </a:r>
          </a:p>
          <a:p>
            <a:pPr>
              <a:lnSpc>
                <a:spcPts val="2480"/>
              </a:lnSpc>
              <a:spcBef>
                <a:spcPts val="0"/>
              </a:spcBef>
              <a:spcAft>
                <a:spcPts val="0"/>
              </a:spcAft>
              <a:defRPr sz="2000" b="0">
                <a:solidFill>
                  <a:srgbClr val="193540"/>
                </a:solidFill>
                <a:latin typeface="DejaVu Sans"/>
              </a:defRPr>
            </a:pPr>
            <a:r>
              <a:t>spotvinst av nattdrift. Vad kan du säga?</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Nattdrift garanterar samma individuella spotvinst som Kvartspris.</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Rörligt pris blir automatiskt fast om driften flyttas.</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Egen tidsflytt har inte samma direkta individuella prisgenomslag som</a:t>
            </a:r>
          </a:p>
          <a:p>
            <a:pPr>
              <a:lnSpc>
                <a:spcPts val="2480"/>
              </a:lnSpc>
              <a:spcBef>
                <a:spcPts val="0"/>
              </a:spcBef>
              <a:spcAft>
                <a:spcPts val="0"/>
              </a:spcAft>
              <a:defRPr sz="2000" b="0">
                <a:solidFill>
                  <a:srgbClr val="193540"/>
                </a:solidFill>
                <a:latin typeface="DejaVu Sans"/>
              </a:defRPr>
            </a:pPr>
            <a:r>
              <a:t>kvartsviktning; kontrollera månadsmodell och nätvillkor.</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5</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426</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Marknadens spotpris är negativt i några kvartar. Vilket påstående följer?</a:t>
            </a:r>
          </a:p>
        </p:txBody>
      </p:sp>
      <p:sp>
        <p:nvSpPr>
          <p:cNvPr id="7" name="TextBox 6"/>
          <p:cNvSpPr txBox="1"/>
          <p:nvPr/>
        </p:nvSpPr>
        <p:spPr>
          <a:xfrm>
            <a:off x="603504" y="257810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En negativ referens innebär inte automatiskt negativ full kostnad; andra</a:t>
            </a:r>
          </a:p>
          <a:p>
            <a:pPr>
              <a:lnSpc>
                <a:spcPts val="2480"/>
              </a:lnSpc>
              <a:spcBef>
                <a:spcPts val="0"/>
              </a:spcBef>
              <a:spcAft>
                <a:spcPts val="0"/>
              </a:spcAft>
              <a:defRPr sz="2000" b="0">
                <a:solidFill>
                  <a:srgbClr val="193540"/>
                </a:solidFill>
                <a:latin typeface="DejaVu Sans"/>
              </a:defRPr>
            </a:pPr>
            <a:r>
              <a:t>poster och faktisk användning påverkar.</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Hela månaden blir kostnadsfri oavsett användning.</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Nätbolagets effektavgift blir automatiskt negativ.</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6</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vill byta elhandelsmodell för att samtidigt låsa nätavgift och skatt.</a:t>
            </a:r>
          </a:p>
          <a:p>
            <a:pPr>
              <a:lnSpc>
                <a:spcPts val="2480"/>
              </a:lnSpc>
              <a:spcBef>
                <a:spcPts val="0"/>
              </a:spcBef>
              <a:spcAft>
                <a:spcPts val="0"/>
              </a:spcAft>
              <a:defRPr sz="2000" b="0">
                <a:solidFill>
                  <a:srgbClr val="193540"/>
                </a:solidFill>
                <a:latin typeface="DejaVu Sans"/>
              </a:defRPr>
            </a:pPr>
            <a:r>
              <a:t>Vilken beskrivning är korrekt?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SYS/EPAD låser alla fakturarader om kunden säkrar 80 procent.</a:t>
            </a:r>
          </a:p>
        </p:txBody>
      </p:sp>
      <p:sp>
        <p:nvSpPr>
          <p:cNvPr id="8" name="TextBox 7"/>
          <p:cNvSpPr txBox="1"/>
          <p:nvPr/>
        </p:nvSpPr>
        <p:spPr>
          <a:xfrm>
            <a:off x="603504" y="33223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Elhandel, elnät och skatt är separata kostnader; kontrollera dem var för</a:t>
            </a:r>
          </a:p>
          <a:p>
            <a:pPr>
              <a:lnSpc>
                <a:spcPts val="2480"/>
              </a:lnSpc>
              <a:spcBef>
                <a:spcPts val="0"/>
              </a:spcBef>
              <a:spcAft>
                <a:spcPts val="0"/>
              </a:spcAft>
              <a:defRPr sz="2000" b="0">
                <a:solidFill>
                  <a:srgbClr val="193540"/>
                </a:solidFill>
                <a:latin typeface="DejaVu Sans"/>
              </a:defRPr>
            </a:pPr>
            <a:r>
              <a:t>sig.</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Skatt ingår aldrig i någon jämförelse och behöver inte beskrivas.</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7</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428</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har redan valt en säkrad nivå. Därefter sjunker den matchande</a:t>
            </a:r>
          </a:p>
          <a:p>
            <a:pPr>
              <a:lnSpc>
                <a:spcPts val="2480"/>
              </a:lnSpc>
              <a:spcBef>
                <a:spcPts val="0"/>
              </a:spcBef>
              <a:spcAft>
                <a:spcPts val="0"/>
              </a:spcAft>
              <a:defRPr sz="2000" b="0">
                <a:solidFill>
                  <a:srgbClr val="193540"/>
                </a:solidFill>
                <a:latin typeface="DejaVu Sans"/>
              </a:defRPr>
            </a:pPr>
            <a:r>
              <a:t>marknadsreferensen. Vilket budskap är rätt?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Säkringen annulleras automatiskt när den blir dyrare.</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Kunden får alltid den lägre av marknad och säkrad nivå.</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Säkrad nivå följer inte automatiskt ned; lägre senare marknad är en</a:t>
            </a:r>
          </a:p>
          <a:p>
            <a:pPr>
              <a:lnSpc>
                <a:spcPts val="2480"/>
              </a:lnSpc>
              <a:spcBef>
                <a:spcPts val="0"/>
              </a:spcBef>
              <a:spcAft>
                <a:spcPts val="0"/>
              </a:spcAft>
              <a:defRPr sz="2000" b="0">
                <a:solidFill>
                  <a:srgbClr val="193540"/>
                </a:solidFill>
                <a:latin typeface="DejaVu Sans"/>
              </a:defRPr>
            </a:pPr>
            <a:r>
              <a:t>möjlig avvägning med förutsägbarheten.</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8</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429</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Individuell indexportfölj beskrivs med 24 månaders standardhorisont.</a:t>
            </a:r>
          </a:p>
          <a:p>
            <a:pPr>
              <a:lnSpc>
                <a:spcPts val="2480"/>
              </a:lnSpc>
              <a:spcBef>
                <a:spcPts val="0"/>
              </a:spcBef>
              <a:spcAft>
                <a:spcPts val="0"/>
              </a:spcAft>
              <a:defRPr sz="2000" b="0">
                <a:solidFill>
                  <a:srgbClr val="193540"/>
                </a:solidFill>
                <a:latin typeface="DejaVu Sans"/>
              </a:defRPr>
            </a:pPr>
            <a:r>
              <a:t>Vilken uppgift behöver fortfarande kontrolleras separat?</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Avtalslängd och individuell säkringsgrad; horisonten anger hur långt fram</a:t>
            </a:r>
          </a:p>
          <a:p>
            <a:pPr>
              <a:lnSpc>
                <a:spcPts val="2480"/>
              </a:lnSpc>
              <a:spcBef>
                <a:spcPts val="0"/>
              </a:spcBef>
              <a:spcAft>
                <a:spcPts val="0"/>
              </a:spcAft>
              <a:defRPr sz="2000" b="0">
                <a:solidFill>
                  <a:srgbClr val="193540"/>
                </a:solidFill>
                <a:latin typeface="DejaVu Sans"/>
              </a:defRPr>
            </a:pPr>
            <a:r>
              <a:t>inköpsplanen arbetar.</a:t>
            </a:r>
          </a:p>
        </p:txBody>
      </p:sp>
      <p:sp>
        <p:nvSpPr>
          <p:cNvPr id="8" name="TextBox 7"/>
          <p:cNvSpPr txBox="1"/>
          <p:nvPr/>
        </p:nvSpPr>
        <p:spPr>
          <a:xfrm>
            <a:off x="603504" y="36372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Ingenting: 24 månader betyder alltid 24 månaders avtal och 80 procents</a:t>
            </a:r>
          </a:p>
          <a:p>
            <a:pPr>
              <a:lnSpc>
                <a:spcPts val="2480"/>
              </a:lnSpc>
              <a:spcBef>
                <a:spcPts val="0"/>
              </a:spcBef>
              <a:spcAft>
                <a:spcPts val="0"/>
              </a:spcAft>
              <a:defRPr sz="2000" b="0">
                <a:solidFill>
                  <a:srgbClr val="193540"/>
                </a:solidFill>
                <a:latin typeface="DejaVu Sans"/>
              </a:defRPr>
            </a:pPr>
            <a:r>
              <a:t>säkring.</a:t>
            </a:r>
          </a:p>
        </p:txBody>
      </p:sp>
      <p:sp>
        <p:nvSpPr>
          <p:cNvPr id="9" name="TextBox 8"/>
          <p:cNvSpPr txBox="1"/>
          <p:nvPr/>
        </p:nvSpPr>
        <p:spPr>
          <a:xfrm>
            <a:off x="603504" y="43815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Endast fakturadatum; horisont har inget med framtida leverans att göra.</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9</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Pool Trygg-strategi visar 80/20. Vilket underlag behövs för att uttala sig om</a:t>
            </a:r>
          </a:p>
          <a:p>
            <a:pPr>
              <a:lnSpc>
                <a:spcPts val="2480"/>
              </a:lnSpc>
              <a:spcBef>
                <a:spcPts val="0"/>
              </a:spcBef>
              <a:spcAft>
                <a:spcPts val="0"/>
              </a:spcAft>
              <a:defRPr sz="2000" b="0">
                <a:solidFill>
                  <a:srgbClr val="193540"/>
                </a:solidFill>
                <a:latin typeface="DejaVu Sans"/>
              </a:defRPr>
            </a:pPr>
            <a:r>
              <a:t>redan säkrad mängd?</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Inget: strategin är bevis på att 80 procent av varje faktiskt uttag redan är</a:t>
            </a:r>
          </a:p>
          <a:p>
            <a:pPr>
              <a:lnSpc>
                <a:spcPts val="2480"/>
              </a:lnSpc>
              <a:spcBef>
                <a:spcPts val="0"/>
              </a:spcBef>
              <a:spcAft>
                <a:spcPts val="0"/>
              </a:spcAft>
              <a:defRPr sz="2000" b="0">
                <a:solidFill>
                  <a:srgbClr val="193540"/>
                </a:solidFill>
                <a:latin typeface="DejaVu Sans"/>
              </a:defRPr>
            </a:pPr>
            <a:r>
              <a:t>säkrat.</a:t>
            </a:r>
          </a:p>
        </p:txBody>
      </p:sp>
      <p:sp>
        <p:nvSpPr>
          <p:cNvPr id="8" name="TextBox 7"/>
          <p:cNvSpPr txBox="1"/>
          <p:nvPr/>
        </p:nvSpPr>
        <p:spPr>
          <a:xfrm>
            <a:off x="603504" y="36372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Genomförda köp eller positionsunderlag för rätt period, utöver strategi</a:t>
            </a:r>
          </a:p>
          <a:p>
            <a:pPr>
              <a:lnSpc>
                <a:spcPts val="2480"/>
              </a:lnSpc>
              <a:spcBef>
                <a:spcPts val="0"/>
              </a:spcBef>
              <a:spcAft>
                <a:spcPts val="0"/>
              </a:spcAft>
              <a:defRPr sz="2000" b="0">
                <a:solidFill>
                  <a:srgbClr val="193540"/>
                </a:solidFill>
                <a:latin typeface="DejaVu Sans"/>
              </a:defRPr>
            </a:pPr>
            <a:r>
              <a:t>och prognos.</a:t>
            </a:r>
          </a:p>
        </p:txBody>
      </p:sp>
      <p:sp>
        <p:nvSpPr>
          <p:cNvPr id="9" name="TextBox 8"/>
          <p:cNvSpPr txBox="1"/>
          <p:nvPr/>
        </p:nvSpPr>
        <p:spPr>
          <a:xfrm>
            <a:off x="603504" y="43815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Kundens senaste fakturabelopp, eftersom 80/20 är fakturans fördelning.</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10</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äldre utbildningsblad namnger en förvaltare och poolhorisont. Hur används</a:t>
            </a:r>
          </a:p>
          <a:p>
            <a:pPr>
              <a:lnSpc>
                <a:spcPts val="2480"/>
              </a:lnSpc>
              <a:spcBef>
                <a:spcPts val="0"/>
              </a:spcBef>
              <a:spcAft>
                <a:spcPts val="0"/>
              </a:spcAft>
              <a:defRPr sz="2000" b="0">
                <a:solidFill>
                  <a:srgbClr val="193540"/>
                </a:solidFill>
                <a:latin typeface="DejaVu Sans"/>
              </a:defRPr>
            </a:pPr>
            <a:r>
              <a:t>uppgiften när Pool Offensiv ska erbjudas idag?</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Som garanti för dagens ansvarig och oförändrat mandat.</a:t>
            </a:r>
          </a:p>
        </p:txBody>
      </p:sp>
      <p:sp>
        <p:nvSpPr>
          <p:cNvPr id="8" name="TextBox 7"/>
          <p:cNvSpPr txBox="1"/>
          <p:nvPr/>
        </p:nvSpPr>
        <p:spPr>
          <a:xfrm>
            <a:off x="603504" y="33223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Genom att ersätta poolhorisonten med individuell indexstandard 24</a:t>
            </a:r>
          </a:p>
          <a:p>
            <a:pPr>
              <a:lnSpc>
                <a:spcPts val="2480"/>
              </a:lnSpc>
              <a:spcBef>
                <a:spcPts val="0"/>
              </a:spcBef>
              <a:spcAft>
                <a:spcPts val="0"/>
              </a:spcAft>
              <a:defRPr sz="2000" b="0">
                <a:solidFill>
                  <a:srgbClr val="193540"/>
                </a:solidFill>
                <a:latin typeface="DejaVu Sans"/>
              </a:defRPr>
            </a:pPr>
            <a:r>
              <a:t>månader.</a:t>
            </a:r>
          </a:p>
        </p:txBody>
      </p:sp>
      <p:sp>
        <p:nvSpPr>
          <p:cNvPr id="9" name="TextBox 8"/>
          <p:cNvSpPr txBox="1"/>
          <p:nvPr/>
        </p:nvSpPr>
        <p:spPr>
          <a:xfrm>
            <a:off x="603504" y="4066539"/>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Som historisk information; dagens förvaltning, mandat och horisont</a:t>
            </a:r>
          </a:p>
          <a:p>
            <a:pPr>
              <a:lnSpc>
                <a:spcPts val="2480"/>
              </a:lnSpc>
              <a:spcBef>
                <a:spcPts val="0"/>
              </a:spcBef>
              <a:spcAft>
                <a:spcPts val="0"/>
              </a:spcAft>
              <a:defRPr sz="2000" b="0">
                <a:solidFill>
                  <a:srgbClr val="193540"/>
                </a:solidFill>
                <a:latin typeface="DejaVu Sans"/>
              </a:defRPr>
            </a:pPr>
            <a:r>
              <a:t>verifieras i aktuell strategi och offert.</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Stabil-kund flyttar mer produktion från februari till juni efter accepterat</a:t>
            </a:r>
          </a:p>
          <a:p>
            <a:pPr>
              <a:lnSpc>
                <a:spcPts val="2480"/>
              </a:lnSpc>
              <a:spcBef>
                <a:spcPts val="0"/>
              </a:spcBef>
              <a:spcAft>
                <a:spcPts val="0"/>
              </a:spcAft>
              <a:defRPr sz="2000" b="0">
                <a:solidFill>
                  <a:srgbClr val="193540"/>
                </a:solidFill>
                <a:latin typeface="DejaVu Sans"/>
              </a:defRPr>
            </a:pPr>
            <a:r>
              <a:t>upplägg. Vad är en korrekt första förklaring?</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Avtalat SYS/EPAD-pris för säkrad mängd ligger kvar; övriga effekter</a:t>
            </a:r>
          </a:p>
          <a:p>
            <a:pPr>
              <a:lnSpc>
                <a:spcPts val="2480"/>
              </a:lnSpc>
              <a:spcBef>
                <a:spcPts val="0"/>
              </a:spcBef>
              <a:spcAft>
                <a:spcPts val="0"/>
              </a:spcAft>
              <a:defRPr sz="2000" b="0">
                <a:solidFill>
                  <a:srgbClr val="193540"/>
                </a:solidFill>
                <a:latin typeface="DejaVu Sans"/>
              </a:defRPr>
            </a:pPr>
            <a:r>
              <a:t>behöver bedömas enligt aktuellt avtal.</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Alla priser måste omräknas automatiskt med nya månadsvolymer.</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Hela fakturan är oförändrad eftersom produkten heter Stabil.</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uppgift skiljer Direkt från Individuell indexportfölj redan i</a:t>
            </a:r>
          </a:p>
          <a:p>
            <a:pPr>
              <a:lnSpc>
                <a:spcPts val="2480"/>
              </a:lnSpc>
              <a:spcBef>
                <a:spcPts val="0"/>
              </a:spcBef>
              <a:spcAft>
                <a:spcPts val="0"/>
              </a:spcAft>
              <a:defRPr sz="2000" b="0">
                <a:solidFill>
                  <a:srgbClr val="193540"/>
                </a:solidFill>
                <a:latin typeface="DejaVu Sans"/>
              </a:defRPr>
            </a:pPr>
            <a:r>
              <a:t>inköpsprocessen?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Direkt köper dagligen medan individuell index gör ett enda köp.</a:t>
            </a:r>
          </a:p>
        </p:txBody>
      </p:sp>
      <p:sp>
        <p:nvSpPr>
          <p:cNvPr id="8" name="TextBox 7"/>
          <p:cNvSpPr txBox="1"/>
          <p:nvPr/>
        </p:nvSpPr>
        <p:spPr>
          <a:xfrm>
            <a:off x="603504" y="33223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Direkt säkrar vald nivå vid ett tillfälle; individuell index bygger egen</a:t>
            </a:r>
          </a:p>
          <a:p>
            <a:pPr>
              <a:lnSpc>
                <a:spcPts val="2480"/>
              </a:lnSpc>
              <a:spcBef>
                <a:spcPts val="0"/>
              </a:spcBef>
              <a:spcAft>
                <a:spcPts val="0"/>
              </a:spcAft>
              <a:defRPr sz="2000" b="0">
                <a:solidFill>
                  <a:srgbClr val="193540"/>
                </a:solidFill>
                <a:latin typeface="DejaVu Sans"/>
              </a:defRPr>
            </a:pPr>
            <a:r>
              <a:t>säkring med regelstyrda dagliga köp.</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Båda har alltid exakt samma 80-procentsstandard och inköpsprocess.</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energiberäkning: en last använder konstant 8 kW i 3 timmar. Hur</a:t>
            </a:r>
          </a:p>
          <a:p>
            <a:pPr>
              <a:lnSpc>
                <a:spcPts val="2480"/>
              </a:lnSpc>
              <a:spcBef>
                <a:spcPts val="0"/>
              </a:spcBef>
              <a:spcAft>
                <a:spcPts val="0"/>
              </a:spcAft>
              <a:defRPr sz="2000" b="0">
                <a:solidFill>
                  <a:srgbClr val="193540"/>
                </a:solidFill>
                <a:latin typeface="DejaVu Sans"/>
              </a:defRPr>
            </a:pPr>
            <a:r>
              <a:t>många kWh används? Inga kostnader beräknas.</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kWh.</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435</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månadsfall: 4 500 kWh till jämförbart elhandelspris 82 öre/kWh</a:t>
            </a:r>
          </a:p>
          <a:p>
            <a:pPr>
              <a:lnSpc>
                <a:spcPts val="2480"/>
              </a:lnSpc>
              <a:spcBef>
                <a:spcPts val="0"/>
              </a:spcBef>
              <a:spcAft>
                <a:spcPts val="0"/>
              </a:spcAft>
              <a:defRPr sz="2000" b="0">
                <a:solidFill>
                  <a:srgbClr val="193540"/>
                </a:solidFill>
                <a:latin typeface="DejaVu Sans"/>
              </a:defRPr>
            </a:pPr>
            <a:r>
              <a:t>inklusive påslag, plus antagen fast avgift 90 kr. Ingen annan post ingår; nät,</a:t>
            </a:r>
          </a:p>
          <a:p>
            <a:pPr>
              <a:lnSpc>
                <a:spcPts val="2480"/>
              </a:lnSpc>
              <a:spcBef>
                <a:spcPts val="0"/>
              </a:spcBef>
              <a:spcAft>
                <a:spcPts val="0"/>
              </a:spcAft>
              <a:defRPr sz="2000" b="0">
                <a:solidFill>
                  <a:srgbClr val="193540"/>
                </a:solidFill>
                <a:latin typeface="DejaVu Sans"/>
              </a:defRPr>
            </a:pPr>
            <a:r>
              <a:t>skatt och moms är uteslutna. Vad kostar de angivna delarna tillsammans?</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15</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syntetiskt Direkt-underlag är 250 MWh och 80 procent har säkrats. Faktiskt</a:t>
            </a:r>
          </a:p>
          <a:p>
            <a:pPr>
              <a:lnSpc>
                <a:spcPts val="2480"/>
              </a:lnSpc>
              <a:spcBef>
                <a:spcPts val="0"/>
              </a:spcBef>
              <a:spcAft>
                <a:spcPts val="0"/>
              </a:spcAft>
              <a:defRPr sz="2000" b="0">
                <a:solidFill>
                  <a:srgbClr val="193540"/>
                </a:solidFill>
                <a:latin typeface="DejaVu Sans"/>
              </a:defRPr>
            </a:pPr>
            <a:r>
              <a:t>uttag blir 320 MWh för samma period. Hur stor procentandel av faktiskt uttag</a:t>
            </a:r>
          </a:p>
          <a:p>
            <a:pPr>
              <a:lnSpc>
                <a:spcPts val="2480"/>
              </a:lnSpc>
              <a:spcBef>
                <a:spcPts val="0"/>
              </a:spcBef>
              <a:spcAft>
                <a:spcPts val="0"/>
              </a:spcAft>
              <a:defRPr sz="2000" b="0">
                <a:solidFill>
                  <a:srgbClr val="193540"/>
                </a:solidFill>
                <a:latin typeface="DejaVu Sans"/>
              </a:defRPr>
            </a:pPr>
            <a:r>
              <a:t>motsvarar säkrad mängd? Ingen faktura beräknas.</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 av faktisk volym.</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16</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Syntetiska matchande referenser: SYS 45 öre/kWh och elområdesskillnad</a:t>
            </a:r>
          </a:p>
          <a:p>
            <a:pPr>
              <a:lnSpc>
                <a:spcPts val="2480"/>
              </a:lnSpc>
              <a:spcBef>
                <a:spcPts val="0"/>
              </a:spcBef>
              <a:spcAft>
                <a:spcPts val="0"/>
              </a:spcAft>
              <a:defRPr sz="2000" b="0">
                <a:solidFill>
                  <a:srgbClr val="193540"/>
                </a:solidFill>
                <a:latin typeface="DejaVu Sans"/>
              </a:defRPr>
            </a:pPr>
            <a:r>
              <a:t>−8 öre/kWh. Vad blir summan för områdets referens? Andra elhandelsdelar,</a:t>
            </a:r>
          </a:p>
          <a:p>
            <a:pPr>
              <a:lnSpc>
                <a:spcPts val="2480"/>
              </a:lnSpc>
              <a:spcBef>
                <a:spcPts val="0"/>
              </a:spcBef>
              <a:spcAft>
                <a:spcPts val="0"/>
              </a:spcAft>
              <a:defRPr sz="2000" b="0">
                <a:solidFill>
                  <a:srgbClr val="193540"/>
                </a:solidFill>
                <a:latin typeface="DejaVu Sans"/>
              </a:defRPr>
            </a:pPr>
            <a:r>
              <a:t>profil, nät, skatt och moms ingår inte.</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17</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438</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Stabil-viktning av redan säkrad SYS/EPAD-mängd: 180 000 kWh till</a:t>
            </a:r>
          </a:p>
          <a:p>
            <a:pPr>
              <a:lnSpc>
                <a:spcPts val="2480"/>
              </a:lnSpc>
              <a:spcBef>
                <a:spcPts val="0"/>
              </a:spcBef>
              <a:spcAft>
                <a:spcPts val="0"/>
              </a:spcAft>
              <a:defRPr sz="2000" b="0">
                <a:solidFill>
                  <a:srgbClr val="193540"/>
                </a:solidFill>
                <a:latin typeface="DejaVu Sans"/>
              </a:defRPr>
            </a:pPr>
            <a:r>
              <a:t>70 öre och 120 000 kWh till 110 öre. Vilket gemensamt komponentpris fås?</a:t>
            </a:r>
          </a:p>
          <a:p>
            <a:pPr>
              <a:lnSpc>
                <a:spcPts val="2480"/>
              </a:lnSpc>
              <a:spcBef>
                <a:spcPts val="0"/>
              </a:spcBef>
              <a:spcAft>
                <a:spcPts val="0"/>
              </a:spcAft>
              <a:defRPr sz="2000" b="0">
                <a:solidFill>
                  <a:srgbClr val="193540"/>
                </a:solidFill>
                <a:latin typeface="DejaVu Sans"/>
              </a:defRPr>
            </a:pPr>
            <a:r>
              <a:t>Profil, osäkrat, övriga kostnader, nät, skatt och moms ingår inte.</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18</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439</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företag vill sprida inköp över tid, ha en egen plan och anpassa</a:t>
            </a:r>
          </a:p>
          <a:p>
            <a:pPr>
              <a:lnSpc>
                <a:spcPts val="2480"/>
              </a:lnSpc>
              <a:spcBef>
                <a:spcPts val="0"/>
              </a:spcBef>
              <a:spcAft>
                <a:spcPts val="0"/>
              </a:spcAft>
              <a:defRPr sz="2000" b="0">
                <a:solidFill>
                  <a:srgbClr val="193540"/>
                </a:solidFill>
                <a:latin typeface="DejaVu Sans"/>
              </a:defRPr>
            </a:pPr>
            <a:r>
              <a:t>säkringsgrad per säsong. Kollegan rekommenderar Direkt enbart för att</a:t>
            </a:r>
          </a:p>
          <a:p>
            <a:pPr>
              <a:lnSpc>
                <a:spcPts val="2480"/>
              </a:lnSpc>
              <a:spcBef>
                <a:spcPts val="0"/>
              </a:spcBef>
              <a:spcAft>
                <a:spcPts val="0"/>
              </a:spcAft>
              <a:defRPr sz="2000" b="0">
                <a:solidFill>
                  <a:srgbClr val="193540"/>
                </a:solidFill>
                <a:latin typeface="DejaVu Sans"/>
              </a:defRPr>
            </a:pPr>
            <a:r>
              <a:t>kunden är stor. Förklara en bättre väg till produktval och vilka uppgifter som</a:t>
            </a:r>
          </a:p>
          <a:p>
            <a:pPr>
              <a:lnSpc>
                <a:spcPts val="2480"/>
              </a:lnSpc>
              <a:spcBef>
                <a:spcPts val="0"/>
              </a:spcBef>
              <a:spcAft>
                <a:spcPts val="0"/>
              </a:spcAft>
              <a:defRPr sz="2000" b="0">
                <a:solidFill>
                  <a:srgbClr val="193540"/>
                </a:solidFill>
                <a:latin typeface="DejaVu Sans"/>
              </a:defRPr>
            </a:pPr>
            <a:r>
              <a:t>saknas.</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19</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440</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planeringsfall: bruttoförbrukning 400 MWh, solelproduktion</a:t>
            </a:r>
          </a:p>
          <a:p>
            <a:pPr>
              <a:lnSpc>
                <a:spcPts val="2480"/>
              </a:lnSpc>
              <a:spcBef>
                <a:spcPts val="0"/>
              </a:spcBef>
              <a:spcAft>
                <a:spcPts val="0"/>
              </a:spcAft>
              <a:defRPr sz="2000" b="0">
                <a:solidFill>
                  <a:srgbClr val="193540"/>
                </a:solidFill>
                <a:latin typeface="DejaVu Sans"/>
              </a:defRPr>
            </a:pPr>
            <a:r>
              <a:t>120 MWh, varav 90 MWh egenanvänd och 30 MWh exporterad för samma år.</a:t>
            </a:r>
          </a:p>
          <a:p>
            <a:pPr>
              <a:lnSpc>
                <a:spcPts val="2480"/>
              </a:lnSpc>
              <a:spcBef>
                <a:spcPts val="0"/>
              </a:spcBef>
              <a:spcAft>
                <a:spcPts val="0"/>
              </a:spcAft>
              <a:defRPr sz="2000" b="0">
                <a:solidFill>
                  <a:srgbClr val="193540"/>
                </a:solidFill>
                <a:latin typeface="DejaVu Sans"/>
              </a:defRPr>
            </a:pPr>
            <a:r>
              <a:t>Ingen lagring eller annan produktion finns i övningen. Kollegan sänker</a:t>
            </a:r>
          </a:p>
          <a:p>
            <a:pPr>
              <a:lnSpc>
                <a:spcPts val="2480"/>
              </a:lnSpc>
              <a:spcBef>
                <a:spcPts val="0"/>
              </a:spcBef>
              <a:spcAft>
                <a:spcPts val="0"/>
              </a:spcAft>
              <a:defRPr sz="2000" b="0">
                <a:solidFill>
                  <a:srgbClr val="193540"/>
                </a:solidFill>
                <a:latin typeface="DejaVu Sans"/>
              </a:defRPr>
            </a:pPr>
            <a:r>
              <a:t>nätinköpsprognosen till 280 MWh. Korrigera resonemanget och beskriv vad</a:t>
            </a:r>
          </a:p>
          <a:p>
            <a:pPr>
              <a:lnSpc>
                <a:spcPts val="2480"/>
              </a:lnSpc>
              <a:spcBef>
                <a:spcPts val="0"/>
              </a:spcBef>
              <a:spcAft>
                <a:spcPts val="0"/>
              </a:spcAft>
              <a:defRPr sz="2000" b="0">
                <a:solidFill>
                  <a:srgbClr val="193540"/>
                </a:solidFill>
                <a:latin typeface="DejaVu Sans"/>
              </a:defRPr>
            </a:pPr>
            <a:r>
              <a:t>som fortfarande behövs inför säkring.</a:t>
            </a:r>
          </a:p>
        </p:txBody>
      </p:sp>
      <p:sp>
        <p:nvSpPr>
          <p:cNvPr id="7" name="TextBox 6"/>
          <p:cNvSpPr txBox="1"/>
          <p:nvPr/>
        </p:nvSpPr>
        <p:spPr>
          <a:xfrm>
            <a:off x="603504" y="38379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Företag / Savera · fråga 20</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441</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Två poolofferter anger olika öretal. Den ena visar bara en portföljkomponent</a:t>
            </a:r>
          </a:p>
          <a:p>
            <a:pPr>
              <a:lnSpc>
                <a:spcPts val="2480"/>
              </a:lnSpc>
              <a:spcBef>
                <a:spcPts val="0"/>
              </a:spcBef>
              <a:spcAft>
                <a:spcPts val="0"/>
              </a:spcAft>
              <a:defRPr sz="2000" b="0">
                <a:solidFill>
                  <a:srgbClr val="193540"/>
                </a:solidFill>
                <a:latin typeface="DejaVu Sans"/>
              </a:defRPr>
            </a:pPr>
            <a:r>
              <a:t>och den andra fler elhandelsdelar. Kunden ber dig välja billigast och garantera</a:t>
            </a:r>
          </a:p>
          <a:p>
            <a:pPr>
              <a:lnSpc>
                <a:spcPts val="2480"/>
              </a:lnSpc>
              <a:spcBef>
                <a:spcPts val="0"/>
              </a:spcBef>
              <a:spcAft>
                <a:spcPts val="0"/>
              </a:spcAft>
              <a:defRPr sz="2000" b="0">
                <a:solidFill>
                  <a:srgbClr val="193540"/>
                </a:solidFill>
                <a:latin typeface="DejaVu Sans"/>
              </a:defRPr>
            </a:pPr>
            <a:r>
              <a:t>att Offensivs aktiva del slår index. Skriv ett svar som möjliggör ett välgrundat</a:t>
            </a:r>
          </a:p>
          <a:p>
            <a:pPr>
              <a:lnSpc>
                <a:spcPts val="2480"/>
              </a:lnSpc>
              <a:spcBef>
                <a:spcPts val="0"/>
              </a:spcBef>
              <a:spcAft>
                <a:spcPts val="0"/>
              </a:spcAft>
              <a:defRPr sz="2000" b="0">
                <a:solidFill>
                  <a:srgbClr val="193540"/>
                </a:solidFill>
                <a:latin typeface="DejaVu Sans"/>
              </a:defRPr>
            </a:pPr>
            <a:r>
              <a:t>beslut.</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SLUTTEST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Avslutande självtest: Privatkund / Face2face</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442</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Besvara frågorna innan du läser bildanteckningarnas facit.</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Förklara prisomfattning, enheter och kvarvarande risk.</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Självtest är träning och ger inte i sig produktmandat.</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443</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laddbox kan leverera 6 kW och bilen behöver 18 kWh. Vilket påstående</a:t>
            </a:r>
          </a:p>
          <a:p>
            <a:pPr>
              <a:lnSpc>
                <a:spcPts val="2480"/>
              </a:lnSpc>
              <a:spcBef>
                <a:spcPts val="0"/>
              </a:spcBef>
              <a:spcAft>
                <a:spcPts val="0"/>
              </a:spcAft>
              <a:defRPr sz="2000" b="0">
                <a:solidFill>
                  <a:srgbClr val="193540"/>
                </a:solidFill>
                <a:latin typeface="DejaVu Sans"/>
              </a:defRPr>
            </a:pPr>
            <a:r>
              <a:t>använder enheterna korrekt?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6 kW och 18 kWh är två priser som kan jämföras direkt.</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6 kW beskriver effekt; 18 kWh beskriver energimängd.</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18 kWh är nätets högsta samtidiga effekt.</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444</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får en enda faktura varje månad men har Kvartspris. Vad betyder</a:t>
            </a:r>
          </a:p>
          <a:p>
            <a:pPr>
              <a:lnSpc>
                <a:spcPts val="2480"/>
              </a:lnSpc>
              <a:spcBef>
                <a:spcPts val="0"/>
              </a:spcBef>
              <a:spcAft>
                <a:spcPts val="0"/>
              </a:spcAft>
              <a:defRPr sz="2000" b="0">
                <a:solidFill>
                  <a:srgbClr val="193540"/>
                </a:solidFill>
                <a:latin typeface="DejaVu Sans"/>
              </a:defRPr>
            </a:pPr>
            <a:r>
              <a:t>månadsfakturan för prisberäkningen?</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Varje kvart kan fortfarande avräknas med egen användning och kvartpris;</a:t>
            </a:r>
          </a:p>
          <a:p>
            <a:pPr>
              <a:lnSpc>
                <a:spcPts val="2480"/>
              </a:lnSpc>
              <a:spcBef>
                <a:spcPts val="0"/>
              </a:spcBef>
              <a:spcAft>
                <a:spcPts val="0"/>
              </a:spcAft>
              <a:defRPr sz="2000" b="0">
                <a:solidFill>
                  <a:srgbClr val="193540"/>
                </a:solidFill>
                <a:latin typeface="DejaVu Sans"/>
              </a:defRPr>
            </a:pPr>
            <a:r>
              <a:t>fakturans frekvens ändrar inte modellen.</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Alla kvartar ersätts automatiskt med ett gemensamt månadspris.</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Kunden får samma fakturabelopp varje månad.</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hushåll med Rörligt månadspris flyttar tvätt till en billig kvart. Vilket löfte</a:t>
            </a:r>
          </a:p>
          <a:p>
            <a:pPr>
              <a:lnSpc>
                <a:spcPts val="2480"/>
              </a:lnSpc>
              <a:spcBef>
                <a:spcPts val="0"/>
              </a:spcBef>
              <a:spcAft>
                <a:spcPts val="0"/>
              </a:spcAft>
              <a:defRPr sz="2000" b="0">
                <a:solidFill>
                  <a:srgbClr val="193540"/>
                </a:solidFill>
                <a:latin typeface="DejaVu Sans"/>
              </a:defRPr>
            </a:pPr>
            <a:r>
              <a:t>ska undvikas?</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Att undersöka praktisk flexibilitet och nätets villkor.</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Att förklara skillnaden mot Kvartspris.</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Att lova exakt samma individuella spotbesparing som en Kvartspris-kund.</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446</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Fast elhandelspris per kWh ligger kvar, men kunden använder mer el under en</a:t>
            </a:r>
          </a:p>
          <a:p>
            <a:pPr>
              <a:lnSpc>
                <a:spcPts val="2480"/>
              </a:lnSpc>
              <a:spcBef>
                <a:spcPts val="0"/>
              </a:spcBef>
              <a:spcAft>
                <a:spcPts val="0"/>
              </a:spcAft>
              <a:defRPr sz="2000" b="0">
                <a:solidFill>
                  <a:srgbClr val="193540"/>
                </a:solidFill>
                <a:latin typeface="DejaVu Sans"/>
              </a:defRPr>
            </a:pPr>
            <a:r>
              <a:t>kall månad. Vad kan hända?</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Elhandelsbeloppet kan öka eftersom fler kWh multipliceras med samma</a:t>
            </a:r>
          </a:p>
          <a:p>
            <a:pPr>
              <a:lnSpc>
                <a:spcPts val="2480"/>
              </a:lnSpc>
              <a:spcBef>
                <a:spcPts val="0"/>
              </a:spcBef>
              <a:spcAft>
                <a:spcPts val="0"/>
              </a:spcAft>
              <a:defRPr sz="2000" b="0">
                <a:solidFill>
                  <a:srgbClr val="193540"/>
                </a:solidFill>
                <a:latin typeface="DejaVu Sans"/>
              </a:defRPr>
            </a:pPr>
            <a:r>
              <a:t>pris.</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Fakturan måste vara identisk eftersom produkten heter Fastpris.</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All extra energi saknar kostnad när priset är fast.</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5</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447</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säger att Opti väljer ett nytt billigaste alternativ var femtonde minut.</a:t>
            </a:r>
          </a:p>
          <a:p>
            <a:pPr>
              <a:lnSpc>
                <a:spcPts val="2480"/>
              </a:lnSpc>
              <a:spcBef>
                <a:spcPts val="0"/>
              </a:spcBef>
              <a:spcAft>
                <a:spcPts val="0"/>
              </a:spcAft>
              <a:defRPr sz="2000" b="0">
                <a:solidFill>
                  <a:srgbClr val="193540"/>
                </a:solidFill>
                <a:latin typeface="DejaVu Sans"/>
              </a:defRPr>
            </a:pPr>
            <a:r>
              <a:t>Hur rättar du det?</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Opti väljer lägsta pris från alla leverantörer varje kvart.</a:t>
            </a:r>
          </a:p>
        </p:txBody>
      </p:sp>
      <p:sp>
        <p:nvSpPr>
          <p:cNvPr id="8" name="TextBox 7"/>
          <p:cNvSpPr txBox="1"/>
          <p:nvPr/>
        </p:nvSpPr>
        <p:spPr>
          <a:xfrm>
            <a:off x="603504" y="33223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Jämförelsen görs efter hela månaden mellan avtalets två alternativ för</a:t>
            </a:r>
          </a:p>
          <a:p>
            <a:pPr>
              <a:lnSpc>
                <a:spcPts val="2480"/>
              </a:lnSpc>
              <a:spcBef>
                <a:spcPts val="0"/>
              </a:spcBef>
              <a:spcAft>
                <a:spcPts val="0"/>
              </a:spcAft>
              <a:defRPr sz="2000" b="0">
                <a:solidFill>
                  <a:srgbClr val="193540"/>
                </a:solidFill>
                <a:latin typeface="DejaVu Sans"/>
              </a:defRPr>
            </a:pPr>
            <a:r>
              <a:t>samma faktiska volym och delar.</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Opti fryser alla framtida kvartpriser vid avtalets början.</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6</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448</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Optis båda jämförda månadsvärden stiger. Vad säger modellen om framtida</a:t>
            </a:r>
          </a:p>
          <a:p>
            <a:pPr>
              <a:lnSpc>
                <a:spcPts val="2480"/>
              </a:lnSpc>
              <a:spcBef>
                <a:spcPts val="0"/>
              </a:spcBef>
              <a:spcAft>
                <a:spcPts val="0"/>
              </a:spcAft>
              <a:defRPr sz="2000" b="0">
                <a:solidFill>
                  <a:srgbClr val="193540"/>
                </a:solidFill>
                <a:latin typeface="DejaVu Sans"/>
              </a:defRPr>
            </a:pPr>
            <a:r>
              <a:t>kostnad?</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En absolut maxnivå hindrar alla uppgångar.</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Elnät och skatt sänks automatiskt för att behålla kostnaden.</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Kostnaden kan ändå stiga; lägre av två avtalsalternativ är inte ett fast</a:t>
            </a:r>
          </a:p>
          <a:p>
            <a:pPr>
              <a:lnSpc>
                <a:spcPts val="2480"/>
              </a:lnSpc>
              <a:spcBef>
                <a:spcPts val="0"/>
              </a:spcBef>
              <a:spcAft>
                <a:spcPts val="0"/>
              </a:spcAft>
              <a:defRPr sz="2000" b="0">
                <a:solidFill>
                  <a:srgbClr val="193540"/>
                </a:solidFill>
                <a:latin typeface="DejaVu Sans"/>
              </a:defRPr>
            </a:pPr>
            <a:r>
              <a:t>pristak.</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7</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449</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Vilken del ingår uttryckligen i Vintersäkrats fasta vinterpris enligt</a:t>
            </a:r>
          </a:p>
          <a:p>
            <a:pPr>
              <a:lnSpc>
                <a:spcPts val="2480"/>
              </a:lnSpc>
              <a:spcBef>
                <a:spcPts val="0"/>
              </a:spcBef>
              <a:spcAft>
                <a:spcPts val="0"/>
              </a:spcAft>
              <a:defRPr sz="2000" b="0">
                <a:solidFill>
                  <a:srgbClr val="193540"/>
                </a:solidFill>
                <a:latin typeface="DejaVu Sans"/>
              </a:defRPr>
            </a:pPr>
            <a:r>
              <a:t>produktunderlaget?</a:t>
            </a:r>
          </a:p>
        </p:txBody>
      </p:sp>
      <p:sp>
        <p:nvSpPr>
          <p:cNvPr id="7" name="TextBox 6"/>
          <p:cNvSpPr txBox="1"/>
          <p:nvPr/>
        </p:nvSpPr>
        <p:spPr>
          <a:xfrm>
            <a:off x="603504" y="289306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Alla elhandelsdelar inklusive dygnsprofil; nät, skatt och moms hålls</a:t>
            </a:r>
          </a:p>
          <a:p>
            <a:pPr>
              <a:lnSpc>
                <a:spcPts val="2480"/>
              </a:lnSpc>
              <a:spcBef>
                <a:spcPts val="0"/>
              </a:spcBef>
              <a:spcAft>
                <a:spcPts val="0"/>
              </a:spcAft>
              <a:defRPr sz="2000" b="0">
                <a:solidFill>
                  <a:srgbClr val="193540"/>
                </a:solidFill>
                <a:latin typeface="DejaVu Sans"/>
              </a:defRPr>
            </a:pPr>
            <a:r>
              <a:t>separat.</a:t>
            </a:r>
          </a:p>
        </p:txBody>
      </p:sp>
      <p:sp>
        <p:nvSpPr>
          <p:cNvPr id="8" name="TextBox 7"/>
          <p:cNvSpPr txBox="1"/>
          <p:nvPr/>
        </p:nvSpPr>
        <p:spPr>
          <a:xfrm>
            <a:off x="603504" y="36372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Bara systempriset; alla andra vinterdelar är automatiskt öppna.</a:t>
            </a:r>
          </a:p>
        </p:txBody>
      </p:sp>
      <p:sp>
        <p:nvSpPr>
          <p:cNvPr id="9" name="TextBox 8"/>
          <p:cNvSpPr txBox="1"/>
          <p:nvPr/>
        </p:nvSpPr>
        <p:spPr>
          <a:xfrm>
            <a:off x="603504" y="4066539"/>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Elnätets alla framtida avgifter och hushållets totala årsfaktura.</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8</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450</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I Vintersäkrats standardkalender avser användningen oktober men fakturan</a:t>
            </a:r>
          </a:p>
          <a:p>
            <a:pPr>
              <a:lnSpc>
                <a:spcPts val="2480"/>
              </a:lnSpc>
              <a:spcBef>
                <a:spcPts val="0"/>
              </a:spcBef>
              <a:spcAft>
                <a:spcPts val="0"/>
              </a:spcAft>
              <a:defRPr sz="2000" b="0">
                <a:solidFill>
                  <a:srgbClr val="193540"/>
                </a:solidFill>
                <a:latin typeface="DejaVu Sans"/>
              </a:defRPr>
            </a:pPr>
            <a:r>
              <a:t>skickas i november. Vilken uppgift styr vinter- eller sommarprisdel?</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Utskriftsdatumet i november, oavsett leverans.</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Leveransmånaden och den uttryckligen avtalade kalendern.</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Kundens betalningsdag bestämmer modell varje gång.</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9</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451</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app visar minuspris på el i en kvart. Vad kan du säkert säga om hela</a:t>
            </a:r>
          </a:p>
          <a:p>
            <a:pPr>
              <a:lnSpc>
                <a:spcPts val="2480"/>
              </a:lnSpc>
              <a:spcBef>
                <a:spcPts val="0"/>
              </a:spcBef>
              <a:spcAft>
                <a:spcPts val="0"/>
              </a:spcAft>
              <a:defRPr sz="2000" b="0">
                <a:solidFill>
                  <a:srgbClr val="193540"/>
                </a:solidFill>
                <a:latin typeface="DejaVu Sans"/>
              </a:defRPr>
            </a:pPr>
            <a:r>
              <a:t>hushållskostnaden?</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Hushållet får alltid betalt för varje kWh inklusive nät.</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Hela månadens el blir gratis.</a:t>
            </a:r>
          </a:p>
        </p:txBody>
      </p:sp>
      <p:sp>
        <p:nvSpPr>
          <p:cNvPr id="9" name="TextBox 8"/>
          <p:cNvSpPr txBox="1"/>
          <p:nvPr/>
        </p:nvSpPr>
        <p:spPr>
          <a:xfrm>
            <a:off x="603504" y="37515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Det behövs fler uppgifter; andra kvartar, mängd och kostnadsposter kan</a:t>
            </a:r>
          </a:p>
          <a:p>
            <a:pPr>
              <a:lnSpc>
                <a:spcPts val="2480"/>
              </a:lnSpc>
              <a:spcBef>
                <a:spcPts val="0"/>
              </a:spcBef>
              <a:spcAft>
                <a:spcPts val="0"/>
              </a:spcAft>
              <a:defRPr sz="2000" b="0">
                <a:solidFill>
                  <a:srgbClr val="193540"/>
                </a:solidFill>
                <a:latin typeface="DejaVu Sans"/>
              </a:defRPr>
            </a:pPr>
            <a:r>
              <a:t>göra totalen positiv.</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10</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452</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Två erbjudanden visar samma öretal men olika månadsavgift. När spelar</a:t>
            </a:r>
          </a:p>
          <a:p>
            <a:pPr>
              <a:lnSpc>
                <a:spcPts val="2480"/>
              </a:lnSpc>
              <a:spcBef>
                <a:spcPts val="0"/>
              </a:spcBef>
              <a:spcAft>
                <a:spcPts val="0"/>
              </a:spcAft>
              <a:defRPr sz="2000" b="0">
                <a:solidFill>
                  <a:srgbClr val="193540"/>
                </a:solidFill>
                <a:latin typeface="DejaVu Sans"/>
              </a:defRPr>
            </a:pPr>
            <a:r>
              <a:t>avgiften mest roll räknat per kWh?</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Vid låg förbrukning, eftersom avgiften fördelas på färre kWh.</a:t>
            </a:r>
          </a:p>
        </p:txBody>
      </p:sp>
      <p:sp>
        <p:nvSpPr>
          <p:cNvPr id="8" name="TextBox 7"/>
          <p:cNvSpPr txBox="1"/>
          <p:nvPr/>
        </p:nvSpPr>
        <p:spPr>
          <a:xfrm>
            <a:off x="603504" y="33223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Den påverkar aldrig jämförbar kostnad.</a:t>
            </a:r>
          </a:p>
        </p:txBody>
      </p:sp>
      <p:sp>
        <p:nvSpPr>
          <p:cNvPr id="9" name="TextBox 8"/>
          <p:cNvSpPr txBox="1"/>
          <p:nvPr/>
        </p:nvSpPr>
        <p:spPr>
          <a:xfrm>
            <a:off x="603504" y="37515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Alltid lika mycket per kWh oavsett mängd.</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11</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453</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Ett sommarhus köper nästan all el på sommaren. Kunden får Vintersäkrat</a:t>
            </a:r>
          </a:p>
          <a:p>
            <a:pPr>
              <a:lnSpc>
                <a:spcPts val="2480"/>
              </a:lnSpc>
              <a:spcBef>
                <a:spcPts val="0"/>
              </a:spcBef>
              <a:spcAft>
                <a:spcPts val="0"/>
              </a:spcAft>
              <a:defRPr sz="2000" b="0">
                <a:solidFill>
                  <a:srgbClr val="193540"/>
                </a:solidFill>
                <a:latin typeface="DejaVu Sans"/>
              </a:defRPr>
            </a:pPr>
            <a:r>
              <a:t>rekommenderat enbart för att huset har elvärme. Vilken fråga är mest</a:t>
            </a:r>
          </a:p>
          <a:p>
            <a:pPr>
              <a:lnSpc>
                <a:spcPts val="2480"/>
              </a:lnSpc>
              <a:spcBef>
                <a:spcPts val="0"/>
              </a:spcBef>
              <a:spcAft>
                <a:spcPts val="0"/>
              </a:spcAft>
              <a:defRPr sz="2000" b="0">
                <a:solidFill>
                  <a:srgbClr val="193540"/>
                </a:solidFill>
                <a:latin typeface="DejaVu Sans"/>
              </a:defRPr>
            </a:pPr>
            <a:r>
              <a:t>relevant?</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Vilken färg har huset?</a:t>
            </a:r>
          </a:p>
        </p:txBody>
      </p:sp>
      <p:sp>
        <p:nvSpPr>
          <p:cNvPr id="8" name="TextBox 7"/>
          <p:cNvSpPr txBox="1"/>
          <p:nvPr/>
        </p:nvSpPr>
        <p:spPr>
          <a:xfrm>
            <a:off x="603504" y="363728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Hur mycket el behöver faktiskt köpas i respektive period och vilken</a:t>
            </a:r>
          </a:p>
          <a:p>
            <a:pPr>
              <a:lnSpc>
                <a:spcPts val="2480"/>
              </a:lnSpc>
              <a:spcBef>
                <a:spcPts val="0"/>
              </a:spcBef>
              <a:spcAft>
                <a:spcPts val="0"/>
              </a:spcAft>
              <a:defRPr sz="2000" b="0">
                <a:solidFill>
                  <a:srgbClr val="193540"/>
                </a:solidFill>
                <a:latin typeface="DejaVu Sans"/>
              </a:defRPr>
            </a:pPr>
            <a:r>
              <a:t>sommarprisrisk accepterar kunden?</a:t>
            </a:r>
          </a:p>
        </p:txBody>
      </p:sp>
      <p:sp>
        <p:nvSpPr>
          <p:cNvPr id="9" name="TextBox 8"/>
          <p:cNvSpPr txBox="1"/>
          <p:nvPr/>
        </p:nvSpPr>
        <p:spPr>
          <a:xfrm>
            <a:off x="603504" y="43815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Vill kunden att vi bortser från inköpsmönstret?</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12</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454</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Vilket samtal är mest användbart som ett lyckat utbildningsexempel?</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A. Det snabbaste avslutet, även om kunden inte förstår priset.</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B. Ett samtal med överdriven prisgaranti eftersom det låter övertygande.</a:t>
            </a:r>
          </a:p>
        </p:txBody>
      </p:sp>
      <p:sp>
        <p:nvSpPr>
          <p:cNvPr id="9" name="TextBox 8"/>
          <p:cNvSpPr txBox="1"/>
          <p:nvPr/>
        </p:nvSpPr>
        <p:spPr>
          <a:xfrm>
            <a:off x="603504" y="343662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 C. Ett exempel där behov, prisomfattning och kvarvarande variation</a:t>
            </a:r>
          </a:p>
          <a:p>
            <a:pPr>
              <a:lnSpc>
                <a:spcPts val="2480"/>
              </a:lnSpc>
              <a:spcBef>
                <a:spcPts val="0"/>
              </a:spcBef>
              <a:spcAft>
                <a:spcPts val="0"/>
              </a:spcAft>
              <a:defRPr sz="2000" b="0">
                <a:solidFill>
                  <a:srgbClr val="193540"/>
                </a:solidFill>
                <a:latin typeface="DejaVu Sans"/>
              </a:defRPr>
            </a:pPr>
            <a:r>
              <a:t>förklaras begripligt och kunden kan återberätta dem.</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13</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455</a:t>
            </a:r>
          </a:p>
        </p:txBody>
      </p:sp>
      <p:sp>
        <p:nvSpPr>
          <p:cNvPr id="6" name="TextBox 5"/>
          <p:cNvSpPr txBox="1"/>
          <p:nvPr/>
        </p:nvSpPr>
        <p:spPr>
          <a:xfrm>
            <a:off x="603504" y="2148840"/>
            <a:ext cx="10972800" cy="62992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energiberäkning: en last håller konstant 6 kW i 2,5 timmar. Hur</a:t>
            </a:r>
          </a:p>
          <a:p>
            <a:pPr>
              <a:lnSpc>
                <a:spcPts val="2480"/>
              </a:lnSpc>
              <a:spcBef>
                <a:spcPts val="0"/>
              </a:spcBef>
              <a:spcAft>
                <a:spcPts val="0"/>
              </a:spcAft>
              <a:defRPr sz="2000" b="0">
                <a:solidFill>
                  <a:srgbClr val="193540"/>
                </a:solidFill>
                <a:latin typeface="DejaVu Sans"/>
              </a:defRPr>
            </a:pPr>
            <a:r>
              <a:t>många kWh används? Ingen kostnad beräknas.</a:t>
            </a:r>
          </a:p>
        </p:txBody>
      </p:sp>
      <p:sp>
        <p:nvSpPr>
          <p:cNvPr id="7" name="TextBox 6"/>
          <p:cNvSpPr txBox="1"/>
          <p:nvPr/>
        </p:nvSpPr>
        <p:spPr>
          <a:xfrm>
            <a:off x="603504" y="28930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kWh.</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14</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456</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Kvartspris-fall, enbart spotenergi: 45 kWh används vid 30 öre/kWh</a:t>
            </a:r>
          </a:p>
          <a:p>
            <a:pPr>
              <a:lnSpc>
                <a:spcPts val="2480"/>
              </a:lnSpc>
              <a:spcBef>
                <a:spcPts val="0"/>
              </a:spcBef>
              <a:spcAft>
                <a:spcPts val="0"/>
              </a:spcAft>
              <a:defRPr sz="2000" b="0">
                <a:solidFill>
                  <a:srgbClr val="193540"/>
                </a:solidFill>
                <a:latin typeface="DejaVu Sans"/>
              </a:defRPr>
            </a:pPr>
            <a:r>
              <a:t>och 55 kWh vid 110 öre/kWh. Vad blir förbrukningsvägt energipris? Påslag,</a:t>
            </a:r>
          </a:p>
          <a:p>
            <a:pPr>
              <a:lnSpc>
                <a:spcPts val="2480"/>
              </a:lnSpc>
              <a:spcBef>
                <a:spcPts val="0"/>
              </a:spcBef>
              <a:spcAft>
                <a:spcPts val="0"/>
              </a:spcAft>
              <a:defRPr sz="2000" b="0">
                <a:solidFill>
                  <a:srgbClr val="193540"/>
                </a:solidFill>
                <a:latin typeface="DejaVu Sans"/>
              </a:defRPr>
            </a:pPr>
            <a:r>
              <a:t>avgifter, nät, skatt och moms ingår inte.</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15</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457</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månadsfall: 900 kWh till 78 öre/kWh inklusive påslag och antagen</a:t>
            </a:r>
          </a:p>
          <a:p>
            <a:pPr>
              <a:lnSpc>
                <a:spcPts val="2480"/>
              </a:lnSpc>
              <a:spcBef>
                <a:spcPts val="0"/>
              </a:spcBef>
              <a:spcAft>
                <a:spcPts val="0"/>
              </a:spcAft>
              <a:defRPr sz="2000" b="0">
                <a:solidFill>
                  <a:srgbClr val="193540"/>
                </a:solidFill>
                <a:latin typeface="DejaVu Sans"/>
              </a:defRPr>
            </a:pPr>
            <a:r>
              <a:t>fast avgift 45 kr. Inga andra poster ingår; nät, skatt och moms utesluts. Vilket</a:t>
            </a:r>
          </a:p>
          <a:p>
            <a:pPr>
              <a:lnSpc>
                <a:spcPts val="2480"/>
              </a:lnSpc>
              <a:spcBef>
                <a:spcPts val="0"/>
              </a:spcBef>
              <a:spcAft>
                <a:spcPts val="0"/>
              </a:spcAft>
              <a:defRPr sz="2000" b="0">
                <a:solidFill>
                  <a:srgbClr val="193540"/>
                </a:solidFill>
                <a:latin typeface="DejaVu Sans"/>
              </a:defRPr>
            </a:pPr>
            <a:r>
              <a:t>effektivt elhandelspris inklusive avgiften får du?</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16</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458</a:t>
            </a:r>
          </a:p>
        </p:txBody>
      </p:sp>
      <p:sp>
        <p:nvSpPr>
          <p:cNvPr id="6" name="TextBox 5"/>
          <p:cNvSpPr txBox="1"/>
          <p:nvPr/>
        </p:nvSpPr>
        <p:spPr>
          <a:xfrm>
            <a:off x="603504" y="2148840"/>
            <a:ext cx="10972800" cy="157480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 Opti-månad: faktisk volym 1 500 kWh. Jämförbara</a:t>
            </a:r>
          </a:p>
          <a:p>
            <a:pPr>
              <a:lnSpc>
                <a:spcPts val="2480"/>
              </a:lnSpc>
              <a:spcBef>
                <a:spcPts val="0"/>
              </a:spcBef>
              <a:spcAft>
                <a:spcPts val="0"/>
              </a:spcAft>
              <a:defRPr sz="2000" b="0">
                <a:solidFill>
                  <a:srgbClr val="193540"/>
                </a:solidFill>
                <a:latin typeface="DejaVu Sans"/>
              </a:defRPr>
            </a:pPr>
            <a:r>
              <a:t>hela-månaden-alternativ är kvartsvägt 96 öre/kWh och rörligt 88 öre/kWh.</a:t>
            </a:r>
          </a:p>
          <a:p>
            <a:pPr>
              <a:lnSpc>
                <a:spcPts val="2480"/>
              </a:lnSpc>
              <a:spcBef>
                <a:spcPts val="0"/>
              </a:spcBef>
              <a:spcAft>
                <a:spcPts val="0"/>
              </a:spcAft>
              <a:defRPr sz="2000" b="0">
                <a:solidFill>
                  <a:srgbClr val="193540"/>
                </a:solidFill>
                <a:latin typeface="DejaVu Sans"/>
              </a:defRPr>
            </a:pPr>
            <a:r>
              <a:t>Antagen gemensam avgift 40 kr ligger utanför båda jämförelsepriserna och</a:t>
            </a:r>
          </a:p>
          <a:p>
            <a:pPr>
              <a:lnSpc>
                <a:spcPts val="2480"/>
              </a:lnSpc>
              <a:spcBef>
                <a:spcPts val="0"/>
              </a:spcBef>
              <a:spcAft>
                <a:spcPts val="0"/>
              </a:spcAft>
              <a:defRPr sz="2000" b="0">
                <a:solidFill>
                  <a:srgbClr val="193540"/>
                </a:solidFill>
                <a:latin typeface="DejaVu Sans"/>
              </a:defRPr>
            </a:pPr>
            <a:r>
              <a:t>tillkommer en gång. Vad blir övningens elhandelsbelopp? Nät, skatt och moms</a:t>
            </a:r>
          </a:p>
          <a:p>
            <a:pPr>
              <a:lnSpc>
                <a:spcPts val="2480"/>
              </a:lnSpc>
              <a:spcBef>
                <a:spcPts val="0"/>
              </a:spcBef>
              <a:spcAft>
                <a:spcPts val="0"/>
              </a:spcAft>
              <a:defRPr sz="2000" b="0">
                <a:solidFill>
                  <a:srgbClr val="193540"/>
                </a:solidFill>
                <a:latin typeface="DejaVu Sans"/>
              </a:defRPr>
            </a:pPr>
            <a:r>
              <a:t>ingår inte.</a:t>
            </a:r>
          </a:p>
        </p:txBody>
      </p:sp>
      <p:sp>
        <p:nvSpPr>
          <p:cNvPr id="7" name="TextBox 6"/>
          <p:cNvSpPr txBox="1"/>
          <p:nvPr/>
        </p:nvSpPr>
        <p:spPr>
          <a:xfrm>
            <a:off x="603504" y="38379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kr.</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17</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459</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Syntetiskt Vintersäkrat-år: 9 000 kWh till fast vinterpris 95 öre och 3 000 kWh</a:t>
            </a:r>
          </a:p>
          <a:p>
            <a:pPr>
              <a:lnSpc>
                <a:spcPts val="2480"/>
              </a:lnSpc>
              <a:spcBef>
                <a:spcPts val="0"/>
              </a:spcBef>
              <a:spcAft>
                <a:spcPts val="0"/>
              </a:spcAft>
              <a:defRPr sz="2000" b="0">
                <a:solidFill>
                  <a:srgbClr val="193540"/>
                </a:solidFill>
                <a:latin typeface="DejaVu Sans"/>
              </a:defRPr>
            </a:pPr>
            <a:r>
              <a:t>till sommarens kvartsvägda utfall 55 öre. Anta jämförbara kompletta</a:t>
            </a:r>
          </a:p>
          <a:p>
            <a:pPr>
              <a:lnSpc>
                <a:spcPts val="2480"/>
              </a:lnSpc>
              <a:spcBef>
                <a:spcPts val="0"/>
              </a:spcBef>
              <a:spcAft>
                <a:spcPts val="0"/>
              </a:spcAft>
              <a:defRPr sz="2000" b="0">
                <a:solidFill>
                  <a:srgbClr val="193540"/>
                </a:solidFill>
                <a:latin typeface="DejaVu Sans"/>
              </a:defRPr>
            </a:pPr>
            <a:r>
              <a:t>elhandelsdelar utan separat avgift; vinterprofil ingår. Nät, skatt och moms</a:t>
            </a:r>
          </a:p>
          <a:p>
            <a:pPr>
              <a:lnSpc>
                <a:spcPts val="2480"/>
              </a:lnSpc>
              <a:spcBef>
                <a:spcPts val="0"/>
              </a:spcBef>
              <a:spcAft>
                <a:spcPts val="0"/>
              </a:spcAft>
              <a:defRPr sz="2000" b="0">
                <a:solidFill>
                  <a:srgbClr val="193540"/>
                </a:solidFill>
                <a:latin typeface="DejaVu Sans"/>
              </a:defRPr>
            </a:pPr>
            <a:r>
              <a:t>utesluts. Vad blir årsvolymvägt elhandelspris?</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i öre/kWh.</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18</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460</a:t>
            </a:r>
          </a:p>
        </p:txBody>
      </p:sp>
      <p:sp>
        <p:nvSpPr>
          <p:cNvPr id="6" name="TextBox 5"/>
          <p:cNvSpPr txBox="1"/>
          <p:nvPr/>
        </p:nvSpPr>
        <p:spPr>
          <a:xfrm>
            <a:off x="603504" y="2148840"/>
            <a:ext cx="10972800" cy="125984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En familj kan styra laddbox men behöver samtidigt förutsägbar budget. De</a:t>
            </a:r>
          </a:p>
          <a:p>
            <a:pPr>
              <a:lnSpc>
                <a:spcPts val="2480"/>
              </a:lnSpc>
              <a:spcBef>
                <a:spcPts val="0"/>
              </a:spcBef>
              <a:spcAft>
                <a:spcPts val="0"/>
              </a:spcAft>
              <a:defRPr sz="2000" b="0">
                <a:solidFill>
                  <a:srgbClr val="193540"/>
                </a:solidFill>
                <a:latin typeface="DejaVu Sans"/>
              </a:defRPr>
            </a:pPr>
            <a:r>
              <a:t>ska köpa en värmepump och vet inte hur användningen ändras. Beskriv en</a:t>
            </a:r>
          </a:p>
          <a:p>
            <a:pPr>
              <a:lnSpc>
                <a:spcPts val="2480"/>
              </a:lnSpc>
              <a:spcBef>
                <a:spcPts val="0"/>
              </a:spcBef>
              <a:spcAft>
                <a:spcPts val="0"/>
              </a:spcAft>
              <a:defRPr sz="2000" b="0">
                <a:solidFill>
                  <a:srgbClr val="193540"/>
                </a:solidFill>
                <a:latin typeface="DejaVu Sans"/>
              </a:defRPr>
            </a:pPr>
            <a:r>
              <a:t>behovsanalys innan du väljer mellan Kvartspris, Fastpris, Opti och</a:t>
            </a:r>
          </a:p>
          <a:p>
            <a:pPr>
              <a:lnSpc>
                <a:spcPts val="2480"/>
              </a:lnSpc>
              <a:spcBef>
                <a:spcPts val="0"/>
              </a:spcBef>
              <a:spcAft>
                <a:spcPts val="0"/>
              </a:spcAft>
              <a:defRPr sz="2000" b="0">
                <a:solidFill>
                  <a:srgbClr val="193540"/>
                </a:solidFill>
                <a:latin typeface="DejaVu Sans"/>
              </a:defRPr>
            </a:pPr>
            <a:r>
              <a:t>Vintersäkrat.</a:t>
            </a:r>
          </a:p>
        </p:txBody>
      </p:sp>
      <p:sp>
        <p:nvSpPr>
          <p:cNvPr id="7" name="TextBox 6"/>
          <p:cNvSpPr txBox="1"/>
          <p:nvPr/>
        </p:nvSpPr>
        <p:spPr>
          <a:xfrm>
            <a:off x="603504" y="352298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19</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461</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Kunden frågar: Om Opti alltid tar det lägre måste det vara billigast av alla</a:t>
            </a:r>
          </a:p>
          <a:p>
            <a:pPr>
              <a:lnSpc>
                <a:spcPts val="2480"/>
              </a:lnSpc>
              <a:spcBef>
                <a:spcPts val="0"/>
              </a:spcBef>
              <a:spcAft>
                <a:spcPts val="0"/>
              </a:spcAft>
              <a:defRPr sz="2000" b="0">
                <a:solidFill>
                  <a:srgbClr val="193540"/>
                </a:solidFill>
                <a:latin typeface="DejaVu Sans"/>
              </a:defRPr>
            </a:pPr>
            <a:r>
              <a:t>avtal och aldrig bli dyrt? Svara med två tydliga gränser och en fråga som</a:t>
            </a:r>
          </a:p>
          <a:p>
            <a:pPr>
              <a:lnSpc>
                <a:spcPts val="2480"/>
              </a:lnSpc>
              <a:spcBef>
                <a:spcPts val="0"/>
              </a:spcBef>
              <a:spcAft>
                <a:spcPts val="0"/>
              </a:spcAft>
              <a:defRPr sz="2000" b="0">
                <a:solidFill>
                  <a:srgbClr val="193540"/>
                </a:solidFill>
                <a:latin typeface="DejaVu Sans"/>
              </a:defRPr>
            </a:pPr>
            <a:r>
              <a:t>kontrollerar förståelsen.</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6F9F8"/>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136F70"/>
                </a:solidFill>
                <a:latin typeface="DejaVu Sans"/>
              </a:defRPr>
            </a:pPr>
            <a:r>
              <a:t>AVSLUTANDE SJÄLVTEST</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193540"/>
                </a:solidFill>
                <a:latin typeface="DejaVu Sans"/>
              </a:defRPr>
            </a:pPr>
            <a:r>
              <a:t>Privatkund / Face2face · fråga 20</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566E78"/>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193540"/>
                </a:solidFill>
                <a:latin typeface="DejaVu Sans"/>
              </a:defRPr>
            </a:pPr>
            <a:r>
              <a:t>462</a:t>
            </a:r>
          </a:p>
        </p:txBody>
      </p:sp>
      <p:sp>
        <p:nvSpPr>
          <p:cNvPr id="6" name="TextBox 5"/>
          <p:cNvSpPr txBox="1"/>
          <p:nvPr/>
        </p:nvSpPr>
        <p:spPr>
          <a:xfrm>
            <a:off x="603504" y="2148840"/>
            <a:ext cx="10972800" cy="94488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Du granskar ett föreslaget lyckat telefonsamtal. Säljaren upprepar 40 öre men</a:t>
            </a:r>
          </a:p>
          <a:p>
            <a:pPr>
              <a:lnSpc>
                <a:spcPts val="2480"/>
              </a:lnSpc>
              <a:spcBef>
                <a:spcPts val="0"/>
              </a:spcBef>
              <a:spcAft>
                <a:spcPts val="0"/>
              </a:spcAft>
              <a:defRPr sz="2000" b="0">
                <a:solidFill>
                  <a:srgbClr val="193540"/>
                </a:solidFill>
                <a:latin typeface="DejaVu Sans"/>
              </a:defRPr>
            </a:pPr>
            <a:r>
              <a:t>säger inte vilka delar som ingår, svarar ja på samma faktura varje månad och</a:t>
            </a:r>
          </a:p>
          <a:p>
            <a:pPr>
              <a:lnSpc>
                <a:spcPts val="2480"/>
              </a:lnSpc>
              <a:spcBef>
                <a:spcPts val="0"/>
              </a:spcBef>
              <a:spcAft>
                <a:spcPts val="0"/>
              </a:spcAft>
              <a:defRPr sz="2000" b="0">
                <a:solidFill>
                  <a:srgbClr val="193540"/>
                </a:solidFill>
                <a:latin typeface="DejaVu Sans"/>
              </a:defRPr>
            </a:pPr>
            <a:r>
              <a:t>avslutar direkt. Hur skulle du använda eller förbättra exemplet i utbildningen?</a:t>
            </a:r>
          </a:p>
        </p:txBody>
      </p:sp>
      <p:sp>
        <p:nvSpPr>
          <p:cNvPr id="7" name="TextBox 6"/>
          <p:cNvSpPr txBox="1"/>
          <p:nvPr/>
        </p:nvSpPr>
        <p:spPr>
          <a:xfrm>
            <a:off x="603504" y="320802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193540"/>
                </a:solidFill>
                <a:latin typeface="DejaVu Sans"/>
              </a:defRPr>
            </a:pPr>
            <a:r>
              <a:t>Skriv ditt svar och ditt resonemang.</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102D3A"/>
        </a:solidFill>
        <a:effectLst/>
      </p:bgPr>
    </p:bg>
    <p:spTree>
      <p:nvGrpSpPr>
        <p:cNvPr id="1" name=""/>
        <p:cNvGrpSpPr/>
        <p:nvPr/>
      </p:nvGrpSpPr>
      <p:grpSpPr/>
      <p:sp>
        <p:nvSpPr>
          <p:cNvPr id="2" name="TextBox 1"/>
          <p:cNvSpPr txBox="1"/>
          <p:nvPr/>
        </p:nvSpPr>
        <p:spPr>
          <a:xfrm>
            <a:off x="566928" y="329184"/>
            <a:ext cx="10972800" cy="320040"/>
          </a:xfrm>
          <a:prstGeom prst="rect">
            <a:avLst/>
          </a:prstGeom>
          <a:noFill/>
        </p:spPr>
        <p:txBody>
          <a:bodyPr wrap="none" lIns="27432" rIns="27432" tIns="0" bIns="0">
            <a:spAutoFit/>
          </a:bodyPr>
          <a:lstStyle/>
          <a:p>
            <a:pPr>
              <a:lnSpc>
                <a:spcPts val="1488"/>
              </a:lnSpc>
              <a:spcBef>
                <a:spcPts val="0"/>
              </a:spcBef>
              <a:spcAft>
                <a:spcPts val="0"/>
              </a:spcAft>
              <a:defRPr sz="1200" b="1">
                <a:solidFill>
                  <a:srgbClr val="AED5CE"/>
                </a:solidFill>
                <a:latin typeface="DejaVu Sans"/>
              </a:defRPr>
            </a:pPr>
            <a:r>
              <a:t>AVSLUTNING</a:t>
            </a:r>
          </a:p>
        </p:txBody>
      </p:sp>
      <p:sp>
        <p:nvSpPr>
          <p:cNvPr id="3" name="TextBox 2"/>
          <p:cNvSpPr txBox="1"/>
          <p:nvPr/>
        </p:nvSpPr>
        <p:spPr>
          <a:xfrm>
            <a:off x="566928" y="841248"/>
            <a:ext cx="11064240" cy="1069848"/>
          </a:xfrm>
          <a:prstGeom prst="rect">
            <a:avLst/>
          </a:prstGeom>
          <a:noFill/>
        </p:spPr>
        <p:txBody>
          <a:bodyPr wrap="none" lIns="27432" rIns="27432" tIns="0" bIns="0">
            <a:spAutoFit/>
          </a:bodyPr>
          <a:lstStyle/>
          <a:p>
            <a:pPr>
              <a:lnSpc>
                <a:spcPts val="3472"/>
              </a:lnSpc>
              <a:spcBef>
                <a:spcPts val="0"/>
              </a:spcBef>
              <a:spcAft>
                <a:spcPts val="0"/>
              </a:spcAft>
              <a:defRPr sz="2800" b="1">
                <a:solidFill>
                  <a:srgbClr val="FFFFFF"/>
                </a:solidFill>
                <a:latin typeface="DejaVu Sans"/>
              </a:defRPr>
            </a:pPr>
            <a:r>
              <a:t>Öva vidare med en annan kund</a:t>
            </a:r>
          </a:p>
        </p:txBody>
      </p:sp>
      <p:sp>
        <p:nvSpPr>
          <p:cNvPr id="4" name="TextBox 3"/>
          <p:cNvSpPr txBox="1"/>
          <p:nvPr/>
        </p:nvSpPr>
        <p:spPr>
          <a:xfrm>
            <a:off x="594360" y="6419088"/>
            <a:ext cx="1005840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AED5CE"/>
                </a:solidFill>
                <a:latin typeface="DejaVu Sans"/>
              </a:defRPr>
            </a:pPr>
            <a:r>
              <a:t>Kraftringen · Produktkälla 10 oktober 2026 · Övningspriser är syntetiska</a:t>
            </a:r>
          </a:p>
        </p:txBody>
      </p:sp>
      <p:sp>
        <p:nvSpPr>
          <p:cNvPr id="5" name="TextBox 4"/>
          <p:cNvSpPr txBox="1"/>
          <p:nvPr/>
        </p:nvSpPr>
        <p:spPr>
          <a:xfrm>
            <a:off x="11109960" y="6419088"/>
            <a:ext cx="502920" cy="201168"/>
          </a:xfrm>
          <a:prstGeom prst="rect">
            <a:avLst/>
          </a:prstGeom>
          <a:noFill/>
        </p:spPr>
        <p:txBody>
          <a:bodyPr wrap="none" lIns="27432" rIns="27432" tIns="0" bIns="0">
            <a:spAutoFit/>
          </a:bodyPr>
          <a:lstStyle/>
          <a:p>
            <a:pPr>
              <a:lnSpc>
                <a:spcPts val="1116"/>
              </a:lnSpc>
              <a:spcBef>
                <a:spcPts val="0"/>
              </a:spcBef>
              <a:spcAft>
                <a:spcPts val="0"/>
              </a:spcAft>
              <a:defRPr sz="900" b="0">
                <a:solidFill>
                  <a:srgbClr val="FFFFFF"/>
                </a:solidFill>
                <a:latin typeface="DejaVu Sans"/>
              </a:defRPr>
            </a:pPr>
            <a:r>
              <a:t>463</a:t>
            </a:r>
          </a:p>
        </p:txBody>
      </p:sp>
      <p:sp>
        <p:nvSpPr>
          <p:cNvPr id="6" name="TextBox 5"/>
          <p:cNvSpPr txBox="1"/>
          <p:nvPr/>
        </p:nvSpPr>
        <p:spPr>
          <a:xfrm>
            <a:off x="603504" y="214884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Förklara en relevant produkt utan att lova lägst pris.</a:t>
            </a:r>
          </a:p>
        </p:txBody>
      </p:sp>
      <p:sp>
        <p:nvSpPr>
          <p:cNvPr id="7" name="TextBox 6"/>
          <p:cNvSpPr txBox="1"/>
          <p:nvPr/>
        </p:nvSpPr>
        <p:spPr>
          <a:xfrm>
            <a:off x="603504" y="257810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Visa en beräkning med rätt enheter och tydlig omfattning.</a:t>
            </a:r>
          </a:p>
        </p:txBody>
      </p:sp>
      <p:sp>
        <p:nvSpPr>
          <p:cNvPr id="8" name="TextBox 7"/>
          <p:cNvSpPr txBox="1"/>
          <p:nvPr/>
        </p:nvSpPr>
        <p:spPr>
          <a:xfrm>
            <a:off x="603504" y="3007360"/>
            <a:ext cx="10972800" cy="314960"/>
          </a:xfrm>
          <a:prstGeom prst="rect">
            <a:avLst/>
          </a:prstGeom>
          <a:noFill/>
        </p:spPr>
        <p:txBody>
          <a:bodyPr wrap="none" lIns="27432" rIns="27432" tIns="0" bIns="0">
            <a:spAutoFit/>
          </a:bodyPr>
          <a:lstStyle/>
          <a:p>
            <a:pPr>
              <a:lnSpc>
                <a:spcPts val="2480"/>
              </a:lnSpc>
              <a:spcBef>
                <a:spcPts val="0"/>
              </a:spcBef>
              <a:spcAft>
                <a:spcPts val="0"/>
              </a:spcAft>
              <a:defRPr sz="2000" b="0">
                <a:solidFill>
                  <a:srgbClr val="FFFFFF"/>
                </a:solidFill>
                <a:latin typeface="DejaVu Sans"/>
              </a:defRPr>
            </a:pPr>
            <a:r>
              <a:t>Beskriv kvarvarande risk och när du skulle ompröva förslaget.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